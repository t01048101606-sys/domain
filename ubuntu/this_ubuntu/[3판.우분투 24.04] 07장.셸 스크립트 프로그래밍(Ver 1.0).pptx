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282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3" r:id="rId26"/>
    <p:sldId id="284" r:id="rId27"/>
    <p:sldId id="285" r:id="rId28"/>
    <p:sldId id="286" r:id="rId29"/>
    <p:sldId id="287" r:id="rId30"/>
    <p:sldId id="288" r:id="rId31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34"/>
    </p:embeddedFont>
    <p:embeddedFont>
      <p:font typeface="나눔바른고딕" panose="020B0603020101020101" pitchFamily="50" charset="-127"/>
      <p:regular r:id="rId35"/>
      <p:bold r:id="rId36"/>
    </p:embeddedFont>
    <p:embeddedFont>
      <p:font typeface="나눔스퀘어 ExtraBold" panose="020B0600000101010101" pitchFamily="50" charset="-127"/>
      <p:bold r:id="rId37"/>
    </p:embeddedFont>
    <p:embeddedFont>
      <p:font typeface="나눔스퀘어라운드 ExtraBold" panose="020B0600000101010101" pitchFamily="50" charset="-127"/>
      <p:bold r:id="rId38"/>
    </p:embeddedFont>
    <p:embeddedFont>
      <p:font typeface="Georgia" panose="02040502050405020303" pitchFamily="18" charset="0"/>
      <p:regular r:id="rId39"/>
      <p:bold r:id="rId40"/>
      <p:italic r:id="rId41"/>
      <p:boldItalic r:id="rId42"/>
    </p:embeddedFont>
    <p:embeddedFont>
      <p:font typeface="Trebuchet MS" panose="020B0603020202020204" pitchFamily="34" charset="0"/>
      <p:regular r:id="rId43"/>
      <p:bold r:id="rId44"/>
      <p:italic r:id="rId45"/>
      <p:boldItalic r:id="rId46"/>
    </p:embeddedFont>
    <p:embeddedFont>
      <p:font typeface="Wingdings 2" panose="05020102010507070707" pitchFamily="18" charset="2"/>
      <p:regular r:id="rId47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FF9933"/>
    <a:srgbClr val="FF6600"/>
    <a:srgbClr val="CC66FF"/>
    <a:srgbClr val="FF7C80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2024-10-26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2024-10-26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506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677B8D55-F5BF-433D-B388-44D9DA44D400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4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7047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60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2F9F170-5AA6-46D2-A79A-58F984405D97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5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2224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71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A27B60E8-64F6-433F-B744-FD93D760E327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536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813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95B260A-BEF2-4855-AB17-B2F744A1EAB9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7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6296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91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6A54ED92-CCEE-420D-A418-BC275CE18ABD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8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0711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018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DF275D72-31B2-4390-88E6-0CC966D31556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9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7052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5120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B5D9F8F6-8B73-4C91-A9EE-EBDCFF2A4076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10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176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22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5D486360-5E06-4470-9A30-F62A75E977AB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11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8876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2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215AF289-45AF-4A7E-A061-98AFADC0C2E5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12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3498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427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5632A917-F464-4E77-B9E1-0845B27ABF0A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13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5947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53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292EE22A-5A23-48AE-9841-39D12BC205C6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14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6593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632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BA8195B6-E6F2-491F-972C-A7C84A96263A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15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6435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34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86C26150-3217-47AF-AB5C-685BA91C75B2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1221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3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2090F7D1-6D29-4426-875E-46FDDC2A8AF1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17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145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93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74D376E6-F7B8-4201-855C-47A9E43F6A69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18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8565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4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ADECF6E6-8E2D-4519-B30B-5A068274120A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19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087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144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5A48FB41-4110-42A1-B725-C86872C232FD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20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213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46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A7EAF05E-19EA-4F82-8604-DC9BEE045203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21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2716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34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178B9A95-1224-406A-9C68-22C45CBB8117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22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20355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34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178B9A95-1224-406A-9C68-22C45CBB8117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23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0277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451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D11ACB2C-E8EF-41A9-8A48-67565346B2F1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24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57287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554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2C9FDB1-48E5-437B-A98A-207DF1AC68EA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25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1413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65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8ADFB767-7782-433F-B7E7-6051FC108882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26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737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758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25A5EE0C-CE3B-4A99-907A-1F77A114964D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27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254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86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33B286B2-D57D-466A-9D5A-1BD79670EC0C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28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9076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963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78AC3DE-A71A-41C5-99BB-9AB7641ACE16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29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16907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16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1C01F3B8-28C8-4EAE-B7A2-EA24F709D925}" type="slidenum">
              <a:rPr lang="ko-KR" altLang="en-US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30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241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354120" y="1025303"/>
            <a:ext cx="3506222" cy="1384995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07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셸 스크립트 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프로그래밍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26917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07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셸 스크립트 프로그래밍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358188" y="6550025"/>
            <a:ext cx="898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/30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10/26/2024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우분투의 </a:t>
            </a:r>
            <a:r>
              <a:rPr lang="en-US" altLang="ko-KR" sz="2800" dirty="0"/>
              <a:t>bash </a:t>
            </a:r>
            <a:r>
              <a:rPr lang="ko-KR" altLang="en-US" sz="2800" dirty="0"/>
              <a:t>셸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기본 </a:t>
            </a:r>
            <a:r>
              <a:rPr lang="ko-KR" altLang="en-US" dirty="0" err="1"/>
              <a:t>셸은</a:t>
            </a:r>
            <a:r>
              <a:rPr lang="ko-KR" altLang="en-US" dirty="0"/>
              <a:t> </a:t>
            </a:r>
            <a:r>
              <a:rPr lang="en-US" altLang="ko-KR" dirty="0"/>
              <a:t>bash(Bourne Again </a:t>
            </a:r>
            <a:r>
              <a:rPr lang="en-US" altLang="ko-KR" dirty="0" err="1"/>
              <a:t>SHell</a:t>
            </a:r>
            <a:r>
              <a:rPr lang="en-US" altLang="ko-KR" dirty="0"/>
              <a:t> : ‘</a:t>
            </a:r>
            <a:r>
              <a:rPr lang="ko-KR" altLang="en-US" dirty="0" err="1"/>
              <a:t>배시</a:t>
            </a:r>
            <a:r>
              <a:rPr lang="ko-KR" altLang="en-US" dirty="0"/>
              <a:t> </a:t>
            </a:r>
            <a:r>
              <a:rPr lang="ko-KR" altLang="en-US" dirty="0" err="1"/>
              <a:t>셸</a:t>
            </a:r>
            <a:r>
              <a:rPr lang="ko-KR" altLang="en-US" dirty="0"/>
              <a:t>’</a:t>
            </a:r>
            <a:r>
              <a:rPr lang="en-US" altLang="ko-KR" dirty="0"/>
              <a:t>)</a:t>
            </a:r>
          </a:p>
          <a:p>
            <a:pPr eaLnBrk="1" hangingPunct="1">
              <a:defRPr/>
            </a:pPr>
            <a:r>
              <a:rPr lang="en-US" altLang="ko-KR" dirty="0"/>
              <a:t>bash </a:t>
            </a:r>
            <a:r>
              <a:rPr lang="ko-KR" altLang="en-US" dirty="0" err="1"/>
              <a:t>셸의</a:t>
            </a:r>
            <a:r>
              <a:rPr lang="ko-KR" altLang="en-US" dirty="0"/>
              <a:t> 특징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•Alias </a:t>
            </a:r>
            <a:r>
              <a:rPr lang="ko-KR" altLang="en-US" sz="2000" dirty="0"/>
              <a:t>기능</a:t>
            </a:r>
            <a:r>
              <a:rPr lang="en-US" altLang="ko-KR" sz="2000" dirty="0"/>
              <a:t>(</a:t>
            </a:r>
            <a:r>
              <a:rPr lang="ko-KR" altLang="en-US" sz="2000" dirty="0"/>
              <a:t>명령어 단축 기능</a:t>
            </a:r>
            <a:r>
              <a:rPr lang="en-US" altLang="ko-KR" sz="2000" dirty="0"/>
              <a:t>)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•History </a:t>
            </a:r>
            <a:r>
              <a:rPr lang="ko-KR" altLang="en-US" sz="2000" dirty="0"/>
              <a:t>기능</a:t>
            </a:r>
            <a:r>
              <a:rPr lang="en-US" altLang="ko-KR" sz="2000" dirty="0"/>
              <a:t>(</a:t>
            </a:r>
            <a:r>
              <a:rPr lang="ko-KR" altLang="en-US" sz="2000" dirty="0"/>
              <a:t>위</a:t>
            </a:r>
            <a:r>
              <a:rPr lang="en-US" altLang="ko-KR" sz="2000" dirty="0"/>
              <a:t>/</a:t>
            </a:r>
            <a:r>
              <a:rPr lang="ko-KR" altLang="en-US" sz="2000" dirty="0"/>
              <a:t>아래 화살표키</a:t>
            </a:r>
            <a:r>
              <a:rPr lang="en-US" altLang="ko-KR" sz="2000" dirty="0"/>
              <a:t>)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</a:t>
            </a:r>
            <a:r>
              <a:rPr lang="ko-KR" altLang="en-US" sz="2000" dirty="0"/>
              <a:t>연산 기능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•Job Control </a:t>
            </a:r>
            <a:r>
              <a:rPr lang="ko-KR" altLang="en-US" sz="2000" dirty="0"/>
              <a:t>기능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</a:t>
            </a:r>
            <a:r>
              <a:rPr lang="ko-KR" altLang="en-US" sz="2000" dirty="0"/>
              <a:t>자동 이름 완성 기능</a:t>
            </a:r>
            <a:r>
              <a:rPr lang="en-US" altLang="ko-KR" sz="2000" dirty="0"/>
              <a:t>(</a:t>
            </a:r>
            <a:r>
              <a:rPr lang="ko-KR" altLang="en-US" sz="2000" dirty="0" err="1"/>
              <a:t>탭키</a:t>
            </a:r>
            <a:r>
              <a:rPr lang="en-US" altLang="ko-KR" sz="2000" dirty="0"/>
              <a:t>)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</a:t>
            </a:r>
            <a:r>
              <a:rPr lang="ko-KR" altLang="en-US" sz="2000" dirty="0"/>
              <a:t>프롬프트 제어 기능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•</a:t>
            </a:r>
            <a:r>
              <a:rPr lang="ko-KR" altLang="en-US" sz="2000" dirty="0"/>
              <a:t>명령 편집 기능</a:t>
            </a:r>
            <a:endParaRPr lang="en-US" altLang="ko-KR" sz="2000" dirty="0"/>
          </a:p>
          <a:p>
            <a:pPr lvl="1">
              <a:buFont typeface="Georgia" panose="02040502050405020303" pitchFamily="18" charset="0"/>
              <a:buNone/>
              <a:defRPr/>
            </a:pPr>
            <a:endParaRPr lang="ko-KR" altLang="en-US" sz="2000" dirty="0"/>
          </a:p>
          <a:p>
            <a:pPr eaLnBrk="1" hangingPunct="1">
              <a:defRPr/>
            </a:pPr>
            <a:r>
              <a:rPr lang="ko-KR" altLang="en-US" dirty="0"/>
              <a:t>셸의 명령문 처리 방법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(</a:t>
            </a:r>
            <a:r>
              <a:rPr lang="ko-KR" altLang="en-US" sz="2000" dirty="0"/>
              <a:t>프롬프트</a:t>
            </a:r>
            <a:r>
              <a:rPr lang="en-US" altLang="ko-KR" sz="2000" dirty="0"/>
              <a:t>) </a:t>
            </a:r>
            <a:r>
              <a:rPr lang="ko-KR" altLang="en-US" sz="2000" dirty="0"/>
              <a:t>명령어 </a:t>
            </a:r>
            <a:r>
              <a:rPr lang="en-US" altLang="ko-KR" sz="2000" dirty="0"/>
              <a:t>[</a:t>
            </a:r>
            <a:r>
              <a:rPr lang="ko-KR" altLang="en-US" sz="2000" dirty="0"/>
              <a:t>옵션</a:t>
            </a:r>
            <a:r>
              <a:rPr lang="en-US" altLang="ko-KR" sz="2000" dirty="0"/>
              <a:t>…] [</a:t>
            </a:r>
            <a:r>
              <a:rPr lang="ko-KR" altLang="en-US" sz="2000" dirty="0"/>
              <a:t>인자</a:t>
            </a:r>
            <a:r>
              <a:rPr lang="en-US" altLang="ko-KR" sz="2000" dirty="0"/>
              <a:t>…]</a:t>
            </a:r>
          </a:p>
          <a:p>
            <a:pPr lvl="1" eaLnBrk="1" hangingPunct="1">
              <a:defRPr/>
            </a:pPr>
            <a:r>
              <a:rPr lang="ko-KR" altLang="en-US" sz="2000" dirty="0"/>
              <a:t>예</a:t>
            </a:r>
            <a:r>
              <a:rPr lang="en-US" altLang="ko-KR" sz="2000" dirty="0"/>
              <a:t>) # </a:t>
            </a:r>
            <a:r>
              <a:rPr lang="en-US" altLang="ko-KR" sz="2000" dirty="0" err="1"/>
              <a:t>rm</a:t>
            </a:r>
            <a:r>
              <a:rPr lang="en-US" altLang="ko-KR" sz="2000" dirty="0"/>
              <a:t> -</a:t>
            </a:r>
            <a:r>
              <a:rPr lang="en-US" altLang="ko-KR" sz="2000" dirty="0" err="1"/>
              <a:t>rf</a:t>
            </a:r>
            <a:r>
              <a:rPr lang="en-US" altLang="ko-KR" sz="2000" dirty="0"/>
              <a:t> /</a:t>
            </a:r>
            <a:r>
              <a:rPr lang="en-US" altLang="ko-KR" sz="2000" dirty="0" err="1"/>
              <a:t>mydir</a:t>
            </a: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3CCFDF65-6133-2CF9-CD0B-C8FA8E2A98FB}"/>
              </a:ext>
            </a:extLst>
          </p:cNvPr>
          <p:cNvSpPr/>
          <p:nvPr/>
        </p:nvSpPr>
        <p:spPr>
          <a:xfrm>
            <a:off x="3851920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447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688024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환경 변수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“echo $</a:t>
            </a:r>
            <a:r>
              <a:rPr lang="ko-KR" altLang="en-US" dirty="0"/>
              <a:t>환경변수이름</a:t>
            </a:r>
            <a:r>
              <a:rPr lang="en-US" altLang="ko-KR" dirty="0"/>
              <a:t>” </a:t>
            </a:r>
            <a:r>
              <a:rPr lang="ko-KR" altLang="en-US" dirty="0"/>
              <a:t>으로 확인 가능</a:t>
            </a: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“export </a:t>
            </a:r>
            <a:r>
              <a:rPr lang="ko-KR" altLang="en-US" dirty="0"/>
              <a:t>환경변수</a:t>
            </a:r>
            <a:r>
              <a:rPr lang="en-US" altLang="ko-KR" dirty="0"/>
              <a:t>=</a:t>
            </a:r>
            <a:r>
              <a:rPr lang="ko-KR" altLang="en-US" dirty="0"/>
              <a:t>값</a:t>
            </a:r>
            <a:r>
              <a:rPr lang="en-US" altLang="ko-KR" dirty="0"/>
              <a:t>” </a:t>
            </a:r>
            <a:r>
              <a:rPr lang="ko-KR" altLang="en-US" dirty="0"/>
              <a:t>으로 환경 변수의 값을 변경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주요 환경변수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86AF2C55-A522-CF21-1D96-9037B23327E5}"/>
              </a:ext>
            </a:extLst>
          </p:cNvPr>
          <p:cNvSpPr/>
          <p:nvPr/>
        </p:nvSpPr>
        <p:spPr>
          <a:xfrm>
            <a:off x="2555776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448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DFA21F-DFE7-1E40-661A-E0AC9A9E4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08920"/>
            <a:ext cx="6701686" cy="372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04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셸 스크립트 프로그래밍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C</a:t>
            </a:r>
            <a:r>
              <a:rPr lang="ko-KR" altLang="en-US" dirty="0"/>
              <a:t>언어와 유사하게 프로그래밍이 가능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반복문</a:t>
            </a:r>
            <a:r>
              <a:rPr lang="en-US" altLang="ko-KR" dirty="0"/>
              <a:t>, </a:t>
            </a:r>
            <a:r>
              <a:rPr lang="ko-KR" altLang="en-US" dirty="0"/>
              <a:t>제어문 등의 사용이 가능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별도로 컴파일하지 않고 텍스트 파일 형태로 바로 실행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vi</a:t>
            </a:r>
            <a:r>
              <a:rPr lang="ko-KR" altLang="en-US" dirty="0"/>
              <a:t>나 </a:t>
            </a:r>
            <a:r>
              <a:rPr lang="en-US" altLang="ko-KR" dirty="0"/>
              <a:t>gedit</a:t>
            </a:r>
            <a:r>
              <a:rPr lang="ko-KR" altLang="en-US" dirty="0"/>
              <a:t>으로 작성이 가능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리눅스의 많은 부분이 셸 스크립트로 작성되어 있음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C798055-6B02-CCAF-1A53-82F0A75FC6B0}"/>
              </a:ext>
            </a:extLst>
          </p:cNvPr>
          <p:cNvSpPr/>
          <p:nvPr/>
        </p:nvSpPr>
        <p:spPr>
          <a:xfrm>
            <a:off x="4788024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449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D9679F06-FCA2-25AD-AE63-47920AE354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652" y="3573016"/>
            <a:ext cx="6264696" cy="27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3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nano</a:t>
            </a:r>
            <a:r>
              <a:rPr lang="ko-KR" altLang="en-US" dirty="0"/>
              <a:t>나 </a:t>
            </a:r>
            <a:r>
              <a:rPr lang="en-US" altLang="ko-KR" dirty="0" err="1"/>
              <a:t>gedit</a:t>
            </a:r>
            <a:r>
              <a:rPr lang="ko-KR" altLang="en-US" dirty="0"/>
              <a:t>으로 작성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실행 방법</a:t>
            </a:r>
            <a:endParaRPr lang="en-US" altLang="ko-KR" dirty="0"/>
          </a:p>
          <a:p>
            <a:pPr marL="868362" lvl="1" indent="-457200">
              <a:buFont typeface="+mj-ea"/>
              <a:buAutoNum type="circleNumDbPlain"/>
              <a:defRPr/>
            </a:pPr>
            <a:r>
              <a:rPr lang="ko-KR" altLang="en-US" sz="2000" dirty="0"/>
              <a:t>“</a:t>
            </a:r>
            <a:r>
              <a:rPr lang="en-US" altLang="ko-KR" sz="2000" dirty="0" err="1"/>
              <a:t>sh</a:t>
            </a:r>
            <a:r>
              <a:rPr lang="en-US" altLang="ko-KR" sz="2000" dirty="0"/>
              <a:t> &lt;</a:t>
            </a:r>
            <a:r>
              <a:rPr lang="ko-KR" altLang="en-US" sz="2000" dirty="0"/>
              <a:t>스크립트 파일</a:t>
            </a:r>
            <a:r>
              <a:rPr lang="en-US" altLang="ko-KR" sz="2000" dirty="0"/>
              <a:t>&gt;”</a:t>
            </a:r>
            <a:r>
              <a:rPr lang="ko-KR" altLang="en-US" sz="2000" dirty="0"/>
              <a:t>로 실행</a:t>
            </a:r>
            <a:endParaRPr lang="en-US" altLang="ko-KR" sz="2000" dirty="0"/>
          </a:p>
          <a:p>
            <a:pPr marL="868362" lvl="1" indent="-457200">
              <a:buFont typeface="+mj-ea"/>
              <a:buAutoNum type="circleNumDbPlain"/>
              <a:defRPr/>
            </a:pPr>
            <a:r>
              <a:rPr lang="en-US" altLang="ko-KR" sz="2000" dirty="0"/>
              <a:t>“</a:t>
            </a:r>
            <a:r>
              <a:rPr lang="en-US" altLang="ko-KR" sz="2000" dirty="0" err="1"/>
              <a:t>chmod</a:t>
            </a:r>
            <a:r>
              <a:rPr lang="en-US" altLang="ko-KR" sz="2000" dirty="0"/>
              <a:t> +x &lt;</a:t>
            </a:r>
            <a:r>
              <a:rPr lang="ko-KR" altLang="en-US" sz="2000" dirty="0"/>
              <a:t>스크립트 파일</a:t>
            </a:r>
            <a:r>
              <a:rPr lang="en-US" altLang="ko-KR" sz="2000" dirty="0"/>
              <a:t>&gt;” </a:t>
            </a:r>
            <a:r>
              <a:rPr lang="ko-KR" altLang="en-US" sz="2000" dirty="0"/>
              <a:t>명령으로 실행 가능 속성으로 변경한 후에</a:t>
            </a:r>
            <a:r>
              <a:rPr lang="en-US" altLang="ko-KR" sz="2000" dirty="0"/>
              <a:t>,  “./&lt;</a:t>
            </a:r>
            <a:r>
              <a:rPr lang="ko-KR" altLang="en-US" sz="2000" dirty="0"/>
              <a:t>스크립트파일</a:t>
            </a:r>
            <a:r>
              <a:rPr lang="en-US" altLang="ko-KR" sz="2000" dirty="0"/>
              <a:t>&gt;”</a:t>
            </a:r>
            <a:r>
              <a:rPr lang="ko-KR" altLang="en-US" sz="2000" dirty="0"/>
              <a:t>명령으로 실행</a:t>
            </a:r>
            <a:endParaRPr lang="en-US" altLang="ko-KR" sz="2000" dirty="0"/>
          </a:p>
        </p:txBody>
      </p:sp>
      <p:sp>
        <p:nvSpPr>
          <p:cNvPr id="174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셸 스크립트의 작성과 실행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F2CDD5A-7EC7-96B4-3019-5563BE8B3BD8}"/>
              </a:ext>
            </a:extLst>
          </p:cNvPr>
          <p:cNvSpPr/>
          <p:nvPr/>
        </p:nvSpPr>
        <p:spPr>
          <a:xfrm>
            <a:off x="5192912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소프트웨어, 번호, 폰트이(가) 표시된 사진&#10;&#10;자동 생성된 설명">
            <a:extLst>
              <a:ext uri="{FF2B5EF4-FFF2-40B4-BE49-F238E27FC236}">
                <a16:creationId xmlns:a16="http://schemas.microsoft.com/office/drawing/2014/main" id="{5B6FC43F-E982-FBCF-FA5B-87910DBB3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8" y="2000251"/>
            <a:ext cx="6476190" cy="1885714"/>
          </a:xfrm>
          <a:prstGeom prst="rect">
            <a:avLst/>
          </a:prstGeom>
        </p:spPr>
      </p:pic>
      <p:sp>
        <p:nvSpPr>
          <p:cNvPr id="12" name="물결 11">
            <a:extLst>
              <a:ext uri="{FF2B5EF4-FFF2-40B4-BE49-F238E27FC236}">
                <a16:creationId xmlns:a16="http://schemas.microsoft.com/office/drawing/2014/main" id="{B202C005-FD27-5814-7C5F-29660826FFEE}"/>
              </a:ext>
            </a:extLst>
          </p:cNvPr>
          <p:cNvSpPr/>
          <p:nvPr/>
        </p:nvSpPr>
        <p:spPr>
          <a:xfrm>
            <a:off x="4355976" y="1407364"/>
            <a:ext cx="4536504" cy="432048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셸 스크립트 파일의 확장명은 되도록 *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r>
              <a:rPr lang="en-US" altLang="ko-KR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sh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주는 것이 좋다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물결 12">
            <a:extLst>
              <a:ext uri="{FF2B5EF4-FFF2-40B4-BE49-F238E27FC236}">
                <a16:creationId xmlns:a16="http://schemas.microsoft.com/office/drawing/2014/main" id="{75EAC4A7-7C78-7409-B3BE-948A8856BD55}"/>
              </a:ext>
            </a:extLst>
          </p:cNvPr>
          <p:cNvSpPr/>
          <p:nvPr/>
        </p:nvSpPr>
        <p:spPr>
          <a:xfrm>
            <a:off x="4088758" y="4099667"/>
            <a:ext cx="4730583" cy="1093722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셸 스크립트 파일을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/usr/local/bin/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디렉토리에 복사하고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속성을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755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변경해 주면 모든 사용자가 스크립트를 사용할 수 있다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작업은 보안상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root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 수행함</a:t>
            </a:r>
          </a:p>
        </p:txBody>
      </p:sp>
    </p:spTree>
    <p:extLst>
      <p:ext uri="{BB962C8B-B14F-4D97-AF65-F5344CB8AC3E}">
        <p14:creationId xmlns:p14="http://schemas.microsoft.com/office/powerpoint/2010/main" val="62668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변수의 기본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변수를 사용하기 전에 미리 선언하지 않으며</a:t>
            </a:r>
            <a:r>
              <a:rPr lang="en-US" altLang="ko-KR" dirty="0"/>
              <a:t>, </a:t>
            </a:r>
            <a:r>
              <a:rPr lang="ko-KR" altLang="en-US" dirty="0"/>
              <a:t>변수에 처음 값이 할당되면서 자동으로 변수가 생성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모든 변수는 ‘문자열</a:t>
            </a:r>
            <a:r>
              <a:rPr lang="en-US" altLang="ko-KR" dirty="0"/>
              <a:t>(String)’</a:t>
            </a:r>
            <a:r>
              <a:rPr lang="ko-KR" altLang="en-US" dirty="0"/>
              <a:t>로 취급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변수 이름은 대소문자를 구분</a:t>
            </a: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변수를 대입할 때 ‘</a:t>
            </a:r>
            <a:r>
              <a:rPr lang="en-US" altLang="ko-KR" dirty="0"/>
              <a:t>=’</a:t>
            </a:r>
            <a:r>
              <a:rPr lang="ko-KR" altLang="en-US" dirty="0"/>
              <a:t>좌우에는 공백이 없어야 함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930E791-271D-CF80-9A9F-9358D515DA48}"/>
              </a:ext>
            </a:extLst>
          </p:cNvPr>
          <p:cNvSpPr/>
          <p:nvPr/>
        </p:nvSpPr>
        <p:spPr>
          <a:xfrm>
            <a:off x="2771800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AD1FAA76-C443-67F1-61EC-032A2E8E7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443777"/>
            <a:ext cx="4837744" cy="300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변수의 입력과 출력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ko-KR" dirty="0"/>
              <a:t>$ </a:t>
            </a:r>
            <a:r>
              <a:rPr lang="ko-KR" altLang="en-US" dirty="0"/>
              <a:t>문자가 들어간 글자를 출력하려면 ‘ ’로 묶어주거나 앞에 </a:t>
            </a:r>
            <a:r>
              <a:rPr lang="en-US" altLang="ko-KR" dirty="0"/>
              <a:t>\</a:t>
            </a:r>
            <a:r>
              <a:rPr lang="ko-KR" altLang="en-US" dirty="0"/>
              <a:t>를 붙임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en-US" altLang="ko-KR" dirty="0"/>
              <a:t>“ ”</a:t>
            </a:r>
            <a:r>
              <a:rPr lang="ko-KR" altLang="en-US" dirty="0"/>
              <a:t>로 변수를 묶어줘도 된다</a:t>
            </a:r>
            <a:r>
              <a:rPr lang="en-US" altLang="ko-KR" dirty="0"/>
              <a:t>.</a:t>
            </a:r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myvar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="Hi Woo"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myvar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myvar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'$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myvar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'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\$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myvar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값 입력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: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read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myvar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'$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myvar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' = 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myvar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10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A9B4D75-1008-27C2-1F2E-21591A29B429}"/>
              </a:ext>
            </a:extLst>
          </p:cNvPr>
          <p:cNvSpPr/>
          <p:nvPr/>
        </p:nvSpPr>
        <p:spPr>
          <a:xfrm>
            <a:off x="4031940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757E2B-5AA0-840D-D86B-967A083D6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2634020"/>
            <a:ext cx="3028571" cy="2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1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숫자 계산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ko-KR" altLang="en-US" dirty="0"/>
              <a:t>변수에 대입된 값은 모두 문자열로 취급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변수에 들어 있는 값을 숫자로 해서 </a:t>
            </a:r>
            <a:r>
              <a:rPr lang="en-US" altLang="ko-KR" dirty="0"/>
              <a:t>+, -, *, / </a:t>
            </a:r>
            <a:r>
              <a:rPr lang="ko-KR" altLang="en-US" dirty="0"/>
              <a:t>등의 연산을 하려면 </a:t>
            </a:r>
            <a:r>
              <a:rPr lang="en-US" altLang="ko-KR" dirty="0" err="1"/>
              <a:t>expr</a:t>
            </a:r>
            <a:r>
              <a:rPr lang="ko-KR" altLang="en-US" dirty="0"/>
              <a:t>을 사용</a:t>
            </a:r>
            <a:endParaRPr lang="en-US" altLang="ko-KR" dirty="0"/>
          </a:p>
          <a:p>
            <a:pPr>
              <a:defRPr/>
            </a:pPr>
            <a:r>
              <a:rPr lang="ko-KR" altLang="en-US" dirty="0" err="1"/>
              <a:t>역따옴표를</a:t>
            </a:r>
            <a:r>
              <a:rPr lang="ko-KR" altLang="en-US" dirty="0"/>
              <a:t> 사용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수식에 괄호 또는 곱하기</a:t>
            </a:r>
            <a:r>
              <a:rPr lang="en-US" altLang="ko-KR" dirty="0"/>
              <a:t>(*)</a:t>
            </a:r>
            <a:r>
              <a:rPr lang="ko-KR" altLang="en-US" dirty="0"/>
              <a:t>는 그 앞에 꼭 역슬래쉬</a:t>
            </a:r>
            <a:r>
              <a:rPr lang="en-US" altLang="ko-KR" dirty="0"/>
              <a:t>(\) </a:t>
            </a:r>
            <a:r>
              <a:rPr lang="ko-KR" altLang="en-US" dirty="0"/>
              <a:t>붙임</a:t>
            </a: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pt-BR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pt-BR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pt-BR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pt-BR" altLang="ko-KR" sz="1800" kern="100" dirty="0">
                <a:effectLst/>
                <a:cs typeface="Times New Roman" panose="02020603050405020304" pitchFamily="18" charset="0"/>
              </a:rPr>
              <a:t> num1=100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pt-BR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pt-BR" altLang="ko-KR" sz="1800" kern="100" dirty="0">
                <a:effectLst/>
                <a:cs typeface="Times New Roman" panose="02020603050405020304" pitchFamily="18" charset="0"/>
              </a:rPr>
              <a:t> num2=$num1 + 200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pt-BR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pt-BR" altLang="ko-KR" sz="1800" kern="100" dirty="0">
                <a:effectLst/>
                <a:cs typeface="Times New Roman" panose="02020603050405020304" pitchFamily="18" charset="0"/>
              </a:rPr>
              <a:t> echo $num2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pt-BR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pt-BR" altLang="ko-KR" sz="1800" kern="100" dirty="0">
                <a:effectLst/>
                <a:cs typeface="Times New Roman" panose="02020603050405020304" pitchFamily="18" charset="0"/>
              </a:rPr>
              <a:t> num3=`expr $num1 +  200`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pt-BR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pt-BR" altLang="ko-KR" sz="1800" kern="100" dirty="0">
                <a:effectLst/>
                <a:cs typeface="Times New Roman" panose="02020603050405020304" pitchFamily="18" charset="0"/>
              </a:rPr>
              <a:t> echo $num3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pt-BR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pt-BR" altLang="ko-KR" sz="1800" kern="100" dirty="0">
                <a:effectLst/>
                <a:cs typeface="Times New Roman" panose="02020603050405020304" pitchFamily="18" charset="0"/>
              </a:rPr>
              <a:t> num4=`expr  \(  $num1 + 200  \) / 10  \*  2`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pt-BR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pt-BR" altLang="ko-KR" sz="1800" kern="100" dirty="0">
                <a:effectLst/>
                <a:cs typeface="Times New Roman" panose="02020603050405020304" pitchFamily="18" charset="0"/>
              </a:rPr>
              <a:t> echo $num4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pt-BR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pt-BR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>
              <a:buNone/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2E2FF390-3D63-63CA-3788-CC9A1CE5CAC3}"/>
              </a:ext>
            </a:extLst>
          </p:cNvPr>
          <p:cNvSpPr/>
          <p:nvPr/>
        </p:nvSpPr>
        <p:spPr>
          <a:xfrm>
            <a:off x="2555776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72AFB2-B0ED-3185-68E3-F56C7E265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3140968"/>
            <a:ext cx="3180952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70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파라미터 변수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파라미터</a:t>
            </a:r>
            <a:r>
              <a:rPr lang="en-US" altLang="ko-KR" dirty="0"/>
              <a:t>(Parameter)</a:t>
            </a:r>
            <a:r>
              <a:rPr lang="ko-KR" altLang="en-US" dirty="0"/>
              <a:t> 변수는 </a:t>
            </a:r>
            <a:r>
              <a:rPr lang="en-US" altLang="ko-KR" dirty="0"/>
              <a:t>$0, $1, $2…</a:t>
            </a:r>
            <a:r>
              <a:rPr lang="ko-KR" altLang="en-US" dirty="0"/>
              <a:t>의 형태를 가짐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전체 파라미터는 </a:t>
            </a:r>
            <a:r>
              <a:rPr lang="en-US" altLang="ko-KR" dirty="0"/>
              <a:t>$*</a:t>
            </a:r>
            <a:r>
              <a:rPr lang="ko-KR" altLang="en-US" dirty="0"/>
              <a:t>로 표현</a:t>
            </a: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실행파일 이름은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&lt;$0&gt;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이다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첫번째 파라미터는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&lt;$1&gt;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이고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두번째 파라미터는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&lt;$2&gt;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전체 파라미터는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&lt;$*&gt;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7056F0C-4596-79BB-8DA5-D38C92686852}"/>
              </a:ext>
            </a:extLst>
          </p:cNvPr>
          <p:cNvSpPr/>
          <p:nvPr/>
        </p:nvSpPr>
        <p:spPr>
          <a:xfrm>
            <a:off x="3131840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CE894C-0EC0-A8F6-CECB-2AFE36D9E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818" y="2348880"/>
            <a:ext cx="7609524" cy="761905"/>
          </a:xfrm>
          <a:prstGeom prst="rect">
            <a:avLst/>
          </a:prstGeom>
        </p:spPr>
      </p:pic>
      <p:pic>
        <p:nvPicPr>
          <p:cNvPr id="10" name="그림 9" descr="텍스트, 스크린샷, 폰트, 멀티미디어이(가) 표시된 사진&#10;&#10;자동 생성된 설명">
            <a:extLst>
              <a:ext uri="{FF2B5EF4-FFF2-40B4-BE49-F238E27FC236}">
                <a16:creationId xmlns:a16="http://schemas.microsoft.com/office/drawing/2014/main" id="{0239DF3D-9907-E7DB-D8C5-EC0BFB404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596" y="5161130"/>
            <a:ext cx="5965080" cy="133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1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기본 </a:t>
            </a:r>
            <a:r>
              <a:rPr lang="en-US" altLang="ko-KR" sz="2800" dirty="0"/>
              <a:t>if </a:t>
            </a:r>
            <a:r>
              <a:rPr lang="ko-KR" altLang="en-US" sz="2800" dirty="0"/>
              <a:t>문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형식</a:t>
            </a:r>
            <a:endParaRPr lang="en-US" altLang="ko-KR" dirty="0"/>
          </a:p>
          <a:p>
            <a:pPr lvl="1">
              <a:buNone/>
              <a:defRPr/>
            </a:pPr>
            <a:r>
              <a:rPr lang="en-US" altLang="ko-KR" dirty="0"/>
              <a:t>if [ </a:t>
            </a:r>
            <a:r>
              <a:rPr lang="ko-KR" altLang="en-US" dirty="0"/>
              <a:t>조건 </a:t>
            </a:r>
            <a:r>
              <a:rPr lang="en-US" altLang="ko-KR" dirty="0"/>
              <a:t>]</a:t>
            </a:r>
          </a:p>
          <a:p>
            <a:pPr lvl="1">
              <a:buNone/>
              <a:defRPr/>
            </a:pPr>
            <a:r>
              <a:rPr lang="en-US" altLang="ko-KR" dirty="0"/>
              <a:t>then</a:t>
            </a:r>
          </a:p>
          <a:p>
            <a:pPr lvl="1">
              <a:buNone/>
              <a:defRPr/>
            </a:pPr>
            <a:r>
              <a:rPr lang="ko-KR" altLang="en-US" dirty="0"/>
              <a:t>   참일 경우 실행</a:t>
            </a:r>
          </a:p>
          <a:p>
            <a:pPr lvl="1">
              <a:buNone/>
              <a:defRPr/>
            </a:pPr>
            <a:r>
              <a:rPr lang="en-US" altLang="ko-KR" dirty="0"/>
              <a:t>fi</a:t>
            </a:r>
          </a:p>
          <a:p>
            <a:pPr lvl="1">
              <a:buNone/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if [ "woo" = "woo" ]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then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참입니다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fi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36D08DE4-FD06-C9C0-37D8-479584F6FD4B}"/>
              </a:ext>
            </a:extLst>
          </p:cNvPr>
          <p:cNvSpPr/>
          <p:nvPr/>
        </p:nvSpPr>
        <p:spPr>
          <a:xfrm>
            <a:off x="2411760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C3BFC6-46C6-F1B6-4615-DCAED1517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3906203"/>
            <a:ext cx="3238095" cy="1390476"/>
          </a:xfrm>
          <a:prstGeom prst="rect">
            <a:avLst/>
          </a:prstGeom>
        </p:spPr>
      </p:pic>
      <p:sp>
        <p:nvSpPr>
          <p:cNvPr id="9" name="물결 8">
            <a:extLst>
              <a:ext uri="{FF2B5EF4-FFF2-40B4-BE49-F238E27FC236}">
                <a16:creationId xmlns:a16="http://schemas.microsoft.com/office/drawing/2014/main" id="{2A62D597-6739-2661-D1D6-513F35A8499C}"/>
              </a:ext>
            </a:extLst>
          </p:cNvPr>
          <p:cNvSpPr/>
          <p:nvPr/>
        </p:nvSpPr>
        <p:spPr>
          <a:xfrm>
            <a:off x="4150296" y="1784227"/>
            <a:ext cx="4536504" cy="432048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“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조건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]”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사이의 각 단어에는 모두 공백이 있어야 한다</a:t>
            </a:r>
          </a:p>
        </p:txBody>
      </p:sp>
    </p:spTree>
    <p:extLst>
      <p:ext uri="{BB962C8B-B14F-4D97-AF65-F5344CB8AC3E}">
        <p14:creationId xmlns:p14="http://schemas.microsoft.com/office/powerpoint/2010/main" val="1091072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if~else </a:t>
            </a:r>
            <a:r>
              <a:rPr lang="ko-KR" altLang="en-US" sz="2800" dirty="0"/>
              <a:t>문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ko-KR" altLang="en-US" dirty="0"/>
              <a:t>형식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if [ </a:t>
            </a:r>
            <a:r>
              <a:rPr lang="ko-KR" altLang="en-US" sz="2000" dirty="0"/>
              <a:t>조건 </a:t>
            </a:r>
            <a:r>
              <a:rPr lang="en-US" altLang="ko-KR" sz="2000" dirty="0"/>
              <a:t>]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then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ko-KR" altLang="en-US" sz="2000" dirty="0"/>
              <a:t>  참일 경우 실행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else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ko-KR" altLang="en-US" sz="2000" dirty="0"/>
              <a:t>  거짓인 경우 실행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 dirty="0"/>
              <a:t>fi</a:t>
            </a:r>
          </a:p>
          <a:p>
            <a:pPr lvl="1">
              <a:buFont typeface="Georgia" panose="02040502050405020303" pitchFamily="18" charset="0"/>
              <a:buNone/>
              <a:defRPr/>
            </a:pPr>
            <a:endParaRPr lang="en-US" altLang="ko-KR" sz="2000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if [ "woo" != "woo" ]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then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참입니다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else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거짓입니다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fi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E9F45A6-8865-2608-CCF1-A65F362AF3FB}"/>
              </a:ext>
            </a:extLst>
          </p:cNvPr>
          <p:cNvSpPr/>
          <p:nvPr/>
        </p:nvSpPr>
        <p:spPr>
          <a:xfrm>
            <a:off x="2411760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32574DED-8F9F-1B43-715F-27520F6ED381}"/>
              </a:ext>
            </a:extLst>
          </p:cNvPr>
          <p:cNvSpPr/>
          <p:nvPr/>
        </p:nvSpPr>
        <p:spPr>
          <a:xfrm>
            <a:off x="4171728" y="1784227"/>
            <a:ext cx="4536504" cy="432048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중복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if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문을 위해서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else if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합쳐진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elif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문도 사용할 수 있다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1A7956-5D0B-A2C4-F935-5ECF48339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3501008"/>
            <a:ext cx="3019048" cy="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26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조건문에 들어가는 비교 연산자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92500" lnSpcReduction="10000"/>
          </a:bodyPr>
          <a:lstStyle/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if [ 100 -eq 200 ]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then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"100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과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200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은 같다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else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"100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과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200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은 다르다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fi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2764CBC-FF2B-5044-5E32-ABA5C4485DFF}"/>
              </a:ext>
            </a:extLst>
          </p:cNvPr>
          <p:cNvSpPr/>
          <p:nvPr/>
        </p:nvSpPr>
        <p:spPr>
          <a:xfrm>
            <a:off x="5652120" y="625266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1A79A6-337F-393E-781E-767EC1293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66" y="1356549"/>
            <a:ext cx="4035697" cy="16410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7716A5-E838-0180-6A6F-551E443C0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207" y="1356549"/>
            <a:ext cx="3641435" cy="279176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FB64427-9EE2-88CB-138F-6B7CA34E0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80" y="4667435"/>
            <a:ext cx="3219048" cy="1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66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파일과 관련된 조건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=/lib/systemd/system/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cron.service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if [ -f 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]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then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head -5 $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else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cron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서버가 설치되지 않았습니다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fi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4EA4F1ED-3EE0-C52B-699F-F1D13064BBA0}"/>
              </a:ext>
            </a:extLst>
          </p:cNvPr>
          <p:cNvSpPr/>
          <p:nvPr/>
        </p:nvSpPr>
        <p:spPr>
          <a:xfrm>
            <a:off x="3707904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459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CBDD62-636A-29D4-8BA0-251E964F3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592743"/>
            <a:ext cx="3343110" cy="32368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08DC2C-BE97-28E1-5711-DBE727024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4466808"/>
            <a:ext cx="4752528" cy="193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 err="1"/>
              <a:t>case~esac</a:t>
            </a:r>
            <a:r>
              <a:rPr lang="en-US" altLang="ko-KR" sz="2800" dirty="0"/>
              <a:t> </a:t>
            </a:r>
            <a:r>
              <a:rPr lang="ko-KR" altLang="en-US" sz="2800" dirty="0"/>
              <a:t>문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ko-KR" dirty="0"/>
              <a:t>if </a:t>
            </a:r>
            <a:r>
              <a:rPr lang="ko-KR" altLang="en-US" dirty="0"/>
              <a:t>문은 참과 거짓의 두 경우만 사용 </a:t>
            </a:r>
            <a:r>
              <a:rPr lang="en-US" altLang="ko-KR" dirty="0"/>
              <a:t>(2</a:t>
            </a:r>
            <a:r>
              <a:rPr lang="ko-KR" altLang="en-US" dirty="0" err="1"/>
              <a:t>중분기</a:t>
            </a:r>
            <a:r>
              <a:rPr lang="en-US" altLang="ko-KR" dirty="0"/>
              <a:t>)</a:t>
            </a:r>
          </a:p>
          <a:p>
            <a:pPr>
              <a:defRPr/>
            </a:pPr>
            <a:r>
              <a:rPr lang="ko-KR" altLang="en-US" dirty="0"/>
              <a:t>여러 가지 경우의 수가 있다면 </a:t>
            </a:r>
            <a:r>
              <a:rPr lang="en-US" altLang="ko-KR" dirty="0"/>
              <a:t>case </a:t>
            </a:r>
            <a:r>
              <a:rPr lang="ko-KR" altLang="en-US" dirty="0"/>
              <a:t>문 </a:t>
            </a:r>
            <a:r>
              <a:rPr lang="en-US" altLang="ko-KR" dirty="0"/>
              <a:t>(</a:t>
            </a:r>
            <a:r>
              <a:rPr lang="ko-KR" altLang="en-US" dirty="0"/>
              <a:t>다중분기</a:t>
            </a:r>
            <a:r>
              <a:rPr lang="en-US" altLang="ko-KR" dirty="0"/>
              <a:t>)</a:t>
            </a:r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case "$1" in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start)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시작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~~";;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stop)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중지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~~";;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restart)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다시 시작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~~";;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*)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10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   echo "</a:t>
            </a:r>
            <a:r>
              <a:rPr lang="ko-KR" altLang="ko-KR" sz="1800" kern="100" dirty="0" err="1">
                <a:effectLst/>
                <a:cs typeface="Times New Roman" panose="02020603050405020304" pitchFamily="18" charset="0"/>
              </a:rPr>
              <a:t>뭔지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 모름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~~";;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esac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6CEE2EF-8192-DDDE-083F-CF7E7FC960F9}"/>
              </a:ext>
            </a:extLst>
          </p:cNvPr>
          <p:cNvSpPr/>
          <p:nvPr/>
        </p:nvSpPr>
        <p:spPr>
          <a:xfrm>
            <a:off x="3707904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F0B703-80EE-BCC5-3242-273D4DFF2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2996952"/>
            <a:ext cx="4392488" cy="128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48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 err="1"/>
              <a:t>case~esac</a:t>
            </a:r>
            <a:r>
              <a:rPr lang="en-US" altLang="ko-KR" sz="2800" dirty="0"/>
              <a:t> </a:t>
            </a:r>
            <a:r>
              <a:rPr lang="ko-KR" altLang="en-US" sz="2800" dirty="0"/>
              <a:t>문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85000" lnSpcReduction="10000"/>
          </a:bodyPr>
          <a:lstStyle/>
          <a:p>
            <a:pPr marL="109537" indent="0" latinLnBrk="1">
              <a:spcAft>
                <a:spcPts val="800"/>
              </a:spcAft>
              <a:buNone/>
            </a:pPr>
            <a:endParaRPr lang="en-US" altLang="ko-KR" sz="1800" kern="100" dirty="0">
              <a:solidFill>
                <a:srgbClr val="00B0F0"/>
              </a:solidFill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리눅스가 재미있나요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? (yes / no)"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read answer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case $answer in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yes | y | Y | Yes | YES)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다행입니다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더욱 열심히 하세요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^^";;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[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nN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]*)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안타깝네요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ㅠㅠ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10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*)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   echo "yes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아니면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no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만 </a:t>
            </a:r>
            <a:r>
              <a:rPr lang="ko-KR" altLang="ko-KR" sz="1800" kern="100" dirty="0" err="1">
                <a:effectLst/>
                <a:cs typeface="Times New Roman" panose="02020603050405020304" pitchFamily="18" charset="0"/>
              </a:rPr>
              <a:t>입력했어야죠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   exit 1;;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esac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0D9875D9-531E-C484-3E97-B772FC1B54FD}"/>
              </a:ext>
            </a:extLst>
          </p:cNvPr>
          <p:cNvSpPr/>
          <p:nvPr/>
        </p:nvSpPr>
        <p:spPr>
          <a:xfrm>
            <a:off x="3707904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1C9B21-ACD8-C7EB-2FEE-31F9A64D9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334845"/>
            <a:ext cx="3380952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35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AND, OR </a:t>
            </a:r>
            <a:r>
              <a:rPr lang="ko-KR" altLang="en-US" sz="2800" dirty="0"/>
              <a:t>관계 연산자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and</a:t>
            </a:r>
            <a:r>
              <a:rPr lang="ko-KR" altLang="en-US" dirty="0"/>
              <a:t>는 ‘</a:t>
            </a:r>
            <a:r>
              <a:rPr lang="en-US" altLang="ko-KR" dirty="0"/>
              <a:t>-a</a:t>
            </a:r>
            <a:r>
              <a:rPr lang="ko-KR" altLang="en-US" dirty="0"/>
              <a:t>’ 또는 ‘</a:t>
            </a:r>
            <a:r>
              <a:rPr lang="en-US" altLang="ko-KR" dirty="0"/>
              <a:t>&amp;&amp;’</a:t>
            </a:r>
            <a:r>
              <a:rPr lang="ko-KR" altLang="en-US" dirty="0"/>
              <a:t>를 사용</a:t>
            </a:r>
          </a:p>
          <a:p>
            <a:pPr>
              <a:defRPr/>
            </a:pPr>
            <a:r>
              <a:rPr lang="en-US" altLang="ko-KR" dirty="0"/>
              <a:t>or</a:t>
            </a:r>
            <a:r>
              <a:rPr lang="ko-KR" altLang="en-US" dirty="0"/>
              <a:t>는 ‘</a:t>
            </a:r>
            <a:r>
              <a:rPr lang="en-US" altLang="ko-KR" dirty="0"/>
              <a:t>-o</a:t>
            </a:r>
            <a:r>
              <a:rPr lang="ko-KR" altLang="en-US" dirty="0"/>
              <a:t>’ 또는 ‘</a:t>
            </a:r>
            <a:r>
              <a:rPr lang="en-US" altLang="ko-KR" dirty="0"/>
              <a:t>||’</a:t>
            </a:r>
            <a:r>
              <a:rPr lang="ko-KR" altLang="en-US" dirty="0"/>
              <a:t>를 사용</a:t>
            </a:r>
            <a:endParaRPr lang="en-US" altLang="ko-KR" dirty="0"/>
          </a:p>
          <a:p>
            <a:pPr>
              <a:buNone/>
              <a:defRPr/>
            </a:pPr>
            <a:endParaRPr lang="en-US" altLang="ko-KR" sz="1800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보고 싶은 파일명을 입력하세요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read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if [ -f 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] &amp;&amp; [ -s 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] ; then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head -5 $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else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파일이 없거나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크기가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0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입니다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fi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85098CF-7059-6F26-5C7B-81ED1BD1C5BD}"/>
              </a:ext>
            </a:extLst>
          </p:cNvPr>
          <p:cNvSpPr/>
          <p:nvPr/>
        </p:nvSpPr>
        <p:spPr>
          <a:xfrm>
            <a:off x="4283968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07EEDA-6380-6368-7CBA-62B73C73C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000251"/>
            <a:ext cx="3598641" cy="26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88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반복문 </a:t>
            </a:r>
            <a:r>
              <a:rPr lang="en-US" altLang="ko-KR" sz="2800" dirty="0"/>
              <a:t>– </a:t>
            </a:r>
            <a:r>
              <a:rPr lang="en-US" altLang="ko-KR" sz="2800" dirty="0" err="1"/>
              <a:t>for~in</a:t>
            </a:r>
            <a:r>
              <a:rPr lang="ko-KR" altLang="en-US" sz="2800" dirty="0"/>
              <a:t>문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ko-KR" altLang="en-US" dirty="0"/>
              <a:t>형식</a:t>
            </a:r>
            <a:endParaRPr lang="en-US" altLang="ko-KR" dirty="0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dirty="0"/>
              <a:t>for </a:t>
            </a:r>
            <a:r>
              <a:rPr lang="ko-KR" altLang="en-US" dirty="0"/>
              <a:t>변수 </a:t>
            </a:r>
            <a:r>
              <a:rPr lang="en-US" altLang="ko-KR" dirty="0"/>
              <a:t>in </a:t>
            </a:r>
            <a:r>
              <a:rPr lang="ko-KR" altLang="en-US" dirty="0"/>
              <a:t>값</a:t>
            </a:r>
            <a:r>
              <a:rPr lang="en-US" altLang="ko-KR" dirty="0"/>
              <a:t>1 </a:t>
            </a:r>
            <a:r>
              <a:rPr lang="ko-KR" altLang="en-US" dirty="0"/>
              <a:t>값</a:t>
            </a:r>
            <a:r>
              <a:rPr lang="en-US" altLang="ko-KR" dirty="0"/>
              <a:t>2 </a:t>
            </a:r>
            <a:r>
              <a:rPr lang="ko-KR" altLang="en-US" dirty="0"/>
              <a:t>값</a:t>
            </a:r>
            <a:r>
              <a:rPr lang="en-US" altLang="ko-KR" dirty="0"/>
              <a:t>3 …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dirty="0"/>
              <a:t>do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ko-KR" altLang="en-US" dirty="0"/>
              <a:t>    반복할 문장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dirty="0"/>
              <a:t>done</a:t>
            </a:r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 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 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hap=0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 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for i in 1 2 3 4 5 6 7 8 9 10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 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do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hap=`expr $hap + $i`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 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done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 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echo "1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부터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10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까지의 합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: "$hap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 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A250AC8-934C-8C32-AE3D-0CF62C7D9CA4}"/>
              </a:ext>
            </a:extLst>
          </p:cNvPr>
          <p:cNvSpPr/>
          <p:nvPr/>
        </p:nvSpPr>
        <p:spPr>
          <a:xfrm>
            <a:off x="4283968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9078B768-E5C6-1D2F-C4A0-30810E97C41B}"/>
              </a:ext>
            </a:extLst>
          </p:cNvPr>
          <p:cNvSpPr/>
          <p:nvPr/>
        </p:nvSpPr>
        <p:spPr>
          <a:xfrm>
            <a:off x="4656983" y="1597344"/>
            <a:ext cx="4072680" cy="1068709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행은 </a:t>
            </a:r>
            <a:b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for((i=1;i&lt;=10;i++))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for i in ‘seq 1 10’</a:t>
            </a:r>
            <a:b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변경 할 수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50F3713-585A-B27F-8F6A-3BFCEA092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425" y="3717032"/>
            <a:ext cx="3295238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10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반복문 </a:t>
            </a:r>
            <a:r>
              <a:rPr lang="en-US" altLang="ko-KR" sz="2800" dirty="0"/>
              <a:t>– </a:t>
            </a:r>
            <a:r>
              <a:rPr lang="en-US" altLang="ko-KR" sz="2800" dirty="0" err="1"/>
              <a:t>for~in</a:t>
            </a:r>
            <a:r>
              <a:rPr lang="ko-KR" altLang="en-US" sz="2800" dirty="0"/>
              <a:t>문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현재 디렉터리에 있는 셸 스크립트 파일</a:t>
            </a:r>
            <a:r>
              <a:rPr lang="en-US" altLang="ko-KR" dirty="0"/>
              <a:t>(*.sh)</a:t>
            </a:r>
            <a:r>
              <a:rPr lang="ko-KR" altLang="en-US" dirty="0"/>
              <a:t>의 파일명과 앞 </a:t>
            </a:r>
            <a:r>
              <a:rPr lang="en-US" altLang="ko-KR" dirty="0"/>
              <a:t>3</a:t>
            </a:r>
            <a:r>
              <a:rPr lang="ko-KR" altLang="en-US" dirty="0"/>
              <a:t>줄을 출력하는 프로그램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for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in $(ls *.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sh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do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"--------$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-------"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head -3 $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fname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done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EE592D3-CA7F-DC02-C3AC-ECC52B970B17}"/>
              </a:ext>
            </a:extLst>
          </p:cNvPr>
          <p:cNvSpPr/>
          <p:nvPr/>
        </p:nvSpPr>
        <p:spPr>
          <a:xfrm>
            <a:off x="4283968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3850CB-47D3-6E09-B59E-5EE16E9FF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435" y="4221087"/>
            <a:ext cx="5036153" cy="204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10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반복문 </a:t>
            </a:r>
            <a:r>
              <a:rPr lang="en-US" altLang="ko-KR" sz="2800" dirty="0"/>
              <a:t>– while</a:t>
            </a:r>
            <a:r>
              <a:rPr lang="ko-KR" altLang="en-US" sz="2800" dirty="0"/>
              <a:t>문 </a:t>
            </a:r>
            <a:r>
              <a:rPr lang="en-US" altLang="ko-KR" sz="2800" dirty="0"/>
              <a:t>(1)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조건식이 참인 동안에 계속 반복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while [ 1 ]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do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“우분투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24.04 LTS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”</a:t>
            </a: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done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CF2A894-0EB8-4443-60B1-E6B594BF1A98}"/>
              </a:ext>
            </a:extLst>
          </p:cNvPr>
          <p:cNvSpPr/>
          <p:nvPr/>
        </p:nvSpPr>
        <p:spPr>
          <a:xfrm>
            <a:off x="4074803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2EA33589-2EC9-A7A8-0725-825C124F529D}"/>
              </a:ext>
            </a:extLst>
          </p:cNvPr>
          <p:cNvSpPr/>
          <p:nvPr/>
        </p:nvSpPr>
        <p:spPr>
          <a:xfrm>
            <a:off x="4664955" y="1889003"/>
            <a:ext cx="4072680" cy="1068709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[ 1 ]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 : ]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오면 항상 참이 됨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그러므로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행을 무한 루프로 반복함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FCA5224-7646-160D-CFBE-C3B4D1B67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966" y="3523290"/>
            <a:ext cx="2954657" cy="194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93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반복문 </a:t>
            </a:r>
            <a:r>
              <a:rPr lang="en-US" altLang="ko-KR" sz="2800" dirty="0"/>
              <a:t>– while</a:t>
            </a:r>
            <a:r>
              <a:rPr lang="ko-KR" altLang="en-US" sz="2800" dirty="0"/>
              <a:t>문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ko-KR" dirty="0"/>
              <a:t>1</a:t>
            </a:r>
            <a:r>
              <a:rPr lang="ko-KR" altLang="en-US" dirty="0"/>
              <a:t>에서 </a:t>
            </a:r>
            <a:r>
              <a:rPr lang="en-US" altLang="ko-KR" dirty="0"/>
              <a:t>10</a:t>
            </a:r>
            <a:r>
              <a:rPr lang="ko-KR" altLang="en-US" dirty="0"/>
              <a:t>까지의 합계를 출력 </a:t>
            </a:r>
            <a:br>
              <a:rPr lang="en-US" altLang="ko-KR" dirty="0"/>
            </a:br>
            <a:r>
              <a:rPr lang="en-US" altLang="ko-KR" dirty="0"/>
              <a:t>   (‘</a:t>
            </a:r>
            <a:r>
              <a:rPr lang="ko-KR" altLang="en-US" dirty="0" err="1"/>
              <a:t>반복문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en-US" altLang="ko-KR" dirty="0" err="1"/>
              <a:t>for~in</a:t>
            </a:r>
            <a:r>
              <a:rPr lang="ko-KR" altLang="en-US" dirty="0"/>
              <a:t>문 </a:t>
            </a:r>
            <a:r>
              <a:rPr lang="en-US" altLang="ko-KR" dirty="0"/>
              <a:t>(1)’ </a:t>
            </a:r>
            <a:r>
              <a:rPr lang="ko-KR" altLang="en-US" dirty="0"/>
              <a:t>슬라이드와</a:t>
            </a:r>
            <a:r>
              <a:rPr lang="en-US" altLang="ko-KR" dirty="0"/>
              <a:t> </a:t>
            </a:r>
            <a:r>
              <a:rPr lang="ko-KR" altLang="en-US" dirty="0"/>
              <a:t>동일</a:t>
            </a:r>
            <a:r>
              <a:rPr lang="en-US" altLang="ko-KR" dirty="0"/>
              <a:t>)</a:t>
            </a:r>
          </a:p>
          <a:p>
            <a:pPr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hap=0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i=1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while [ $i -le 10 ]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do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hap=`expr $hap + $i`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i=`expr $i + 1`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done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"1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부터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10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까지의 합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: "$hap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10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0D19A4D-8E78-5135-5A40-1CFDFCD64F68}"/>
              </a:ext>
            </a:extLst>
          </p:cNvPr>
          <p:cNvSpPr/>
          <p:nvPr/>
        </p:nvSpPr>
        <p:spPr>
          <a:xfrm>
            <a:off x="4074803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94F9EDF6-B21C-AE3A-ECAF-1CBCFCB56E19}"/>
              </a:ext>
            </a:extLst>
          </p:cNvPr>
          <p:cNvSpPr/>
          <p:nvPr/>
        </p:nvSpPr>
        <p:spPr>
          <a:xfrm>
            <a:off x="4074803" y="2263171"/>
            <a:ext cx="4752528" cy="901260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until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문은 조건식이 참일 때까지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(=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거짓인 동안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계속 반복</a:t>
            </a:r>
          </a:p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행을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until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문으로 바꾸면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until [ $i -</a:t>
            </a:r>
            <a:r>
              <a:rPr lang="en-US" altLang="ko-KR" sz="14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gt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10 ]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E25FAB-828F-1DA4-247B-FC5714E63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326" y="3518632"/>
            <a:ext cx="3361905" cy="1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13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반복문 </a:t>
            </a:r>
            <a:r>
              <a:rPr lang="en-US" altLang="ko-KR" sz="2800" dirty="0"/>
              <a:t>– while</a:t>
            </a:r>
            <a:r>
              <a:rPr lang="ko-KR" altLang="en-US" sz="2800" dirty="0"/>
              <a:t>문 </a:t>
            </a:r>
            <a:r>
              <a:rPr lang="en-US" altLang="ko-KR" sz="2800" dirty="0"/>
              <a:t>(3)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/>
              <a:t>비밀번호를 </a:t>
            </a:r>
            <a:r>
              <a:rPr lang="ko-KR" altLang="en-US" dirty="0" err="1"/>
              <a:t>입력받고</a:t>
            </a:r>
            <a:r>
              <a:rPr lang="en-US" altLang="ko-KR" dirty="0"/>
              <a:t>, </a:t>
            </a:r>
            <a:r>
              <a:rPr lang="ko-KR" altLang="en-US" dirty="0"/>
              <a:t>비밀번호가 맞을 때까지 계속 </a:t>
            </a:r>
            <a:r>
              <a:rPr lang="ko-KR" altLang="en-US" dirty="0" err="1"/>
              <a:t>입력받는</a:t>
            </a:r>
            <a:r>
              <a:rPr lang="ko-KR" altLang="en-US" dirty="0"/>
              <a:t> 스크립트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비밀번호를 입력하세요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read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mypass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while [ $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mypass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!= "1234" ]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do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틀렸음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다시 입력하세요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read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mypass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done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통과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~~"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10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71B587C-254C-9660-55D7-49E5DC4B0D13}"/>
              </a:ext>
            </a:extLst>
          </p:cNvPr>
          <p:cNvSpPr/>
          <p:nvPr/>
        </p:nvSpPr>
        <p:spPr>
          <a:xfrm>
            <a:off x="4074803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3436EA-7681-5F1C-FEE4-D973CFE8E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343" y="2276872"/>
            <a:ext cx="2880320" cy="247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08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until </a:t>
            </a:r>
            <a:r>
              <a:rPr lang="ko-KR" altLang="en-US" sz="2800" dirty="0"/>
              <a:t>문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while</a:t>
            </a:r>
            <a:r>
              <a:rPr lang="ko-KR" altLang="en-US" dirty="0"/>
              <a:t>문과 용도가 거의 같지만</a:t>
            </a:r>
            <a:r>
              <a:rPr lang="en-US" altLang="ko-KR" dirty="0"/>
              <a:t>, until</a:t>
            </a:r>
            <a:r>
              <a:rPr lang="ko-KR" altLang="en-US" dirty="0"/>
              <a:t>문은 조건식이 참일 때까지</a:t>
            </a:r>
            <a:r>
              <a:rPr lang="en-US" altLang="ko-KR" dirty="0"/>
              <a:t>(=</a:t>
            </a:r>
            <a:r>
              <a:rPr lang="ko-KR" altLang="en-US" dirty="0"/>
              <a:t>거짓인 동안</a:t>
            </a:r>
            <a:r>
              <a:rPr lang="en-US" altLang="ko-KR" dirty="0"/>
              <a:t>) </a:t>
            </a:r>
            <a:r>
              <a:rPr lang="ko-KR" altLang="en-US" dirty="0"/>
              <a:t>계속 반복한다</a:t>
            </a:r>
            <a:r>
              <a:rPr lang="en-US" altLang="ko-KR" dirty="0"/>
              <a:t>. 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while2.sh</a:t>
            </a:r>
            <a:r>
              <a:rPr lang="ko-KR" altLang="en-US" dirty="0"/>
              <a:t>를 동일한 용도로 </a:t>
            </a:r>
            <a:r>
              <a:rPr lang="en-US" altLang="ko-KR" dirty="0"/>
              <a:t>until</a:t>
            </a:r>
            <a:r>
              <a:rPr lang="ko-KR" altLang="en-US" dirty="0"/>
              <a:t>문으로 바꾸려면 </a:t>
            </a:r>
            <a:r>
              <a:rPr lang="en-US" altLang="ko-KR" dirty="0"/>
              <a:t>4</a:t>
            </a:r>
            <a:r>
              <a:rPr lang="ko-KR" altLang="en-US" dirty="0"/>
              <a:t>행을 다음과 같이 바꾸면 된다</a:t>
            </a:r>
            <a:r>
              <a:rPr lang="en-US" altLang="ko-KR" dirty="0"/>
              <a:t>.</a:t>
            </a:r>
          </a:p>
          <a:p>
            <a:pPr lvl="1">
              <a:defRPr/>
            </a:pPr>
            <a:r>
              <a:rPr lang="en-US" altLang="ko-KR" dirty="0"/>
              <a:t>until [ $i -</a:t>
            </a:r>
            <a:r>
              <a:rPr lang="en-US" altLang="ko-KR" dirty="0" err="1"/>
              <a:t>gt</a:t>
            </a:r>
            <a:r>
              <a:rPr lang="en-US" altLang="ko-KR" dirty="0"/>
              <a:t> 10 ]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D0EBE2D-A50D-1595-2AD3-2B2648219EA0}"/>
              </a:ext>
            </a:extLst>
          </p:cNvPr>
          <p:cNvSpPr/>
          <p:nvPr/>
        </p:nvSpPr>
        <p:spPr>
          <a:xfrm>
            <a:off x="2267744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315520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break, continue, exit, return </a:t>
            </a:r>
            <a:r>
              <a:rPr lang="ko-KR" altLang="en-US" sz="2800" dirty="0"/>
              <a:t>문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ko-KR" dirty="0"/>
              <a:t>break</a:t>
            </a:r>
            <a:r>
              <a:rPr lang="ko-KR" altLang="en-US" dirty="0"/>
              <a:t>는 주로 반복문을 종료할 때 사용되며</a:t>
            </a:r>
            <a:r>
              <a:rPr lang="en-US" altLang="ko-KR" dirty="0"/>
              <a:t>, continue</a:t>
            </a:r>
            <a:r>
              <a:rPr lang="ko-KR" altLang="en-US" dirty="0"/>
              <a:t>는 반복문의 조건식으로 돌아가게 함</a:t>
            </a:r>
            <a:r>
              <a:rPr lang="en-US" altLang="ko-KR" dirty="0"/>
              <a:t>. exit</a:t>
            </a:r>
            <a:r>
              <a:rPr lang="ko-KR" altLang="en-US" dirty="0"/>
              <a:t>는 해당 프로그램을 완전히 종료함</a:t>
            </a:r>
            <a:r>
              <a:rPr lang="en-US" altLang="ko-KR" dirty="0"/>
              <a:t>. return</a:t>
            </a:r>
            <a:r>
              <a:rPr lang="ko-KR" altLang="en-US" dirty="0"/>
              <a:t>은 함수 안에서 사용될 수 있으며 함수를 호출한 곳으로 돌아가게 함</a:t>
            </a:r>
            <a:r>
              <a:rPr lang="en-US" altLang="ko-KR" dirty="0"/>
              <a:t>.</a:t>
            </a:r>
          </a:p>
          <a:p>
            <a:pPr>
              <a:defRPr/>
            </a:pPr>
            <a:endParaRPr lang="en-US" altLang="ko-KR" dirty="0"/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무한반복 입력을 시작합니다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(b: break, c: continue, e: exit)"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while [ 1 ] ; do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read input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case $input in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b | B 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	break 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c | C 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	echo "continue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를 누르면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while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의 조건으로 </a:t>
            </a:r>
            <a:r>
              <a:rPr lang="ko-KR" altLang="ko-KR" sz="1800" kern="100" dirty="0" err="1">
                <a:effectLst/>
                <a:cs typeface="Times New Roman" panose="02020603050405020304" pitchFamily="18" charset="0"/>
              </a:rPr>
              <a:t>돌아감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10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	continue 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e | E 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	echo "exit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를 누르면 프로그램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(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함수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)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를 완전히 종료함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	exit 1 ;;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esac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;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done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"break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를 누르면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while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을 빠져나와 지금 이 문장이 출력됨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C0075A4-A924-92ED-60EC-38FC0704B72A}"/>
              </a:ext>
            </a:extLst>
          </p:cNvPr>
          <p:cNvSpPr/>
          <p:nvPr/>
        </p:nvSpPr>
        <p:spPr>
          <a:xfrm>
            <a:off x="5940152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469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5BEF9D-F821-0892-BB55-A5A10B223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2924944"/>
            <a:ext cx="3096344" cy="123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35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사용자 정의 함수</a:t>
            </a:r>
            <a:r>
              <a:rPr lang="en-US" altLang="ko-KR" sz="2800" dirty="0"/>
              <a:t>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ko-KR" altLang="en-US" dirty="0"/>
              <a:t>형식</a:t>
            </a:r>
            <a:endParaRPr lang="en-US" altLang="ko-KR" dirty="0"/>
          </a:p>
          <a:p>
            <a:pPr lvl="1">
              <a:buNone/>
              <a:defRPr/>
            </a:pPr>
            <a:r>
              <a:rPr lang="ko-KR" altLang="en-US" dirty="0"/>
              <a:t>함수이름 </a:t>
            </a:r>
            <a:r>
              <a:rPr lang="en-US" altLang="ko-KR" dirty="0"/>
              <a:t>( ) {     </a:t>
            </a:r>
            <a:r>
              <a:rPr lang="en-US" altLang="ko-KR" dirty="0">
                <a:solidFill>
                  <a:srgbClr val="9966FF"/>
                </a:solidFill>
              </a:rPr>
              <a:t>→ </a:t>
            </a:r>
            <a:r>
              <a:rPr lang="ko-KR" altLang="en-US" dirty="0">
                <a:solidFill>
                  <a:srgbClr val="9966FF"/>
                </a:solidFill>
              </a:rPr>
              <a:t>함수를 정의</a:t>
            </a:r>
          </a:p>
          <a:p>
            <a:pPr lvl="1">
              <a:buNone/>
              <a:defRPr/>
            </a:pPr>
            <a:r>
              <a:rPr lang="ko-KR" altLang="en-US" dirty="0"/>
              <a:t>   내용들</a:t>
            </a:r>
            <a:r>
              <a:rPr lang="en-US" altLang="ko-KR" dirty="0"/>
              <a:t>…</a:t>
            </a:r>
          </a:p>
          <a:p>
            <a:pPr lvl="1">
              <a:buNone/>
              <a:defRPr/>
            </a:pPr>
            <a:r>
              <a:rPr lang="en-US" altLang="ko-KR" dirty="0"/>
              <a:t>}</a:t>
            </a:r>
          </a:p>
          <a:p>
            <a:pPr lvl="1">
              <a:buNone/>
              <a:defRPr/>
            </a:pPr>
            <a:r>
              <a:rPr lang="ko-KR" altLang="en-US" dirty="0"/>
              <a:t>함수이름              </a:t>
            </a:r>
            <a:r>
              <a:rPr lang="ko-KR" altLang="en-US" dirty="0">
                <a:solidFill>
                  <a:srgbClr val="9966FF"/>
                </a:solidFill>
              </a:rPr>
              <a:t>→ 함수를 호출</a:t>
            </a:r>
            <a:endParaRPr lang="en-US" altLang="ko-KR" dirty="0">
              <a:solidFill>
                <a:srgbClr val="9966FF"/>
              </a:solidFill>
            </a:endParaRPr>
          </a:p>
          <a:p>
            <a:pPr lvl="1">
              <a:buNone/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myFunction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() {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함수 안으로 들어 왔음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return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}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프로그램을 시작합니다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myFunction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프로그램을 종료합니다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E13B802-8824-D189-AD74-9B03179FF65B}"/>
              </a:ext>
            </a:extLst>
          </p:cNvPr>
          <p:cNvSpPr/>
          <p:nvPr/>
        </p:nvSpPr>
        <p:spPr>
          <a:xfrm>
            <a:off x="3707904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471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9D69EE-7426-82F9-5E1C-ECD5895E7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2348880"/>
            <a:ext cx="3106627" cy="175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51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함수의 파라미터 사용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/>
              <a:t>형식</a:t>
            </a:r>
            <a:endParaRPr lang="en-US" altLang="ko-KR" dirty="0"/>
          </a:p>
          <a:p>
            <a:pPr lvl="1">
              <a:buNone/>
              <a:defRPr/>
            </a:pPr>
            <a:r>
              <a:rPr lang="ko-KR" altLang="en-US" dirty="0"/>
              <a:t>함수이름 </a:t>
            </a:r>
            <a:r>
              <a:rPr lang="en-US" altLang="ko-KR" dirty="0"/>
              <a:t>( ) {                                      </a:t>
            </a:r>
            <a:r>
              <a:rPr lang="en-US" altLang="ko-KR" dirty="0">
                <a:solidFill>
                  <a:srgbClr val="9966FF"/>
                </a:solidFill>
              </a:rPr>
              <a:t>→ </a:t>
            </a:r>
            <a:r>
              <a:rPr lang="ko-KR" altLang="en-US" dirty="0">
                <a:solidFill>
                  <a:srgbClr val="9966FF"/>
                </a:solidFill>
              </a:rPr>
              <a:t>함수를 정의</a:t>
            </a:r>
          </a:p>
          <a:p>
            <a:pPr lvl="1">
              <a:buNone/>
              <a:defRPr/>
            </a:pPr>
            <a:r>
              <a:rPr lang="ko-KR" altLang="en-US" dirty="0"/>
              <a:t>   </a:t>
            </a:r>
            <a:r>
              <a:rPr lang="en-US" altLang="ko-KR" dirty="0"/>
              <a:t>$1, $2 … </a:t>
            </a:r>
            <a:r>
              <a:rPr lang="ko-KR" altLang="en-US" dirty="0"/>
              <a:t>등을 사용</a:t>
            </a:r>
          </a:p>
          <a:p>
            <a:pPr lvl="1">
              <a:buNone/>
              <a:defRPr/>
            </a:pPr>
            <a:r>
              <a:rPr lang="en-US" altLang="ko-KR" dirty="0"/>
              <a:t>}</a:t>
            </a:r>
          </a:p>
          <a:p>
            <a:pPr lvl="1">
              <a:buNone/>
              <a:defRPr/>
            </a:pPr>
            <a:r>
              <a:rPr lang="ko-KR" altLang="en-US" dirty="0"/>
              <a:t>함수이름 파라미터</a:t>
            </a:r>
            <a:r>
              <a:rPr lang="en-US" altLang="ko-KR" dirty="0"/>
              <a:t>1 </a:t>
            </a:r>
            <a:r>
              <a:rPr lang="ko-KR" altLang="en-US" dirty="0"/>
              <a:t>파라미터</a:t>
            </a:r>
            <a:r>
              <a:rPr lang="en-US" altLang="ko-KR" dirty="0"/>
              <a:t>2 …    </a:t>
            </a:r>
            <a:r>
              <a:rPr lang="en-US" altLang="ko-KR" dirty="0">
                <a:solidFill>
                  <a:srgbClr val="9966FF"/>
                </a:solidFill>
              </a:rPr>
              <a:t>→ </a:t>
            </a:r>
            <a:r>
              <a:rPr lang="ko-KR" altLang="en-US" dirty="0">
                <a:solidFill>
                  <a:srgbClr val="9966FF"/>
                </a:solidFill>
              </a:rPr>
              <a:t>함수를 호출</a:t>
            </a:r>
            <a:endParaRPr lang="en-US" altLang="ko-KR" dirty="0">
              <a:solidFill>
                <a:srgbClr val="9966FF"/>
              </a:solidFill>
            </a:endParaRPr>
          </a:p>
          <a:p>
            <a:pPr lvl="1"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hap () {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   echo `expr $1 + $2`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}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"10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더하기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20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을 실행합니다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hap 10 20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716214F2-BBF8-F74D-CB83-1F41FB00395D}"/>
              </a:ext>
            </a:extLst>
          </p:cNvPr>
          <p:cNvSpPr/>
          <p:nvPr/>
        </p:nvSpPr>
        <p:spPr>
          <a:xfrm>
            <a:off x="4211960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472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30532B-5791-83AC-91D1-76C356D24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47" y="3789040"/>
            <a:ext cx="2880320" cy="147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35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 err="1"/>
              <a:t>eval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문자열을 명령문으로 인식하고 실행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str="ls -l eval.sh"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$str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eval $str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F6696689-0A4D-8D07-CB70-6813CD9C70E7}"/>
              </a:ext>
            </a:extLst>
          </p:cNvPr>
          <p:cNvSpPr/>
          <p:nvPr/>
        </p:nvSpPr>
        <p:spPr>
          <a:xfrm>
            <a:off x="1691680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473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D584BA-20BD-A4A9-2D85-18E186FD2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533" y="2782493"/>
            <a:ext cx="4261899" cy="136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55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export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/>
              <a:t>외부 변수로 선언해 준다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선언한 변수를 다른 프로그램에서도 사용할 수 있도록 해줌</a:t>
            </a:r>
            <a:endParaRPr lang="en-US" altLang="ko-KR" dirty="0"/>
          </a:p>
          <a:p>
            <a:pPr>
              <a:defRPr/>
            </a:pPr>
            <a:r>
              <a:rPr lang="en-US" altLang="ko-KR" dirty="0"/>
              <a:t>exp1.sh</a:t>
            </a: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$var1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$var2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ko-KR" dirty="0"/>
              <a:t>exp2.sh</a:t>
            </a: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var1="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지역 변수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export var2="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외부 변수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sh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exp1.sh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C81BE00-99EF-61BE-78E8-4EF9F5E0D114}"/>
              </a:ext>
            </a:extLst>
          </p:cNvPr>
          <p:cNvSpPr/>
          <p:nvPr/>
        </p:nvSpPr>
        <p:spPr>
          <a:xfrm>
            <a:off x="2339752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473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85ADF4-AB8B-A761-249C-FD7070F67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3100491"/>
            <a:ext cx="3200000" cy="1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3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printf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C</a:t>
            </a:r>
            <a:r>
              <a:rPr lang="ko-KR" altLang="en-US" dirty="0"/>
              <a:t>언어의 </a:t>
            </a:r>
            <a:r>
              <a:rPr lang="en-US" altLang="ko-KR" dirty="0" err="1"/>
              <a:t>printf</a:t>
            </a:r>
            <a:r>
              <a:rPr lang="en-US" altLang="ko-KR" dirty="0"/>
              <a:t>() </a:t>
            </a:r>
            <a:r>
              <a:rPr lang="ko-KR" altLang="en-US" dirty="0"/>
              <a:t>함수와 비슷하게 형식을 지정해서 출력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var1=100.5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var2="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재미있는 리눅스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~~"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printf "%5.2f \n\n \t %s \n" $var1 "$var2"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56E7036-8689-0044-D639-4948F40AA3A0}"/>
              </a:ext>
            </a:extLst>
          </p:cNvPr>
          <p:cNvSpPr/>
          <p:nvPr/>
        </p:nvSpPr>
        <p:spPr>
          <a:xfrm>
            <a:off x="1979712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474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C446DC-3F66-2161-55B6-B9F65DB75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4221088"/>
            <a:ext cx="340952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44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set</a:t>
            </a:r>
            <a:r>
              <a:rPr lang="ko-KR" altLang="en-US" sz="2800" dirty="0"/>
              <a:t>과 </a:t>
            </a:r>
            <a:r>
              <a:rPr lang="en-US" altLang="ko-KR" sz="2800" dirty="0"/>
              <a:t>$(</a:t>
            </a:r>
            <a:r>
              <a:rPr lang="ko-KR" altLang="en-US" sz="2800" dirty="0"/>
              <a:t>명령어</a:t>
            </a:r>
            <a:r>
              <a:rPr lang="en-US" altLang="ko-KR" sz="2800" dirty="0"/>
              <a:t>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리눅스 명령어를 결과로 사용하기 위해서는 </a:t>
            </a:r>
            <a:r>
              <a:rPr lang="en-US" altLang="ko-KR" dirty="0"/>
              <a:t>$(</a:t>
            </a:r>
            <a:r>
              <a:rPr lang="ko-KR" altLang="en-US" dirty="0"/>
              <a:t>명령어</a:t>
            </a:r>
            <a:r>
              <a:rPr lang="en-US" altLang="ko-KR" dirty="0"/>
              <a:t>) </a:t>
            </a:r>
            <a:r>
              <a:rPr lang="ko-KR" altLang="en-US" dirty="0"/>
              <a:t>형식을 사용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결과를 </a:t>
            </a:r>
            <a:r>
              <a:rPr lang="ko-KR" altLang="en-US" dirty="0" err="1"/>
              <a:t>파라미터로</a:t>
            </a:r>
            <a:r>
              <a:rPr lang="ko-KR" altLang="en-US" dirty="0"/>
              <a:t> 사용하고자 할 때는 </a:t>
            </a:r>
            <a:r>
              <a:rPr lang="en-US" altLang="ko-KR" dirty="0"/>
              <a:t>set</a:t>
            </a:r>
            <a:r>
              <a:rPr lang="ko-KR" altLang="en-US" dirty="0"/>
              <a:t>과 함께 사용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오늘 날짜는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$(date)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입니다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set $(date)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echo "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오늘은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$4 </a:t>
            </a:r>
            <a:r>
              <a:rPr lang="ko-KR" altLang="ko-KR" sz="1800" kern="100" dirty="0">
                <a:effectLst/>
                <a:cs typeface="Times New Roman" panose="02020603050405020304" pitchFamily="18" charset="0"/>
              </a:rPr>
              <a:t>요일 입니다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."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>
              <a:buFont typeface="Georgia" panose="02040502050405020303" pitchFamily="18" charset="0"/>
              <a:buNone/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8C2864E-1D64-245D-0FDF-5E1CC0566025}"/>
              </a:ext>
            </a:extLst>
          </p:cNvPr>
          <p:cNvSpPr/>
          <p:nvPr/>
        </p:nvSpPr>
        <p:spPr>
          <a:xfrm>
            <a:off x="3275856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475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5D79CD-DC81-A344-FAB3-85E9166CC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4955667"/>
            <a:ext cx="4836483" cy="140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98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shift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ko-KR" altLang="en-US" dirty="0"/>
              <a:t>파라미터 변수를 왼쪽으로 한 단계씩 아래로 쉬프트</a:t>
            </a:r>
            <a:r>
              <a:rPr lang="en-US" altLang="ko-KR" dirty="0"/>
              <a:t>(</a:t>
            </a:r>
            <a:r>
              <a:rPr lang="ko-KR" altLang="en-US" dirty="0"/>
              <a:t>이동</a:t>
            </a:r>
            <a:r>
              <a:rPr lang="en-US" altLang="ko-KR" dirty="0"/>
              <a:t>)</a:t>
            </a:r>
            <a:r>
              <a:rPr lang="ko-KR" altLang="en-US" dirty="0"/>
              <a:t>시킨다</a:t>
            </a:r>
            <a:r>
              <a:rPr lang="en-US" altLang="ko-KR" dirty="0"/>
              <a:t>.</a:t>
            </a:r>
          </a:p>
          <a:p>
            <a:pPr>
              <a:defRPr/>
            </a:pPr>
            <a:endParaRPr lang="en-US" altLang="ko-KR" dirty="0"/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#!/bin/sh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02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myfunc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() {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03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str=""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04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while [ "$1" != "" ] ; do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05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	str="$str $1"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06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	shift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07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done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08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	echo $str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09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}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10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 err="1">
                <a:effectLst/>
                <a:cs typeface="Times New Roman" panose="02020603050405020304" pitchFamily="18" charset="0"/>
              </a:rPr>
              <a:t>myfunc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AAA BBB CCC DDD EEE FFF GGG HHH III JJJ KKK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  <a:p>
            <a:pPr marL="109537" indent="0" latinLnBrk="1">
              <a:spcAft>
                <a:spcPts val="800"/>
              </a:spcAft>
              <a:buNone/>
            </a:pPr>
            <a:r>
              <a:rPr lang="en-US" altLang="ko-KR" sz="1800" kern="100" dirty="0">
                <a:solidFill>
                  <a:srgbClr val="00B0F0"/>
                </a:solidFill>
                <a:effectLst/>
                <a:cs typeface="Times New Roman" panose="02020603050405020304" pitchFamily="18" charset="0"/>
              </a:rPr>
              <a:t>11</a:t>
            </a:r>
            <a:r>
              <a:rPr lang="en-US" altLang="ko-KR" sz="1800" kern="100" dirty="0">
                <a:effectLst/>
                <a:cs typeface="Times New Roman" panose="02020603050405020304" pitchFamily="18" charset="0"/>
              </a:rPr>
              <a:t> exit 0</a:t>
            </a:r>
            <a:endParaRPr lang="ko-KR" altLang="ko-KR" sz="1800" kern="1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3083AC9-784B-A09D-6568-8FDB22150A03}"/>
              </a:ext>
            </a:extLst>
          </p:cNvPr>
          <p:cNvSpPr/>
          <p:nvPr/>
        </p:nvSpPr>
        <p:spPr>
          <a:xfrm>
            <a:off x="1835696" y="592743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476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9879BE-827C-71E4-F71A-4D12F329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2192035"/>
            <a:ext cx="4755405" cy="130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03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2472</TotalTime>
  <Words>2043</Words>
  <Application>Microsoft Office PowerPoint</Application>
  <PresentationFormat>화면 슬라이드 쇼(4:3)</PresentationFormat>
  <Paragraphs>417</Paragraphs>
  <Slides>30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나눔스퀘어라운드 ExtraBold</vt:lpstr>
      <vt:lpstr>Georgia</vt:lpstr>
      <vt:lpstr>나눔고딕 ExtraBold</vt:lpstr>
      <vt:lpstr>Trebuchet MS</vt:lpstr>
      <vt:lpstr>Times New Roman</vt:lpstr>
      <vt:lpstr>굴림</vt:lpstr>
      <vt:lpstr>나눔바른고딕</vt:lpstr>
      <vt:lpstr>Wingdings 2</vt:lpstr>
      <vt:lpstr>나눔스퀘어 ExtraBold</vt:lpstr>
      <vt:lpstr>Urban</vt:lpstr>
      <vt:lpstr>PowerPoint 프레젠테이션</vt:lpstr>
      <vt:lpstr>우분투의 bash 셸</vt:lpstr>
      <vt:lpstr>환경 변수</vt:lpstr>
      <vt:lpstr>셸 스크립트 프로그래밍</vt:lpstr>
      <vt:lpstr>셸 스크립트의 작성과 실행</vt:lpstr>
      <vt:lpstr>변수의 기본</vt:lpstr>
      <vt:lpstr>변수의 입력과 출력</vt:lpstr>
      <vt:lpstr>숫자 계산</vt:lpstr>
      <vt:lpstr>파라미터 변수</vt:lpstr>
      <vt:lpstr>기본 if 문</vt:lpstr>
      <vt:lpstr>if~else 문</vt:lpstr>
      <vt:lpstr>조건문에 들어가는 비교 연산자</vt:lpstr>
      <vt:lpstr>파일과 관련된 조건</vt:lpstr>
      <vt:lpstr>case~esac 문 (1)</vt:lpstr>
      <vt:lpstr>case~esac 문 (2)</vt:lpstr>
      <vt:lpstr>AND, OR 관계 연산자</vt:lpstr>
      <vt:lpstr>반복문 – for~in문 (1)</vt:lpstr>
      <vt:lpstr>반복문 – for~in문 (2)</vt:lpstr>
      <vt:lpstr>반복문 – while문 (1) </vt:lpstr>
      <vt:lpstr>반복문 – while문 (2)</vt:lpstr>
      <vt:lpstr>반복문 – while문 (3)</vt:lpstr>
      <vt:lpstr>until 문 </vt:lpstr>
      <vt:lpstr>break, continue, exit, return 문 </vt:lpstr>
      <vt:lpstr>사용자 정의 함수 </vt:lpstr>
      <vt:lpstr>함수의 파라미터 사용</vt:lpstr>
      <vt:lpstr>eval</vt:lpstr>
      <vt:lpstr>export</vt:lpstr>
      <vt:lpstr>printf</vt:lpstr>
      <vt:lpstr>set과 $(명령어)</vt:lpstr>
      <vt:lpstr>shift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117</cp:revision>
  <dcterms:created xsi:type="dcterms:W3CDTF">2007-02-12T03:01:34Z</dcterms:created>
  <dcterms:modified xsi:type="dcterms:W3CDTF">2024-10-26T04:15:32Z</dcterms:modified>
</cp:coreProperties>
</file>