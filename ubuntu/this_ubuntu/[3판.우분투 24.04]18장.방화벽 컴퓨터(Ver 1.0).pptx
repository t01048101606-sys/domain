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0"/>
    </p:embeddedFont>
    <p:embeddedFont>
      <p:font typeface="나눔바른고딕" panose="020B0603020101020101" pitchFamily="50" charset="-127"/>
      <p:regular r:id="rId11"/>
      <p:bold r:id="rId12"/>
    </p:embeddedFont>
    <p:embeddedFont>
      <p:font typeface="나눔스퀘어 ExtraBold" panose="020B0600000101010101" pitchFamily="50" charset="-127"/>
      <p:bold r:id="rId13"/>
    </p:embeddedFont>
    <p:embeddedFont>
      <p:font typeface="나눔스퀘어라운드 ExtraBold" panose="020B0600000101010101" pitchFamily="50" charset="-127"/>
      <p:bold r:id="rId14"/>
    </p:embeddedFont>
    <p:embeddedFont>
      <p:font typeface="Georgia" panose="02040502050405020303" pitchFamily="18" charset="0"/>
      <p:regular r:id="rId15"/>
      <p:bold r:id="rId16"/>
      <p:italic r:id="rId17"/>
      <p:boldItalic r:id="rId18"/>
    </p:embeddedFont>
    <p:embeddedFont>
      <p:font typeface="Trebuchet MS" panose="020B0603020202020204" pitchFamily="34" charset="0"/>
      <p:regular r:id="rId19"/>
      <p:bold r:id="rId20"/>
      <p:italic r:id="rId21"/>
      <p:boldItalic r:id="rId22"/>
    </p:embeddedFont>
    <p:embeddedFont>
      <p:font typeface="Wingdings 2" panose="05020102010507070707" pitchFamily="18" charset="2"/>
      <p:regular r:id="rId23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18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방화벽 컴퓨터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8966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18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방화벽 컴퓨터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/6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보안을</a:t>
            </a:r>
            <a:r>
              <a:rPr lang="en-US" altLang="ko-KR" sz="2800" dirty="0"/>
              <a:t> </a:t>
            </a:r>
            <a:r>
              <a:rPr lang="ko-KR" altLang="en-US" sz="2800" dirty="0"/>
              <a:t>위한 네트워크 설계 </a:t>
            </a:r>
            <a:r>
              <a:rPr lang="en-US" altLang="ko-KR" sz="2800" dirty="0"/>
              <a:t>(1) 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720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방화벽이란 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ko-KR" altLang="en-US" sz="2000" dirty="0"/>
              <a:t>외부의 공개된 네트워크와 내부의 사설 네트워크 사이에 자리잡고</a:t>
            </a:r>
            <a:r>
              <a:rPr lang="en-US" altLang="ko-KR" sz="2000" dirty="0"/>
              <a:t>,</a:t>
            </a:r>
            <a:r>
              <a:rPr lang="ko-KR" altLang="en-US" sz="2000" dirty="0"/>
              <a:t> 외부와 내부에 전달되는 </a:t>
            </a:r>
            <a:r>
              <a:rPr lang="ko-KR" altLang="en-US" sz="2000" dirty="0" err="1"/>
              <a:t>트래픽을</a:t>
            </a:r>
            <a:r>
              <a:rPr lang="ko-KR" altLang="en-US" sz="2000" dirty="0"/>
              <a:t> ‘정책</a:t>
            </a:r>
            <a:r>
              <a:rPr lang="en-US" altLang="ko-KR" sz="2000" dirty="0"/>
              <a:t>(Policy)’</a:t>
            </a:r>
            <a:r>
              <a:rPr lang="ko-KR" altLang="en-US" sz="2000" dirty="0"/>
              <a:t>에 의해서 허용</a:t>
            </a:r>
            <a:r>
              <a:rPr lang="en-US" altLang="ko-KR" sz="2000" dirty="0"/>
              <a:t>/</a:t>
            </a:r>
            <a:r>
              <a:rPr lang="ko-KR" altLang="en-US" sz="2000" dirty="0"/>
              <a:t>거부하는 역할을 하는 컴퓨터나 장치를 말함</a:t>
            </a:r>
          </a:p>
          <a:p>
            <a:pPr>
              <a:defRPr/>
            </a:pPr>
            <a:r>
              <a:rPr lang="ko-KR" altLang="en-US" dirty="0"/>
              <a:t>내부의 사용자는 외부의 인터넷을 이용하면서</a:t>
            </a:r>
            <a:r>
              <a:rPr lang="en-US" altLang="ko-KR" dirty="0"/>
              <a:t>,</a:t>
            </a:r>
            <a:r>
              <a:rPr lang="ko-KR" altLang="en-US" dirty="0"/>
              <a:t> 외부에서는 내부로 침입할 수 없게 하는 방법 중 가장 보편적으로 많이 사용하는 방법이 사설</a:t>
            </a:r>
            <a:r>
              <a:rPr lang="en-US" altLang="ko-KR" dirty="0"/>
              <a:t>IP(Private IP)</a:t>
            </a:r>
            <a:r>
              <a:rPr lang="ko-KR" altLang="en-US" dirty="0"/>
              <a:t>라고 흔히 불리는 </a:t>
            </a:r>
            <a:r>
              <a:rPr lang="en-US" altLang="ko-KR" dirty="0" err="1"/>
              <a:t>nonroutable</a:t>
            </a:r>
            <a:r>
              <a:rPr lang="en-US" altLang="ko-KR" dirty="0"/>
              <a:t> IP </a:t>
            </a:r>
            <a:r>
              <a:rPr lang="ko-KR" altLang="en-US" dirty="0"/>
              <a:t>주소를 이용함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사설</a:t>
            </a:r>
            <a:r>
              <a:rPr lang="en-US" altLang="ko-KR" dirty="0"/>
              <a:t>IP</a:t>
            </a:r>
            <a:r>
              <a:rPr lang="ko-KR" altLang="en-US" dirty="0"/>
              <a:t>의 주소 범위는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10.0.0.0 ~ 10.255.255.255, 172.16.0.0 ~ 172.31.255.255 , 192.168.0.0~192.168.255.255 </a:t>
            </a:r>
            <a:r>
              <a:rPr lang="ko-KR" altLang="en-US" sz="2000" dirty="0"/>
              <a:t>세 범위가 있음</a:t>
            </a:r>
            <a:endParaRPr lang="en-US" altLang="ko-KR" sz="2000" dirty="0"/>
          </a:p>
          <a:p>
            <a:pPr>
              <a:defRPr/>
            </a:pPr>
            <a:r>
              <a:rPr lang="ko-KR" altLang="en-US" dirty="0"/>
              <a:t>사설</a:t>
            </a:r>
            <a:r>
              <a:rPr lang="en-US" altLang="ko-KR" dirty="0"/>
              <a:t>IP</a:t>
            </a:r>
            <a:r>
              <a:rPr lang="ko-KR" altLang="en-US" dirty="0"/>
              <a:t>주소의 컴퓨터가 외부의 인터넷으로 접속할 수 있도록 해 주는 방법을 </a:t>
            </a:r>
            <a:r>
              <a:rPr lang="en-US" altLang="ko-KR" dirty="0"/>
              <a:t>IP </a:t>
            </a:r>
            <a:r>
              <a:rPr lang="ko-KR" altLang="en-US" dirty="0"/>
              <a:t>마스커레이딩</a:t>
            </a:r>
            <a:r>
              <a:rPr lang="en-US" altLang="ko-KR" dirty="0"/>
              <a:t>(Masquerading)</a:t>
            </a:r>
            <a:r>
              <a:rPr lang="ko-KR" altLang="en-US" dirty="0"/>
              <a:t>이라는 함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E75AAF0-BA21-B80D-B3A1-015306ED56E8}"/>
              </a:ext>
            </a:extLst>
          </p:cNvPr>
          <p:cNvSpPr/>
          <p:nvPr/>
        </p:nvSpPr>
        <p:spPr>
          <a:xfrm>
            <a:off x="536408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771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86528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보안을</a:t>
            </a:r>
            <a:r>
              <a:rPr lang="en-US" altLang="ko-KR" sz="2800" dirty="0"/>
              <a:t> </a:t>
            </a:r>
            <a:r>
              <a:rPr lang="ko-KR" altLang="en-US" sz="2800" dirty="0"/>
              <a:t>위한 네트워크 설계 </a:t>
            </a:r>
            <a:r>
              <a:rPr lang="en-US" altLang="ko-KR" sz="2800" dirty="0"/>
              <a:t>(2) 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720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보편적인 회사 네트워크 구성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68689A17-D7D1-8BDD-C11B-5BA45F085099}"/>
              </a:ext>
            </a:extLst>
          </p:cNvPr>
          <p:cNvSpPr/>
          <p:nvPr/>
        </p:nvSpPr>
        <p:spPr>
          <a:xfrm>
            <a:off x="536408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772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C33624-1490-C4D8-C62A-9EDFBFF88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43" y="2021210"/>
            <a:ext cx="8341713" cy="404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7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리눅스 방화벽 구축</a:t>
            </a:r>
            <a:r>
              <a:rPr lang="en-US" altLang="ko-KR" sz="2800" dirty="0"/>
              <a:t>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720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dirty="0"/>
              <a:t>실습에서 구현할 네트워크의 구성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00BBC6A-3F08-F2A8-3D68-A7B2CC4D29D0}"/>
              </a:ext>
            </a:extLst>
          </p:cNvPr>
          <p:cNvSpPr/>
          <p:nvPr/>
        </p:nvSpPr>
        <p:spPr>
          <a:xfrm>
            <a:off x="370790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774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1683F5E-FC59-C115-E103-DCAC1ED0C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47" y="1844824"/>
            <a:ext cx="6961905" cy="4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39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E15F6-E9B9-4A2A-8951-560A782214E6}"/>
              </a:ext>
            </a:extLst>
          </p:cNvPr>
          <p:cNvSpPr txBox="1">
            <a:spLocks/>
          </p:cNvSpPr>
          <p:nvPr/>
        </p:nvSpPr>
        <p:spPr bwMode="auto">
          <a:xfrm>
            <a:off x="773341" y="701507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방화벽 컴퓨터 구현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2AB8B97C-D0B4-4B5C-A6DA-8B410BD4F7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30929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sz="2000" dirty="0"/>
              <a:t>3</a:t>
            </a:r>
            <a:r>
              <a:rPr lang="ko-KR" altLang="en-US" sz="2000" dirty="0"/>
              <a:t>대의 컴퓨터를 이용해서 </a:t>
            </a:r>
            <a:r>
              <a:rPr lang="en-US" altLang="ko-KR" sz="2000" dirty="0"/>
              <a:t>[</a:t>
            </a:r>
            <a:r>
              <a:rPr lang="ko-KR" altLang="en-US" sz="2000" dirty="0"/>
              <a:t>그림 </a:t>
            </a:r>
            <a:r>
              <a:rPr lang="en-US" altLang="ko-KR" sz="2000" dirty="0"/>
              <a:t>18-2]</a:t>
            </a:r>
            <a:r>
              <a:rPr lang="ko-KR" altLang="en-US" sz="2000" dirty="0"/>
              <a:t> 방화벽을 구성한다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실제 네트워크 구성에 대한 이해의 폭을 넓힌다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iptables </a:t>
            </a:r>
            <a:r>
              <a:rPr lang="ko-KR" altLang="en-US" sz="2000" dirty="0"/>
              <a:t>유틸리티의 활용법을 이해한다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</a:t>
            </a:r>
            <a:r>
              <a:rPr lang="ko-KR" altLang="en-US" dirty="0"/>
              <a:t>외부에서 방화벽을 통한 내부 웹 서버 접근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96E3A9D1-C52E-7559-7589-8A5AAA0B15D7}"/>
              </a:ext>
            </a:extLst>
          </p:cNvPr>
          <p:cNvSpPr/>
          <p:nvPr/>
        </p:nvSpPr>
        <p:spPr>
          <a:xfrm>
            <a:off x="500404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776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소프트웨어, 폰트, 컴퓨터 아이콘이(가) 표시된 사진&#10;&#10;자동 생성된 설명">
            <a:extLst>
              <a:ext uri="{FF2B5EF4-FFF2-40B4-BE49-F238E27FC236}">
                <a16:creationId xmlns:a16="http://schemas.microsoft.com/office/drawing/2014/main" id="{05FC2F94-0B77-50A7-88D0-2A9EC2351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333" y="3861048"/>
            <a:ext cx="6133333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44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규칙을 사용한다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iptables --table 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--append PREROUTING --proto 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tcp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--in-interface ens32 --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dport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21 --jump DNAT --to-destination 10.1.1.10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9DA8739E-EFCD-A3A0-26B8-9F8E9208262D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795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A4E08C-BF6F-820A-8D63-31F7CA248591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18-1 </a:t>
            </a:r>
          </a:p>
        </p:txBody>
      </p:sp>
    </p:spTree>
    <p:extLst>
      <p:ext uri="{BB962C8B-B14F-4D97-AF65-F5344CB8AC3E}">
        <p14:creationId xmlns:p14="http://schemas.microsoft.com/office/powerpoint/2010/main" val="3897927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2403</TotalTime>
  <Words>207</Words>
  <Application>Microsoft Office PowerPoint</Application>
  <PresentationFormat>화면 슬라이드 쇼(4:3)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나눔바른고딕</vt:lpstr>
      <vt:lpstr>Georgia</vt:lpstr>
      <vt:lpstr>나눔스퀘어 ExtraBold</vt:lpstr>
      <vt:lpstr>Trebuchet MS</vt:lpstr>
      <vt:lpstr>나눔고딕 ExtraBold</vt:lpstr>
      <vt:lpstr>굴림</vt:lpstr>
      <vt:lpstr>Wingdings 2</vt:lpstr>
      <vt:lpstr>나눔스퀘어라운드 ExtraBold</vt:lpstr>
      <vt:lpstr>Urban</vt:lpstr>
      <vt:lpstr>PowerPoint 프레젠테이션</vt:lpstr>
      <vt:lpstr>보안을 위한 네트워크 설계 (1)  </vt:lpstr>
      <vt:lpstr>보안을 위한 네트워크 설계 (2)  </vt:lpstr>
      <vt:lpstr>리눅스 방화벽 구축 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124</cp:revision>
  <dcterms:created xsi:type="dcterms:W3CDTF">2007-02-12T03:01:34Z</dcterms:created>
  <dcterms:modified xsi:type="dcterms:W3CDTF">2024-10-26T04:32:26Z</dcterms:modified>
</cp:coreProperties>
</file>