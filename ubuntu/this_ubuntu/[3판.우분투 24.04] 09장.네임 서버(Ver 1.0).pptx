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20"/>
    </p:embeddedFont>
    <p:embeddedFont>
      <p:font typeface="나눔바른고딕" panose="020B0603020101020101" pitchFamily="50" charset="-127"/>
      <p:regular r:id="rId21"/>
      <p:bold r:id="rId22"/>
    </p:embeddedFont>
    <p:embeddedFont>
      <p:font typeface="나눔스퀘어 ExtraBold" panose="020B0600000101010101" pitchFamily="50" charset="-127"/>
      <p:bold r:id="rId23"/>
    </p:embeddedFont>
    <p:embeddedFont>
      <p:font typeface="나눔스퀘어라운드 ExtraBold" panose="020B0600000101010101" pitchFamily="50" charset="-127"/>
      <p:bold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  <p:embeddedFont>
      <p:font typeface="Wingdings 2" panose="05020102010507070707" pitchFamily="18" charset="2"/>
      <p:regular r:id="rId33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7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E50939BC-2A12-4659-8047-9A921222EC84}" type="slidenum">
              <a:rPr lang="ko-KR" altLang="en-US"/>
              <a:pPr eaLnBrk="1" hangingPunct="1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656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72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5CB28BC4-C770-4419-AE74-87C8B4A5CBFD}" type="slidenum">
              <a:rPr lang="ko-KR" altLang="en-US"/>
              <a:pPr eaLnBrk="1" hangingPunct="1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44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7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B679245C-BD17-4C63-A6C9-12AA3616B7A3}" type="slidenum">
              <a:rPr lang="ko-KR" altLang="en-US"/>
              <a:pPr eaLnBrk="1" hangingPunct="1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1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89594ECD-A24A-4A5A-A16C-A880D04046F9}" type="slidenum">
              <a:rPr lang="ko-KR" altLang="en-US"/>
              <a:pPr eaLnBrk="1" hangingPunct="1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426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09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네임 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5247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09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네임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/16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네임 서버 개요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네임 서버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DNS(Domain Name System) </a:t>
            </a:r>
            <a:r>
              <a:rPr lang="ko-KR" altLang="en-US" dirty="0"/>
              <a:t>서버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도메인 이름을 </a:t>
            </a:r>
            <a:r>
              <a:rPr lang="en-US" altLang="ko-KR" dirty="0"/>
              <a:t>IP </a:t>
            </a:r>
            <a:r>
              <a:rPr lang="ko-KR" altLang="en-US" dirty="0"/>
              <a:t>주소로 변환시켜 주는 역할 </a:t>
            </a:r>
            <a:br>
              <a:rPr lang="en-US" altLang="ko-KR" dirty="0"/>
            </a:br>
            <a:r>
              <a:rPr lang="en-US" altLang="ko-KR" dirty="0"/>
              <a:t>= </a:t>
            </a:r>
            <a:r>
              <a:rPr lang="ko-KR" altLang="en-US" dirty="0"/>
              <a:t>이름 해석</a:t>
            </a:r>
            <a:r>
              <a:rPr lang="en-US" altLang="ko-KR" dirty="0"/>
              <a:t>(Name Resolution)</a:t>
            </a:r>
            <a:r>
              <a:rPr lang="ko-KR" altLang="en-US" dirty="0"/>
              <a:t> </a:t>
            </a:r>
            <a:endParaRPr lang="en-US" altLang="ko-KR" dirty="0"/>
          </a:p>
          <a:p>
            <a:pPr eaLnBrk="1" hangingPunct="1">
              <a:buNone/>
              <a:defRPr/>
            </a:pPr>
            <a:r>
              <a:rPr lang="ko-KR" altLang="en-US" dirty="0"/>
              <a:t>  예</a:t>
            </a:r>
            <a:r>
              <a:rPr lang="en-US" altLang="ko-KR" dirty="0"/>
              <a:t>) www.nate.com → 120.50.131.112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ko-KR" altLang="en-US" dirty="0"/>
              <a:t>①가장 초기의 네트워크 접속 방법 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컴퓨터가 몇 대 안 됨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사용자가 모두 외워서</a:t>
            </a:r>
            <a:br>
              <a:rPr lang="en-US" altLang="ko-KR" sz="2000" dirty="0"/>
            </a:br>
            <a:r>
              <a:rPr lang="ko-KR" altLang="en-US" sz="2000" dirty="0"/>
              <a:t>직접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주소로 접근함</a:t>
            </a:r>
            <a:endParaRPr lang="en-US" altLang="ko-KR" sz="2000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AAFB612-28EA-CB76-207F-A697D14CC9DC}"/>
              </a:ext>
            </a:extLst>
          </p:cNvPr>
          <p:cNvSpPr/>
          <p:nvPr/>
        </p:nvSpPr>
        <p:spPr>
          <a:xfrm>
            <a:off x="3551322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2CC9C6-A619-7523-E349-900D2EBF2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983806"/>
            <a:ext cx="3596776" cy="33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5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네임 서버 개요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ko-KR" altLang="en-US" dirty="0"/>
              <a:t>②</a:t>
            </a:r>
            <a:r>
              <a:rPr lang="en-US" altLang="ko-KR" dirty="0"/>
              <a:t> hosts </a:t>
            </a:r>
            <a:r>
              <a:rPr lang="ko-KR" altLang="en-US" dirty="0"/>
              <a:t>파일을 이용하여 네트워크 접속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인터넷에 연결된 컴퓨터가 수십 </a:t>
            </a:r>
            <a:r>
              <a:rPr lang="en-US" altLang="ko-KR" sz="2000" dirty="0"/>
              <a:t>~ </a:t>
            </a:r>
            <a:r>
              <a:rPr lang="ko-KR" altLang="en-US" sz="2000" dirty="0"/>
              <a:t>수백대로 늘어남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‘hosts’ </a:t>
            </a:r>
            <a:r>
              <a:rPr lang="ko-KR" altLang="en-US" sz="2000" dirty="0"/>
              <a:t>파일에 </a:t>
            </a:r>
            <a:r>
              <a:rPr lang="en-US" altLang="ko-KR" sz="2000" dirty="0"/>
              <a:t>URL</a:t>
            </a:r>
            <a:r>
              <a:rPr lang="ko-KR" altLang="en-US" sz="2000" dirty="0"/>
              <a:t>과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주소를 기록해 놓는 방식 사용</a:t>
            </a:r>
            <a:endParaRPr lang="en-US" altLang="ko-KR" sz="2000" dirty="0"/>
          </a:p>
          <a:p>
            <a:pPr marL="703263" lvl="2" indent="0">
              <a:buNone/>
              <a:defRPr/>
            </a:pPr>
            <a:r>
              <a:rPr lang="ko-KR" altLang="en-US" sz="1400" dirty="0">
                <a:solidFill>
                  <a:srgbClr val="0070C0"/>
                </a:solidFill>
              </a:rPr>
              <a:t>예</a:t>
            </a:r>
            <a:r>
              <a:rPr lang="en-US" altLang="ko-KR" sz="1400" dirty="0">
                <a:solidFill>
                  <a:srgbClr val="0070C0"/>
                </a:solidFill>
              </a:rPr>
              <a:t>) </a:t>
            </a:r>
            <a:r>
              <a:rPr lang="en-US" altLang="ko-KR" sz="1800" dirty="0">
                <a:solidFill>
                  <a:srgbClr val="0070C0"/>
                </a:solidFill>
              </a:rPr>
              <a:t>102.54.94.97 rhino.acme.com</a:t>
            </a:r>
          </a:p>
          <a:p>
            <a:pPr marL="703263" lvl="2" indent="0"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    38.25.63.10 x.acme.com</a:t>
            </a:r>
          </a:p>
          <a:p>
            <a:pPr marL="703263" lvl="2" indent="0"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    127.0.0.1 localhost</a:t>
            </a:r>
          </a:p>
          <a:p>
            <a:pPr marL="703263" lvl="2" indent="0">
              <a:buNone/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    ::1 localhost</a:t>
            </a:r>
            <a:endParaRPr lang="en-US" altLang="ko-KR" sz="54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en-US" altLang="ko-KR" dirty="0"/>
              <a:t>Windows</a:t>
            </a:r>
          </a:p>
          <a:p>
            <a:pPr marL="703263" lvl="2" indent="0" eaLnBrk="1" hangingPunct="1">
              <a:buNone/>
              <a:defRPr/>
            </a:pPr>
            <a:r>
              <a:rPr lang="en-US" altLang="ko-KR" dirty="0">
                <a:solidFill>
                  <a:srgbClr val="0070C0"/>
                </a:solidFill>
              </a:rPr>
              <a:t>C:\Windows\system32\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       drivers\etc\hosts</a:t>
            </a:r>
          </a:p>
          <a:p>
            <a:pPr lvl="1" eaLnBrk="1" hangingPunct="1">
              <a:defRPr/>
            </a:pPr>
            <a:r>
              <a:rPr lang="ko-KR" altLang="en-US" dirty="0" err="1"/>
              <a:t>리눅스</a:t>
            </a:r>
            <a:endParaRPr lang="en-US" altLang="ko-KR" dirty="0"/>
          </a:p>
          <a:p>
            <a:pPr marL="703263" lvl="2" indent="0" eaLnBrk="1" hangingPunct="1">
              <a:buNone/>
              <a:defRPr/>
            </a:pPr>
            <a:r>
              <a:rPr lang="en-US" altLang="ko-KR" dirty="0">
                <a:solidFill>
                  <a:srgbClr val="0070C0"/>
                </a:solidFill>
              </a:rPr>
              <a:t>/etc/hosts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EECA84-B71C-DE9F-8575-2B40A051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702" y="2780928"/>
            <a:ext cx="4366597" cy="3549576"/>
          </a:xfrm>
          <a:prstGeom prst="rect">
            <a:avLst/>
          </a:prstGeom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F470E74A-6009-A6AA-D50C-3AF8C9BFFE6F}"/>
              </a:ext>
            </a:extLst>
          </p:cNvPr>
          <p:cNvSpPr/>
          <p:nvPr/>
        </p:nvSpPr>
        <p:spPr>
          <a:xfrm>
            <a:off x="3551322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90897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네임 서버 개요 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ko-KR" altLang="en-US" dirty="0"/>
              <a:t>③</a:t>
            </a:r>
            <a:r>
              <a:rPr lang="en-US" altLang="ko-KR" dirty="0"/>
              <a:t> </a:t>
            </a:r>
            <a:r>
              <a:rPr lang="ko-KR" altLang="en-US" dirty="0"/>
              <a:t>네임 서버를 이용하여 네트워크 접속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기하급수적으로 늘어나는 네트워크 상의 컴퓨터에 대한 모든 </a:t>
            </a:r>
            <a:r>
              <a:rPr lang="en-US" altLang="ko-KR" sz="2000" dirty="0"/>
              <a:t>IP </a:t>
            </a:r>
            <a:r>
              <a:rPr lang="ko-KR" altLang="en-US" sz="2000" dirty="0"/>
              <a:t>정보를 파일 하나에 기록하는 것은 무리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이름 해석</a:t>
            </a:r>
            <a:r>
              <a:rPr lang="en-US" altLang="ko-KR" sz="2000" dirty="0"/>
              <a:t>(Name Resolution)</a:t>
            </a:r>
            <a:r>
              <a:rPr lang="ko-KR" altLang="en-US" sz="2000" dirty="0"/>
              <a:t>을 전문적으로 해 주는 서버 컴퓨터가 필요해짐 </a:t>
            </a:r>
            <a:r>
              <a:rPr lang="en-US" altLang="ko-KR" sz="2000" dirty="0"/>
              <a:t>(=DNS </a:t>
            </a:r>
            <a:r>
              <a:rPr lang="ko-KR" altLang="en-US" sz="2000" dirty="0"/>
              <a:t>서버 </a:t>
            </a:r>
            <a:r>
              <a:rPr lang="en-US" altLang="ko-KR" sz="2000" dirty="0"/>
              <a:t>= </a:t>
            </a:r>
            <a:r>
              <a:rPr lang="ko-KR" altLang="en-US" sz="2000" dirty="0"/>
              <a:t>네임 서버</a:t>
            </a:r>
            <a:r>
              <a:rPr lang="en-US" altLang="ko-KR" sz="2000" dirty="0"/>
              <a:t>)</a:t>
            </a:r>
          </a:p>
          <a:p>
            <a:pPr lvl="1">
              <a:defRPr/>
            </a:pPr>
            <a:r>
              <a:rPr lang="ko-KR" altLang="en-US" sz="2000" dirty="0"/>
              <a:t>전화 안내 서비스인 </a:t>
            </a:r>
            <a:r>
              <a:rPr lang="en-US" altLang="ko-KR" sz="2000" dirty="0"/>
              <a:t>114</a:t>
            </a:r>
            <a:r>
              <a:rPr lang="ko-KR" altLang="en-US" sz="2000" dirty="0"/>
              <a:t>와 같은 역할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네임 서버는 인터넷에서 변화하는</a:t>
            </a:r>
            <a:br>
              <a:rPr lang="en-US" altLang="ko-KR" sz="2000" dirty="0"/>
            </a:br>
            <a:r>
              <a:rPr lang="ko-KR" altLang="en-US" sz="2000" dirty="0"/>
              <a:t>모든 컴퓨터의 </a:t>
            </a:r>
            <a:r>
              <a:rPr lang="en-US" altLang="ko-KR" sz="2000" dirty="0"/>
              <a:t>URL</a:t>
            </a:r>
            <a:r>
              <a:rPr lang="ko-KR" altLang="en-US" sz="2000" dirty="0"/>
              <a:t>과 </a:t>
            </a:r>
            <a:r>
              <a:rPr lang="en-US" altLang="ko-KR" sz="2000" dirty="0"/>
              <a:t>IP </a:t>
            </a:r>
            <a:r>
              <a:rPr lang="ko-KR" altLang="en-US" sz="2000" dirty="0"/>
              <a:t>정보를 </a:t>
            </a:r>
            <a:br>
              <a:rPr lang="en-US" altLang="ko-KR" sz="2000" dirty="0"/>
            </a:br>
            <a:r>
              <a:rPr lang="ko-KR" altLang="en-US" sz="2000" dirty="0"/>
              <a:t>거의 실시간으로 제공하므로</a:t>
            </a:r>
            <a:r>
              <a:rPr lang="en-US" altLang="ko-KR" sz="2000" dirty="0"/>
              <a:t>, </a:t>
            </a:r>
            <a:br>
              <a:rPr lang="en-US" altLang="ko-KR" sz="2000" dirty="0"/>
            </a:br>
            <a:r>
              <a:rPr lang="ko-KR" altLang="en-US" sz="2000" dirty="0"/>
              <a:t>사용자는 더 이상 </a:t>
            </a:r>
            <a:r>
              <a:rPr lang="en-US" altLang="ko-KR" sz="2000" dirty="0"/>
              <a:t>URL</a:t>
            </a:r>
            <a:r>
              <a:rPr lang="ko-KR" altLang="en-US" sz="2000" dirty="0"/>
              <a:t>에 해당하는 </a:t>
            </a:r>
            <a:br>
              <a:rPr lang="en-US" altLang="ko-KR" sz="2000" dirty="0"/>
            </a:br>
            <a:r>
              <a:rPr lang="en-US" altLang="ko-KR" sz="2000" dirty="0"/>
              <a:t>IP</a:t>
            </a:r>
            <a:r>
              <a:rPr lang="ko-KR" altLang="en-US" sz="2000" dirty="0"/>
              <a:t>주소를 신경 쓸 필요가 없어짐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en-US" altLang="ko-KR" sz="2000" dirty="0"/>
              <a:t>URL</a:t>
            </a:r>
            <a:r>
              <a:rPr lang="ko-KR" altLang="en-US" sz="2000" dirty="0"/>
              <a:t>만 알고 있으면 어디서든지 </a:t>
            </a:r>
            <a:br>
              <a:rPr lang="en-US" altLang="ko-KR" sz="2000" dirty="0"/>
            </a:br>
            <a:r>
              <a:rPr lang="ko-KR" altLang="en-US" sz="2000" dirty="0"/>
              <a:t>해당하는 컴퓨터에 접속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9F468F8-A57C-6D0C-3BC1-A573B69E4BB7}"/>
              </a:ext>
            </a:extLst>
          </p:cNvPr>
          <p:cNvSpPr/>
          <p:nvPr/>
        </p:nvSpPr>
        <p:spPr>
          <a:xfrm>
            <a:off x="3551322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2F8EB4-7D98-89C7-D8AB-786C4D1E3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3429000"/>
            <a:ext cx="4104105" cy="297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5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72C33-0FD9-4AD5-BE95-3E79070656E2}"/>
              </a:ext>
            </a:extLst>
          </p:cNvPr>
          <p:cNvSpPr txBox="1">
            <a:spLocks/>
          </p:cNvSpPr>
          <p:nvPr/>
        </p:nvSpPr>
        <p:spPr bwMode="auto">
          <a:xfrm>
            <a:off x="773341" y="60976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/</a:t>
            </a:r>
            <a:r>
              <a:rPr kumimoji="0" lang="en-US" altLang="ko-KR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etc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/host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 설정 확인 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C0384D58-FC72-47FB-9CC8-A70D27250E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3918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sz="2000" dirty="0"/>
              <a:t>/etc/hosts </a:t>
            </a:r>
            <a:r>
              <a:rPr lang="ko-KR" altLang="en-US" sz="2000" dirty="0"/>
              <a:t>파일의 작동을 이해한다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네임 서버가 하는 기본적인 역할을 이해한다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IP</a:t>
            </a:r>
            <a:r>
              <a:rPr lang="ko-KR" altLang="en-US" sz="2000" dirty="0"/>
              <a:t>주소를 얻기 위해 어떤 순서로 작동하는지 확인한다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/>
              <a:t>엉뚱한 사이트로 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9CEF038D-6548-1937-648C-46DE192104C9}"/>
              </a:ext>
            </a:extLst>
          </p:cNvPr>
          <p:cNvSpPr/>
          <p:nvPr/>
        </p:nvSpPr>
        <p:spPr>
          <a:xfrm>
            <a:off x="5868144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2B53694B-6BE0-04C8-20DD-9C828E85D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863676"/>
            <a:ext cx="7236296" cy="25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6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IP</a:t>
            </a:r>
            <a:r>
              <a:rPr lang="ko-KR" altLang="en-US" sz="2800" dirty="0"/>
              <a:t>주소를 얻는 내부 흐름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5B460B-74D2-13FD-CB00-42034FE7D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47" y="1314777"/>
            <a:ext cx="7161905" cy="5047619"/>
          </a:xfrm>
          <a:prstGeom prst="rect">
            <a:avLst/>
          </a:prstGeom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7FFD8E8E-0E29-D950-5997-A48DAA0AA526}"/>
              </a:ext>
            </a:extLst>
          </p:cNvPr>
          <p:cNvSpPr/>
          <p:nvPr/>
        </p:nvSpPr>
        <p:spPr>
          <a:xfrm>
            <a:off x="4355976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516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93268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도메인 이름 체계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sz="2000" dirty="0"/>
              <a:t>초창기 인터넷에서는</a:t>
            </a:r>
            <a:r>
              <a:rPr lang="en-US" altLang="ko-KR" sz="2000" dirty="0"/>
              <a:t> 1</a:t>
            </a:r>
            <a:r>
              <a:rPr lang="ko-KR" altLang="en-US" sz="2000" dirty="0"/>
              <a:t>대의 네임 서버만으로도 충분히 </a:t>
            </a:r>
            <a:r>
              <a:rPr lang="en-US" altLang="ko-KR" sz="2000" dirty="0"/>
              <a:t>IP</a:t>
            </a:r>
            <a:r>
              <a:rPr lang="ko-KR" altLang="en-US" sz="2000" dirty="0"/>
              <a:t>주소와 이름의 관리가 가능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하지만 인터넷이 폭발적으로 확장되면서</a:t>
            </a:r>
            <a:r>
              <a:rPr lang="en-US" altLang="ko-KR" sz="2000" dirty="0"/>
              <a:t>, </a:t>
            </a:r>
            <a:r>
              <a:rPr lang="ko-KR" altLang="en-US" sz="2000" dirty="0"/>
              <a:t>몇 대의 네임 서버로는 실시간으로 인터넷 상의 수많은 컴퓨터들을 관리할 수가 없게 되었음</a:t>
            </a:r>
            <a:endParaRPr lang="en-US" altLang="ko-KR" sz="2000" dirty="0"/>
          </a:p>
          <a:p>
            <a:pPr eaLnBrk="1" hangingPunct="1">
              <a:defRPr/>
            </a:pPr>
            <a:r>
              <a:rPr lang="ko-KR" altLang="en-US" sz="2000" dirty="0"/>
              <a:t>그래서 트리 구조와 같은 </a:t>
            </a:r>
            <a:r>
              <a:rPr lang="en-US" altLang="ko-KR" sz="2000" dirty="0"/>
              <a:t>‘</a:t>
            </a:r>
            <a:r>
              <a:rPr lang="ko-KR" altLang="en-US" sz="2000" dirty="0"/>
              <a:t>도메인 이름 체계</a:t>
            </a:r>
            <a:r>
              <a:rPr lang="en-US" altLang="ko-KR" sz="2000" dirty="0"/>
              <a:t>’</a:t>
            </a:r>
            <a:r>
              <a:rPr lang="ko-KR" altLang="en-US" sz="2000" dirty="0"/>
              <a:t>를 고안함</a:t>
            </a: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2CC535D-19B3-2644-7510-EF6C1010F8F8}"/>
              </a:ext>
            </a:extLst>
          </p:cNvPr>
          <p:cNvSpPr/>
          <p:nvPr/>
        </p:nvSpPr>
        <p:spPr>
          <a:xfrm>
            <a:off x="3419872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518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E81785-2935-5E35-6BBC-B1EA719B1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068111"/>
            <a:ext cx="5695854" cy="343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5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로컬 네임 서버가 작동하는 순서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en-US" altLang="ko-KR" sz="2000" dirty="0"/>
              <a:t>PC</a:t>
            </a:r>
            <a:r>
              <a:rPr lang="ko-KR" altLang="en-US" sz="2000" dirty="0"/>
              <a:t>가 사용하는 네임 서버가 </a:t>
            </a:r>
            <a:r>
              <a:rPr lang="en-US" altLang="ko-KR" sz="2000" dirty="0"/>
              <a:t>/etc/</a:t>
            </a:r>
            <a:r>
              <a:rPr lang="en-US" altLang="ko-KR" sz="2000" dirty="0" err="1"/>
              <a:t>resolv.conf</a:t>
            </a:r>
            <a:r>
              <a:rPr lang="en-US" altLang="ko-KR" sz="2000" dirty="0"/>
              <a:t> </a:t>
            </a:r>
            <a:r>
              <a:rPr lang="ko-KR" altLang="en-US" sz="2000" dirty="0"/>
              <a:t>파일에 </a:t>
            </a:r>
            <a:r>
              <a:rPr lang="en-US" altLang="ko-KR" sz="2000" dirty="0"/>
              <a:t>'nameserver IP</a:t>
            </a:r>
            <a:r>
              <a:rPr lang="ko-KR" altLang="en-US" sz="2000" dirty="0"/>
              <a:t>주소</a:t>
            </a:r>
            <a:r>
              <a:rPr lang="en-US" altLang="ko-KR" sz="2000" dirty="0"/>
              <a:t>'</a:t>
            </a:r>
            <a:r>
              <a:rPr lang="ko-KR" altLang="en-US" sz="2000" dirty="0"/>
              <a:t>로 설정되어 있는데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 네임 서버를 로컬 네임 서버라고 부름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그래서 </a:t>
            </a:r>
            <a:r>
              <a:rPr lang="en-US" altLang="ko-KR" sz="2000" dirty="0"/>
              <a:t>www.nate.com</a:t>
            </a:r>
            <a:r>
              <a:rPr lang="ko-KR" altLang="en-US" sz="2000" dirty="0"/>
              <a:t>의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주소를 요구하면 이 로컬 네임 서버에 질문을 함</a:t>
            </a: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17F74FF-5C3C-0B11-8E0F-B889F2FA354E}"/>
              </a:ext>
            </a:extLst>
          </p:cNvPr>
          <p:cNvSpPr/>
          <p:nvPr/>
        </p:nvSpPr>
        <p:spPr>
          <a:xfrm>
            <a:off x="5508104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519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613B7FCC-3D64-E3E3-F9F5-E812E7888663}"/>
              </a:ext>
            </a:extLst>
          </p:cNvPr>
          <p:cNvSpPr/>
          <p:nvPr/>
        </p:nvSpPr>
        <p:spPr>
          <a:xfrm>
            <a:off x="251693" y="3429000"/>
            <a:ext cx="3221579" cy="1737709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로컬 네임 서버는 의외로 아는 것이 별로 없다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로컬 네임 서버가 혼자서 전 세계의 모든 컴퓨터의 도메인 이름을 관리할 수는 없기 때문이다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그래서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 그림과 같이 작동하게 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15415D-BB56-3312-46FA-57DC637AF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2458902"/>
            <a:ext cx="5229572" cy="398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8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CA1013B-31EF-665A-60C0-EEAFA707B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517" y="1795068"/>
            <a:ext cx="5656795" cy="4727842"/>
          </a:xfrm>
          <a:prstGeom prst="rect">
            <a:avLst/>
          </a:prstGeom>
        </p:spPr>
      </p:pic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캐싱 전용 네임 서버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en-US" altLang="ko-KR" sz="2000" dirty="0"/>
              <a:t>PC</a:t>
            </a:r>
            <a:r>
              <a:rPr lang="ko-KR" altLang="en-US" sz="2000" dirty="0"/>
              <a:t>에서 </a:t>
            </a:r>
            <a:r>
              <a:rPr lang="en-US" altLang="ko-KR" sz="2000" dirty="0"/>
              <a:t>URL</a:t>
            </a:r>
            <a:r>
              <a:rPr lang="ko-KR" altLang="en-US" sz="2000" dirty="0"/>
              <a:t>로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주소를 얻고자 할 때</a:t>
            </a:r>
            <a:r>
              <a:rPr lang="en-US" altLang="ko-KR" sz="2000" dirty="0"/>
              <a:t>, </a:t>
            </a:r>
            <a:r>
              <a:rPr lang="ko-KR" altLang="en-US" sz="2000" dirty="0"/>
              <a:t>해당하는 </a:t>
            </a:r>
            <a:r>
              <a:rPr lang="en-US" altLang="ko-KR" sz="2000" dirty="0"/>
              <a:t>URL</a:t>
            </a:r>
            <a:r>
              <a:rPr lang="ko-KR" altLang="en-US" sz="2000" dirty="0"/>
              <a:t>의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주소를 알려주는 네임 서버를 말함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46532F7-9E27-16CE-6EC8-7F02E7EC6AC2}"/>
              </a:ext>
            </a:extLst>
          </p:cNvPr>
          <p:cNvSpPr/>
          <p:nvPr/>
        </p:nvSpPr>
        <p:spPr>
          <a:xfrm>
            <a:off x="3779912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521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3113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A1B48-7601-4A50-A582-285205366B6F}"/>
              </a:ext>
            </a:extLst>
          </p:cNvPr>
          <p:cNvSpPr txBox="1">
            <a:spLocks/>
          </p:cNvSpPr>
          <p:nvPr/>
        </p:nvSpPr>
        <p:spPr bwMode="auto">
          <a:xfrm>
            <a:off x="773341" y="60976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ko-KR" altLang="en-US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캐싱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전용 네임 서버 구축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Server </a:t>
            </a:r>
            <a:r>
              <a:rPr lang="ko-KR" altLang="en-US" sz="2000" dirty="0"/>
              <a:t>가상머신을 캐싱 전용 네임 서버로 만든다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네임서버와 관련된 패키지를 설치하고</a:t>
            </a:r>
            <a:r>
              <a:rPr lang="en-US" altLang="ko-KR" sz="2000" dirty="0"/>
              <a:t>, </a:t>
            </a:r>
            <a:r>
              <a:rPr lang="ko-KR" altLang="en-US" sz="2000" dirty="0"/>
              <a:t>설정파일을 수정한다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구축한 캐싱 전용 네임 서버 작동 확인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8B567050-325A-4125-975B-732025DA0A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39188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491A01EC-F49A-DDEB-CF3C-A97ED6AF0490}"/>
              </a:ext>
            </a:extLst>
          </p:cNvPr>
          <p:cNvSpPr/>
          <p:nvPr/>
        </p:nvSpPr>
        <p:spPr>
          <a:xfrm>
            <a:off x="5796136" y="50919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522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3AE09053-DAD0-02F6-029B-434659288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429000"/>
            <a:ext cx="5623430" cy="292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4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마스터 네임 서버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sz="2000" dirty="0"/>
              <a:t>도메인에 속해 있는 컴퓨터들의 이름을 관리하고</a:t>
            </a:r>
            <a:r>
              <a:rPr lang="en-US" altLang="ko-KR" sz="2000" dirty="0"/>
              <a:t>, </a:t>
            </a:r>
            <a:r>
              <a:rPr lang="ko-KR" altLang="en-US" sz="2000" dirty="0"/>
              <a:t>외부에 해당 컴퓨터의 </a:t>
            </a:r>
            <a:r>
              <a:rPr lang="en-US" altLang="ko-KR" sz="2000" dirty="0"/>
              <a:t>IP</a:t>
            </a:r>
            <a:r>
              <a:rPr lang="ko-KR" altLang="en-US" sz="2000" dirty="0"/>
              <a:t>주소를 알려주는 역할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0C48395-9D3B-91DC-6455-55C154F3C34E}"/>
              </a:ext>
            </a:extLst>
          </p:cNvPr>
          <p:cNvSpPr/>
          <p:nvPr/>
        </p:nvSpPr>
        <p:spPr>
          <a:xfrm>
            <a:off x="3303368" y="56341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A123CE-1A85-64CB-1D3D-4E3892638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65" y="2056538"/>
            <a:ext cx="5354516" cy="43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CE35B6-F0E6-455D-B29E-2292341EEA1C}"/>
              </a:ext>
            </a:extLst>
          </p:cNvPr>
          <p:cNvSpPr txBox="1">
            <a:spLocks/>
          </p:cNvSpPr>
          <p:nvPr/>
        </p:nvSpPr>
        <p:spPr bwMode="auto">
          <a:xfrm>
            <a:off x="773341" y="60976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마스터 네임 서버 구축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524EE37E-5279-40DF-B526-0A7CDB9119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3918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karina.com</a:t>
            </a:r>
            <a:r>
              <a:rPr lang="ko-KR" altLang="en-US" sz="2000" dirty="0"/>
              <a:t>의 ‘마스터 네임 서버’를 설치하고 운영하자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간단한 웹 서비스</a:t>
            </a:r>
            <a:r>
              <a:rPr lang="en-US" altLang="ko-KR" sz="2000" dirty="0"/>
              <a:t>/FTP </a:t>
            </a:r>
            <a:r>
              <a:rPr lang="ko-KR" altLang="en-US" sz="2000" dirty="0"/>
              <a:t>서비스를 제공해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네임서버 관련 설정파일을 익힌다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마스터 네임 서버 작동 확인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2A0855A7-E463-415F-7C1D-763CFBDB5959}"/>
              </a:ext>
            </a:extLst>
          </p:cNvPr>
          <p:cNvSpPr/>
          <p:nvPr/>
        </p:nvSpPr>
        <p:spPr>
          <a:xfrm>
            <a:off x="5292080" y="52086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85B38A13-FDD8-3FA5-39F8-74C969095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284984"/>
            <a:ext cx="4912739" cy="312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73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+mj-ea"/>
                <a:ea typeface="+mj-ea"/>
              </a:rPr>
              <a:t>▶ </a:t>
            </a:r>
            <a:r>
              <a:rPr lang="ko-KR" altLang="en-US" sz="2400" dirty="0">
                <a:latin typeface="+mj-ea"/>
                <a:ea typeface="+mj-ea"/>
              </a:rPr>
              <a:t>힌트 </a:t>
            </a:r>
            <a:r>
              <a:rPr lang="en-US" altLang="ko-KR" sz="2400" dirty="0">
                <a:latin typeface="+mj-ea"/>
                <a:ea typeface="+mj-ea"/>
              </a:rPr>
              <a:t>: &lt;</a:t>
            </a:r>
            <a:r>
              <a:rPr lang="ko-KR" altLang="en-US" sz="2400" dirty="0">
                <a:latin typeface="+mj-ea"/>
                <a:ea typeface="+mj-ea"/>
              </a:rPr>
              <a:t>실습 </a:t>
            </a:r>
            <a:r>
              <a:rPr lang="en-US" altLang="ko-KR" sz="2400" dirty="0">
                <a:latin typeface="+mj-ea"/>
                <a:ea typeface="+mj-ea"/>
              </a:rPr>
              <a:t>2&gt;, &lt;</a:t>
            </a:r>
            <a:r>
              <a:rPr lang="ko-KR" altLang="en-US" sz="2400" dirty="0">
                <a:latin typeface="+mj-ea"/>
                <a:ea typeface="+mj-ea"/>
              </a:rPr>
              <a:t>실습 </a:t>
            </a:r>
            <a:r>
              <a:rPr lang="en-US" altLang="ko-KR" sz="2400" dirty="0">
                <a:latin typeface="+mj-ea"/>
                <a:ea typeface="+mj-ea"/>
              </a:rPr>
              <a:t>3&gt;</a:t>
            </a:r>
            <a:r>
              <a:rPr lang="ko-KR" altLang="en-US" sz="2400" dirty="0">
                <a:latin typeface="+mj-ea"/>
                <a:ea typeface="+mj-ea"/>
              </a:rPr>
              <a:t>을 참고해서 진행한다</a:t>
            </a:r>
            <a:r>
              <a:rPr lang="en-US" altLang="ko-KR" sz="2400" dirty="0">
                <a:latin typeface="+mj-ea"/>
                <a:ea typeface="+mj-ea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57BB149-5240-7EFF-4B98-9DD2818CF158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543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E58456-93F7-79F1-A12C-B09768D488C6}"/>
              </a:ext>
            </a:extLst>
          </p:cNvPr>
          <p:cNvSpPr/>
          <p:nvPr/>
        </p:nvSpPr>
        <p:spPr>
          <a:xfrm>
            <a:off x="1907642" y="908720"/>
            <a:ext cx="5112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9-1 </a:t>
            </a:r>
          </a:p>
        </p:txBody>
      </p:sp>
    </p:spTree>
    <p:extLst>
      <p:ext uri="{BB962C8B-B14F-4D97-AF65-F5344CB8AC3E}">
        <p14:creationId xmlns:p14="http://schemas.microsoft.com/office/powerpoint/2010/main" val="3152447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sz="2800" dirty="0"/>
              <a:t>라운드 로빈</a:t>
            </a:r>
            <a:r>
              <a:rPr lang="en-US" altLang="ko-KR" sz="2800" dirty="0"/>
              <a:t>(Round Robin) </a:t>
            </a:r>
            <a:r>
              <a:rPr lang="ko-KR" altLang="en-US" sz="2800" dirty="0"/>
              <a:t>방식의 네임 서버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sz="2000" dirty="0"/>
              <a:t>여러 대의 웹 서버를 운영해서</a:t>
            </a:r>
            <a:r>
              <a:rPr lang="en-US" altLang="ko-KR" sz="2000" dirty="0"/>
              <a:t>, </a:t>
            </a:r>
            <a:r>
              <a:rPr lang="ko-KR" altLang="en-US" sz="2000" dirty="0"/>
              <a:t>웹 클라이언트가 서비스를 요청할 경우에 교대로 서비스를 실시하도록 하는 방식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C87B428-7AE1-E9F6-AFBD-00C09CF8BF2C}"/>
              </a:ext>
            </a:extLst>
          </p:cNvPr>
          <p:cNvSpPr/>
          <p:nvPr/>
        </p:nvSpPr>
        <p:spPr>
          <a:xfrm>
            <a:off x="7577837" y="61732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543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D1A96E-E7D2-AF7C-BC9C-D6F57778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3" y="2348880"/>
            <a:ext cx="7076190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8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E4CB8-A706-458F-8F4C-0D467104F432}"/>
              </a:ext>
            </a:extLst>
          </p:cNvPr>
          <p:cNvSpPr txBox="1">
            <a:spLocks/>
          </p:cNvSpPr>
          <p:nvPr/>
        </p:nvSpPr>
        <p:spPr bwMode="auto">
          <a:xfrm>
            <a:off x="773341" y="58205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라운드 로빈 방식의 네임서버 구현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외부 사이트 </a:t>
            </a:r>
            <a:r>
              <a:rPr lang="en-US" altLang="ko-KR" sz="2000" dirty="0"/>
              <a:t>3</a:t>
            </a:r>
            <a:r>
              <a:rPr lang="ko-KR" altLang="en-US" sz="2000" dirty="0"/>
              <a:t>개를 이용해서 라운드 로빈 방식으로 </a:t>
            </a:r>
            <a:r>
              <a:rPr lang="en-US" altLang="ko-KR" sz="2000" dirty="0"/>
              <a:t>ww.karina.com </a:t>
            </a:r>
            <a:r>
              <a:rPr lang="ko-KR" altLang="en-US" sz="2000" dirty="0"/>
              <a:t>을 구현해 본다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라운드 로빈 작동 확인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B6B9490D-D935-43CE-9EA9-869EA425A8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11474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8FEEA6D8-CF9A-96EC-8E19-7E4999679676}"/>
              </a:ext>
            </a:extLst>
          </p:cNvPr>
          <p:cNvSpPr/>
          <p:nvPr/>
        </p:nvSpPr>
        <p:spPr>
          <a:xfrm>
            <a:off x="6983430" y="49315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544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12A061DF-0270-E254-221C-4458A2E21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924944"/>
            <a:ext cx="6149083" cy="35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58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+mj-ea"/>
                <a:ea typeface="+mj-ea"/>
              </a:rPr>
              <a:t>▶ </a:t>
            </a:r>
            <a:r>
              <a:rPr lang="ko-KR" altLang="en-US" sz="2400" dirty="0">
                <a:latin typeface="+mj-ea"/>
                <a:ea typeface="+mj-ea"/>
              </a:rPr>
              <a:t>힌트 없음</a:t>
            </a:r>
            <a:r>
              <a:rPr lang="en-US" altLang="ko-KR" sz="2400" dirty="0">
                <a:latin typeface="+mj-ea"/>
                <a:ea typeface="+mj-ea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9909649-D002-78BB-060B-C4282495989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548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236FF-0264-91A5-9B2B-5FF204214BA0}"/>
              </a:ext>
            </a:extLst>
          </p:cNvPr>
          <p:cNvSpPr/>
          <p:nvPr/>
        </p:nvSpPr>
        <p:spPr>
          <a:xfrm>
            <a:off x="1907642" y="908720"/>
            <a:ext cx="5112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9-2 </a:t>
            </a:r>
          </a:p>
        </p:txBody>
      </p:sp>
    </p:spTree>
    <p:extLst>
      <p:ext uri="{BB962C8B-B14F-4D97-AF65-F5344CB8AC3E}">
        <p14:creationId xmlns:p14="http://schemas.microsoft.com/office/powerpoint/2010/main" val="3625199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2427</TotalTime>
  <Words>637</Words>
  <Application>Microsoft Office PowerPoint</Application>
  <PresentationFormat>화면 슬라이드 쇼(4:3)</PresentationFormat>
  <Paragraphs>94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나눔바른고딕</vt:lpstr>
      <vt:lpstr>나눔고딕 ExtraBold</vt:lpstr>
      <vt:lpstr>Georgia</vt:lpstr>
      <vt:lpstr>나눔스퀘어 ExtraBold</vt:lpstr>
      <vt:lpstr>Trebuchet MS</vt:lpstr>
      <vt:lpstr>나눔스퀘어라운드 ExtraBold</vt:lpstr>
      <vt:lpstr>굴림</vt:lpstr>
      <vt:lpstr>Wingdings 2</vt:lpstr>
      <vt:lpstr>Urban</vt:lpstr>
      <vt:lpstr>PowerPoint 프레젠테이션</vt:lpstr>
      <vt:lpstr>네임 서버 개요 (1)</vt:lpstr>
      <vt:lpstr>네임 서버 개요 (2)</vt:lpstr>
      <vt:lpstr>네임 서버 개요 (3)</vt:lpstr>
      <vt:lpstr>PowerPoint 프레젠테이션</vt:lpstr>
      <vt:lpstr>IP주소를 얻는 내부 흐름</vt:lpstr>
      <vt:lpstr>도메인 이름 체계</vt:lpstr>
      <vt:lpstr>로컬 네임 서버가 작동하는 순서</vt:lpstr>
      <vt:lpstr>캐싱 전용 네임 서버</vt:lpstr>
      <vt:lpstr>PowerPoint 프레젠테이션</vt:lpstr>
      <vt:lpstr>마스터 네임 서버</vt:lpstr>
      <vt:lpstr>PowerPoint 프레젠테이션</vt:lpstr>
      <vt:lpstr>PowerPoint 프레젠테이션</vt:lpstr>
      <vt:lpstr>라운드 로빈(Round Robin) 방식의 네임 서버 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121</cp:revision>
  <dcterms:created xsi:type="dcterms:W3CDTF">2007-02-12T03:01:34Z</dcterms:created>
  <dcterms:modified xsi:type="dcterms:W3CDTF">2024-10-26T04:18:59Z</dcterms:modified>
</cp:coreProperties>
</file>