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3"/>
  </p:notesMasterIdLst>
  <p:handoutMasterIdLst>
    <p:handoutMasterId r:id="rId14"/>
  </p:handoutMasterIdLst>
  <p:sldIdLst>
    <p:sldId id="256" r:id="rId2"/>
    <p:sldId id="278" r:id="rId3"/>
    <p:sldId id="279" r:id="rId4"/>
    <p:sldId id="265" r:id="rId5"/>
    <p:sldId id="264" r:id="rId6"/>
    <p:sldId id="266" r:id="rId7"/>
    <p:sldId id="280" r:id="rId8"/>
    <p:sldId id="281" r:id="rId9"/>
    <p:sldId id="282" r:id="rId10"/>
    <p:sldId id="283" r:id="rId11"/>
    <p:sldId id="268" r:id="rId12"/>
  </p:sldIdLst>
  <p:sldSz cx="9144000" cy="6858000" type="screen4x3"/>
  <p:notesSz cx="6858000" cy="9144000"/>
  <p:embeddedFontLst>
    <p:embeddedFont>
      <p:font typeface="나눔고딕 ExtraBold" panose="020D0904000000000000" pitchFamily="50" charset="-127"/>
      <p:bold r:id="rId15"/>
    </p:embeddedFont>
    <p:embeddedFont>
      <p:font typeface="나눔바른고딕" panose="020B0603020101020101" pitchFamily="50" charset="-127"/>
      <p:regular r:id="rId16"/>
      <p:bold r:id="rId17"/>
    </p:embeddedFont>
    <p:embeddedFont>
      <p:font typeface="나눔스퀘어 ExtraBold" panose="020B0600000101010101" pitchFamily="50" charset="-127"/>
      <p:bold r:id="rId18"/>
    </p:embeddedFont>
    <p:embeddedFont>
      <p:font typeface="나눔스퀘어라운드 ExtraBold" panose="020B0600000101010101" pitchFamily="50" charset="-127"/>
      <p:bold r:id="rId19"/>
    </p:embeddedFont>
    <p:embeddedFont>
      <p:font typeface="Georgia" panose="02040502050405020303" pitchFamily="18" charset="0"/>
      <p:regular r:id="rId20"/>
      <p:bold r:id="rId21"/>
      <p:italic r:id="rId22"/>
      <p:boldItalic r:id="rId23"/>
    </p:embeddedFont>
    <p:embeddedFont>
      <p:font typeface="Trebuchet MS" panose="020B0603020202020204" pitchFamily="34" charset="0"/>
      <p:regular r:id="rId24"/>
      <p:bold r:id="rId25"/>
      <p:italic r:id="rId26"/>
      <p:boldItalic r:id="rId27"/>
    </p:embeddedFont>
    <p:embeddedFont>
      <p:font typeface="Wingdings 2" panose="05020102010507070707" pitchFamily="18" charset="2"/>
      <p:regular r:id="rId28"/>
    </p:embeddedFont>
  </p:embeddedFontLst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FF6600"/>
    <a:srgbClr val="CC66FF"/>
    <a:srgbClr val="FF7C80"/>
    <a:srgbClr val="9966FF"/>
    <a:srgbClr val="FF00FF"/>
    <a:srgbClr val="FFCC66"/>
    <a:srgbClr val="CC99FF"/>
    <a:srgbClr val="FFCC99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6" autoAdjust="0"/>
    <p:restoredTop sz="94660"/>
  </p:normalViewPr>
  <p:slideViewPr>
    <p:cSldViewPr>
      <p:cViewPr>
        <p:scale>
          <a:sx n="125" d="100"/>
          <a:sy n="125" d="100"/>
        </p:scale>
        <p:origin x="942" y="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3" d="100"/>
          <a:sy n="73" d="100"/>
        </p:scale>
        <p:origin x="2682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E24673C-6695-4338-BB03-1527ED3D44D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7DF4E72-3AA4-4775-9E94-2B847969C99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F5311B-5D78-499E-BD82-99044A3A2310}" type="datetimeFigureOut">
              <a:rPr lang="ko-KR" altLang="en-US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2024-10-26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978949C-1257-41BA-BE32-661D22C8D4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0C2EEA3-F82A-453E-B4CB-5CF791CE8C6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91374B-5E44-4691-8385-F83CA52C76B9}" type="slidenum">
              <a:rPr lang="ko-KR" altLang="en-US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‹#›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9006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fld id="{A9FE1E17-38D0-4764-A605-7BB07631345D}" type="datetimeFigureOut">
              <a:rPr lang="ko-KR" altLang="en-US" smtClean="0"/>
              <a:pPr>
                <a:defRPr/>
              </a:pPr>
              <a:t>2024-10-26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fld id="{8950B175-50B7-496C-B63E-4B4F03E0721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3632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2E5FF64-107C-C58A-6C47-B1DC6113D1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06634" y="845736"/>
            <a:ext cx="4815919" cy="516652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DB5C4FD-2B03-4A88-A582-AA7ACB7176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743" y="6264745"/>
            <a:ext cx="1970191" cy="497239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BB051D0-15E5-40BC-B4C6-AB45FF616079}"/>
              </a:ext>
            </a:extLst>
          </p:cNvPr>
          <p:cNvSpPr/>
          <p:nvPr userDrawn="1"/>
        </p:nvSpPr>
        <p:spPr>
          <a:xfrm>
            <a:off x="354120" y="1025303"/>
            <a:ext cx="3506222" cy="954107"/>
          </a:xfrm>
          <a:prstGeom prst="rect">
            <a:avLst/>
          </a:prstGeom>
          <a:solidFill>
            <a:srgbClr val="00B0F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</a:t>
            </a:r>
            <a:r>
              <a:rPr lang="ko-KR" altLang="en-US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</a:t>
            </a:r>
            <a:r>
              <a:rPr lang="en-US" altLang="ko-KR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pPr algn="ctr"/>
            <a:r>
              <a:rPr lang="ko-KR" altLang="en-US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리눅스 가상화 기술</a:t>
            </a:r>
            <a:endParaRPr lang="en-US" altLang="ko-KR" sz="2800" b="1" cap="none" spc="0" dirty="0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952CC6D-270C-47EC-BC2A-75F4D0D165C2}"/>
              </a:ext>
            </a:extLst>
          </p:cNvPr>
          <p:cNvSpPr/>
          <p:nvPr userDrawn="1"/>
        </p:nvSpPr>
        <p:spPr>
          <a:xfrm>
            <a:off x="4536228" y="6264745"/>
            <a:ext cx="430829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altLang="ko-KR" sz="2000" b="1" cap="none" spc="0" dirty="0">
                <a:ln/>
                <a:solidFill>
                  <a:schemeClr val="tx1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https://cafe.naver.com/thisisLinux</a:t>
            </a:r>
          </a:p>
        </p:txBody>
      </p:sp>
      <p:sp>
        <p:nvSpPr>
          <p:cNvPr id="9" name="별: 꼭짓점 12개 8">
            <a:extLst>
              <a:ext uri="{FF2B5EF4-FFF2-40B4-BE49-F238E27FC236}">
                <a16:creationId xmlns:a16="http://schemas.microsoft.com/office/drawing/2014/main" id="{0E5C3A4F-295B-BE34-4140-0C39B81E2F61}"/>
              </a:ext>
            </a:extLst>
          </p:cNvPr>
          <p:cNvSpPr/>
          <p:nvPr userDrawn="1"/>
        </p:nvSpPr>
        <p:spPr>
          <a:xfrm>
            <a:off x="7020272" y="593255"/>
            <a:ext cx="1224136" cy="864096"/>
          </a:xfrm>
          <a:prstGeom prst="star12">
            <a:avLst/>
          </a:prstGeom>
          <a:solidFill>
            <a:srgbClr val="CC6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판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9C0829C-8AE1-5E32-FB03-DACDB463B5B6}"/>
              </a:ext>
            </a:extLst>
          </p:cNvPr>
          <p:cNvSpPr/>
          <p:nvPr userDrawn="1"/>
        </p:nvSpPr>
        <p:spPr>
          <a:xfrm>
            <a:off x="1088838" y="3645024"/>
            <a:ext cx="1970190" cy="1657849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우분투 </a:t>
            </a:r>
            <a:r>
              <a:rPr lang="en-US" altLang="ko-KR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24.04</a:t>
            </a:r>
          </a:p>
          <a:p>
            <a:pPr algn="ctr"/>
            <a:r>
              <a:rPr lang="en-US" altLang="ko-KR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LTS</a:t>
            </a:r>
            <a:endParaRPr lang="ko-KR" altLang="en-US" sz="2400" dirty="0">
              <a:ln>
                <a:noFill/>
              </a:ln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9219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428625" y="6581775"/>
            <a:ext cx="235673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(3</a:t>
            </a:r>
            <a:r>
              <a:rPr kumimoji="0" lang="ko-KR" altLang="en-US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판</a:t>
            </a:r>
            <a:r>
              <a:rPr kumimoji="0" lang="en-US" altLang="ko-KR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 </a:t>
            </a:r>
            <a:r>
              <a:rPr kumimoji="0" lang="ko-KR" altLang="en-US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이것이 우분투 리눅스다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285750" y="0"/>
            <a:ext cx="23198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20</a:t>
            </a:r>
            <a:r>
              <a:rPr kumimoji="0" lang="ko-KR" altLang="en-US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장</a:t>
            </a:r>
            <a:r>
              <a:rPr kumimoji="0" lang="en-US" altLang="ko-KR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 </a:t>
            </a:r>
            <a:r>
              <a:rPr kumimoji="0" lang="ko-KR" altLang="en-US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리눅스 가상화 기술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8285226" y="6550025"/>
            <a:ext cx="89800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49AC353A-281A-4504-9FE1-662E9EF17D8A}" type="slidenum">
              <a:rPr lang="ko-KR" altLang="en-US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eaLnBrk="1" hangingPunct="1"/>
              <a:t>‹#›</a:t>
            </a:fld>
            <a:r>
              <a:rPr lang="en-US" altLang="ko-KR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/11</a:t>
            </a:r>
            <a:endParaRPr lang="ko-KR" altLang="en-US" sz="14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5508104" y="0"/>
            <a:ext cx="321453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400" b="1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https://cafe.naver.com/thisisLinux</a:t>
            </a:r>
            <a:endParaRPr lang="ko-KR" altLang="en-US" sz="1400" b="1" dirty="0">
              <a:solidFill>
                <a:schemeClr val="bg1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642918"/>
            <a:ext cx="8229600" cy="642942"/>
          </a:xfrm>
        </p:spPr>
        <p:txBody>
          <a:bodyPr>
            <a:normAutofit/>
          </a:bodyPr>
          <a:lstStyle>
            <a:lvl1pPr>
              <a:defRPr sz="3200"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143536"/>
          </a:xfrm>
        </p:spPr>
        <p:txBody>
          <a:bodyPr>
            <a:normAutofit/>
          </a:bodyPr>
          <a:lstStyle>
            <a:lvl1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sz="18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6444208" y="6548338"/>
            <a:ext cx="1711174" cy="307777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Ubuntu 24.04 LTS</a:t>
            </a:r>
            <a:endParaRPr lang="ko-KR" altLang="en-US" sz="1400" b="1" dirty="0">
              <a:solidFill>
                <a:schemeClr val="bg1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2463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70A40A-1095-4482-A81C-DE8D97CF4FAF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510668-C776-4DEF-90B9-7FD1E5FDC33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69769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D9E67D-5DA1-4729-B991-E4DA6144546D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994A34-7693-4DA8-87B2-5F89B278748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91498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/>
          <a:lstStyle>
            <a:lvl1pPr>
              <a:defRPr sz="4000" b="0" i="0" cap="none" baseline="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날짜 개체 틀 2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D4FCB4-DCC3-4812-BAA4-E89A66CCAA25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8" name="슬라이드 번호 개체 틀 2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17B28E1-79AC-48A3-9558-454E42DE4EDC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9" name="바닥글 개체 틀 2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59397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583363" y="612775"/>
            <a:ext cx="957262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101D40-AEA9-4F59-9273-3AE4BD34FFDA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EA269F-E158-42D9-816A-B30CB7545EE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75787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4D789F-1FA5-4F5C-A900-FE73EF265E54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375B4C-030A-4FCD-9864-787CE94FAE1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57792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6F9F45-433C-435F-9729-7CA4AF07A0F6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71BBA6-43EC-4C88-96A0-166A32778D2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36932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ko-KR" altLang="en-US" noProof="0"/>
              <a:t>그림을 추가하려면 아이콘을 클릭하십시오</a:t>
            </a:r>
            <a:endParaRPr 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6D0103-5A9F-48FB-917D-308A742FCF20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6FC6B0-8FED-4CA7-8A00-7E8567A752B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27900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793685-C9C7-46A1-BE54-14BF41CEC4D6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59A1A9-6617-4B03-8D81-72B941360C6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5820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086E2D-11AA-4D7A-97B8-811672594385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AF3D2F-599A-49E6-9281-C2BD50F5B85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10843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/>
          <p:cNvSpPr/>
          <p:nvPr/>
        </p:nvSpPr>
        <p:spPr>
          <a:xfrm>
            <a:off x="0" y="366713"/>
            <a:ext cx="9144000" cy="84137"/>
          </a:xfrm>
          <a:prstGeom prst="rect">
            <a:avLst/>
          </a:prstGeom>
          <a:solidFill>
            <a:schemeClr val="accent6">
              <a:lumMod val="60000"/>
              <a:lumOff val="40000"/>
              <a:alpha val="49804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0" y="307975"/>
            <a:ext cx="9144000" cy="920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1" name="직사각형 30"/>
          <p:cNvSpPr/>
          <p:nvPr/>
        </p:nvSpPr>
        <p:spPr>
          <a:xfrm flipV="1">
            <a:off x="5410200" y="360363"/>
            <a:ext cx="3733800" cy="90487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2" name="직사각형 31"/>
          <p:cNvSpPr/>
          <p:nvPr/>
        </p:nvSpPr>
        <p:spPr>
          <a:xfrm flipV="1">
            <a:off x="5410200" y="439738"/>
            <a:ext cx="3733800" cy="180975"/>
          </a:xfrm>
          <a:prstGeom prst="rect">
            <a:avLst/>
          </a:prstGeom>
          <a:solidFill>
            <a:schemeClr val="accent3">
              <a:lumMod val="20000"/>
              <a:lumOff val="80000"/>
              <a:alpha val="49804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 useBgFill="1">
        <p:nvSpPr>
          <p:cNvPr id="33" name="모서리가 둥근 직사각형 32"/>
          <p:cNvSpPr/>
          <p:nvPr/>
        </p:nvSpPr>
        <p:spPr bwMode="white">
          <a:xfrm>
            <a:off x="5407025" y="496888"/>
            <a:ext cx="3063875" cy="28575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 useBgFill="1">
        <p:nvSpPr>
          <p:cNvPr id="34" name="모서리가 둥근 직사각형 33"/>
          <p:cNvSpPr/>
          <p:nvPr/>
        </p:nvSpPr>
        <p:spPr bwMode="white">
          <a:xfrm>
            <a:off x="7373938" y="588963"/>
            <a:ext cx="1600200" cy="3651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5" name="직사각형 34"/>
          <p:cNvSpPr/>
          <p:nvPr/>
        </p:nvSpPr>
        <p:spPr bwMode="invGray">
          <a:xfrm>
            <a:off x="9085263" y="-1588"/>
            <a:ext cx="57150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6" name="직사각형 35"/>
          <p:cNvSpPr/>
          <p:nvPr/>
        </p:nvSpPr>
        <p:spPr bwMode="invGray">
          <a:xfrm>
            <a:off x="9043988" y="-1588"/>
            <a:ext cx="28575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7" name="직사각형 36"/>
          <p:cNvSpPr/>
          <p:nvPr/>
        </p:nvSpPr>
        <p:spPr bwMode="invGray">
          <a:xfrm>
            <a:off x="9024938" y="-1588"/>
            <a:ext cx="9525" cy="620713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8" name="직사각형 37"/>
          <p:cNvSpPr/>
          <p:nvPr/>
        </p:nvSpPr>
        <p:spPr bwMode="invGray">
          <a:xfrm>
            <a:off x="8975725" y="-1588"/>
            <a:ext cx="26988" cy="620713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9" name="직사각형 38"/>
          <p:cNvSpPr/>
          <p:nvPr/>
        </p:nvSpPr>
        <p:spPr bwMode="invGray">
          <a:xfrm>
            <a:off x="8915400" y="0"/>
            <a:ext cx="55563" cy="585788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40" name="직사각형 39"/>
          <p:cNvSpPr/>
          <p:nvPr/>
        </p:nvSpPr>
        <p:spPr bwMode="invGray">
          <a:xfrm>
            <a:off x="8874125" y="0"/>
            <a:ext cx="7938" cy="585788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1039" name="제목 개체 틀 21"/>
          <p:cNvSpPr>
            <a:spLocks noGrp="1"/>
          </p:cNvSpPr>
          <p:nvPr>
            <p:ph type="title"/>
          </p:nvPr>
        </p:nvSpPr>
        <p:spPr bwMode="auto"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40" name="텍스트 개체 틀 12"/>
          <p:cNvSpPr>
            <a:spLocks noGrp="1"/>
          </p:cNvSpPr>
          <p:nvPr>
            <p:ph type="body" idx="1"/>
          </p:nvPr>
        </p:nvSpPr>
        <p:spPr bwMode="auto">
          <a:xfrm>
            <a:off x="457200" y="2249488"/>
            <a:ext cx="8229600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latinLnBrk="0">
              <a:defRPr kumimoji="0" sz="800">
                <a:solidFill>
                  <a:schemeClr val="accent2"/>
                </a:solidFill>
                <a:latin typeface="Georgia" pitchFamily="18" charset="0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fld id="{04372308-AE4D-4F5B-A5F4-8D5BDCABB86D}" type="datetimeFigureOut">
              <a:rPr lang="en-US" altLang="ko-KR" smtClean="0"/>
              <a:pPr>
                <a:defRPr/>
              </a:pPr>
              <a:t>10/26/2024</a:t>
            </a:fld>
            <a:endParaRPr lang="en-US" altLang="ko-KR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latinLnBrk="0">
              <a:defRPr kumimoji="0" sz="800">
                <a:solidFill>
                  <a:schemeClr val="accent2"/>
                </a:solidFill>
                <a:latin typeface="Georgia" pitchFamily="18" charset="0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8174038" y="1588"/>
            <a:ext cx="762000" cy="3667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latinLnBrk="0">
              <a:defRPr kumimoji="0">
                <a:solidFill>
                  <a:srgbClr val="FFFFFF"/>
                </a:solidFill>
                <a:latin typeface="Georgia" panose="02040502050405020303" pitchFamily="18" charset="0"/>
                <a:ea typeface="나눔바른고딕" panose="020B0603020101020101" pitchFamily="50" charset="-127"/>
              </a:defRPr>
            </a:lvl1pPr>
          </a:lstStyle>
          <a:p>
            <a:fld id="{80EA332E-FF14-428F-B02F-D0E6231A0C16}" type="slidenum">
              <a:rPr lang="en-US" altLang="ko-KR" smtClean="0"/>
              <a:pPr/>
              <a:t>‹#›</a:t>
            </a:fld>
            <a:endParaRPr lang="en-US" altLang="ko-KR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나눔바른고딕" panose="020B0603020101020101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5pPr>
      <a:lvl6pPr marL="4572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6pPr>
      <a:lvl7pPr marL="9144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9pPr>
    </p:titleStyle>
    <p:bodyStyle>
      <a:lvl1pPr marL="365125" indent="-255588" algn="l" rtl="0" eaLnBrk="0" fontAlgn="base" latinLnBrk="1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•"/>
        <a:defRPr sz="2800" kern="1200">
          <a:solidFill>
            <a:schemeClr val="tx1"/>
          </a:solidFill>
          <a:latin typeface="+mn-lt"/>
          <a:ea typeface="나눔바른고딕" panose="020B0603020101020101" pitchFamily="50" charset="-127"/>
          <a:cs typeface="+mn-cs"/>
        </a:defRPr>
      </a:lvl1pPr>
      <a:lvl2pPr marL="657225" indent="-246063" algn="l" rtl="0" eaLnBrk="0" fontAlgn="base" latinLnBrk="1" hangingPunct="0">
        <a:spcBef>
          <a:spcPts val="300"/>
        </a:spcBef>
        <a:spcAft>
          <a:spcPct val="0"/>
        </a:spcAft>
        <a:buClr>
          <a:schemeClr val="accent2"/>
        </a:buClr>
        <a:buFont typeface="Georgia" panose="02040502050405020303" pitchFamily="18" charset="0"/>
        <a:buChar char="▫"/>
        <a:defRPr sz="2600" kern="1200">
          <a:solidFill>
            <a:schemeClr val="accent2"/>
          </a:solidFill>
          <a:latin typeface="+mn-lt"/>
          <a:ea typeface="나눔바른고딕" panose="020B0603020101020101" pitchFamily="50" charset="-127"/>
          <a:cs typeface="+mn-cs"/>
        </a:defRPr>
      </a:lvl2pPr>
      <a:lvl3pPr marL="922338" indent="-219075" algn="l" rtl="0" eaLnBrk="0" fontAlgn="base" latinLnBrk="1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400" kern="1200">
          <a:solidFill>
            <a:schemeClr val="accent1"/>
          </a:solidFill>
          <a:latin typeface="+mn-lt"/>
          <a:ea typeface="나눔바른고딕" panose="020B0603020101020101" pitchFamily="50" charset="-127"/>
          <a:cs typeface="+mn-cs"/>
        </a:defRPr>
      </a:lvl3pPr>
      <a:lvl4pPr marL="1179513" indent="-200025" algn="l" rtl="0" eaLnBrk="0" fontAlgn="base" latinLnBrk="1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200" kern="1200">
          <a:solidFill>
            <a:schemeClr val="accent1"/>
          </a:solidFill>
          <a:latin typeface="+mn-lt"/>
          <a:ea typeface="나눔바른고딕" panose="020B0603020101020101" pitchFamily="50" charset="-127"/>
          <a:cs typeface="+mn-cs"/>
        </a:defRPr>
      </a:lvl4pPr>
      <a:lvl5pPr marL="1389063" indent="-182563" algn="l" rtl="0" eaLnBrk="0" fontAlgn="base" latinLnBrk="1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▫"/>
        <a:defRPr sz="2000" kern="1200">
          <a:solidFill>
            <a:srgbClr val="A04DA3"/>
          </a:solidFill>
          <a:latin typeface="+mn-lt"/>
          <a:ea typeface="나눔바른고딕" panose="020B0603020101020101" pitchFamily="50" charset="-127"/>
          <a:cs typeface="+mn-cs"/>
        </a:defRPr>
      </a:lvl5pPr>
      <a:lvl6pPr marL="1609344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ko-KR" altLang="en-US" sz="2800" dirty="0"/>
              <a:t>리눅스에서 </a:t>
            </a:r>
            <a:r>
              <a:rPr lang="en-US" altLang="ko-KR" sz="2800" dirty="0"/>
              <a:t>Windows</a:t>
            </a:r>
            <a:r>
              <a:rPr lang="ko-KR" altLang="en-US" sz="2800" dirty="0"/>
              <a:t>용 응용 프로그램 실행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1500187"/>
          </a:xfrm>
        </p:spPr>
        <p:txBody>
          <a:bodyPr/>
          <a:lstStyle/>
          <a:p>
            <a:pPr eaLnBrk="1" hangingPunct="1">
              <a:defRPr/>
            </a:pPr>
            <a:endParaRPr lang="en-US" altLang="ko-KR" sz="2000" dirty="0"/>
          </a:p>
          <a:p>
            <a:pPr lvl="1" eaLnBrk="1" hangingPunct="1">
              <a:defRPr/>
            </a:pPr>
            <a:endParaRPr lang="en-US" altLang="ko-KR" sz="2000" dirty="0"/>
          </a:p>
          <a:p>
            <a:pPr lvl="1" eaLnBrk="1" hangingPunct="1">
              <a:defRPr/>
            </a:pPr>
            <a:endParaRPr lang="ko-KR" altLang="en-US" sz="2000" dirty="0"/>
          </a:p>
        </p:txBody>
      </p:sp>
      <p:sp>
        <p:nvSpPr>
          <p:cNvPr id="35844" name="내용 개체 틀 2"/>
          <p:cNvSpPr txBox="1">
            <a:spLocks/>
          </p:cNvSpPr>
          <p:nvPr/>
        </p:nvSpPr>
        <p:spPr bwMode="auto">
          <a:xfrm>
            <a:off x="438150" y="2209800"/>
            <a:ext cx="8229600" cy="424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65125" indent="-255588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657225" indent="-246063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922338" indent="-219075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</a:pP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실습목표</a:t>
            </a: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1" eaLnBrk="1" hangingPunct="1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</a:pPr>
            <a:r>
              <a:rPr lang="en-US" altLang="ko-KR" sz="2000" dirty="0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VirtualBox</a:t>
            </a:r>
            <a:r>
              <a:rPr lang="ko-KR" altLang="en-US" sz="2000" dirty="0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프로그램을 이용해서 </a:t>
            </a:r>
            <a:r>
              <a:rPr lang="en-US" altLang="ko-KR" sz="2000" dirty="0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Windows</a:t>
            </a:r>
            <a:r>
              <a:rPr lang="ko-KR" altLang="en-US" sz="2000" dirty="0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설치한다</a:t>
            </a:r>
            <a:r>
              <a:rPr lang="en-US" altLang="ko-KR" sz="2000" dirty="0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eaLnBrk="1" hangingPunct="1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</a:pP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결과 화면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우분투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안에서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Windows 11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설치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endParaRPr lang="ko-KR" altLang="en-US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1" eaLnBrk="1" hangingPunct="1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</a:pPr>
            <a:endParaRPr lang="en-US" altLang="ko-KR" sz="2400" dirty="0">
              <a:solidFill>
                <a:schemeClr val="accent2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2" ea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</a:pPr>
            <a:endParaRPr lang="en-US" altLang="ko-KR" sz="2000" dirty="0">
              <a:solidFill>
                <a:schemeClr val="accent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eaLnBrk="1" hangingPunct="1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</a:pPr>
            <a:endParaRPr lang="ko-KR" altLang="en-US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C4EB261-1999-40A3-B145-91B66F2FC089}"/>
              </a:ext>
            </a:extLst>
          </p:cNvPr>
          <p:cNvSpPr txBox="1">
            <a:spLocks/>
          </p:cNvSpPr>
          <p:nvPr/>
        </p:nvSpPr>
        <p:spPr bwMode="auto">
          <a:xfrm>
            <a:off x="773341" y="1415013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1&gt;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우분투 안에 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Windows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설치</a:t>
            </a:r>
          </a:p>
        </p:txBody>
      </p:sp>
      <p:pic>
        <p:nvPicPr>
          <p:cNvPr id="3" name="그림 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AFED076E-0007-4ADB-A3F8-B76BFA2D35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1244435"/>
            <a:ext cx="756709" cy="742276"/>
          </a:xfrm>
          <a:prstGeom prst="rect">
            <a:avLst/>
          </a:prstGeom>
        </p:spPr>
      </p:pic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2CA06F6C-E0D7-0F1F-1EDE-446128B44C71}"/>
              </a:ext>
            </a:extLst>
          </p:cNvPr>
          <p:cNvSpPr/>
          <p:nvPr/>
        </p:nvSpPr>
        <p:spPr>
          <a:xfrm>
            <a:off x="7380312" y="6566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821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 descr="텍스트, 스크린샷, 소프트웨어, 컴퓨터이(가) 표시된 사진&#10;&#10;자동 생성된 설명">
            <a:extLst>
              <a:ext uri="{FF2B5EF4-FFF2-40B4-BE49-F238E27FC236}">
                <a16:creationId xmlns:a16="http://schemas.microsoft.com/office/drawing/2014/main" id="{B1190560-85B7-97D6-CE78-71DF424ABC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3524079"/>
            <a:ext cx="5796136" cy="2929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926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3528" y="2132856"/>
            <a:ext cx="8496943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▶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힌트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: 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https://www.microsoft.com/ko-kr/windows-server/trial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에서 다운로드 한다</a:t>
            </a: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C04D3A94-7D0D-DEA8-9001-FB1D47D85312}"/>
              </a:ext>
            </a:extLst>
          </p:cNvPr>
          <p:cNvSpPr/>
          <p:nvPr/>
        </p:nvSpPr>
        <p:spPr>
          <a:xfrm>
            <a:off x="7051100" y="764704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828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D8D93EC-CC37-3E26-3177-10C04CAFE249}"/>
              </a:ext>
            </a:extLst>
          </p:cNvPr>
          <p:cNvSpPr/>
          <p:nvPr/>
        </p:nvSpPr>
        <p:spPr>
          <a:xfrm>
            <a:off x="1697649" y="908720"/>
            <a:ext cx="55322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비타민 퀴즈 </a:t>
            </a:r>
            <a:r>
              <a:rPr lang="en-US" altLang="ko-KR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20-1 </a:t>
            </a:r>
          </a:p>
        </p:txBody>
      </p:sp>
    </p:spTree>
    <p:extLst>
      <p:ext uri="{BB962C8B-B14F-4D97-AF65-F5344CB8AC3E}">
        <p14:creationId xmlns:p14="http://schemas.microsoft.com/office/powerpoint/2010/main" val="3655847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 err="1"/>
              <a:t>도커의</a:t>
            </a:r>
            <a:r>
              <a:rPr lang="ko-KR" altLang="en-US" sz="2800" dirty="0"/>
              <a:t> 개념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ko-KR" altLang="en-US" sz="2000" dirty="0" err="1"/>
              <a:t>도커</a:t>
            </a:r>
            <a:r>
              <a:rPr lang="en-US" altLang="ko-KR" sz="2000" dirty="0"/>
              <a:t>Docker</a:t>
            </a:r>
            <a:r>
              <a:rPr lang="ko-KR" altLang="en-US" sz="2000" dirty="0"/>
              <a:t>란 작은 운영체제를 포함한 가상화 기술을 의미</a:t>
            </a:r>
          </a:p>
          <a:p>
            <a:pPr eaLnBrk="1" hangingPunct="1">
              <a:defRPr/>
            </a:pPr>
            <a:r>
              <a:rPr lang="ko-KR" altLang="en-US" sz="2000" dirty="0"/>
              <a:t>가상 컴퓨터는 완전한 </a:t>
            </a:r>
            <a:r>
              <a:rPr lang="en-US" altLang="ko-KR" sz="2000" dirty="0"/>
              <a:t>OS</a:t>
            </a:r>
            <a:r>
              <a:rPr lang="ko-KR" altLang="en-US" sz="2000" dirty="0"/>
              <a:t>를 포함한 독립된 컴퓨터로 간주되며 상당히 무거움</a:t>
            </a:r>
          </a:p>
          <a:p>
            <a:pPr eaLnBrk="1" hangingPunct="1">
              <a:defRPr/>
            </a:pPr>
            <a:r>
              <a:rPr lang="ko-KR" altLang="en-US" sz="2000" dirty="0" err="1"/>
              <a:t>도커는</a:t>
            </a:r>
            <a:r>
              <a:rPr lang="ko-KR" altLang="en-US" sz="2000" dirty="0"/>
              <a:t> 가상 컴퓨터와 거의 비슷한 기능을 갖고 있으면서도 훨씬 가볍게 생성하고 운영</a:t>
            </a:r>
          </a:p>
          <a:p>
            <a:pPr eaLnBrk="1" hangingPunct="1">
              <a:defRPr/>
            </a:pPr>
            <a:r>
              <a:rPr lang="ko-KR" altLang="en-US" sz="2000" dirty="0" err="1"/>
              <a:t>도커에서</a:t>
            </a:r>
            <a:r>
              <a:rPr lang="ko-KR" altLang="en-US" sz="2000" dirty="0"/>
              <a:t> 사용되는 작은 컴퓨터를 컨테이너</a:t>
            </a:r>
            <a:r>
              <a:rPr lang="en-US" altLang="ko-KR" sz="2000" dirty="0"/>
              <a:t>Container</a:t>
            </a:r>
            <a:r>
              <a:rPr lang="ko-KR" altLang="en-US" sz="2000" dirty="0"/>
              <a:t>라고 부른다</a:t>
            </a:r>
            <a:r>
              <a:rPr lang="en-US" altLang="ko-KR" sz="2000" dirty="0"/>
              <a:t>.</a:t>
            </a:r>
          </a:p>
          <a:p>
            <a:pPr lvl="2" eaLnBrk="1" hangingPunct="1">
              <a:defRPr/>
            </a:pPr>
            <a:endParaRPr lang="ko-KR" altLang="en-US" sz="18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74438C2-1608-4F95-84D6-D18A5E8575B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3823271"/>
            <a:ext cx="3995276" cy="232035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7E26A757-8716-68F3-D8E1-469C34F90D63}"/>
              </a:ext>
            </a:extLst>
          </p:cNvPr>
          <p:cNvSpPr/>
          <p:nvPr/>
        </p:nvSpPr>
        <p:spPr>
          <a:xfrm>
            <a:off x="2555776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828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3455654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가상 컴퓨터와 컨테이너의 차이점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F200A18E-B0B0-D287-A79D-F17D9D280C44}"/>
              </a:ext>
            </a:extLst>
          </p:cNvPr>
          <p:cNvSpPr/>
          <p:nvPr/>
        </p:nvSpPr>
        <p:spPr>
          <a:xfrm>
            <a:off x="5796136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829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6C0216C-A464-5ADA-D911-F5ECFFD20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237" y="1916832"/>
            <a:ext cx="8142857" cy="3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425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2D1E64-AF02-4127-9EFE-15F97D8C1634}"/>
              </a:ext>
            </a:extLst>
          </p:cNvPr>
          <p:cNvSpPr txBox="1">
            <a:spLocks/>
          </p:cNvSpPr>
          <p:nvPr/>
        </p:nvSpPr>
        <p:spPr bwMode="auto">
          <a:xfrm>
            <a:off x="773341" y="694123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2&gt; </a:t>
            </a:r>
            <a:r>
              <a:rPr kumimoji="0" lang="ko-KR" altLang="en-US" sz="2400" dirty="0" err="1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도커의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설치와 사용</a:t>
            </a:r>
          </a:p>
        </p:txBody>
      </p:sp>
      <p:pic>
        <p:nvPicPr>
          <p:cNvPr id="3" name="그림 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937068C5-42A5-468A-8DB8-6914C6F266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523545"/>
            <a:ext cx="756709" cy="742276"/>
          </a:xfrm>
          <a:prstGeom prst="rect">
            <a:avLst/>
          </a:prstGeom>
        </p:spPr>
      </p:pic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en-US" altLang="ko-KR" sz="2000" dirty="0"/>
              <a:t>Server</a:t>
            </a:r>
            <a:r>
              <a:rPr lang="ko-KR" altLang="en-US" sz="2000" dirty="0"/>
              <a:t>에 </a:t>
            </a:r>
            <a:r>
              <a:rPr lang="ko-KR" altLang="en-US" sz="2000" dirty="0" err="1"/>
              <a:t>도커를</a:t>
            </a:r>
            <a:r>
              <a:rPr lang="ko-KR" altLang="en-US" sz="2000" dirty="0"/>
              <a:t> 설치하고 간단히 사용해 본다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r>
              <a:rPr lang="en-US" altLang="ko-KR" sz="2000" dirty="0"/>
              <a:t>Windows Powershell </a:t>
            </a:r>
            <a:r>
              <a:rPr lang="ko-KR" altLang="en-US" sz="2000" dirty="0"/>
              <a:t>컨테이너를 설치하고 사용해 본다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r>
              <a:rPr lang="ko-KR" altLang="en-US" dirty="0"/>
              <a:t>결과 화면 </a:t>
            </a:r>
            <a:r>
              <a:rPr lang="en-US" altLang="ko-KR" dirty="0"/>
              <a:t>(</a:t>
            </a:r>
            <a:r>
              <a:rPr lang="ko-KR" altLang="en-US" dirty="0" err="1"/>
              <a:t>도커</a:t>
            </a:r>
            <a:r>
              <a:rPr lang="ko-KR" altLang="en-US" dirty="0"/>
              <a:t> 이미지 다운로드와 작동</a:t>
            </a:r>
            <a:r>
              <a:rPr lang="en-US" altLang="ko-KR" dirty="0"/>
              <a:t>)</a:t>
            </a:r>
            <a:endParaRPr lang="ko-KR" altLang="en-US" dirty="0"/>
          </a:p>
          <a:p>
            <a:pPr lvl="1" eaLnBrk="1" hangingPunct="1">
              <a:defRPr/>
            </a:pPr>
            <a:endParaRPr lang="en-US" altLang="ko-KR" dirty="0"/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DADB1BC2-E135-4161-298F-E2D404991A5A}"/>
              </a:ext>
            </a:extLst>
          </p:cNvPr>
          <p:cNvSpPr/>
          <p:nvPr/>
        </p:nvSpPr>
        <p:spPr>
          <a:xfrm>
            <a:off x="5076056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830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11" name="그림 10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1F2F178A-0666-7124-1156-0DC2CCB42C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354" y="3317177"/>
            <a:ext cx="4834816" cy="2094949"/>
          </a:xfrm>
          <a:prstGeom prst="rect">
            <a:avLst/>
          </a:prstGeom>
        </p:spPr>
      </p:pic>
      <p:pic>
        <p:nvPicPr>
          <p:cNvPr id="13" name="그림 12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F55F8B91-FFB9-E3D9-AAC9-95D8168F6E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5992" y="5183183"/>
            <a:ext cx="6276264" cy="1218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918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/>
              <a:t>WSL </a:t>
            </a:r>
            <a:r>
              <a:rPr lang="ko-KR" altLang="en-US" sz="2800" dirty="0"/>
              <a:t>개념</a:t>
            </a:r>
            <a:r>
              <a:rPr lang="en-US" altLang="ko-KR" sz="2800" dirty="0"/>
              <a:t> </a:t>
            </a:r>
            <a:endParaRPr lang="ko-KR" altLang="en-US" sz="2800" dirty="0"/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024015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ko-KR" altLang="en-US" dirty="0"/>
              <a:t>개요</a:t>
            </a:r>
            <a:endParaRPr lang="en-US" altLang="ko-KR" dirty="0"/>
          </a:p>
          <a:p>
            <a:pPr lvl="2" eaLnBrk="1" hangingPunct="1">
              <a:defRPr/>
            </a:pPr>
            <a:r>
              <a:rPr lang="ko-KR" altLang="en-US" dirty="0"/>
              <a:t>마이크로소프트는 </a:t>
            </a:r>
            <a:r>
              <a:rPr lang="en-US" altLang="ko-KR" dirty="0"/>
              <a:t>Windows 10 </a:t>
            </a:r>
            <a:r>
              <a:rPr lang="ko-KR" altLang="en-US" dirty="0"/>
              <a:t>출시 후 </a:t>
            </a:r>
            <a:r>
              <a:rPr lang="en-US" altLang="ko-KR" dirty="0"/>
              <a:t>1</a:t>
            </a:r>
            <a:r>
              <a:rPr lang="ko-KR" altLang="en-US" dirty="0"/>
              <a:t>주년 기념 업데이트에서 </a:t>
            </a:r>
            <a:r>
              <a:rPr lang="en-US" altLang="ko-KR" dirty="0"/>
              <a:t>WSL(Window Subsystem for Linux, </a:t>
            </a:r>
            <a:r>
              <a:rPr lang="ko-KR" altLang="en-US" dirty="0"/>
              <a:t>리눅스용 윈도우 하위 시스템</a:t>
            </a:r>
            <a:r>
              <a:rPr lang="en-US" altLang="ko-KR" dirty="0"/>
              <a:t>)</a:t>
            </a:r>
            <a:r>
              <a:rPr lang="ko-KR" altLang="en-US" dirty="0"/>
              <a:t>을 소개</a:t>
            </a:r>
            <a:endParaRPr lang="en-US" altLang="ko-KR" dirty="0"/>
          </a:p>
          <a:p>
            <a:pPr lvl="2" eaLnBrk="1" hangingPunct="1">
              <a:defRPr/>
            </a:pPr>
            <a:r>
              <a:rPr lang="ko-KR" altLang="en-US" dirty="0"/>
              <a:t>오픈소스 개발자의 환경인 리눅스 환경 또는 맥 </a:t>
            </a:r>
            <a:r>
              <a:rPr lang="en-US" altLang="ko-KR" dirty="0"/>
              <a:t>OS </a:t>
            </a:r>
            <a:r>
              <a:rPr lang="ko-KR" altLang="en-US" dirty="0"/>
              <a:t>환경과 같은 터미널 환경을 </a:t>
            </a:r>
            <a:r>
              <a:rPr lang="en-US" altLang="ko-KR" dirty="0"/>
              <a:t>Windows</a:t>
            </a:r>
            <a:r>
              <a:rPr lang="ko-KR" altLang="en-US" dirty="0"/>
              <a:t>에서 바로 사용할 수 있도록 하기 위함</a:t>
            </a:r>
            <a:endParaRPr lang="en-US" altLang="ko-KR" dirty="0"/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장점</a:t>
            </a:r>
            <a:endParaRPr lang="en-US" altLang="ko-KR" dirty="0"/>
          </a:p>
          <a:p>
            <a:pPr lvl="2" eaLnBrk="1" hangingPunct="1">
              <a:defRPr/>
            </a:pPr>
            <a:r>
              <a:rPr lang="ko-KR" altLang="en-US" dirty="0"/>
              <a:t>리눅스 환경을 사용하기 위해 별도의 하드웨어 장비를 구매할 필요가 없다</a:t>
            </a:r>
            <a:r>
              <a:rPr lang="en-US" altLang="ko-KR" dirty="0"/>
              <a:t>.</a:t>
            </a:r>
          </a:p>
          <a:p>
            <a:pPr lvl="2" eaLnBrk="1" hangingPunct="1">
              <a:defRPr/>
            </a:pPr>
            <a:r>
              <a:rPr lang="ko-KR" altLang="en-US" dirty="0"/>
              <a:t>현재의 </a:t>
            </a:r>
            <a:r>
              <a:rPr lang="en-US" altLang="ko-KR" dirty="0"/>
              <a:t>Windows </a:t>
            </a:r>
            <a:r>
              <a:rPr lang="ko-KR" altLang="en-US" dirty="0"/>
              <a:t>환경을 그대로 사용하면서 리눅스 환경의 유틸리티를 사용할 수 있다</a:t>
            </a:r>
            <a:r>
              <a:rPr lang="en-US" altLang="ko-KR" dirty="0"/>
              <a:t>.</a:t>
            </a:r>
          </a:p>
          <a:p>
            <a:pPr lvl="2" eaLnBrk="1" hangingPunct="1">
              <a:defRPr/>
            </a:pPr>
            <a:r>
              <a:rPr lang="en-US" altLang="ko-KR" dirty="0"/>
              <a:t>Hyper-V</a:t>
            </a:r>
            <a:r>
              <a:rPr lang="ko-KR" altLang="en-US" dirty="0"/>
              <a:t>나 </a:t>
            </a:r>
            <a:r>
              <a:rPr lang="en-US" altLang="ko-KR" dirty="0"/>
              <a:t>Windows </a:t>
            </a:r>
            <a:r>
              <a:rPr lang="ko-KR" altLang="en-US" dirty="0"/>
              <a:t>컨테이너의 가상화 기술을 사용하지 않아도 리눅스를 사용할 수 있다</a:t>
            </a:r>
            <a:r>
              <a:rPr lang="en-US" altLang="ko-KR" dirty="0"/>
              <a:t>.</a:t>
            </a: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13C47DCF-B391-04B5-9C2E-9E7D7CA3B989}"/>
              </a:ext>
            </a:extLst>
          </p:cNvPr>
          <p:cNvSpPr/>
          <p:nvPr/>
        </p:nvSpPr>
        <p:spPr>
          <a:xfrm>
            <a:off x="2339752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837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3392706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/>
              <a:t>WSL(1)</a:t>
            </a:r>
            <a:endParaRPr lang="ko-KR" altLang="en-US" sz="2800" dirty="0"/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40337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ko-KR" altLang="en-US" dirty="0"/>
              <a:t>리눅스를 사용하기 위한 </a:t>
            </a:r>
            <a:r>
              <a:rPr lang="en-US" altLang="ko-KR" dirty="0"/>
              <a:t>3</a:t>
            </a:r>
            <a:r>
              <a:rPr lang="ko-KR" altLang="en-US" dirty="0"/>
              <a:t>가지 방식 비교</a:t>
            </a:r>
            <a:endParaRPr lang="en-US" altLang="ko-KR" dirty="0"/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lvl="2" eaLnBrk="1" hangingPunct="1">
              <a:defRPr/>
            </a:pPr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F36CD26-1F9D-1C66-5A2F-BA4D4191C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339" y="2262592"/>
            <a:ext cx="7819048" cy="3238095"/>
          </a:xfrm>
          <a:prstGeom prst="rect">
            <a:avLst/>
          </a:prstGeom>
        </p:spPr>
      </p:pic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AB329EE5-CECE-7CF8-5DB2-341C4D699394}"/>
              </a:ext>
            </a:extLst>
          </p:cNvPr>
          <p:cNvSpPr/>
          <p:nvPr/>
        </p:nvSpPr>
        <p:spPr>
          <a:xfrm>
            <a:off x="2051720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837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773631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/>
              <a:t>WSL(2)</a:t>
            </a:r>
            <a:endParaRPr lang="ko-KR" altLang="en-US" sz="2800" dirty="0"/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40337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ko-KR" dirty="0"/>
              <a:t>WSL</a:t>
            </a:r>
            <a:r>
              <a:rPr lang="ko-KR" altLang="en-US" dirty="0"/>
              <a:t>과 </a:t>
            </a:r>
            <a:r>
              <a:rPr lang="en-US" altLang="ko-KR" dirty="0"/>
              <a:t>WSL2</a:t>
            </a:r>
            <a:r>
              <a:rPr lang="ko-KR" altLang="en-US" dirty="0"/>
              <a:t>의 짧은 역사</a:t>
            </a:r>
            <a:endParaRPr lang="en-US" altLang="ko-KR" dirty="0"/>
          </a:p>
          <a:p>
            <a:pPr lvl="1" eaLnBrk="1" hangingPunct="1">
              <a:defRPr/>
            </a:pPr>
            <a:r>
              <a:rPr lang="ko-KR" altLang="en-US" dirty="0"/>
              <a:t>마이크로소프트는 </a:t>
            </a:r>
            <a:r>
              <a:rPr lang="en-US" altLang="ko-KR" dirty="0"/>
              <a:t>2019</a:t>
            </a:r>
            <a:r>
              <a:rPr lang="ko-KR" altLang="en-US" dirty="0"/>
              <a:t>년 </a:t>
            </a:r>
            <a:r>
              <a:rPr lang="en-US" altLang="ko-KR" dirty="0"/>
              <a:t>6</a:t>
            </a:r>
            <a:r>
              <a:rPr lang="ko-KR" altLang="en-US" dirty="0"/>
              <a:t>월부터 </a:t>
            </a:r>
            <a:r>
              <a:rPr lang="en-US" altLang="ko-KR" dirty="0"/>
              <a:t>WSL 2</a:t>
            </a:r>
            <a:r>
              <a:rPr lang="ko-KR" altLang="en-US" dirty="0"/>
              <a:t>를 사용할 수 있도록 제공하기 시작</a:t>
            </a:r>
            <a:endParaRPr lang="en-US" altLang="ko-KR" dirty="0"/>
          </a:p>
          <a:p>
            <a:pPr lvl="1" eaLnBrk="1" hangingPunct="1">
              <a:defRPr/>
            </a:pPr>
            <a:r>
              <a:rPr lang="en-US" altLang="ko-KR" dirty="0"/>
              <a:t>WSL 2</a:t>
            </a:r>
            <a:r>
              <a:rPr lang="ko-KR" altLang="en-US" dirty="0"/>
              <a:t>에서는 </a:t>
            </a:r>
            <a:r>
              <a:rPr lang="en-US" altLang="ko-KR" dirty="0"/>
              <a:t>GUI </a:t>
            </a:r>
            <a:r>
              <a:rPr lang="ko-KR" altLang="en-US" dirty="0"/>
              <a:t>환경도 지원됨</a:t>
            </a:r>
            <a:endParaRPr lang="en-US" altLang="ko-KR" dirty="0"/>
          </a:p>
          <a:p>
            <a:pPr lvl="1" eaLnBrk="1" hangingPunct="1">
              <a:defRPr/>
            </a:pPr>
            <a:r>
              <a:rPr lang="en-US" altLang="ko-KR" dirty="0"/>
              <a:t>Microsoft Store </a:t>
            </a:r>
            <a:r>
              <a:rPr lang="ko-KR" altLang="en-US" dirty="0"/>
              <a:t>버전의 </a:t>
            </a:r>
            <a:r>
              <a:rPr lang="en-US" altLang="ko-KR" dirty="0"/>
              <a:t>Windows 11</a:t>
            </a:r>
            <a:r>
              <a:rPr lang="ko-KR" altLang="en-US" dirty="0"/>
              <a:t>용 </a:t>
            </a:r>
            <a:r>
              <a:rPr lang="en-US" altLang="ko-KR" dirty="0"/>
              <a:t>WSL</a:t>
            </a:r>
            <a:r>
              <a:rPr lang="ko-KR" altLang="en-US" dirty="0"/>
              <a:t>이 </a:t>
            </a:r>
            <a:r>
              <a:rPr lang="en-US" altLang="ko-KR" dirty="0"/>
              <a:t>2021</a:t>
            </a:r>
            <a:r>
              <a:rPr lang="ko-KR" altLang="en-US" dirty="0"/>
              <a:t>년 </a:t>
            </a:r>
            <a:r>
              <a:rPr lang="en-US" altLang="ko-KR" dirty="0"/>
              <a:t>11</a:t>
            </a:r>
            <a:r>
              <a:rPr lang="ko-KR" altLang="en-US" dirty="0"/>
              <a:t>월부터 제공</a:t>
            </a:r>
            <a:endParaRPr lang="en-US" altLang="ko-KR" dirty="0"/>
          </a:p>
          <a:p>
            <a:pPr lvl="1" eaLnBrk="1" hangingPunct="1">
              <a:defRPr/>
            </a:pPr>
            <a:r>
              <a:rPr lang="en-US" altLang="ko-KR" dirty="0"/>
              <a:t>WSL</a:t>
            </a:r>
            <a:r>
              <a:rPr lang="ko-KR" altLang="en-US" dirty="0"/>
              <a:t>을 사용한다고 해서 모든 리눅스 명령어를 사용할 수 있는 것은 아니므로 주의해야 함</a:t>
            </a:r>
            <a:r>
              <a:rPr lang="en-US" altLang="ko-KR" dirty="0"/>
              <a:t>. </a:t>
            </a:r>
            <a:r>
              <a:rPr lang="ko-KR" altLang="en-US" dirty="0"/>
              <a:t>특히 </a:t>
            </a:r>
            <a:r>
              <a:rPr lang="en-US" altLang="ko-KR" dirty="0"/>
              <a:t>GUI </a:t>
            </a:r>
            <a:r>
              <a:rPr lang="ko-KR" altLang="en-US" dirty="0"/>
              <a:t>환경은 제한적으로 사용</a:t>
            </a:r>
            <a:endParaRPr lang="en-US" altLang="ko-KR" dirty="0"/>
          </a:p>
          <a:p>
            <a:pPr lvl="1" eaLnBrk="1" hangingPunct="1">
              <a:defRPr/>
            </a:pPr>
            <a:r>
              <a:rPr lang="en-US" altLang="ko-KR" dirty="0"/>
              <a:t>WSL</a:t>
            </a:r>
            <a:r>
              <a:rPr lang="ko-KR" altLang="en-US" dirty="0"/>
              <a:t>을 사용하면 </a:t>
            </a:r>
            <a:r>
              <a:rPr lang="en-US" altLang="ko-KR" dirty="0"/>
              <a:t>Windows </a:t>
            </a:r>
            <a:r>
              <a:rPr lang="ko-KR" altLang="en-US" dirty="0"/>
              <a:t>운영체제와 리눅스 운영체계를 하나의 환경에서 사용할 수 있으므로 개발자의 생산성을 최대한 향상</a:t>
            </a:r>
            <a:endParaRPr lang="en-US" altLang="ko-KR" dirty="0"/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lvl="2" eaLnBrk="1" hangingPunct="1">
              <a:defRPr/>
            </a:pPr>
            <a:endParaRPr lang="en-US" altLang="ko-KR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8321D463-0E5B-3C69-BA04-099D5252B8E6}"/>
              </a:ext>
            </a:extLst>
          </p:cNvPr>
          <p:cNvSpPr/>
          <p:nvPr/>
        </p:nvSpPr>
        <p:spPr>
          <a:xfrm>
            <a:off x="2051720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838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1350008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2D1E64-AF02-4127-9EFE-15F97D8C1634}"/>
              </a:ext>
            </a:extLst>
          </p:cNvPr>
          <p:cNvSpPr txBox="1">
            <a:spLocks/>
          </p:cNvSpPr>
          <p:nvPr/>
        </p:nvSpPr>
        <p:spPr bwMode="auto">
          <a:xfrm>
            <a:off x="773341" y="694123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3&gt; WSL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설치와 사용</a:t>
            </a:r>
          </a:p>
        </p:txBody>
      </p:sp>
      <p:pic>
        <p:nvPicPr>
          <p:cNvPr id="3" name="그림 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937068C5-42A5-468A-8DB8-6914C6F266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523545"/>
            <a:ext cx="756709" cy="742276"/>
          </a:xfrm>
          <a:prstGeom prst="rect">
            <a:avLst/>
          </a:prstGeom>
        </p:spPr>
      </p:pic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en-US" altLang="ko-KR" sz="2000" dirty="0"/>
              <a:t>Windows</a:t>
            </a:r>
            <a:r>
              <a:rPr lang="ko-KR" altLang="en-US" sz="2000" dirty="0"/>
              <a:t> </a:t>
            </a:r>
            <a:r>
              <a:rPr lang="en-US" altLang="ko-KR" sz="2000" dirty="0"/>
              <a:t>11</a:t>
            </a:r>
            <a:r>
              <a:rPr lang="ko-KR" altLang="en-US" sz="2000" dirty="0"/>
              <a:t>에서 진행한다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r>
              <a:rPr lang="en-US" altLang="ko-KR" sz="2000" dirty="0"/>
              <a:t>WSL</a:t>
            </a:r>
            <a:r>
              <a:rPr lang="ko-KR" altLang="en-US" sz="2000" dirty="0"/>
              <a:t>을 설치하고</a:t>
            </a:r>
            <a:r>
              <a:rPr lang="en-US" altLang="ko-KR" sz="2000" dirty="0"/>
              <a:t> </a:t>
            </a:r>
            <a:r>
              <a:rPr lang="ko-KR" altLang="en-US" sz="2000" dirty="0"/>
              <a:t>다양한 리눅스를 설치하고 작동해 본다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r>
              <a:rPr lang="ko-KR" altLang="en-US" dirty="0"/>
              <a:t>결과 화면 </a:t>
            </a:r>
            <a:r>
              <a:rPr lang="en-US" altLang="ko-KR" dirty="0"/>
              <a:t>(WSL</a:t>
            </a:r>
            <a:r>
              <a:rPr lang="ko-KR" altLang="en-US" dirty="0"/>
              <a:t>에서 리눅스 작동</a:t>
            </a:r>
            <a:r>
              <a:rPr lang="en-US" altLang="ko-KR" dirty="0"/>
              <a:t>)</a:t>
            </a:r>
            <a:endParaRPr lang="ko-KR" altLang="en-US" dirty="0"/>
          </a:p>
          <a:p>
            <a:pPr lvl="1" eaLnBrk="1" hangingPunct="1">
              <a:defRPr/>
            </a:pPr>
            <a:endParaRPr lang="en-US" altLang="ko-KR" dirty="0"/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DADB1BC2-E135-4161-298F-E2D404991A5A}"/>
              </a:ext>
            </a:extLst>
          </p:cNvPr>
          <p:cNvSpPr/>
          <p:nvPr/>
        </p:nvSpPr>
        <p:spPr>
          <a:xfrm>
            <a:off x="4784332" y="553621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839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 descr="텍스트, 스크린샷, 소프트웨어, 컴퓨터이(가) 표시된 사진&#10;&#10;자동 생성된 설명">
            <a:extLst>
              <a:ext uri="{FF2B5EF4-FFF2-40B4-BE49-F238E27FC236}">
                <a16:creationId xmlns:a16="http://schemas.microsoft.com/office/drawing/2014/main" id="{A000CD4D-5BE6-057B-DB0B-3BEF97D39E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3254358"/>
            <a:ext cx="6857942" cy="3246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298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3528" y="2132856"/>
            <a:ext cx="8496943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▶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힌트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 : Windows 10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가상머신의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Windows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시스템을 최신으로 업데이트한 후 진행한다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.</a:t>
            </a:r>
          </a:p>
          <a:p>
            <a:pPr algn="just">
              <a:lnSpc>
                <a:spcPct val="150000"/>
              </a:lnSpc>
            </a:pP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▶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힌트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 : Microsoft Store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도 업데이트한 후 진행해야 할 수 있다</a:t>
            </a: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426821D5-D46F-2971-161B-548D77274AC0}"/>
              </a:ext>
            </a:extLst>
          </p:cNvPr>
          <p:cNvSpPr/>
          <p:nvPr/>
        </p:nvSpPr>
        <p:spPr>
          <a:xfrm>
            <a:off x="7229934" y="764704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847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BDCABB2-3BA1-A235-3407-093448ED48EC}"/>
              </a:ext>
            </a:extLst>
          </p:cNvPr>
          <p:cNvSpPr/>
          <p:nvPr/>
        </p:nvSpPr>
        <p:spPr>
          <a:xfrm>
            <a:off x="1697649" y="908720"/>
            <a:ext cx="55322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비타민 퀴즈 </a:t>
            </a:r>
            <a:r>
              <a:rPr lang="en-US" altLang="ko-KR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20-2 </a:t>
            </a:r>
          </a:p>
        </p:txBody>
      </p:sp>
    </p:spTree>
    <p:extLst>
      <p:ext uri="{BB962C8B-B14F-4D97-AF65-F5344CB8AC3E}">
        <p14:creationId xmlns:p14="http://schemas.microsoft.com/office/powerpoint/2010/main" val="39651125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황록색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[우분투]00장.시작하기전에(Ver 1.0).pptx" id="{9CB7B681-7F69-4437-97DB-78D719B423D5}" vid="{18BC4063-0A75-45F0-B6F0-A104C17F8AB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2425</TotalTime>
  <Words>384</Words>
  <Application>Microsoft Office PowerPoint</Application>
  <PresentationFormat>화면 슬라이드 쇼(4:3)</PresentationFormat>
  <Paragraphs>67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20" baseType="lpstr">
      <vt:lpstr>Georgia</vt:lpstr>
      <vt:lpstr>Trebuchet MS</vt:lpstr>
      <vt:lpstr>나눔바른고딕</vt:lpstr>
      <vt:lpstr>나눔스퀘어라운드 ExtraBold</vt:lpstr>
      <vt:lpstr>굴림</vt:lpstr>
      <vt:lpstr>Wingdings 2</vt:lpstr>
      <vt:lpstr>나눔스퀘어 ExtraBold</vt:lpstr>
      <vt:lpstr>나눔고딕 ExtraBold</vt:lpstr>
      <vt:lpstr>Urban</vt:lpstr>
      <vt:lpstr>PowerPoint 프레젠테이션</vt:lpstr>
      <vt:lpstr>리눅스에서 Windows용 응용 프로그램 실행</vt:lpstr>
      <vt:lpstr>PowerPoint 프레젠테이션</vt:lpstr>
      <vt:lpstr>도커의 개념</vt:lpstr>
      <vt:lpstr>가상 컴퓨터와 컨테이너의 차이점</vt:lpstr>
      <vt:lpstr>PowerPoint 프레젠테이션</vt:lpstr>
      <vt:lpstr>WSL 개념 </vt:lpstr>
      <vt:lpstr>WSL(1)</vt:lpstr>
      <vt:lpstr>WSL(2)</vt:lpstr>
      <vt:lpstr>PowerPoint 프레젠테이션</vt:lpstr>
      <vt:lpstr>PowerPoint 프레젠테이션</vt:lpstr>
    </vt:vector>
  </TitlesOfParts>
  <Company>DTSOLUTION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이것이 리눅스다</dc:title>
  <dc:creator>한빛미디어</dc:creator>
  <cp:lastModifiedBy>재남 우</cp:lastModifiedBy>
  <cp:revision>125</cp:revision>
  <dcterms:created xsi:type="dcterms:W3CDTF">2007-02-12T03:01:34Z</dcterms:created>
  <dcterms:modified xsi:type="dcterms:W3CDTF">2024-10-26T04:36:04Z</dcterms:modified>
</cp:coreProperties>
</file>