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9" r:id="rId4"/>
    <p:sldId id="260" r:id="rId5"/>
    <p:sldId id="261" r:id="rId6"/>
    <p:sldId id="262" r:id="rId7"/>
    <p:sldId id="295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96" r:id="rId17"/>
    <p:sldId id="297" r:id="rId18"/>
    <p:sldId id="299" r:id="rId19"/>
    <p:sldId id="298" r:id="rId20"/>
    <p:sldId id="274" r:id="rId21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24"/>
    </p:embeddedFont>
    <p:embeddedFont>
      <p:font typeface="나눔바른고딕" panose="020B0603020101020101" pitchFamily="50" charset="-127"/>
      <p:regular r:id="rId25"/>
      <p:bold r:id="rId26"/>
    </p:embeddedFont>
    <p:embeddedFont>
      <p:font typeface="나눔스퀘어 ExtraBold" panose="020B0600000101010101" pitchFamily="50" charset="-127"/>
      <p:bold r:id="rId27"/>
    </p:embeddedFont>
    <p:embeddedFont>
      <p:font typeface="나눔스퀘어라운드 ExtraBold" panose="020B0600000101010101" pitchFamily="50" charset="-127"/>
      <p:bold r:id="rId28"/>
    </p:embeddedFont>
    <p:embeddedFont>
      <p:font typeface="Georgia" panose="02040502050405020303" pitchFamily="18" charset="0"/>
      <p:regular r:id="rId29"/>
      <p:bold r:id="rId30"/>
      <p:italic r:id="rId31"/>
      <p:boldItalic r:id="rId32"/>
    </p:embeddedFont>
    <p:embeddedFont>
      <p:font typeface="Trebuchet MS" panose="020B0603020202020204" pitchFamily="34" charset="0"/>
      <p:regular r:id="rId33"/>
      <p:bold r:id="rId34"/>
      <p:italic r:id="rId35"/>
      <p:boldItalic r:id="rId36"/>
    </p:embeddedFont>
    <p:embeddedFont>
      <p:font typeface="Wingdings 2" panose="05020102010507070707" pitchFamily="18" charset="2"/>
      <p:regular r:id="rId37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CC66"/>
    <a:srgbClr val="FF9933"/>
    <a:srgbClr val="FF6600"/>
    <a:srgbClr val="CC66FF"/>
    <a:srgbClr val="FF7C80"/>
    <a:srgbClr val="9966FF"/>
    <a:srgbClr val="FF00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475580" y="1309948"/>
            <a:ext cx="3196708" cy="523220"/>
          </a:xfrm>
          <a:prstGeom prst="rect">
            <a:avLst/>
          </a:prstGeom>
          <a:solidFill>
            <a:srgbClr val="00B0F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01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 환경 구축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9479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01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실습 환경 구축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358188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/20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가상머신의 소개</a:t>
            </a:r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설치</a:t>
            </a:r>
            <a:endParaRPr lang="ko-KR" altLang="en-US" sz="2800" dirty="0">
              <a:solidFill>
                <a:srgbClr val="00B0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150018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지금 쓰는 </a:t>
            </a:r>
            <a:r>
              <a:rPr lang="en-US" altLang="ko-KR" dirty="0"/>
              <a:t>Windows</a:t>
            </a:r>
            <a:r>
              <a:rPr lang="ko-KR" altLang="en-US" dirty="0"/>
              <a:t>를 그대로 사용하면서도 여러 대의 </a:t>
            </a:r>
            <a:r>
              <a:rPr lang="ko-KR" altLang="en-US" dirty="0" err="1"/>
              <a:t>리눅스</a:t>
            </a:r>
            <a:r>
              <a:rPr lang="ko-KR" altLang="en-US" dirty="0"/>
              <a:t> 서버를 운영하는 효과를 내는 프로그램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1</a:t>
            </a:r>
            <a:r>
              <a:rPr lang="ko-KR" altLang="en-US" dirty="0"/>
              <a:t>대의 </a:t>
            </a:r>
            <a:r>
              <a:rPr lang="en-US" altLang="ko-KR" dirty="0"/>
              <a:t>PC</a:t>
            </a:r>
            <a:r>
              <a:rPr lang="ko-KR" altLang="en-US" dirty="0"/>
              <a:t>에서 추가로 </a:t>
            </a:r>
            <a:r>
              <a:rPr lang="en-US" altLang="ko-KR" dirty="0"/>
              <a:t>4</a:t>
            </a:r>
            <a:r>
              <a:rPr lang="ko-KR" altLang="en-US" dirty="0"/>
              <a:t>개의 가상머신을 구동한 화면</a:t>
            </a:r>
            <a:endParaRPr lang="en-US" altLang="ko-KR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pic>
        <p:nvPicPr>
          <p:cNvPr id="4" name="그림 3" descr="텍스트, 전자제품, 컴퓨터, 소프트웨어이(가) 표시된 사진&#10;&#10;자동 생성된 설명">
            <a:extLst>
              <a:ext uri="{FF2B5EF4-FFF2-40B4-BE49-F238E27FC236}">
                <a16:creationId xmlns:a16="http://schemas.microsoft.com/office/drawing/2014/main" id="{77FC208A-8A24-A8CD-7708-F1BBC0DEEC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5" y="2564904"/>
            <a:ext cx="6905401" cy="3884288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66524923-3C34-7981-4A74-680D12F5FF16}"/>
              </a:ext>
            </a:extLst>
          </p:cNvPr>
          <p:cNvSpPr/>
          <p:nvPr/>
        </p:nvSpPr>
        <p:spPr>
          <a:xfrm>
            <a:off x="4427984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82194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가상머신과 가상머신 소프트웨어의 개념 </a:t>
            </a:r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(1) </a:t>
            </a:r>
            <a:endParaRPr lang="ko-KR" altLang="en-US" sz="2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컴퓨터에 설치된 운영체제</a:t>
            </a:r>
            <a:r>
              <a:rPr lang="en-US" altLang="ko-KR" dirty="0"/>
              <a:t>(</a:t>
            </a:r>
            <a:r>
              <a:rPr lang="ko-KR" altLang="en-US" dirty="0"/>
              <a:t>호스트</a:t>
            </a:r>
            <a:r>
              <a:rPr lang="en-US" altLang="ko-KR" dirty="0"/>
              <a:t>OS)</a:t>
            </a:r>
            <a:r>
              <a:rPr lang="ko-KR" altLang="en-US" dirty="0"/>
              <a:t>안에 가상의 컴퓨터를 만들고</a:t>
            </a:r>
            <a:r>
              <a:rPr lang="en-US" altLang="ko-KR" dirty="0"/>
              <a:t>, </a:t>
            </a:r>
            <a:r>
              <a:rPr lang="ko-KR" altLang="en-US" dirty="0"/>
              <a:t>그 안에 또 다른 운영체제</a:t>
            </a:r>
            <a:r>
              <a:rPr lang="en-US" altLang="ko-KR" dirty="0"/>
              <a:t>(</a:t>
            </a:r>
            <a:r>
              <a:rPr lang="ko-KR" altLang="en-US" dirty="0"/>
              <a:t>게스트</a:t>
            </a:r>
            <a:r>
              <a:rPr lang="en-US" altLang="ko-KR" dirty="0"/>
              <a:t>OS)</a:t>
            </a:r>
            <a:r>
              <a:rPr lang="ko-KR" altLang="en-US" dirty="0"/>
              <a:t>를 설치</a:t>
            </a:r>
            <a:r>
              <a:rPr lang="en-US" altLang="ko-KR" dirty="0"/>
              <a:t>/</a:t>
            </a:r>
            <a:r>
              <a:rPr lang="ko-KR" altLang="en-US" dirty="0"/>
              <a:t>운영할 수 있도록 제작된 프로그램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PC</a:t>
            </a:r>
            <a:r>
              <a:rPr lang="ko-KR" altLang="en-US" dirty="0"/>
              <a:t>에 이미 설치되어 있는</a:t>
            </a:r>
            <a:r>
              <a:rPr lang="en-US" altLang="ko-KR" dirty="0"/>
              <a:t>Windows</a:t>
            </a:r>
            <a:r>
              <a:rPr lang="ko-KR" altLang="en-US" dirty="0"/>
              <a:t>를 호스트 운영체제</a:t>
            </a:r>
            <a:r>
              <a:rPr lang="en-US" altLang="ko-KR" dirty="0"/>
              <a:t>(Host Operating System, </a:t>
            </a:r>
            <a:r>
              <a:rPr lang="ko-KR" altLang="en-US" b="1" dirty="0">
                <a:solidFill>
                  <a:srgbClr val="FF00FF"/>
                </a:solidFill>
              </a:rPr>
              <a:t>호스트</a:t>
            </a:r>
            <a:r>
              <a:rPr lang="en-US" altLang="ko-KR" b="1" dirty="0">
                <a:solidFill>
                  <a:srgbClr val="FF00FF"/>
                </a:solidFill>
              </a:rPr>
              <a:t>OS</a:t>
            </a:r>
            <a:r>
              <a:rPr lang="en-US" altLang="ko-KR" dirty="0"/>
              <a:t>)</a:t>
            </a:r>
            <a:r>
              <a:rPr lang="ko-KR" altLang="en-US" dirty="0"/>
              <a:t>라고 부르고</a:t>
            </a:r>
            <a:r>
              <a:rPr lang="en-US" altLang="ko-KR" dirty="0"/>
              <a:t>, </a:t>
            </a:r>
            <a:r>
              <a:rPr lang="ko-KR" altLang="en-US" dirty="0"/>
              <a:t>가상머신에 설치할 그 외의 운영체제를 게스트 운영체제</a:t>
            </a:r>
            <a:r>
              <a:rPr lang="en-US" altLang="ko-KR" dirty="0"/>
              <a:t>(Guest Operating System, </a:t>
            </a:r>
            <a:r>
              <a:rPr lang="ko-KR" altLang="en-US" b="1" dirty="0">
                <a:solidFill>
                  <a:srgbClr val="FF00FF"/>
                </a:solidFill>
              </a:rPr>
              <a:t>게스트</a:t>
            </a:r>
            <a:r>
              <a:rPr lang="en-US" altLang="ko-KR" b="1" dirty="0">
                <a:solidFill>
                  <a:srgbClr val="FF00FF"/>
                </a:solidFill>
              </a:rPr>
              <a:t>OS</a:t>
            </a:r>
            <a:r>
              <a:rPr lang="en-US" altLang="ko-KR" dirty="0"/>
              <a:t>)</a:t>
            </a:r>
            <a:r>
              <a:rPr lang="ko-KR" altLang="en-US" dirty="0"/>
              <a:t>라고 부름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멀티부팅</a:t>
            </a:r>
            <a:r>
              <a:rPr lang="en-US" altLang="ko-KR" dirty="0"/>
              <a:t>(Multi-Booting)</a:t>
            </a:r>
            <a:r>
              <a:rPr lang="ko-KR" altLang="en-US" dirty="0"/>
              <a:t>과는 개념이 다름</a:t>
            </a: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8E213FA-6C43-4379-49A2-A2AC5D62B12B}"/>
              </a:ext>
            </a:extLst>
          </p:cNvPr>
          <p:cNvSpPr/>
          <p:nvPr/>
        </p:nvSpPr>
        <p:spPr>
          <a:xfrm>
            <a:off x="7534672" y="65206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5886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가상머신과 가상머신 소프트웨어의 개념 </a:t>
            </a:r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(2) 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0" y="-184666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143000" y="1428750"/>
            <a:ext cx="1828800" cy="5715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 </a:t>
            </a: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</a:t>
            </a:r>
            <a:r>
              <a:rPr lang="ko-KR" altLang="en-US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</a:t>
            </a:r>
            <a:endParaRPr lang="en-US" altLang="ko-KR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defRPr/>
            </a:pP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</a:t>
            </a: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</a:t>
            </a:r>
            <a:endParaRPr lang="ko-KR" altLang="en-US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072188" y="1357313"/>
            <a:ext cx="1828800" cy="5715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 </a:t>
            </a: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</a:t>
            </a:r>
            <a:r>
              <a:rPr lang="ko-KR" altLang="en-US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endParaRPr lang="en-US" altLang="ko-KR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defRPr/>
            </a:pP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</a:t>
            </a:r>
            <a:r>
              <a:rPr lang="en-US" altLang="ko-KR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</a:t>
            </a:r>
            <a:endParaRPr lang="ko-KR" altLang="en-US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3468071" y="1570178"/>
            <a:ext cx="1785938" cy="21431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9512" y="2168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B611F3-71E5-EB4D-3DDD-BB0773F6F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8" y="2123894"/>
            <a:ext cx="4069217" cy="219676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B5DCEA4-EDA7-0BE1-46F0-6B4119F84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607" y="1997356"/>
            <a:ext cx="4243655" cy="4475251"/>
          </a:xfrm>
          <a:prstGeom prst="rect">
            <a:avLst/>
          </a:prstGeom>
        </p:spPr>
      </p:pic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F6F4FF66-7E4A-788B-F52D-CD0C4B95E626}"/>
              </a:ext>
            </a:extLst>
          </p:cNvPr>
          <p:cNvSpPr/>
          <p:nvPr/>
        </p:nvSpPr>
        <p:spPr>
          <a:xfrm>
            <a:off x="7491809" y="66484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7~8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63274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186738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 종류와 </a:t>
            </a:r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VMware  </a:t>
            </a:r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 </a:t>
            </a:r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(1) </a:t>
            </a:r>
            <a:endParaRPr lang="ko-KR" altLang="en-US" sz="2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000" dirty="0"/>
              <a:t>VMware Workstation Pro </a:t>
            </a:r>
            <a:r>
              <a:rPr lang="ko-KR" altLang="en-US" sz="2000" dirty="0"/>
              <a:t>제품 정보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064C8E-48CC-8E66-28A1-13A400287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000251"/>
            <a:ext cx="5694859" cy="3055945"/>
          </a:xfrm>
          <a:prstGeom prst="rect">
            <a:avLst/>
          </a:prstGeom>
        </p:spPr>
      </p:pic>
      <p:sp>
        <p:nvSpPr>
          <p:cNvPr id="6" name="물결 5">
            <a:extLst>
              <a:ext uri="{FF2B5EF4-FFF2-40B4-BE49-F238E27FC236}">
                <a16:creationId xmlns:a16="http://schemas.microsoft.com/office/drawing/2014/main" id="{58A5C484-C60B-97D4-311A-8C7535E4918B}"/>
              </a:ext>
            </a:extLst>
          </p:cNvPr>
          <p:cNvSpPr/>
          <p:nvPr/>
        </p:nvSpPr>
        <p:spPr>
          <a:xfrm>
            <a:off x="1043608" y="5301208"/>
            <a:ext cx="6840760" cy="1080120"/>
          </a:xfrm>
          <a:prstGeom prst="wave">
            <a:avLst>
              <a:gd name="adj1" fmla="val 6856"/>
              <a:gd name="adj2" fmla="val -60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VMware Workstation Pro 17.5.2 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부터는 </a:t>
            </a:r>
            <a:r>
              <a:rPr lang="ko-KR" altLang="en-US" sz="1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개인은 기간 제한 없이 무료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사용 가능함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algn="ctr"/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VMware Workstation Player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더 이상 배포하지 않음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1A277A7B-6C6E-C36C-C071-564B5F420882}"/>
              </a:ext>
            </a:extLst>
          </p:cNvPr>
          <p:cNvSpPr/>
          <p:nvPr/>
        </p:nvSpPr>
        <p:spPr>
          <a:xfrm>
            <a:off x="6372200" y="66484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0009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000" dirty="0"/>
              <a:t>VMware Workstation Pro </a:t>
            </a:r>
            <a:r>
              <a:rPr lang="ko-KR" altLang="en-US" sz="2000" dirty="0"/>
              <a:t>의 설치를 위한 하드웨어 사양 요약</a:t>
            </a:r>
            <a:endParaRPr lang="en-US" altLang="ko-KR" sz="2000" dirty="0"/>
          </a:p>
        </p:txBody>
      </p:sp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 종류와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VMware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(2) 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7353A7-418D-0D29-B841-CF227DAB8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32856"/>
            <a:ext cx="7171428" cy="3476190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E882FDF-0006-C6A7-F7A9-58F4BE3FE886}"/>
              </a:ext>
            </a:extLst>
          </p:cNvPr>
          <p:cNvSpPr/>
          <p:nvPr/>
        </p:nvSpPr>
        <p:spPr>
          <a:xfrm>
            <a:off x="5436096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41599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sz="2000" dirty="0"/>
              <a:t>VMware Workstation Pro </a:t>
            </a:r>
            <a:r>
              <a:rPr lang="ko-KR" altLang="en-US" sz="2000" dirty="0"/>
              <a:t>설치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(Workstation Pro)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773341" y="643136"/>
            <a:ext cx="8075240" cy="642937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VMware Workstation Pro</a:t>
            </a:r>
            <a:r>
              <a:rPr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설치</a:t>
            </a:r>
          </a:p>
        </p:txBody>
      </p:sp>
      <p:pic>
        <p:nvPicPr>
          <p:cNvPr id="5" name="그림 4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16711481-F7FB-409E-A000-4ECDA22D2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72558"/>
            <a:ext cx="756709" cy="742276"/>
          </a:xfrm>
          <a:prstGeom prst="rect">
            <a:avLst/>
          </a:prstGeom>
        </p:spPr>
      </p:pic>
      <p:pic>
        <p:nvPicPr>
          <p:cNvPr id="8" name="그림 7" descr="텍스트, 소프트웨어, 컴퓨터 아이콘, 폰트이(가) 표시된 사진&#10;&#10;자동 생성된 설명">
            <a:extLst>
              <a:ext uri="{FF2B5EF4-FFF2-40B4-BE49-F238E27FC236}">
                <a16:creationId xmlns:a16="http://schemas.microsoft.com/office/drawing/2014/main" id="{5A83EB78-2BDD-98D2-CEE3-C8FE02CA7A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68" y="3178594"/>
            <a:ext cx="6948264" cy="3036270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1519707-79EC-BB10-247A-5C92E52B603E}"/>
              </a:ext>
            </a:extLst>
          </p:cNvPr>
          <p:cNvSpPr/>
          <p:nvPr/>
        </p:nvSpPr>
        <p:spPr>
          <a:xfrm>
            <a:off x="6893200" y="496594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52493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가상머신의 겉모양 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/>
              <a:t>가상머신</a:t>
            </a:r>
            <a:r>
              <a:rPr lang="en-US" altLang="ko-KR" sz="2000" dirty="0"/>
              <a:t>(</a:t>
            </a:r>
            <a:r>
              <a:rPr lang="ko-KR" altLang="en-US" sz="2000" dirty="0"/>
              <a:t>가짜 컴퓨터</a:t>
            </a:r>
            <a:r>
              <a:rPr lang="en-US" altLang="ko-KR" sz="2000" dirty="0"/>
              <a:t>)</a:t>
            </a:r>
            <a:r>
              <a:rPr lang="ko-KR" altLang="en-US" sz="2000" dirty="0"/>
              <a:t>가 생성된 화면</a:t>
            </a:r>
            <a:endParaRPr lang="en-US" altLang="ko-KR" sz="2000" dirty="0"/>
          </a:p>
        </p:txBody>
      </p:sp>
      <p:pic>
        <p:nvPicPr>
          <p:cNvPr id="3" name="그림 2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1D4A3388-EA76-B386-EE86-E3986C8C0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23954"/>
            <a:ext cx="5766318" cy="4495671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2121D80-B068-1757-0AAA-5CEC76EB1F79}"/>
              </a:ext>
            </a:extLst>
          </p:cNvPr>
          <p:cNvSpPr/>
          <p:nvPr/>
        </p:nvSpPr>
        <p:spPr>
          <a:xfrm>
            <a:off x="3484439" y="6254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210403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8B51C125-FFA2-4B02-86AB-55CE879DB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48" y="628651"/>
            <a:ext cx="8075240" cy="642937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 </a:t>
            </a:r>
            <a:r>
              <a:rPr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 생성</a:t>
            </a:r>
          </a:p>
        </p:txBody>
      </p:sp>
      <p:pic>
        <p:nvPicPr>
          <p:cNvPr id="13" name="그림 1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2D0622D0-F529-425B-A47B-4CBDCF20E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20893" y="458073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앞으로 계속 사용할 가상머신 </a:t>
            </a:r>
            <a:r>
              <a:rPr lang="en-US" altLang="ko-KR" sz="2000" dirty="0"/>
              <a:t>4</a:t>
            </a:r>
            <a:r>
              <a:rPr lang="ko-KR" altLang="en-US" sz="2000" dirty="0"/>
              <a:t>대를 생성한다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8</a:t>
            </a:r>
            <a:r>
              <a:rPr lang="ko-KR" altLang="en-US" sz="2000" dirty="0"/>
              <a:t>쪽의 </a:t>
            </a:r>
            <a:r>
              <a:rPr lang="en-US" altLang="ko-KR" sz="2000" dirty="0"/>
              <a:t>[</a:t>
            </a:r>
            <a:r>
              <a:rPr lang="ko-KR" altLang="en-US" sz="2000" dirty="0"/>
              <a:t>그림 </a:t>
            </a:r>
            <a:r>
              <a:rPr lang="en-US" altLang="ko-KR" sz="2000" dirty="0"/>
              <a:t>1-3]</a:t>
            </a:r>
            <a:r>
              <a:rPr lang="ko-KR" altLang="en-US" sz="2000" dirty="0"/>
              <a:t>과 </a:t>
            </a:r>
            <a:r>
              <a:rPr lang="en-US" altLang="ko-KR" sz="2000" dirty="0"/>
              <a:t>36</a:t>
            </a:r>
            <a:r>
              <a:rPr lang="ko-KR" altLang="en-US" sz="2000" dirty="0"/>
              <a:t>쪽의 </a:t>
            </a:r>
            <a:r>
              <a:rPr lang="en-US" altLang="ko-KR" sz="2000" dirty="0"/>
              <a:t>[</a:t>
            </a:r>
            <a:r>
              <a:rPr lang="ko-KR" altLang="en-US" sz="2000" dirty="0"/>
              <a:t>표 </a:t>
            </a:r>
            <a:r>
              <a:rPr lang="en-US" altLang="ko-KR" sz="2000" dirty="0"/>
              <a:t>1-3]</a:t>
            </a:r>
            <a:r>
              <a:rPr lang="ko-KR" altLang="en-US" sz="2000" dirty="0"/>
              <a:t>을 참조해서 생성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가상머신 </a:t>
            </a:r>
            <a:r>
              <a:rPr lang="en-US" altLang="ko-KR" dirty="0"/>
              <a:t>4</a:t>
            </a:r>
            <a:r>
              <a:rPr lang="ko-KR" altLang="en-US" dirty="0"/>
              <a:t>대가 생성된 결과화면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0A2967CE-53EC-2892-FA7F-A185173197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996952"/>
            <a:ext cx="5112568" cy="3434759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EC51999-92C5-ABFA-E984-FD17FF432512}"/>
              </a:ext>
            </a:extLst>
          </p:cNvPr>
          <p:cNvSpPr/>
          <p:nvPr/>
        </p:nvSpPr>
        <p:spPr>
          <a:xfrm>
            <a:off x="4757668" y="537498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00566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 책에서 사용할 가상머신의 하드웨어 사양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987AF2-38F1-3562-8B73-C1050A64C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68760"/>
            <a:ext cx="6178002" cy="5111415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6D5385-45DD-BCE5-0302-F3269EF0B433}"/>
              </a:ext>
            </a:extLst>
          </p:cNvPr>
          <p:cNvSpPr/>
          <p:nvPr/>
        </p:nvSpPr>
        <p:spPr>
          <a:xfrm>
            <a:off x="6588224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36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49560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VMware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특징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 장점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ko-KR" altLang="en-US" sz="2000" dirty="0"/>
              <a:t>①  </a:t>
            </a:r>
            <a:r>
              <a:rPr lang="en-US" altLang="ko-KR" sz="2000" dirty="0"/>
              <a:t>1</a:t>
            </a:r>
            <a:r>
              <a:rPr lang="ko-KR" altLang="en-US" sz="2000" dirty="0"/>
              <a:t>대의 컴퓨터만으로 실무 환경과 거의 비슷한 네트워크 컴퓨터 환경의 구성이 가능하다</a:t>
            </a:r>
            <a:r>
              <a:rPr lang="en-US" altLang="ko-KR" sz="2000" dirty="0"/>
              <a:t>.</a:t>
            </a:r>
          </a:p>
          <a:p>
            <a:pPr eaLnBrk="1" hangingPunct="1">
              <a:buNone/>
              <a:defRPr/>
            </a:pPr>
            <a:r>
              <a:rPr lang="ko-KR" altLang="en-US" sz="2000" dirty="0"/>
              <a:t>② 운영체제의 특정 시점을 저장하는 스냅숏 기능을 사용할 수 있다</a:t>
            </a:r>
            <a:r>
              <a:rPr lang="en-US" altLang="ko-KR" sz="2000" dirty="0"/>
              <a:t>.</a:t>
            </a:r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eaLnBrk="1" hangingPunct="1">
              <a:buNone/>
              <a:defRPr/>
            </a:pPr>
            <a:r>
              <a:rPr lang="ko-KR" altLang="en-US" sz="2000" dirty="0"/>
              <a:t>③ 하드디스크 등의 하드웨어를 내 맘대로 여러 개 장착해서 테스트할 수 있다</a:t>
            </a:r>
          </a:p>
          <a:p>
            <a:pPr eaLnBrk="1" hangingPunct="1">
              <a:buNone/>
              <a:defRPr/>
            </a:pPr>
            <a:r>
              <a:rPr lang="ko-KR" altLang="en-US" sz="2000" dirty="0"/>
              <a:t>④ 현재 </a:t>
            </a:r>
            <a:r>
              <a:rPr lang="en-US" altLang="ko-KR" sz="2000" dirty="0"/>
              <a:t>PC</a:t>
            </a:r>
            <a:r>
              <a:rPr lang="ko-KR" altLang="en-US" sz="2000" dirty="0"/>
              <a:t> 상태를 그대로 저장해 놓고</a:t>
            </a:r>
            <a:r>
              <a:rPr lang="en-US" altLang="ko-KR" sz="2000" dirty="0"/>
              <a:t>, </a:t>
            </a:r>
            <a:r>
              <a:rPr lang="ko-KR" altLang="en-US" sz="2000" dirty="0"/>
              <a:t>다음 사용할 때 현재 상태를 이어서 구동할 수 있다</a:t>
            </a:r>
            <a:r>
              <a:rPr lang="en-US" altLang="ko-KR" sz="2000" dirty="0"/>
              <a:t> (Suspend </a:t>
            </a:r>
            <a:r>
              <a:rPr lang="ko-KR" altLang="en-US" sz="2000" dirty="0"/>
              <a:t>기능</a:t>
            </a:r>
            <a:r>
              <a:rPr lang="en-US" altLang="ko-KR" sz="2000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3CF980-1BB6-B494-44E0-2FAA28513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978" y="2636912"/>
            <a:ext cx="5095238" cy="2104762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B5905EB-06CB-AAC5-56C9-AB4958734A31}"/>
              </a:ext>
            </a:extLst>
          </p:cNvPr>
          <p:cNvSpPr/>
          <p:nvPr/>
        </p:nvSpPr>
        <p:spPr>
          <a:xfrm>
            <a:off x="4860032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091971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0E92DA53-459B-4CE1-B05C-342DA300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29" y="642730"/>
            <a:ext cx="8075240" cy="642937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VMware Player 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닫기 버튼의 기능 </a:t>
            </a:r>
          </a:p>
        </p:txBody>
      </p:sp>
      <p:pic>
        <p:nvPicPr>
          <p:cNvPr id="9" name="그림 8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556B0D2-F92B-499F-9BB4-DA42416A6D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388" y="472152"/>
            <a:ext cx="756709" cy="742276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457200" y="1632573"/>
            <a:ext cx="8229600" cy="48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가상머신을 닫을 때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Suspend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Power Off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기능을 구분한다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Suspend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된 화면</a:t>
            </a:r>
          </a:p>
          <a:p>
            <a:pPr lvl="1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2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8091FBFE-AAE6-6DD8-3524-33626B91A659}"/>
              </a:ext>
            </a:extLst>
          </p:cNvPr>
          <p:cNvSpPr/>
          <p:nvPr/>
        </p:nvSpPr>
        <p:spPr>
          <a:xfrm>
            <a:off x="6084168" y="3520357"/>
            <a:ext cx="2520280" cy="1080120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 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Ctrl + Alt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호스트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가상머신의 포커스를 이동한다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/>
          </a:p>
        </p:txBody>
      </p:sp>
      <p:pic>
        <p:nvPicPr>
          <p:cNvPr id="5" name="그림 4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884BD051-7B69-3462-9846-93C7DD85D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284984"/>
            <a:ext cx="4680520" cy="3255202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7B39EC3-637C-41F2-1CE0-26664FEE6D31}"/>
              </a:ext>
            </a:extLst>
          </p:cNvPr>
          <p:cNvSpPr/>
          <p:nvPr/>
        </p:nvSpPr>
        <p:spPr>
          <a:xfrm>
            <a:off x="5868144" y="528717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41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69079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25FAFBDC-1CB9-4525-83A7-9E76CA90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29" y="642730"/>
            <a:ext cx="8075240" cy="642937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4&gt; 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가상머신이 모니터 화면 전체를 사용 </a:t>
            </a:r>
          </a:p>
        </p:txBody>
      </p:sp>
      <p:pic>
        <p:nvPicPr>
          <p:cNvPr id="10" name="그림 9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DEA88DF-0E34-4393-8AD7-C12B440EA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388" y="472152"/>
            <a:ext cx="756709" cy="742276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457200" y="1632573"/>
            <a:ext cx="8229600" cy="48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게스트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전체 화면으로 꽉 채워서 사용해 보자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전체 화면 사용</a:t>
            </a:r>
          </a:p>
          <a:p>
            <a:pPr lvl="1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2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 descr="스크린샷, 텍스트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D957E1F3-544A-6F21-B500-208C6760AE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4561261"/>
            <a:ext cx="8964488" cy="1271294"/>
          </a:xfrm>
          <a:prstGeom prst="rect">
            <a:avLst/>
          </a:prstGeom>
        </p:spPr>
      </p:pic>
      <p:sp>
        <p:nvSpPr>
          <p:cNvPr id="5" name="물결 4">
            <a:extLst>
              <a:ext uri="{FF2B5EF4-FFF2-40B4-BE49-F238E27FC236}">
                <a16:creationId xmlns:a16="http://schemas.microsoft.com/office/drawing/2014/main" id="{7ECF736A-5453-5DD6-9B12-74321A7049E2}"/>
              </a:ext>
            </a:extLst>
          </p:cNvPr>
          <p:cNvSpPr/>
          <p:nvPr/>
        </p:nvSpPr>
        <p:spPr>
          <a:xfrm>
            <a:off x="3923928" y="3339162"/>
            <a:ext cx="3528392" cy="694922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가상머신 안에서 왼쪽 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Ctrl + Alt + Enter 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</a:t>
            </a:r>
            <a:endParaRPr lang="ko-KR" altLang="en-US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D717EC1-7370-F93A-BEBA-12F47F521044}"/>
              </a:ext>
            </a:extLst>
          </p:cNvPr>
          <p:cNvSpPr/>
          <p:nvPr/>
        </p:nvSpPr>
        <p:spPr>
          <a:xfrm>
            <a:off x="6012160" y="506997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07702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여러 개의 가상머신을 동시에 부팅 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/>
              <a:t>별도의 탭에서 가상머신 </a:t>
            </a:r>
            <a:r>
              <a:rPr lang="en-US" altLang="ko-KR" sz="2000" dirty="0"/>
              <a:t>2</a:t>
            </a:r>
            <a:r>
              <a:rPr lang="ko-KR" altLang="en-US" sz="2000" dirty="0"/>
              <a:t>개를 동시에 실행한 </a:t>
            </a:r>
            <a:r>
              <a:rPr lang="en-US" altLang="ko-KR" sz="2000" dirty="0"/>
              <a:t>VMware</a:t>
            </a:r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300C9B-A405-53EB-D667-321597E62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78" y="2000251"/>
            <a:ext cx="5391829" cy="19345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652823-4722-3C84-76E4-C05D70F1A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194492"/>
            <a:ext cx="5387067" cy="1935517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C4F26B8-C986-284A-1462-C3B122A03BDB}"/>
              </a:ext>
            </a:extLst>
          </p:cNvPr>
          <p:cNvSpPr/>
          <p:nvPr/>
        </p:nvSpPr>
        <p:spPr>
          <a:xfrm>
            <a:off x="5364088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91726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네트워크 정보 파악과 변경 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/>
              <a:t>호스트 </a:t>
            </a:r>
            <a:r>
              <a:rPr lang="en-US" altLang="ko-KR" sz="2000" dirty="0"/>
              <a:t>OS</a:t>
            </a:r>
            <a:r>
              <a:rPr lang="ko-KR" altLang="en-US" sz="2000" dirty="0"/>
              <a:t>에서 </a:t>
            </a:r>
            <a:r>
              <a:rPr lang="en-US" altLang="ko-KR" sz="2000" dirty="0"/>
              <a:t>IP </a:t>
            </a:r>
            <a:r>
              <a:rPr lang="ko-KR" altLang="en-US" sz="2000" dirty="0"/>
              <a:t>정보 확인</a:t>
            </a: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</p:txBody>
      </p:sp>
      <p:pic>
        <p:nvPicPr>
          <p:cNvPr id="4" name="그림 3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4DA44A28-1D98-F7E1-680C-F9602863F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847705"/>
            <a:ext cx="5742478" cy="4264284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D23C08B-96E7-5704-4289-CC81B63C0E81}"/>
              </a:ext>
            </a:extLst>
          </p:cNvPr>
          <p:cNvSpPr/>
          <p:nvPr/>
        </p:nvSpPr>
        <p:spPr>
          <a:xfrm>
            <a:off x="4427984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25455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BCA69C6F-3CA0-4065-BD99-48920526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29" y="681099"/>
            <a:ext cx="8075240" cy="642937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5&gt; VMnet8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IP 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주소 설정</a:t>
            </a:r>
          </a:p>
        </p:txBody>
      </p:sp>
      <p:pic>
        <p:nvPicPr>
          <p:cNvPr id="9" name="그림 8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79FCCF88-9AC3-446F-A21B-9D317B2C37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388" y="510521"/>
            <a:ext cx="756709" cy="742276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457200" y="1632573"/>
            <a:ext cx="8229600" cy="48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VMware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책과 동일한 네트워크 환경을 구성한다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Virtual Network Editor</a:t>
            </a: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2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24ECCD4A-AB64-436A-3C97-64E5F7B85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284984"/>
            <a:ext cx="4824536" cy="3168352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C1A4E15-B4A5-E7B3-4BC1-FFE4E218F27C}"/>
              </a:ext>
            </a:extLst>
          </p:cNvPr>
          <p:cNvSpPr/>
          <p:nvPr/>
        </p:nvSpPr>
        <p:spPr>
          <a:xfrm>
            <a:off x="4788024" y="592198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227214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책의 네트워크 환경 상세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1FCAE0-FE64-5B86-9FB4-998BADC5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346304"/>
            <a:ext cx="5544616" cy="5049866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FCD538E-9171-5394-6A36-9F010EF5DC11}"/>
              </a:ext>
            </a:extLst>
          </p:cNvPr>
          <p:cNvSpPr/>
          <p:nvPr/>
        </p:nvSpPr>
        <p:spPr>
          <a:xfrm>
            <a:off x="4139952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49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855395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가상머신에 할당할 네트워크 정보 요약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FCD538E-9171-5394-6A36-9F010EF5DC11}"/>
              </a:ext>
            </a:extLst>
          </p:cNvPr>
          <p:cNvSpPr/>
          <p:nvPr/>
        </p:nvSpPr>
        <p:spPr>
          <a:xfrm>
            <a:off x="5982310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97CD9A-E258-A95E-D4F5-FAD1FF2D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6" y="2348880"/>
            <a:ext cx="8219048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8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호스트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게스트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사이의 파일 전송 방법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482E83-A114-6FC1-D6E0-D2C36AB53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167095"/>
            <a:ext cx="5580952" cy="2523809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0462584-DAFF-0C17-1BBF-C95A50BCC302}"/>
              </a:ext>
            </a:extLst>
          </p:cNvPr>
          <p:cNvSpPr/>
          <p:nvPr/>
        </p:nvSpPr>
        <p:spPr>
          <a:xfrm>
            <a:off x="6876256" y="62705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359664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AEDD950-B289-4092-AF5B-D1E8E109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29" y="681099"/>
            <a:ext cx="8075240" cy="642937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6&gt; 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호스트 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게스트 </a:t>
            </a:r>
            <a:r>
              <a:rPr lang="en-US" altLang="ko-KR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OS </a:t>
            </a:r>
            <a:r>
              <a:rPr lang="ko-KR" altLang="en-US" sz="20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사이의 파일 전송 </a:t>
            </a:r>
          </a:p>
        </p:txBody>
      </p:sp>
      <p:pic>
        <p:nvPicPr>
          <p:cNvPr id="7" name="그림 6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00A1ED02-2FE8-4890-9B39-4138A36D41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388" y="510521"/>
            <a:ext cx="756709" cy="742276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457200" y="1632573"/>
            <a:ext cx="8229600" cy="48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C:\Windows\Media\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폴더의 파일을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ISO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만든 후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게스트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전송한다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Free ISO Creator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사용법을 익힌다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물리적인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CD/DVD 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대신에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ISO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파일을 사용한다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 화면</a:t>
            </a:r>
          </a:p>
          <a:p>
            <a:pPr lvl="1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2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3E383FF-6814-0A96-A145-17712AC04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933056"/>
            <a:ext cx="5616624" cy="2382811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FBCCCED-4D2D-1376-23A4-4661F5993877}"/>
              </a:ext>
            </a:extLst>
          </p:cNvPr>
          <p:cNvSpPr/>
          <p:nvPr/>
        </p:nvSpPr>
        <p:spPr>
          <a:xfrm>
            <a:off x="6588224" y="592198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51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942296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2447</TotalTime>
  <Words>534</Words>
  <Application>Microsoft Office PowerPoint</Application>
  <PresentationFormat>화면 슬라이드 쇼(4:3)</PresentationFormat>
  <Paragraphs>111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나눔스퀘어 ExtraBold</vt:lpstr>
      <vt:lpstr>나눔바른고딕</vt:lpstr>
      <vt:lpstr>Trebuchet MS</vt:lpstr>
      <vt:lpstr>Georgia</vt:lpstr>
      <vt:lpstr>굴림</vt:lpstr>
      <vt:lpstr>Wingdings 2</vt:lpstr>
      <vt:lpstr>나눔스퀘어라운드 ExtraBold</vt:lpstr>
      <vt:lpstr>나눔고딕 ExtraBold</vt:lpstr>
      <vt:lpstr>Urban</vt:lpstr>
      <vt:lpstr>PowerPoint 프레젠테이션</vt:lpstr>
      <vt:lpstr>가상머신의 소개와 설치</vt:lpstr>
      <vt:lpstr>가상머신과 가상머신 소프트웨어의 개념 (1) </vt:lpstr>
      <vt:lpstr>가상머신과 가상머신 소프트웨어의 개념 (2) </vt:lpstr>
      <vt:lpstr>가상머신 종류와 VMware  설치 (1) </vt:lpstr>
      <vt:lpstr>가상머신 종류와 VMware 설치 (2) </vt:lpstr>
      <vt:lpstr>&lt;실습1&gt; VMware Workstation Pro를 설치</vt:lpstr>
      <vt:lpstr>가상머신의 겉모양 </vt:lpstr>
      <vt:lpstr>&lt;실습2&gt; 가상머신 4대 생성</vt:lpstr>
      <vt:lpstr>이 책에서 사용할 가상머신의 하드웨어 사양 </vt:lpstr>
      <vt:lpstr>VMware 특징 (가상머신 장점) </vt:lpstr>
      <vt:lpstr>&lt;실습3&gt; VMware Player 닫기 버튼의 기능 </vt:lpstr>
      <vt:lpstr>&lt;실습4&gt; 가상머신이 모니터 화면 전체를 사용 </vt:lpstr>
      <vt:lpstr>여러 개의 가상머신을 동시에 부팅 </vt:lpstr>
      <vt:lpstr>네트워크 정보 파악과 변경 </vt:lpstr>
      <vt:lpstr>&lt;실습5&gt; VMnet8의 IP 주소 설정</vt:lpstr>
      <vt:lpstr>책의 네트워크 환경 상세 </vt:lpstr>
      <vt:lpstr>가상머신에 할당할 네트워크 정보 요약</vt:lpstr>
      <vt:lpstr>호스트 OS와 게스트 OS 사이의 파일 전송 방법</vt:lpstr>
      <vt:lpstr>&lt;실습6&gt; 호스트 OS와 게스트 OS 사이의 파일 전송 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118</cp:revision>
  <dcterms:created xsi:type="dcterms:W3CDTF">2007-02-12T03:01:34Z</dcterms:created>
  <dcterms:modified xsi:type="dcterms:W3CDTF">2024-10-26T02:37:23Z</dcterms:modified>
</cp:coreProperties>
</file>