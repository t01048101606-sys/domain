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2"/>
  </p:notesMasterIdLst>
  <p:handoutMasterIdLst>
    <p:handoutMasterId r:id="rId43"/>
  </p:handoutMasterIdLst>
  <p:sldIdLst>
    <p:sldId id="256" r:id="rId2"/>
    <p:sldId id="282" r:id="rId3"/>
    <p:sldId id="259" r:id="rId4"/>
    <p:sldId id="260" r:id="rId5"/>
    <p:sldId id="261" r:id="rId6"/>
    <p:sldId id="30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301" r:id="rId17"/>
    <p:sldId id="273" r:id="rId18"/>
    <p:sldId id="275" r:id="rId19"/>
    <p:sldId id="276" r:id="rId20"/>
    <p:sldId id="302" r:id="rId21"/>
    <p:sldId id="278" r:id="rId22"/>
    <p:sldId id="279" r:id="rId23"/>
    <p:sldId id="303" r:id="rId24"/>
    <p:sldId id="283" r:id="rId25"/>
    <p:sldId id="284" r:id="rId26"/>
    <p:sldId id="304" r:id="rId27"/>
    <p:sldId id="286" r:id="rId28"/>
    <p:sldId id="287" r:id="rId29"/>
    <p:sldId id="305" r:id="rId30"/>
    <p:sldId id="289" r:id="rId31"/>
    <p:sldId id="290" r:id="rId32"/>
    <p:sldId id="306" r:id="rId33"/>
    <p:sldId id="307" r:id="rId34"/>
    <p:sldId id="293" r:id="rId35"/>
    <p:sldId id="294" r:id="rId36"/>
    <p:sldId id="295" r:id="rId37"/>
    <p:sldId id="296" r:id="rId38"/>
    <p:sldId id="297" r:id="rId39"/>
    <p:sldId id="298" r:id="rId40"/>
    <p:sldId id="299" r:id="rId41"/>
  </p:sldIdLst>
  <p:sldSz cx="9144000" cy="6858000" type="screen4x3"/>
  <p:notesSz cx="6858000" cy="9144000"/>
  <p:embeddedFontLst>
    <p:embeddedFont>
      <p:font typeface="Georgia" panose="02040502050405020303" pitchFamily="18" charset="0"/>
      <p:regular r:id="rId44"/>
      <p:bold r:id="rId45"/>
      <p:italic r:id="rId46"/>
      <p:boldItalic r:id="rId47"/>
    </p:embeddedFont>
    <p:embeddedFont>
      <p:font typeface="Trebuchet MS" panose="020B0603020202020204" pitchFamily="34" charset="0"/>
      <p:regular r:id="rId48"/>
      <p:bold r:id="rId49"/>
      <p:italic r:id="rId50"/>
      <p:boldItalic r:id="rId51"/>
    </p:embeddedFont>
    <p:embeddedFont>
      <p:font typeface="Wingdings 2" panose="05020102010507070707" pitchFamily="18" charset="2"/>
      <p:regular r:id="rId52"/>
    </p:embeddedFont>
    <p:embeddedFont>
      <p:font typeface="나눔고딕 ExtraBold" panose="020D0904000000000000" pitchFamily="50" charset="-127"/>
      <p:bold r:id="rId53"/>
    </p:embeddedFont>
    <p:embeddedFont>
      <p:font typeface="나눔바른고딕" panose="020B0603020101020101" pitchFamily="50" charset="-127"/>
      <p:regular r:id="rId54"/>
      <p:bold r:id="rId55"/>
    </p:embeddedFont>
    <p:embeddedFont>
      <p:font typeface="나눔스퀘어 ExtraBold" panose="020B0600000101010101" pitchFamily="50" charset="-127"/>
      <p:bold r:id="rId56"/>
    </p:embeddedFont>
    <p:embeddedFont>
      <p:font typeface="나눔스퀘어라운드 ExtraBold" panose="020B0600000101010101" pitchFamily="50" charset="-127"/>
      <p:bold r:id="rId57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66FF"/>
    <a:srgbClr val="FF7C80"/>
    <a:srgbClr val="9966FF"/>
    <a:srgbClr val="FF00FF"/>
    <a:srgbClr val="FFCC66"/>
    <a:srgbClr val="CC99FF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6" autoAdjust="0"/>
    <p:restoredTop sz="94660"/>
  </p:normalViewPr>
  <p:slideViewPr>
    <p:cSldViewPr>
      <p:cViewPr varScale="1">
        <p:scale>
          <a:sx n="108" d="100"/>
          <a:sy n="108" d="100"/>
        </p:scale>
        <p:origin x="12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2024-11-13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‹#›</a:t>
            </a:fld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A9FE1E17-38D0-4764-A605-7BB07631345D}" type="datetimeFigureOut">
              <a:rPr lang="ko-KR" altLang="en-US" smtClean="0"/>
              <a:pPr>
                <a:defRPr/>
              </a:pPr>
              <a:t>2024-11-13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fld id="{8950B175-50B7-496C-B63E-4B4F03E0721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813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F76AF049-E1B8-4A5B-8BDC-9A6B041A2495}" type="slidenum">
              <a:rPr lang="ko-KR" altLang="en-US"/>
              <a:pPr eaLnBrk="1" hangingPunct="1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011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0B175-50B7-496C-B63E-4B4F03E07213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609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50B175-50B7-496C-B63E-4B4F03E07213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6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813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F76AF049-E1B8-4A5B-8BDC-9A6B041A2495}" type="slidenum">
              <a:rPr lang="ko-KR" altLang="en-US"/>
              <a:pPr eaLnBrk="1" hangingPunct="1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07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018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08C40073-EBAA-4029-B354-20D777A763DD}" type="slidenum">
              <a:rPr lang="ko-KR" altLang="en-US"/>
              <a:pPr eaLnBrk="1" hangingPunct="1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450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22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C389188F-1513-4E76-A3B3-87DC8F753C06}" type="slidenum">
              <a:rPr lang="ko-KR" altLang="en-US"/>
              <a:pPr eaLnBrk="1" hangingPunct="1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624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22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C389188F-1513-4E76-A3B3-87DC8F753C06}" type="slidenum">
              <a:rPr lang="ko-KR" altLang="en-US"/>
              <a:pPr eaLnBrk="1" hangingPunct="1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10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AE2863-A806-970B-A33B-1BA9FFA69D5C}"/>
              </a:ext>
            </a:extLst>
          </p:cNvPr>
          <p:cNvSpPr/>
          <p:nvPr userDrawn="1"/>
        </p:nvSpPr>
        <p:spPr>
          <a:xfrm>
            <a:off x="354120" y="1025303"/>
            <a:ext cx="3506222" cy="1384995"/>
          </a:xfrm>
          <a:prstGeom prst="rect">
            <a:avLst/>
          </a:prstGeom>
          <a:solidFill>
            <a:srgbClr val="00B0F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06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하드디스크 관리와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사용자별 공간 할당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39100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06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하드디스크 관리와 사용자별 공간 할당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285226" y="6550025"/>
            <a:ext cx="898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/40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11/13/2024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11/13/2024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11/13/2024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11/13/2024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11/13/2024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11/13/2024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11/13/2024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11/13/2024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11/13/2024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나눔바른고딕" panose="020B0603020101020101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 smtClean="0"/>
              <a:pPr>
                <a:defRPr/>
              </a:pPr>
              <a:t>11/13/2024</a:t>
            </a:fld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  <a:ea typeface="나눔바른고딕" panose="020B0603020101020101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  <a:ea typeface="나눔바른고딕" panose="020B0603020101020101" pitchFamily="50" charset="-127"/>
              </a:defRPr>
            </a:lvl1pPr>
          </a:lstStyle>
          <a:p>
            <a:fld id="{80EA332E-FF14-428F-B02F-D0E6231A0C16}" type="slidenum">
              <a:rPr lang="en-US" altLang="ko-KR" smtClean="0"/>
              <a:pPr/>
              <a:t>‹#›</a:t>
            </a:fld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D%82%A4%EB%B3%B4%EB%93%9C-%EC%9E%85%EB%A0%A5-%EC%9C%A0%ED%98%95-%EC%97%B4%EC%87%A0-%EC%9E%A5%EC%B9%98-%EB%A1%9C%EA%B7%B8%EC%9D%B8-%EA%B8%B0%ED%98%B8-%EC%95%84%EC%9D%B4%EC%BD%98-27797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5A0BB14-154A-0F69-2872-2F69394A4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844824"/>
            <a:ext cx="6006574" cy="4624308"/>
          </a:xfrm>
          <a:prstGeom prst="rect">
            <a:avLst/>
          </a:prstGeom>
        </p:spPr>
      </p:pic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SATA </a:t>
            </a:r>
            <a:r>
              <a:rPr lang="ko-KR" altLang="en-US" sz="2800" dirty="0"/>
              <a:t>장치와 </a:t>
            </a:r>
            <a:r>
              <a:rPr lang="en-US" altLang="ko-KR" sz="2800" dirty="0"/>
              <a:t>SCSI </a:t>
            </a:r>
            <a:r>
              <a:rPr lang="ko-KR" altLang="en-US" sz="2800" dirty="0"/>
              <a:t>장치 구성 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15001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Server</a:t>
            </a:r>
            <a:r>
              <a:rPr lang="ko-KR" altLang="en-US" dirty="0"/>
              <a:t>의 하드웨어 구성도</a:t>
            </a:r>
            <a:endParaRPr lang="en-US" altLang="ko-KR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ko-KR" altLang="en-US" sz="20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9170AFDB-42EF-FF98-148A-8DFC7445CB40}"/>
              </a:ext>
            </a:extLst>
          </p:cNvPr>
          <p:cNvSpPr/>
          <p:nvPr/>
        </p:nvSpPr>
        <p:spPr>
          <a:xfrm>
            <a:off x="6876256" y="642505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357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4" name="물결 3">
            <a:extLst>
              <a:ext uri="{FF2B5EF4-FFF2-40B4-BE49-F238E27FC236}">
                <a16:creationId xmlns:a16="http://schemas.microsoft.com/office/drawing/2014/main" id="{D1990724-9C64-7DD4-F13E-051D6E6533F6}"/>
              </a:ext>
            </a:extLst>
          </p:cNvPr>
          <p:cNvSpPr/>
          <p:nvPr/>
        </p:nvSpPr>
        <p:spPr>
          <a:xfrm>
            <a:off x="5230335" y="1468377"/>
            <a:ext cx="3521152" cy="1143021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VMware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총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120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개의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SATA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하드디스크와  총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60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개의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SCSI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하드디스크를 장착할 수 있다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6539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SATA </a:t>
            </a:r>
            <a:r>
              <a:rPr lang="ko-KR" altLang="en-US" sz="2800" dirty="0"/>
              <a:t>장치와 </a:t>
            </a:r>
            <a:r>
              <a:rPr lang="en-US" altLang="ko-KR" sz="2800" dirty="0"/>
              <a:t>SCSI </a:t>
            </a:r>
            <a:r>
              <a:rPr lang="ko-KR" altLang="en-US" sz="2800" dirty="0"/>
              <a:t>장치 구성 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2000" dirty="0"/>
              <a:t>SCSI </a:t>
            </a:r>
            <a:r>
              <a:rPr lang="ko-KR" altLang="en-US" sz="2000" dirty="0"/>
              <a:t>장치에 장착된 디스크 확인</a:t>
            </a: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en-US" altLang="ko-KR" sz="2000" dirty="0"/>
              <a:t>SCSI </a:t>
            </a:r>
            <a:r>
              <a:rPr lang="ko-KR" altLang="en-US" sz="2000" dirty="0"/>
              <a:t>디스크를 물리적으로는 </a:t>
            </a:r>
            <a:r>
              <a:rPr lang="en-US" altLang="ko-KR" sz="2000" dirty="0"/>
              <a:t>/dev/</a:t>
            </a:r>
            <a:r>
              <a:rPr lang="en-US" altLang="ko-KR" sz="2000" dirty="0" err="1"/>
              <a:t>sda</a:t>
            </a:r>
            <a:r>
              <a:rPr lang="en-US" altLang="ko-KR" sz="2000" dirty="0"/>
              <a:t>, /dev/</a:t>
            </a:r>
            <a:r>
              <a:rPr lang="en-US" altLang="ko-KR" sz="2000" dirty="0" err="1"/>
              <a:t>sdb</a:t>
            </a:r>
            <a:r>
              <a:rPr lang="en-US" altLang="ko-KR" sz="2000" dirty="0"/>
              <a:t>, /dev/</a:t>
            </a:r>
            <a:r>
              <a:rPr lang="en-US" altLang="ko-KR" sz="2000" dirty="0" err="1"/>
              <a:t>sdc</a:t>
            </a:r>
            <a:r>
              <a:rPr lang="en-US" altLang="ko-KR" sz="2000" dirty="0"/>
              <a:t> … </a:t>
            </a:r>
            <a:r>
              <a:rPr lang="ko-KR" altLang="en-US" sz="2000" dirty="0"/>
              <a:t>형식으로 부름</a:t>
            </a:r>
            <a:endParaRPr lang="en-US" altLang="ko-KR" sz="2000" dirty="0"/>
          </a:p>
          <a:p>
            <a:pPr eaLnBrk="1" hangingPunct="1">
              <a:defRPr/>
            </a:pPr>
            <a:r>
              <a:rPr lang="en-US" altLang="ko-KR" sz="2000" dirty="0"/>
              <a:t>SCSI </a:t>
            </a:r>
            <a:r>
              <a:rPr lang="ko-KR" altLang="en-US" sz="2000" dirty="0"/>
              <a:t>디스크 </a:t>
            </a:r>
            <a:r>
              <a:rPr lang="ko-KR" altLang="ko-KR" sz="2000" dirty="0"/>
              <a:t>파티션이 나눠진 것을 논리적으로는</a:t>
            </a:r>
            <a:r>
              <a:rPr lang="en-US" altLang="ko-KR" sz="2000" dirty="0"/>
              <a:t> /dev/sda1, /dev/sda2, /dev/sda3, /dev/sdb1, /dev/sdb2 … </a:t>
            </a:r>
            <a:r>
              <a:rPr lang="ko-KR" altLang="ko-KR" sz="2000" dirty="0"/>
              <a:t>형식으로 </a:t>
            </a:r>
            <a:r>
              <a:rPr lang="ko-KR" altLang="en-US" sz="2000" dirty="0"/>
              <a:t>부름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33DD7AF6-8217-ABD3-77F3-A30E95C39BD4}"/>
              </a:ext>
            </a:extLst>
          </p:cNvPr>
          <p:cNvSpPr/>
          <p:nvPr/>
        </p:nvSpPr>
        <p:spPr>
          <a:xfrm>
            <a:off x="6876256" y="642505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359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9CFFEE27-6802-1EB0-914D-0EC3B41EF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796724"/>
            <a:ext cx="4464496" cy="326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8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CFD743E-02FC-782C-A531-CDDA6C158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666" y="1844824"/>
            <a:ext cx="6066667" cy="3476190"/>
          </a:xfrm>
          <a:prstGeom prst="rect">
            <a:avLst/>
          </a:prstGeom>
        </p:spPr>
      </p:pic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457200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디스크 추가하기 </a:t>
            </a:r>
            <a:r>
              <a:rPr lang="en-US" altLang="ko-KR" sz="2800" dirty="0"/>
              <a:t>– 1</a:t>
            </a:r>
            <a:r>
              <a:rPr lang="ko-KR" altLang="en-US" sz="2800" dirty="0"/>
              <a:t>개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dirty="0"/>
              <a:t>하드디스크 </a:t>
            </a:r>
            <a:r>
              <a:rPr lang="en-US" altLang="ko-KR" sz="2000" dirty="0"/>
              <a:t>1</a:t>
            </a:r>
            <a:r>
              <a:rPr lang="ko-KR" altLang="en-US" sz="2000" dirty="0"/>
              <a:t>개 추가 하드웨어 구성</a:t>
            </a: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ko-KR" sz="2000" dirty="0"/>
              <a:t>장착된 디스크의 이름은</a:t>
            </a:r>
            <a:r>
              <a:rPr lang="en-US" altLang="ko-KR" sz="2000" dirty="0"/>
              <a:t> /dev/</a:t>
            </a:r>
            <a:r>
              <a:rPr lang="en-US" altLang="ko-KR" sz="2000" dirty="0" err="1"/>
              <a:t>sdb</a:t>
            </a:r>
            <a:endParaRPr lang="en-US" altLang="ko-KR" sz="2000" dirty="0"/>
          </a:p>
          <a:p>
            <a:pPr eaLnBrk="1" hangingPunct="1">
              <a:defRPr/>
            </a:pPr>
            <a:r>
              <a:rPr lang="ko-KR" altLang="ko-KR" sz="2000" dirty="0"/>
              <a:t>논리적인 파티션의 이름은 </a:t>
            </a:r>
            <a:r>
              <a:rPr lang="en-US" altLang="ko-KR" sz="2000" dirty="0"/>
              <a:t>/dev/sdb1</a:t>
            </a:r>
          </a:p>
          <a:p>
            <a:pPr eaLnBrk="1" hangingPunct="1">
              <a:defRPr/>
            </a:pPr>
            <a:r>
              <a:rPr lang="ko-KR" altLang="ko-KR" sz="2000" dirty="0"/>
              <a:t>파티션을 그냥 사용할 수 없으며 반드시 특정한 </a:t>
            </a:r>
            <a:r>
              <a:rPr lang="ko-KR" altLang="en-US" sz="2000" dirty="0"/>
              <a:t>디렉터리에</a:t>
            </a:r>
            <a:r>
              <a:rPr lang="ko-KR" altLang="ko-KR" sz="2000" dirty="0"/>
              <a:t> 마운트 시켜야만 사용이 가능</a:t>
            </a:r>
            <a:endParaRPr lang="ko-KR" altLang="en-US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4330A48E-34B2-F13D-AB0A-DF64788A1270}"/>
              </a:ext>
            </a:extLst>
          </p:cNvPr>
          <p:cNvSpPr/>
          <p:nvPr/>
        </p:nvSpPr>
        <p:spPr>
          <a:xfrm>
            <a:off x="4716016" y="642505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360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33197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71C12-29DF-48C4-9613-1596C8315CF4}"/>
              </a:ext>
            </a:extLst>
          </p:cNvPr>
          <p:cNvSpPr txBox="1">
            <a:spLocks/>
          </p:cNvSpPr>
          <p:nvPr/>
        </p:nvSpPr>
        <p:spPr bwMode="auto">
          <a:xfrm>
            <a:off x="773341" y="703995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디스크 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 장착</a:t>
            </a:r>
          </a:p>
        </p:txBody>
      </p:sp>
      <p:pic>
        <p:nvPicPr>
          <p:cNvPr id="4" name="그림 3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AB3D113B-D093-4479-BF07-A9BFD91614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33417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디스크를 추가 장착해서 사용한다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디스크 </a:t>
            </a:r>
            <a:r>
              <a:rPr lang="ko-KR" altLang="en-US" sz="2000" dirty="0" err="1"/>
              <a:t>파티셔닝과</a:t>
            </a:r>
            <a:r>
              <a:rPr lang="ko-KR" altLang="en-US" sz="2000" dirty="0"/>
              <a:t> 관련된 </a:t>
            </a:r>
            <a:r>
              <a:rPr lang="en-US" altLang="ko-KR" sz="2000" dirty="0" err="1"/>
              <a:t>fdisk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mkfs</a:t>
            </a:r>
            <a:r>
              <a:rPr lang="en-US" altLang="ko-KR" sz="2000" dirty="0"/>
              <a:t>, mount </a:t>
            </a:r>
            <a:r>
              <a:rPr lang="ko-KR" altLang="en-US" sz="2000" dirty="0"/>
              <a:t>명령을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 err="1"/>
              <a:t>부팅시</a:t>
            </a:r>
            <a:r>
              <a:rPr lang="ko-KR" altLang="en-US" sz="2000" dirty="0"/>
              <a:t> 자동으로 읽히는 </a:t>
            </a:r>
            <a:r>
              <a:rPr lang="en-US" altLang="ko-KR" sz="2000" dirty="0"/>
              <a:t>/etc/</a:t>
            </a:r>
            <a:r>
              <a:rPr lang="en-US" altLang="ko-KR" sz="2000" dirty="0" err="1"/>
              <a:t>fstab</a:t>
            </a:r>
            <a:r>
              <a:rPr lang="en-US" altLang="ko-KR" sz="2000" dirty="0"/>
              <a:t> </a:t>
            </a:r>
            <a:r>
              <a:rPr lang="ko-KR" altLang="en-US" sz="2000" dirty="0"/>
              <a:t>파일을 편집한다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r>
              <a:rPr lang="ko-KR" altLang="en-US" dirty="0"/>
              <a:t>실습 흐름도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F73A386A-622D-9257-3AC3-C97916D8B0A0}"/>
              </a:ext>
            </a:extLst>
          </p:cNvPr>
          <p:cNvSpPr/>
          <p:nvPr/>
        </p:nvSpPr>
        <p:spPr>
          <a:xfrm>
            <a:off x="4716016" y="642505"/>
            <a:ext cx="1080120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362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87A1E68-26E4-2664-A719-96FACEF3E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3189551"/>
            <a:ext cx="5400600" cy="332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321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2259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첫 번째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/dev/sdb1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2GB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할당할 때는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실습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1&gt;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'step 3' Last Sector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부분에 ‘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+2G’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입력하면 되고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두 번째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/dev/sdb2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1GB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할당할 때는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First sector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Last Sector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모두 기본 값을 사용한다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8EC0041-064A-D604-4A3E-DB790C78822C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372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7FAFC-5066-7153-B961-844EC3C59FE1}"/>
              </a:ext>
            </a:extLst>
          </p:cNvPr>
          <p:cNvSpPr/>
          <p:nvPr/>
        </p:nvSpPr>
        <p:spPr>
          <a:xfrm>
            <a:off x="1907642" y="908720"/>
            <a:ext cx="5112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6-1 </a:t>
            </a:r>
          </a:p>
        </p:txBody>
      </p:sp>
    </p:spTree>
    <p:extLst>
      <p:ext uri="{BB962C8B-B14F-4D97-AF65-F5344CB8AC3E}">
        <p14:creationId xmlns:p14="http://schemas.microsoft.com/office/powerpoint/2010/main" val="3468365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RAID </a:t>
            </a:r>
            <a:r>
              <a:rPr lang="ko-KR" altLang="en-US" sz="2800" dirty="0"/>
              <a:t>정의 및 개념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ko-KR" dirty="0"/>
              <a:t>RAID </a:t>
            </a:r>
            <a:r>
              <a:rPr lang="ko-KR" altLang="en-US" dirty="0"/>
              <a:t>정의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RAID(Redundant Array of Inexpensive Disks)</a:t>
            </a:r>
            <a:r>
              <a:rPr lang="ko-KR" altLang="en-US" sz="2000" dirty="0"/>
              <a:t>는 여러 개의 디스크를 하나의 디스크처럼 사용함</a:t>
            </a:r>
            <a:endParaRPr lang="en-US" altLang="ko-KR" sz="2000" dirty="0"/>
          </a:p>
          <a:p>
            <a:pPr lvl="1" eaLnBrk="1" hangingPunct="1">
              <a:defRPr/>
            </a:pPr>
            <a:r>
              <a:rPr lang="ko-KR" altLang="en-US" sz="2000" dirty="0"/>
              <a:t>비용 절감 </a:t>
            </a:r>
            <a:r>
              <a:rPr lang="en-US" altLang="ko-KR" sz="2000" dirty="0"/>
              <a:t>+</a:t>
            </a:r>
            <a:r>
              <a:rPr lang="ko-KR" altLang="en-US" sz="2000" dirty="0"/>
              <a:t> 신뢰성 향상 </a:t>
            </a:r>
            <a:r>
              <a:rPr lang="en-US" altLang="ko-KR" sz="2000" dirty="0"/>
              <a:t>+ </a:t>
            </a:r>
            <a:r>
              <a:rPr lang="ko-KR" altLang="en-US" sz="2000" dirty="0"/>
              <a:t>성능 향상의 효과를 냄</a:t>
            </a:r>
            <a:endParaRPr lang="en-US" altLang="ko-KR" sz="2000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하드웨어 </a:t>
            </a:r>
            <a:r>
              <a:rPr lang="en-US" altLang="ko-KR" dirty="0"/>
              <a:t>RAID</a:t>
            </a:r>
          </a:p>
          <a:p>
            <a:pPr lvl="1">
              <a:defRPr/>
            </a:pPr>
            <a:r>
              <a:rPr lang="ko-KR" altLang="en-US" sz="2000" dirty="0"/>
              <a:t>하드웨어 제조업체에서 여러 개의 하드디스크를 가지고 장비를 만들어서 그 자체를 공급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좀더 안정적이지만</a:t>
            </a:r>
            <a:r>
              <a:rPr lang="en-US" altLang="ko-KR" sz="2000" dirty="0"/>
              <a:t>, </a:t>
            </a:r>
            <a:r>
              <a:rPr lang="ko-KR" altLang="en-US" sz="2000" dirty="0"/>
              <a:t>상당한 고가임</a:t>
            </a:r>
            <a:endParaRPr lang="en-US" altLang="ko-KR" sz="2000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소프트웨어 </a:t>
            </a:r>
            <a:r>
              <a:rPr lang="en-US" altLang="ko-KR" b="1" dirty="0"/>
              <a:t>RAID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고가의 하드웨어 </a:t>
            </a:r>
            <a:r>
              <a:rPr lang="en-US" altLang="ko-KR" sz="2000" dirty="0"/>
              <a:t>RAID</a:t>
            </a:r>
            <a:r>
              <a:rPr lang="ko-KR" altLang="en-US" sz="2000" dirty="0"/>
              <a:t>의 대안</a:t>
            </a:r>
            <a:endParaRPr lang="en-US" altLang="ko-KR" sz="2000" dirty="0"/>
          </a:p>
          <a:p>
            <a:pPr lvl="1" eaLnBrk="1" hangingPunct="1">
              <a:defRPr/>
            </a:pPr>
            <a:r>
              <a:rPr lang="ko-KR" altLang="en-US" sz="2000" dirty="0"/>
              <a:t>운영체제에서 지원하는 방식</a:t>
            </a:r>
            <a:endParaRPr lang="en-US" altLang="ko-KR" sz="2000" dirty="0"/>
          </a:p>
          <a:p>
            <a:pPr lvl="1" eaLnBrk="1" hangingPunct="1">
              <a:defRPr/>
            </a:pPr>
            <a:r>
              <a:rPr lang="ko-KR" altLang="en-US" sz="2000" dirty="0"/>
              <a:t>저렴한 비용으로 좀더 안전한 데이터의 저장이 가능</a:t>
            </a:r>
            <a:endParaRPr lang="en-US" altLang="ko-KR" sz="2000" dirty="0"/>
          </a:p>
          <a:p>
            <a:pPr lvl="1" eaLnBrk="1" hangingPunct="1">
              <a:defRPr/>
            </a:pPr>
            <a:r>
              <a:rPr lang="ko-KR" altLang="en-US" sz="2000" dirty="0"/>
              <a:t>교재에서 진행하는 내용은 소프트웨어 </a:t>
            </a:r>
            <a:r>
              <a:rPr lang="en-US" altLang="ko-KR" sz="2000" dirty="0"/>
              <a:t>RAID </a:t>
            </a:r>
            <a:r>
              <a:rPr lang="ko-KR" altLang="en-US" sz="2000" dirty="0"/>
              <a:t>임</a:t>
            </a:r>
            <a:endParaRPr lang="en-US" altLang="ko-KR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5FC33C5-7542-516E-CF77-E58356AC9A6D}"/>
              </a:ext>
            </a:extLst>
          </p:cNvPr>
          <p:cNvSpPr/>
          <p:nvPr/>
        </p:nvSpPr>
        <p:spPr>
          <a:xfrm>
            <a:off x="3995936" y="59197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373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4" name="그림 3" descr="전자제품, 전자 기기, 컴퓨터 구성 요소, 드라이브이(가) 표시된 사진&#10;&#10;자동 생성된 설명">
            <a:extLst>
              <a:ext uri="{FF2B5EF4-FFF2-40B4-BE49-F238E27FC236}">
                <a16:creationId xmlns:a16="http://schemas.microsoft.com/office/drawing/2014/main" id="{F1580BF7-DE87-BE7E-AB4D-E1E2C61C21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187" y="3741231"/>
            <a:ext cx="3224476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각 </a:t>
            </a:r>
            <a:r>
              <a:rPr lang="en-US" altLang="ko-KR" sz="2800" dirty="0"/>
              <a:t>RAID</a:t>
            </a:r>
            <a:r>
              <a:rPr lang="ko-KR" altLang="en-US" sz="2800" dirty="0"/>
              <a:t>방식의 비교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A48C36DD-C8AD-0DF0-D6E3-BAD659ED0BB7}"/>
              </a:ext>
            </a:extLst>
          </p:cNvPr>
          <p:cNvSpPr/>
          <p:nvPr/>
        </p:nvSpPr>
        <p:spPr>
          <a:xfrm>
            <a:off x="421196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374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2B8C95-BD1A-F0DE-561B-05C21AE13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619" y="1481257"/>
            <a:ext cx="7304762" cy="4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17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Linear RAID</a:t>
            </a:r>
            <a:r>
              <a:rPr lang="ko-KR" altLang="en-US" sz="2800" dirty="0"/>
              <a:t>와</a:t>
            </a:r>
            <a:r>
              <a:rPr lang="en-US" altLang="ko-KR" sz="2800" dirty="0"/>
              <a:t> RAID0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dirty="0"/>
              <a:t>Linear RAID </a:t>
            </a:r>
            <a:r>
              <a:rPr lang="ko-KR" altLang="en-US" dirty="0"/>
              <a:t>개요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최소 </a:t>
            </a:r>
            <a:r>
              <a:rPr lang="en-US" altLang="ko-KR" sz="2000" dirty="0"/>
              <a:t>2</a:t>
            </a:r>
            <a:r>
              <a:rPr lang="ko-KR" altLang="en-US" sz="2000" dirty="0"/>
              <a:t>개의 하드디스크가 필요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2</a:t>
            </a:r>
            <a:r>
              <a:rPr lang="ko-KR" altLang="en-US" sz="2000" dirty="0"/>
              <a:t>개 이상의 하드디스크를 </a:t>
            </a:r>
            <a:r>
              <a:rPr lang="en-US" altLang="ko-KR" sz="2000" dirty="0"/>
              <a:t>1</a:t>
            </a:r>
            <a:r>
              <a:rPr lang="ko-KR" altLang="en-US" sz="2000" dirty="0"/>
              <a:t>개의 볼륨으로 사용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앞 디스크부터 차례로 저장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100%</a:t>
            </a:r>
            <a:r>
              <a:rPr lang="ko-KR" altLang="en-US" sz="2000" dirty="0"/>
              <a:t>의 공간효율성 </a:t>
            </a:r>
            <a:r>
              <a:rPr lang="en-US" altLang="ko-KR" sz="2000" dirty="0"/>
              <a:t>(= </a:t>
            </a:r>
            <a:r>
              <a:rPr lang="ko-KR" altLang="en-US" sz="2000" dirty="0"/>
              <a:t>비용 저렴</a:t>
            </a:r>
            <a:r>
              <a:rPr lang="en-US" altLang="ko-KR" sz="2000" dirty="0"/>
              <a:t>)</a:t>
            </a:r>
          </a:p>
          <a:p>
            <a:pPr lvl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en-US" altLang="ko-KR" dirty="0"/>
              <a:t>RAID 0 </a:t>
            </a:r>
            <a:r>
              <a:rPr lang="ko-KR" altLang="en-US" dirty="0"/>
              <a:t>개요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최소 </a:t>
            </a:r>
            <a:r>
              <a:rPr lang="en-US" altLang="ko-KR" sz="2000" dirty="0"/>
              <a:t>2</a:t>
            </a:r>
            <a:r>
              <a:rPr lang="ko-KR" altLang="en-US" sz="2000" dirty="0"/>
              <a:t>개의 하드디스크가 필요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모든 디스크에 동시에 저장됨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100%</a:t>
            </a:r>
            <a:r>
              <a:rPr lang="ko-KR" altLang="en-US" sz="2000" dirty="0"/>
              <a:t>의 공간효율성 </a:t>
            </a:r>
            <a:r>
              <a:rPr lang="en-US" altLang="ko-KR" sz="2000" dirty="0"/>
              <a:t>(= </a:t>
            </a:r>
            <a:r>
              <a:rPr lang="ko-KR" altLang="en-US" sz="2000" dirty="0"/>
              <a:t>비용 저렴</a:t>
            </a:r>
            <a:r>
              <a:rPr lang="en-US" altLang="ko-KR" sz="2000" dirty="0"/>
              <a:t>)</a:t>
            </a:r>
          </a:p>
          <a:p>
            <a:pPr lvl="1">
              <a:defRPr/>
            </a:pPr>
            <a:r>
              <a:rPr lang="ko-KR" altLang="en-US" sz="2000" dirty="0"/>
              <a:t>신뢰성 낮음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‘</a:t>
            </a:r>
            <a:r>
              <a:rPr lang="ko-KR" altLang="en-US" sz="2000" dirty="0"/>
              <a:t>빠른 성능을 요구하되</a:t>
            </a:r>
            <a:r>
              <a:rPr lang="en-US" altLang="ko-KR" sz="2000" dirty="0"/>
              <a:t>, </a:t>
            </a:r>
            <a:br>
              <a:rPr lang="en-US" altLang="ko-KR" sz="2000" dirty="0"/>
            </a:br>
            <a:r>
              <a:rPr lang="ko-KR" altLang="en-US" sz="2000" dirty="0"/>
              <a:t>혹시 전부 잃어버려도 큰 문제가</a:t>
            </a:r>
            <a:br>
              <a:rPr lang="en-US" altLang="ko-KR" sz="2000" dirty="0"/>
            </a:br>
            <a:r>
              <a:rPr lang="ko-KR" altLang="en-US" sz="2000" dirty="0"/>
              <a:t>되지 않는 자료</a:t>
            </a:r>
            <a:r>
              <a:rPr lang="en-US" altLang="ko-KR" sz="2000" dirty="0"/>
              <a:t>’ </a:t>
            </a:r>
            <a:r>
              <a:rPr lang="ko-KR" altLang="en-US" sz="2000" dirty="0"/>
              <a:t>가 적당함</a:t>
            </a: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0C21D390-9E81-4527-B3ED-71602A65D155}"/>
              </a:ext>
            </a:extLst>
          </p:cNvPr>
          <p:cNvSpPr/>
          <p:nvPr/>
        </p:nvSpPr>
        <p:spPr>
          <a:xfrm>
            <a:off x="4860032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375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C993D1-C91E-C666-9F86-A08B434E5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888" y="2564904"/>
            <a:ext cx="3024336" cy="388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25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RAID 1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RAID 1 </a:t>
            </a:r>
            <a:r>
              <a:rPr lang="ko-KR" altLang="en-US" dirty="0"/>
              <a:t>개요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‘</a:t>
            </a:r>
            <a:r>
              <a:rPr lang="ko-KR" altLang="en-US" sz="2000" dirty="0" err="1"/>
              <a:t>미러링</a:t>
            </a:r>
            <a:r>
              <a:rPr lang="en-US" altLang="ko-KR" sz="2000" dirty="0"/>
              <a:t>(Mirroring)’</a:t>
            </a:r>
            <a:r>
              <a:rPr lang="ko-KR" altLang="en-US" sz="2000" dirty="0"/>
              <a:t> 이라 부름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데이터 저장에 두 배의 용량이 필요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결함 허용</a:t>
            </a:r>
            <a:r>
              <a:rPr lang="en-US" altLang="ko-KR" sz="2000" dirty="0"/>
              <a:t>(Fault-tolerance)</a:t>
            </a:r>
            <a:r>
              <a:rPr lang="ko-KR" altLang="en-US" sz="2000" dirty="0"/>
              <a:t>을 제공 </a:t>
            </a:r>
            <a:r>
              <a:rPr lang="en-US" altLang="ko-KR" sz="2000" dirty="0"/>
              <a:t>= </a:t>
            </a:r>
            <a:r>
              <a:rPr lang="ko-KR" altLang="en-US" sz="2000" dirty="0"/>
              <a:t>신뢰성 높음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두 배의 저장 공간 </a:t>
            </a:r>
            <a:r>
              <a:rPr lang="en-US" altLang="ko-KR" sz="2000" dirty="0"/>
              <a:t>= </a:t>
            </a:r>
            <a:r>
              <a:rPr lang="ko-KR" altLang="en-US" sz="2000" dirty="0"/>
              <a:t>비용이 두 배 </a:t>
            </a:r>
            <a:r>
              <a:rPr lang="en-US" altLang="ko-KR" sz="2000" dirty="0"/>
              <a:t>= </a:t>
            </a:r>
            <a:r>
              <a:rPr lang="ko-KR" altLang="en-US" sz="2000" dirty="0"/>
              <a:t>공간효율</a:t>
            </a:r>
            <a:r>
              <a:rPr lang="en-US" altLang="ko-KR" sz="2000" dirty="0"/>
              <a:t> </a:t>
            </a:r>
            <a:r>
              <a:rPr lang="ko-KR" altLang="en-US" sz="2000" dirty="0"/>
              <a:t>나쁨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저장속도</a:t>
            </a:r>
            <a:r>
              <a:rPr lang="en-US" altLang="ko-KR" sz="2000" dirty="0"/>
              <a:t>(</a:t>
            </a:r>
            <a:r>
              <a:rPr lang="ko-KR" altLang="en-US" sz="2000" dirty="0"/>
              <a:t>성능</a:t>
            </a:r>
            <a:r>
              <a:rPr lang="en-US" altLang="ko-KR" sz="2000" dirty="0"/>
              <a:t>)</a:t>
            </a:r>
            <a:r>
              <a:rPr lang="ko-KR" altLang="en-US" sz="2000" dirty="0"/>
              <a:t>는 변함 없음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‘중요한 데이터</a:t>
            </a:r>
            <a:r>
              <a:rPr lang="en-US" altLang="ko-KR" sz="2000" dirty="0"/>
              <a:t>’</a:t>
            </a:r>
            <a:r>
              <a:rPr lang="ko-KR" altLang="en-US" sz="2000" dirty="0"/>
              <a:t>를 저장하기에 적절함</a:t>
            </a: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>
              <a:defRPr/>
            </a:pPr>
            <a:r>
              <a:rPr lang="en-US" altLang="ko-KR" dirty="0"/>
              <a:t>RAID0</a:t>
            </a:r>
            <a:r>
              <a:rPr lang="ko-KR" altLang="en-US" dirty="0"/>
              <a:t>와 </a:t>
            </a:r>
            <a:r>
              <a:rPr lang="en-US" altLang="ko-KR" dirty="0"/>
              <a:t>RAID1 </a:t>
            </a:r>
            <a:r>
              <a:rPr lang="ko-KR" altLang="en-US" dirty="0"/>
              <a:t>비교</a:t>
            </a:r>
            <a:endParaRPr lang="en-US" altLang="ko-KR" dirty="0"/>
          </a:p>
          <a:p>
            <a:pPr lvl="1">
              <a:defRPr/>
            </a:pPr>
            <a:endParaRPr lang="en-US" altLang="ko-KR" sz="2000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65FBB846-E30C-2EB2-0F5C-D4BD21ED1CE7}"/>
              </a:ext>
            </a:extLst>
          </p:cNvPr>
          <p:cNvSpPr/>
          <p:nvPr/>
        </p:nvSpPr>
        <p:spPr>
          <a:xfrm>
            <a:off x="2195736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377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04BEC3B-2436-7B13-465D-03F6B2FE1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980728"/>
            <a:ext cx="1742857" cy="31428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C77D71-05A5-E080-0624-C46270342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762683"/>
            <a:ext cx="7609524" cy="1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99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RAID 5 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RAID 5 </a:t>
            </a:r>
            <a:r>
              <a:rPr lang="ko-KR" altLang="en-US" dirty="0"/>
              <a:t>개요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RAID1</a:t>
            </a:r>
            <a:r>
              <a:rPr lang="ko-KR" altLang="en-US" sz="2000" dirty="0"/>
              <a:t>의 데이터의 안전성 </a:t>
            </a:r>
            <a:r>
              <a:rPr lang="en-US" altLang="ko-KR" sz="2000" dirty="0"/>
              <a:t>+ RAID0</a:t>
            </a:r>
            <a:r>
              <a:rPr lang="ko-KR" altLang="en-US" sz="2000" dirty="0"/>
              <a:t>처럼 공간 효율성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최소한 </a:t>
            </a:r>
            <a:r>
              <a:rPr lang="en-US" altLang="ko-KR" sz="2000" dirty="0"/>
              <a:t>3</a:t>
            </a:r>
            <a:r>
              <a:rPr lang="ko-KR" altLang="en-US" sz="2000" dirty="0"/>
              <a:t>개 이상의 하드디스크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오류가 발생할 때는 </a:t>
            </a:r>
            <a:r>
              <a:rPr lang="en-US" altLang="ko-KR" sz="2000" dirty="0"/>
              <a:t>‘</a:t>
            </a:r>
            <a:r>
              <a:rPr lang="ko-KR" altLang="en-US" sz="2000" dirty="0"/>
              <a:t>패리티</a:t>
            </a:r>
            <a:r>
              <a:rPr lang="en-US" altLang="ko-KR" sz="2000" dirty="0"/>
              <a:t>(Parity)’</a:t>
            </a:r>
            <a:r>
              <a:rPr lang="ko-KR" altLang="en-US" sz="2000" dirty="0"/>
              <a:t>를 이용해서 데이터를 복구</a:t>
            </a:r>
            <a:endParaRPr lang="en-US" altLang="ko-KR" sz="2000" dirty="0"/>
          </a:p>
          <a:p>
            <a:pPr>
              <a:defRPr/>
            </a:pPr>
            <a:r>
              <a:rPr lang="en-US" altLang="ko-KR" dirty="0"/>
              <a:t>“000 111 010 011</a:t>
            </a:r>
            <a:r>
              <a:rPr lang="ko-KR" altLang="en-US" dirty="0"/>
              <a:t>”</a:t>
            </a:r>
            <a:r>
              <a:rPr lang="en-US" altLang="ko-KR" dirty="0"/>
              <a:t>(12bit)</a:t>
            </a:r>
            <a:r>
              <a:rPr lang="ko-KR" altLang="en-US" dirty="0"/>
              <a:t> 데이터 </a:t>
            </a:r>
            <a:r>
              <a:rPr lang="en-US" altLang="ko-KR" dirty="0"/>
              <a:t>RAID5 </a:t>
            </a:r>
            <a:r>
              <a:rPr lang="ko-KR" altLang="en-US" dirty="0"/>
              <a:t>저장 사례</a:t>
            </a:r>
            <a:endParaRPr lang="en-US" altLang="ko-KR" sz="20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A050F577-C754-9D8D-BADE-26B6152F7F9D}"/>
              </a:ext>
            </a:extLst>
          </p:cNvPr>
          <p:cNvSpPr/>
          <p:nvPr/>
        </p:nvSpPr>
        <p:spPr>
          <a:xfrm>
            <a:off x="284380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378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9C60BD-76EE-3F93-C53A-72456A082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212976"/>
            <a:ext cx="5688632" cy="307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612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RAID 5 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“000 111 010 011</a:t>
            </a:r>
            <a:r>
              <a:rPr lang="ko-KR" altLang="en-US" dirty="0"/>
              <a:t>”</a:t>
            </a:r>
            <a:r>
              <a:rPr lang="en-US" altLang="ko-KR" dirty="0"/>
              <a:t>(12bit)</a:t>
            </a:r>
            <a:r>
              <a:rPr lang="ko-KR" altLang="en-US" dirty="0"/>
              <a:t> 데이터 </a:t>
            </a:r>
            <a:r>
              <a:rPr lang="en-US" altLang="ko-KR" dirty="0"/>
              <a:t>RAID5 </a:t>
            </a:r>
            <a:r>
              <a:rPr lang="ko-KR" altLang="en-US" dirty="0"/>
              <a:t>복구 사례</a:t>
            </a:r>
            <a:endParaRPr lang="en-US" altLang="ko-KR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endParaRPr lang="en-US" altLang="ko-KR" sz="2000" dirty="0"/>
          </a:p>
          <a:p>
            <a:pPr>
              <a:defRPr/>
            </a:pPr>
            <a:r>
              <a:rPr lang="en-US" altLang="ko-KR" dirty="0"/>
              <a:t>RAID5 </a:t>
            </a:r>
            <a:r>
              <a:rPr lang="ko-KR" altLang="en-US" dirty="0"/>
              <a:t>특징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어느 정도의 결함 허용을 해 주면서 저장 공간의 효율도 좋음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‘</a:t>
            </a:r>
            <a:r>
              <a:rPr lang="ko-KR" altLang="en-US" sz="2000" dirty="0"/>
              <a:t>디스크의 개수 </a:t>
            </a:r>
            <a:r>
              <a:rPr lang="en-US" altLang="ko-KR" sz="2000" dirty="0"/>
              <a:t>– 1’ </a:t>
            </a:r>
            <a:r>
              <a:rPr lang="ko-KR" altLang="en-US" sz="2000" dirty="0"/>
              <a:t>의 공간을 사용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디스크 </a:t>
            </a:r>
            <a:r>
              <a:rPr lang="en-US" altLang="ko-KR" sz="2000" dirty="0"/>
              <a:t>2</a:t>
            </a:r>
            <a:r>
              <a:rPr lang="ko-KR" altLang="en-US" sz="2000" dirty="0"/>
              <a:t>개가 고장 나면 복구 못함</a:t>
            </a:r>
            <a:endParaRPr lang="en-US" altLang="ko-KR" sz="20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11A4C6C6-A604-0EF0-6C5A-D43D1E9184BC}"/>
              </a:ext>
            </a:extLst>
          </p:cNvPr>
          <p:cNvSpPr/>
          <p:nvPr/>
        </p:nvSpPr>
        <p:spPr>
          <a:xfrm>
            <a:off x="284380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380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EA3B6C-EA58-BAD4-6635-E49D0BCF8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772816"/>
            <a:ext cx="5103097" cy="302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33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기타 </a:t>
            </a:r>
            <a:r>
              <a:rPr lang="en-US" altLang="ko-KR" sz="2800" dirty="0"/>
              <a:t>RAID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RAID6</a:t>
            </a:r>
          </a:p>
          <a:p>
            <a:pPr lvl="1">
              <a:defRPr/>
            </a:pPr>
            <a:r>
              <a:rPr lang="en-US" altLang="ko-KR" sz="2000" dirty="0"/>
              <a:t>RAID6 </a:t>
            </a:r>
            <a:r>
              <a:rPr lang="ko-KR" altLang="en-US" sz="2000" dirty="0"/>
              <a:t>방식은 </a:t>
            </a:r>
            <a:r>
              <a:rPr lang="en-US" altLang="ko-KR" sz="2000" dirty="0"/>
              <a:t>RAID5 </a:t>
            </a:r>
            <a:r>
              <a:rPr lang="ko-KR" altLang="en-US" sz="2000" dirty="0"/>
              <a:t>방식이 개선된 것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공간 효율은 </a:t>
            </a:r>
            <a:r>
              <a:rPr lang="en-US" altLang="ko-KR" sz="2000" dirty="0"/>
              <a:t>RAID5</a:t>
            </a:r>
            <a:r>
              <a:rPr lang="ko-KR" altLang="en-US" sz="2000" dirty="0"/>
              <a:t>보다 약간 떨어지지만</a:t>
            </a:r>
            <a:r>
              <a:rPr lang="en-US" altLang="ko-KR" sz="2000" dirty="0"/>
              <a:t>, 2</a:t>
            </a:r>
            <a:r>
              <a:rPr lang="ko-KR" altLang="en-US" sz="2000" dirty="0"/>
              <a:t>개의 디스크가 동시에 고장이 나도 데이터에는 이상이 없도록 하는 방식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RAID6</a:t>
            </a:r>
            <a:r>
              <a:rPr lang="ko-KR" altLang="en-US" sz="2000" dirty="0"/>
              <a:t>의 경우에는 최소 </a:t>
            </a:r>
            <a:r>
              <a:rPr lang="en-US" altLang="ko-KR" sz="2000" dirty="0"/>
              <a:t>4</a:t>
            </a:r>
            <a:r>
              <a:rPr lang="ko-KR" altLang="en-US" sz="2000" dirty="0"/>
              <a:t>개의 디스크 필요</a:t>
            </a:r>
          </a:p>
          <a:p>
            <a:pPr lvl="1">
              <a:defRPr/>
            </a:pPr>
            <a:r>
              <a:rPr lang="ko-KR" altLang="en-US" sz="2000" dirty="0"/>
              <a:t>공간 효율은 </a:t>
            </a:r>
            <a:r>
              <a:rPr lang="en-US" altLang="ko-KR" sz="2000" dirty="0"/>
              <a:t>RAID5</a:t>
            </a:r>
            <a:r>
              <a:rPr lang="ko-KR" altLang="en-US" sz="2000" dirty="0"/>
              <a:t>보다 약간 떨어지는 반면에 데이터에 대한 신뢰도는 좀더 높아지는 효과</a:t>
            </a:r>
          </a:p>
          <a:p>
            <a:pPr lvl="1">
              <a:defRPr/>
            </a:pPr>
            <a:r>
              <a:rPr lang="ko-KR" altLang="en-US" sz="2000" dirty="0"/>
              <a:t>성능</a:t>
            </a:r>
            <a:r>
              <a:rPr lang="en-US" altLang="ko-KR" sz="2000" dirty="0"/>
              <a:t>(</a:t>
            </a:r>
            <a:r>
              <a:rPr lang="ko-KR" altLang="en-US" sz="2000" dirty="0"/>
              <a:t>속도</a:t>
            </a:r>
            <a:r>
              <a:rPr lang="en-US" altLang="ko-KR" sz="2000" dirty="0"/>
              <a:t>)</a:t>
            </a:r>
            <a:r>
              <a:rPr lang="ko-KR" altLang="en-US" sz="2000" dirty="0"/>
              <a:t>은 </a:t>
            </a:r>
            <a:r>
              <a:rPr lang="en-US" altLang="ko-KR" sz="2000" dirty="0"/>
              <a:t>RAID5</a:t>
            </a:r>
            <a:r>
              <a:rPr lang="ko-KR" altLang="en-US" sz="2000" dirty="0"/>
              <a:t>에 비해 약간 떨어짐</a:t>
            </a: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>
              <a:defRPr/>
            </a:pPr>
            <a:r>
              <a:rPr lang="en-US" altLang="ko-KR" dirty="0"/>
              <a:t>RAID1+0 = RAID1 + RAID0</a:t>
            </a:r>
          </a:p>
          <a:p>
            <a:pPr lvl="1">
              <a:defRPr/>
            </a:pPr>
            <a:r>
              <a:rPr lang="ko-KR" altLang="en-US" sz="2000" dirty="0"/>
              <a:t>신뢰성</a:t>
            </a:r>
            <a:r>
              <a:rPr lang="en-US" altLang="ko-KR" sz="2000" dirty="0"/>
              <a:t>(</a:t>
            </a:r>
            <a:r>
              <a:rPr lang="ko-KR" altLang="en-US" sz="2000" dirty="0"/>
              <a:t>안전성</a:t>
            </a:r>
            <a:r>
              <a:rPr lang="en-US" altLang="ko-KR" sz="2000" dirty="0"/>
              <a:t>)</a:t>
            </a:r>
            <a:r>
              <a:rPr lang="ko-KR" altLang="en-US" sz="2000" dirty="0"/>
              <a:t>과 성능</a:t>
            </a:r>
            <a:r>
              <a:rPr lang="en-US" altLang="ko-KR" sz="2000" dirty="0"/>
              <a:t>(</a:t>
            </a:r>
            <a:r>
              <a:rPr lang="ko-KR" altLang="en-US" sz="2000" dirty="0"/>
              <a:t>속도</a:t>
            </a:r>
            <a:r>
              <a:rPr lang="en-US" altLang="ko-KR" sz="2000" dirty="0"/>
              <a:t>)</a:t>
            </a:r>
            <a:r>
              <a:rPr lang="ko-KR" altLang="en-US" sz="2000" dirty="0"/>
              <a:t>이 </a:t>
            </a:r>
            <a:br>
              <a:rPr lang="en-US" altLang="ko-KR" sz="2000" dirty="0"/>
            </a:br>
            <a:r>
              <a:rPr lang="ko-KR" altLang="en-US" sz="2000" dirty="0"/>
              <a:t>동시에 뛰어난 방법</a:t>
            </a:r>
          </a:p>
          <a:p>
            <a:pPr lvl="1">
              <a:defRPr/>
            </a:pPr>
            <a:endParaRPr lang="en-US" altLang="ko-KR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E9BA72-ACCA-8244-8323-00103D41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3532658"/>
            <a:ext cx="2976486" cy="3039592"/>
          </a:xfrm>
          <a:prstGeom prst="rect">
            <a:avLst/>
          </a:prstGeom>
        </p:spPr>
      </p:pic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ECB9A7C4-1BA1-8817-3144-6CAF54468EB8}"/>
              </a:ext>
            </a:extLst>
          </p:cNvPr>
          <p:cNvSpPr/>
          <p:nvPr/>
        </p:nvSpPr>
        <p:spPr>
          <a:xfrm>
            <a:off x="2843808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380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3925545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531AD63-2FA4-121C-4A02-6BB17F7CC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348185"/>
            <a:ext cx="4824536" cy="5088431"/>
          </a:xfrm>
          <a:prstGeom prst="rect">
            <a:avLst/>
          </a:prstGeom>
        </p:spPr>
      </p:pic>
      <p:sp>
        <p:nvSpPr>
          <p:cNvPr id="2867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2800" dirty="0"/>
              <a:t>RAID0, RAID1, RAID5 </a:t>
            </a:r>
            <a:r>
              <a:rPr lang="ko-KR" altLang="en-US" sz="2800" dirty="0"/>
              <a:t>구현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실습 구성도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RAID0(/dev/sdb, /dev/sdc)</a:t>
            </a:r>
          </a:p>
          <a:p>
            <a:pPr lvl="1">
              <a:defRPr/>
            </a:pPr>
            <a:r>
              <a:rPr lang="en-US" altLang="ko-KR" sz="2000" dirty="0"/>
              <a:t>RAID1(/dev/</a:t>
            </a:r>
            <a:r>
              <a:rPr lang="en-US" altLang="ko-KR" sz="2000" dirty="0" err="1"/>
              <a:t>sdd</a:t>
            </a:r>
            <a:r>
              <a:rPr lang="en-US" altLang="ko-KR" sz="2000" dirty="0"/>
              <a:t>, /dev/</a:t>
            </a:r>
            <a:r>
              <a:rPr lang="en-US" altLang="ko-KR" sz="2000" dirty="0" err="1"/>
              <a:t>sde</a:t>
            </a:r>
            <a:r>
              <a:rPr lang="en-US" altLang="ko-KR" sz="2000" dirty="0"/>
              <a:t>)</a:t>
            </a:r>
          </a:p>
          <a:p>
            <a:pPr lvl="1">
              <a:defRPr/>
            </a:pPr>
            <a:r>
              <a:rPr lang="en-US" altLang="ko-KR" sz="2000" dirty="0"/>
              <a:t>RAID5(/dev/</a:t>
            </a:r>
            <a:r>
              <a:rPr lang="en-US" altLang="ko-KR" sz="2000" dirty="0" err="1"/>
              <a:t>sdf</a:t>
            </a:r>
            <a:r>
              <a:rPr lang="en-US" altLang="ko-KR" sz="2000" dirty="0"/>
              <a:t>, /dev/</a:t>
            </a:r>
            <a:r>
              <a:rPr lang="en-US" altLang="ko-KR" sz="2000" dirty="0" err="1"/>
              <a:t>sdg</a:t>
            </a:r>
            <a:r>
              <a:rPr lang="en-US" altLang="ko-KR" sz="2000" dirty="0"/>
              <a:t>, /dev/</a:t>
            </a:r>
            <a:r>
              <a:rPr lang="en-US" altLang="ko-KR" sz="2000" dirty="0" err="1"/>
              <a:t>sdh</a:t>
            </a:r>
            <a:r>
              <a:rPr lang="en-US" altLang="ko-KR" sz="2000" dirty="0"/>
              <a:t>)</a:t>
            </a:r>
          </a:p>
          <a:p>
            <a:pPr lvl="1">
              <a:defRPr/>
            </a:pPr>
            <a:endParaRPr lang="en-US" altLang="ko-KR" sz="20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1573D806-0BBE-2F68-36B6-A5915AFD3C27}"/>
              </a:ext>
            </a:extLst>
          </p:cNvPr>
          <p:cNvSpPr/>
          <p:nvPr/>
        </p:nvSpPr>
        <p:spPr>
          <a:xfrm>
            <a:off x="5652120" y="616347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382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7" name="물결 6">
            <a:extLst>
              <a:ext uri="{FF2B5EF4-FFF2-40B4-BE49-F238E27FC236}">
                <a16:creationId xmlns:a16="http://schemas.microsoft.com/office/drawing/2014/main" id="{2DAA583A-C178-344A-6C14-C45BEF06305A}"/>
              </a:ext>
            </a:extLst>
          </p:cNvPr>
          <p:cNvSpPr/>
          <p:nvPr/>
        </p:nvSpPr>
        <p:spPr>
          <a:xfrm>
            <a:off x="1239943" y="4797152"/>
            <a:ext cx="3401600" cy="991567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그림 상엔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TB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단위로 표현하지만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실제 구현에서는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GB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단위로 디스크를 사용함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938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498F2-2482-4FF0-BCE6-775545AFA3A7}"/>
              </a:ext>
            </a:extLst>
          </p:cNvPr>
          <p:cNvSpPr txBox="1">
            <a:spLocks/>
          </p:cNvSpPr>
          <p:nvPr/>
        </p:nvSpPr>
        <p:spPr bwMode="auto">
          <a:xfrm>
            <a:off x="773341" y="622004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하드디스크 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 준비</a:t>
            </a:r>
          </a:p>
        </p:txBody>
      </p:sp>
      <p:pic>
        <p:nvPicPr>
          <p:cNvPr id="4" name="그림 3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07DA66D9-9C30-4FD3-BE61-599345A55E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51426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하드디스크 </a:t>
            </a:r>
            <a:r>
              <a:rPr lang="en-US" altLang="ko-KR" sz="2000" dirty="0"/>
              <a:t>7</a:t>
            </a:r>
            <a:r>
              <a:rPr lang="ko-KR" altLang="en-US" sz="2000" dirty="0"/>
              <a:t>개를 장착하고</a:t>
            </a:r>
            <a:r>
              <a:rPr lang="en-US" altLang="ko-KR" sz="2000" dirty="0"/>
              <a:t>, </a:t>
            </a:r>
            <a:br>
              <a:rPr lang="en-US" altLang="ko-KR" sz="2000" dirty="0"/>
            </a:br>
            <a:r>
              <a:rPr lang="ko-KR" altLang="en-US" sz="2000" dirty="0"/>
              <a:t>각각을 </a:t>
            </a:r>
            <a:r>
              <a:rPr lang="en-US" altLang="ko-KR" sz="2000" dirty="0"/>
              <a:t>fdisk</a:t>
            </a:r>
            <a:r>
              <a:rPr lang="ko-KR" altLang="en-US" sz="2000" dirty="0"/>
              <a:t>로 </a:t>
            </a:r>
            <a:r>
              <a:rPr lang="ko-KR" altLang="en-US" sz="2000" dirty="0" err="1"/>
              <a:t>파티셔닝</a:t>
            </a:r>
            <a:r>
              <a:rPr lang="ko-KR" altLang="en-US" sz="2000" dirty="0"/>
              <a:t> 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장착할 디스크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39EC5FA7-B325-2D7E-2A8E-4E7194F671BB}"/>
              </a:ext>
            </a:extLst>
          </p:cNvPr>
          <p:cNvSpPr/>
          <p:nvPr/>
        </p:nvSpPr>
        <p:spPr>
          <a:xfrm>
            <a:off x="5148064" y="512140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384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73A760-7E0F-58FB-60C8-3AAC55673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23" y="3310337"/>
            <a:ext cx="7590476" cy="3190476"/>
          </a:xfrm>
          <a:prstGeom prst="rect">
            <a:avLst/>
          </a:prstGeom>
        </p:spPr>
      </p:pic>
      <p:pic>
        <p:nvPicPr>
          <p:cNvPr id="9" name="그림 8" descr="텍스트, 스크린샷, 시계, 디자인이(가) 표시된 사진&#10;&#10;자동 생성된 설명">
            <a:extLst>
              <a:ext uri="{FF2B5EF4-FFF2-40B4-BE49-F238E27FC236}">
                <a16:creationId xmlns:a16="http://schemas.microsoft.com/office/drawing/2014/main" id="{2F98039C-DD1E-AA84-4C8E-5EC6C4090F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705" y="1455996"/>
            <a:ext cx="3238095" cy="1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56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8EC0041-064A-D604-4A3E-DB790C78822C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388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7FAFC-5066-7153-B961-844EC3C59FE1}"/>
              </a:ext>
            </a:extLst>
          </p:cNvPr>
          <p:cNvSpPr/>
          <p:nvPr/>
        </p:nvSpPr>
        <p:spPr>
          <a:xfrm>
            <a:off x="1907642" y="908720"/>
            <a:ext cx="5112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6-2 </a:t>
            </a:r>
          </a:p>
        </p:txBody>
      </p:sp>
    </p:spTree>
    <p:extLst>
      <p:ext uri="{BB962C8B-B14F-4D97-AF65-F5344CB8AC3E}">
        <p14:creationId xmlns:p14="http://schemas.microsoft.com/office/powerpoint/2010/main" val="4038709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47272FB-BEC9-4BFC-A66E-F5E66284E906}"/>
              </a:ext>
            </a:extLst>
          </p:cNvPr>
          <p:cNvSpPr txBox="1">
            <a:spLocks/>
          </p:cNvSpPr>
          <p:nvPr/>
        </p:nvSpPr>
        <p:spPr bwMode="auto">
          <a:xfrm>
            <a:off x="773341" y="61384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3&gt; RAID 0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구축</a:t>
            </a:r>
          </a:p>
        </p:txBody>
      </p:sp>
      <p:pic>
        <p:nvPicPr>
          <p:cNvPr id="6" name="그림 5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685A12A8-B5A4-45EE-9017-39E0BCEED7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443268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RAID 0</a:t>
            </a:r>
            <a:r>
              <a:rPr lang="ko-KR" altLang="en-US" sz="2000" dirty="0"/>
              <a:t>을 구축한다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en-US" altLang="ko-KR" sz="2000" dirty="0"/>
              <a:t>mdadm </a:t>
            </a:r>
            <a:r>
              <a:rPr lang="ko-KR" altLang="en-US" sz="2000" dirty="0"/>
              <a:t>사용법을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실습 흐름도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02366D-3C8A-EBB6-CB08-D3834E317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8087" y="3334916"/>
            <a:ext cx="5256584" cy="3165897"/>
          </a:xfrm>
          <a:prstGeom prst="rect">
            <a:avLst/>
          </a:prstGeom>
        </p:spPr>
      </p:pic>
      <p:pic>
        <p:nvPicPr>
          <p:cNvPr id="9" name="그림 8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3DF0C70C-F043-81BC-D5CA-AEC269C02E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82" y="1385448"/>
            <a:ext cx="4220491" cy="1805834"/>
          </a:xfrm>
          <a:prstGeom prst="rect">
            <a:avLst/>
          </a:prstGeom>
        </p:spPr>
      </p:pic>
      <p:sp>
        <p:nvSpPr>
          <p:cNvPr id="10" name="말풍선: 타원형 9">
            <a:extLst>
              <a:ext uri="{FF2B5EF4-FFF2-40B4-BE49-F238E27FC236}">
                <a16:creationId xmlns:a16="http://schemas.microsoft.com/office/drawing/2014/main" id="{1A997E9F-26D8-3D4A-1F93-93747C4BD1FE}"/>
              </a:ext>
            </a:extLst>
          </p:cNvPr>
          <p:cNvSpPr/>
          <p:nvPr/>
        </p:nvSpPr>
        <p:spPr>
          <a:xfrm>
            <a:off x="4211960" y="485181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389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572560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98557-8B66-4237-84E5-AA7BE2C8EB12}"/>
              </a:ext>
            </a:extLst>
          </p:cNvPr>
          <p:cNvSpPr txBox="1">
            <a:spLocks/>
          </p:cNvSpPr>
          <p:nvPr/>
        </p:nvSpPr>
        <p:spPr bwMode="auto">
          <a:xfrm>
            <a:off x="773341" y="61384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4&gt; RAID 1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구축</a:t>
            </a:r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54841454-B6F7-4A69-ABBF-E6400156CF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43268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RAID 1</a:t>
            </a:r>
            <a:r>
              <a:rPr lang="ko-KR" altLang="en-US" sz="2000" dirty="0"/>
              <a:t>을 구축한다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실습 결과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DCE9EE4D-9131-A0CD-C2B6-C71459CD4BFC}"/>
              </a:ext>
            </a:extLst>
          </p:cNvPr>
          <p:cNvSpPr/>
          <p:nvPr/>
        </p:nvSpPr>
        <p:spPr>
          <a:xfrm>
            <a:off x="4211959" y="50677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393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소프트웨어, 디스플레이이(가) 표시된 사진&#10;&#10;자동 생성된 설명">
            <a:extLst>
              <a:ext uri="{FF2B5EF4-FFF2-40B4-BE49-F238E27FC236}">
                <a16:creationId xmlns:a16="http://schemas.microsoft.com/office/drawing/2014/main" id="{2B722257-888E-B770-042A-DF81DF9E1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257" y="2996952"/>
            <a:ext cx="6127486" cy="316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41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90B3395-F795-4C45-A705-95D0D38D62FD}"/>
              </a:ext>
            </a:extLst>
          </p:cNvPr>
          <p:cNvSpPr txBox="1">
            <a:spLocks/>
          </p:cNvSpPr>
          <p:nvPr/>
        </p:nvSpPr>
        <p:spPr bwMode="auto">
          <a:xfrm>
            <a:off x="773341" y="61384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5&gt; RAID 5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구축</a:t>
            </a:r>
          </a:p>
        </p:txBody>
      </p:sp>
      <p:pic>
        <p:nvPicPr>
          <p:cNvPr id="4" name="그림 3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4033D480-0D89-447E-A4BE-0A65C95131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443268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RAID 5</a:t>
            </a:r>
            <a:r>
              <a:rPr lang="ko-KR" altLang="en-US" sz="2000" dirty="0"/>
              <a:t>를 구축한다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실습 흐름도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5F1381EE-0F89-1AE8-A70E-B1E4096A4621}"/>
              </a:ext>
            </a:extLst>
          </p:cNvPr>
          <p:cNvSpPr/>
          <p:nvPr/>
        </p:nvSpPr>
        <p:spPr>
          <a:xfrm>
            <a:off x="4211959" y="50677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395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C29418-1AC5-1327-E107-9507D2354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79" y="3268418"/>
            <a:ext cx="5040560" cy="3258184"/>
          </a:xfrm>
          <a:prstGeom prst="rect">
            <a:avLst/>
          </a:prstGeom>
        </p:spPr>
      </p:pic>
      <p:pic>
        <p:nvPicPr>
          <p:cNvPr id="10" name="그림 9" descr="텍스트, 스크린샷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0A44070C-FD24-979B-D864-C2791AB555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965" y="1357313"/>
            <a:ext cx="4385355" cy="1999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39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1151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mdadm --detail --scan &gt; file.txt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명령으로 결과를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텍스트 파일로 저장한 후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vi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nano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편집기를 활용해서 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 행을 복사하자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8EC0041-064A-D604-4A3E-DB790C78822C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399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7FAFC-5066-7153-B961-844EC3C59FE1}"/>
              </a:ext>
            </a:extLst>
          </p:cNvPr>
          <p:cNvSpPr/>
          <p:nvPr/>
        </p:nvSpPr>
        <p:spPr>
          <a:xfrm>
            <a:off x="1907642" y="908720"/>
            <a:ext cx="5112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6-3 </a:t>
            </a:r>
          </a:p>
        </p:txBody>
      </p:sp>
    </p:spTree>
    <p:extLst>
      <p:ext uri="{BB962C8B-B14F-4D97-AF65-F5344CB8AC3E}">
        <p14:creationId xmlns:p14="http://schemas.microsoft.com/office/powerpoint/2010/main" val="3747496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5231954-EA18-6F5F-3AC1-75F5366EF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065" y="1344454"/>
            <a:ext cx="4921465" cy="5168224"/>
          </a:xfrm>
          <a:prstGeom prst="rect">
            <a:avLst/>
          </a:prstGeom>
        </p:spPr>
      </p:pic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실습 구성도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sz="2000" dirty="0"/>
              <a:t>RAID1, RAID5</a:t>
            </a:r>
            <a:r>
              <a:rPr lang="ko-KR" altLang="en-US" sz="2000" dirty="0"/>
              <a:t>는 ‘결함 허용’기능이 있음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각 </a:t>
            </a:r>
            <a:r>
              <a:rPr lang="en-US" altLang="ko-KR" sz="2000" dirty="0"/>
              <a:t>1</a:t>
            </a:r>
            <a:r>
              <a:rPr lang="ko-KR" altLang="en-US" sz="2000" dirty="0"/>
              <a:t>개씩 디스크를 </a:t>
            </a:r>
            <a:r>
              <a:rPr lang="ko-KR" altLang="en-US" sz="2000" dirty="0" err="1"/>
              <a:t>고장냄</a:t>
            </a: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</p:txBody>
      </p:sp>
      <p:sp>
        <p:nvSpPr>
          <p:cNvPr id="2867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ko-KR" sz="2800" dirty="0"/>
              <a:t>RAID 0, 1, 5 </a:t>
            </a:r>
            <a:r>
              <a:rPr lang="ko-KR" altLang="en-US" sz="2800" dirty="0"/>
              <a:t>문제 발생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1B8E6B7B-37F6-16AE-B619-5D04B126083A}"/>
              </a:ext>
            </a:extLst>
          </p:cNvPr>
          <p:cNvSpPr/>
          <p:nvPr/>
        </p:nvSpPr>
        <p:spPr>
          <a:xfrm>
            <a:off x="4716016" y="61293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400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830681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525E294-DB3E-4007-AEAB-CDDBC921874A}"/>
              </a:ext>
            </a:extLst>
          </p:cNvPr>
          <p:cNvSpPr txBox="1">
            <a:spLocks/>
          </p:cNvSpPr>
          <p:nvPr/>
        </p:nvSpPr>
        <p:spPr bwMode="auto">
          <a:xfrm>
            <a:off x="773341" y="68750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6&gt; RAID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 디스크 고장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RAID 0, 1, 5</a:t>
            </a:r>
            <a:r>
              <a:rPr lang="ko-KR" altLang="en-US" sz="2000" dirty="0"/>
              <a:t>의 하드디스크가 고장 난 상황을 본다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일단 정상 부팅이 가능하도록 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고장 난 디스크와 정상 디스크</a:t>
            </a: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35695" y="2564905"/>
            <a:ext cx="1134334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EE3E54F1-742B-44CB-A528-54653D1FE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16928"/>
            <a:ext cx="756709" cy="742276"/>
          </a:xfrm>
          <a:prstGeom prst="rect">
            <a:avLst/>
          </a:prstGeom>
        </p:spPr>
      </p:pic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ECF7902E-883A-EC14-2258-58D456351F93}"/>
              </a:ext>
            </a:extLst>
          </p:cNvPr>
          <p:cNvSpPr/>
          <p:nvPr/>
        </p:nvSpPr>
        <p:spPr>
          <a:xfrm>
            <a:off x="5292080" y="61293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401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64DE044-D0E6-B2EA-1891-36C992309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3215888"/>
            <a:ext cx="4896543" cy="328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713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8EC0041-064A-D604-4A3E-DB790C78822C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408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7FAFC-5066-7153-B961-844EC3C59FE1}"/>
              </a:ext>
            </a:extLst>
          </p:cNvPr>
          <p:cNvSpPr/>
          <p:nvPr/>
        </p:nvSpPr>
        <p:spPr>
          <a:xfrm>
            <a:off x="1907642" y="908720"/>
            <a:ext cx="5112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6-4 </a:t>
            </a:r>
          </a:p>
        </p:txBody>
      </p:sp>
    </p:spTree>
    <p:extLst>
      <p:ext uri="{BB962C8B-B14F-4D97-AF65-F5344CB8AC3E}">
        <p14:creationId xmlns:p14="http://schemas.microsoft.com/office/powerpoint/2010/main" val="1023523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2800" dirty="0"/>
              <a:t>RAID 0, 1, 5 </a:t>
            </a:r>
            <a:r>
              <a:rPr lang="ko-KR" altLang="en-US" sz="2800" dirty="0"/>
              <a:t>원상 복구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실습 구성도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고장 난 디스크 </a:t>
            </a:r>
            <a:r>
              <a:rPr lang="en-US" altLang="ko-KR" sz="2000" dirty="0"/>
              <a:t>3</a:t>
            </a:r>
            <a:r>
              <a:rPr lang="ko-KR" altLang="en-US" sz="2000" dirty="0"/>
              <a:t>개를</a:t>
            </a:r>
            <a:br>
              <a:rPr lang="en-US" altLang="ko-KR" sz="2000" dirty="0"/>
            </a:br>
            <a:r>
              <a:rPr lang="ko-KR" altLang="en-US" sz="2000" dirty="0"/>
              <a:t>새 디스크로 교체</a:t>
            </a: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68E8DD4B-BFFD-C8DF-0161-184FA274E26C}"/>
              </a:ext>
            </a:extLst>
          </p:cNvPr>
          <p:cNvSpPr/>
          <p:nvPr/>
        </p:nvSpPr>
        <p:spPr>
          <a:xfrm>
            <a:off x="4716016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409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08D6D1-6226-AE1C-8AC6-56712652D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414" y="1353513"/>
            <a:ext cx="4854426" cy="509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57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FCBE3-0F84-4B56-A092-3546F6FBC4D8}"/>
              </a:ext>
            </a:extLst>
          </p:cNvPr>
          <p:cNvSpPr txBox="1">
            <a:spLocks/>
          </p:cNvSpPr>
          <p:nvPr/>
        </p:nvSpPr>
        <p:spPr bwMode="auto">
          <a:xfrm>
            <a:off x="773341" y="60976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7&gt; RAID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 디스크 교체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RAID 0, RAID 1, RAID 5</a:t>
            </a:r>
            <a:r>
              <a:rPr lang="ko-KR" altLang="en-US" sz="2000" dirty="0"/>
              <a:t>의 장치의 고장 난 디스크를 새로운 디스크로 교체한다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복구 전후의 내부적 변화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C818AA0C-08FB-481E-9A5D-091A516D99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439188"/>
            <a:ext cx="756709" cy="742276"/>
          </a:xfrm>
          <a:prstGeom prst="rect">
            <a:avLst/>
          </a:prstGeom>
        </p:spPr>
      </p:pic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C5859694-B326-A0BC-D695-83DB7FF33F4E}"/>
              </a:ext>
            </a:extLst>
          </p:cNvPr>
          <p:cNvSpPr/>
          <p:nvPr/>
        </p:nvSpPr>
        <p:spPr>
          <a:xfrm>
            <a:off x="5292080" y="492603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410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D483B7-FCE8-E1F5-2C6B-D7E65B15C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3441164"/>
            <a:ext cx="3902555" cy="214243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3D8BE4F-CCD3-D608-88AC-4FC09705E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561" y="3399636"/>
            <a:ext cx="3967627" cy="284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13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8EC0041-064A-D604-4A3E-DB790C78822C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416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7FAFC-5066-7153-B961-844EC3C59FE1}"/>
              </a:ext>
            </a:extLst>
          </p:cNvPr>
          <p:cNvSpPr/>
          <p:nvPr/>
        </p:nvSpPr>
        <p:spPr>
          <a:xfrm>
            <a:off x="1907642" y="908720"/>
            <a:ext cx="5112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6-5 </a:t>
            </a:r>
          </a:p>
        </p:txBody>
      </p:sp>
    </p:spTree>
    <p:extLst>
      <p:ext uri="{BB962C8B-B14F-4D97-AF65-F5344CB8AC3E}">
        <p14:creationId xmlns:p14="http://schemas.microsoft.com/office/powerpoint/2010/main" val="490165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E08FDC7-A55E-D230-CF5A-561E739E6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1357313"/>
            <a:ext cx="4755932" cy="5140176"/>
          </a:xfrm>
          <a:prstGeom prst="rect">
            <a:avLst/>
          </a:prstGeom>
        </p:spPr>
      </p:pic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실습 구성도</a:t>
            </a:r>
            <a:endParaRPr lang="en-US" altLang="ko-KR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RAID5</a:t>
            </a:r>
            <a:r>
              <a:rPr lang="ko-KR" altLang="en-US" sz="2000" dirty="0"/>
              <a:t>보다 신뢰도를 높인 </a:t>
            </a:r>
            <a:r>
              <a:rPr lang="en-US" altLang="ko-KR" sz="2000" dirty="0"/>
              <a:t>RAID6</a:t>
            </a:r>
          </a:p>
          <a:p>
            <a:pPr lvl="1">
              <a:defRPr/>
            </a:pPr>
            <a:r>
              <a:rPr lang="ko-KR" altLang="en-US" sz="2000" dirty="0"/>
              <a:t>신뢰도와 속도 두 마리 토끼를 </a:t>
            </a:r>
            <a:br>
              <a:rPr lang="en-US" altLang="ko-KR" sz="2000" dirty="0"/>
            </a:br>
            <a:r>
              <a:rPr lang="ko-KR" altLang="en-US" sz="2000" dirty="0"/>
              <a:t>잡기 위한 </a:t>
            </a:r>
            <a:r>
              <a:rPr lang="en-US" altLang="ko-KR" sz="2000" dirty="0"/>
              <a:t>RAID1+0</a:t>
            </a:r>
          </a:p>
          <a:p>
            <a:pPr lvl="1">
              <a:defRPr/>
            </a:pPr>
            <a:r>
              <a:rPr lang="en-US" altLang="ko-KR" sz="2000" dirty="0"/>
              <a:t>RAID6</a:t>
            </a:r>
            <a:r>
              <a:rPr lang="ko-KR" altLang="en-US" sz="2000" dirty="0"/>
              <a:t>은 패리티를 </a:t>
            </a:r>
            <a:r>
              <a:rPr lang="en-US" altLang="ko-KR" sz="2000" dirty="0"/>
              <a:t>2</a:t>
            </a:r>
            <a:r>
              <a:rPr lang="ko-KR" altLang="en-US" sz="2000" dirty="0"/>
              <a:t>개 사용하기 </a:t>
            </a:r>
            <a:br>
              <a:rPr lang="en-US" altLang="ko-KR" sz="2000" dirty="0"/>
            </a:br>
            <a:r>
              <a:rPr lang="ko-KR" altLang="en-US" sz="2000" dirty="0"/>
              <a:t>때문에 최소 </a:t>
            </a:r>
            <a:r>
              <a:rPr lang="en-US" altLang="ko-KR" sz="2000" dirty="0"/>
              <a:t>4</a:t>
            </a:r>
            <a:r>
              <a:rPr lang="ko-KR" altLang="en-US" sz="2000" dirty="0"/>
              <a:t>개의 디스크가 필요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RAID1+0</a:t>
            </a:r>
            <a:r>
              <a:rPr lang="ko-KR" altLang="en-US" sz="2000" dirty="0"/>
              <a:t>도 최소 </a:t>
            </a:r>
            <a:r>
              <a:rPr lang="en-US" altLang="ko-KR" sz="2000" dirty="0"/>
              <a:t>4</a:t>
            </a:r>
            <a:r>
              <a:rPr lang="ko-KR" altLang="en-US" sz="2000" dirty="0"/>
              <a:t>개 디스크가 필요</a:t>
            </a: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RAID6</a:t>
            </a:r>
            <a:r>
              <a:rPr lang="ko-KR" altLang="en-US" sz="2000" dirty="0"/>
              <a:t>의 공간효율은 </a:t>
            </a:r>
            <a:r>
              <a:rPr lang="en-US" altLang="ko-KR" sz="2000" dirty="0"/>
              <a:t>N-2</a:t>
            </a:r>
          </a:p>
          <a:p>
            <a:pPr lvl="1">
              <a:defRPr/>
            </a:pPr>
            <a:r>
              <a:rPr lang="en-US" altLang="ko-KR" sz="2000" dirty="0"/>
              <a:t>RAID1+0</a:t>
            </a:r>
            <a:r>
              <a:rPr lang="ko-KR" altLang="en-US" sz="2000" dirty="0"/>
              <a:t>의 공간효율은 </a:t>
            </a:r>
            <a:r>
              <a:rPr lang="en-US" altLang="ko-KR" sz="2000" dirty="0"/>
              <a:t>50%</a:t>
            </a:r>
          </a:p>
          <a:p>
            <a:pPr lvl="1">
              <a:defRPr/>
            </a:pPr>
            <a:endParaRPr lang="en-US" altLang="ko-KR" sz="2000" dirty="0"/>
          </a:p>
        </p:txBody>
      </p:sp>
      <p:sp>
        <p:nvSpPr>
          <p:cNvPr id="399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RAID 6</a:t>
            </a:r>
            <a:r>
              <a:rPr lang="ko-KR" altLang="en-US" sz="2800" dirty="0"/>
              <a:t>와 </a:t>
            </a:r>
            <a:r>
              <a:rPr lang="en-US" altLang="ko-KR" sz="2800" dirty="0"/>
              <a:t>RAID 1+0 </a:t>
            </a:r>
            <a:r>
              <a:rPr lang="ko-KR" altLang="en-US" sz="2800" dirty="0"/>
              <a:t>개념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E469573C-71A1-FA44-5DB4-B01AA580B3C5}"/>
              </a:ext>
            </a:extLst>
          </p:cNvPr>
          <p:cNvSpPr/>
          <p:nvPr/>
        </p:nvSpPr>
        <p:spPr>
          <a:xfrm>
            <a:off x="5292080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417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940487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59588-8CE1-438F-8BD2-5EA8DB219DF9}"/>
              </a:ext>
            </a:extLst>
          </p:cNvPr>
          <p:cNvSpPr txBox="1">
            <a:spLocks/>
          </p:cNvSpPr>
          <p:nvPr/>
        </p:nvSpPr>
        <p:spPr bwMode="auto">
          <a:xfrm>
            <a:off x="773341" y="707491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8&gt; RAID 6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과 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RAID 1+0</a:t>
            </a:r>
            <a:endParaRPr kumimoji="0" lang="ko-KR" altLang="en-US" sz="2400" dirty="0">
              <a:solidFill>
                <a:srgbClr val="FFC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고급 </a:t>
            </a:r>
            <a:r>
              <a:rPr lang="en-US" altLang="ko-KR" sz="2000" dirty="0"/>
              <a:t>RAID </a:t>
            </a:r>
            <a:r>
              <a:rPr lang="ko-KR" altLang="en-US" sz="2000" dirty="0"/>
              <a:t>방식인 </a:t>
            </a:r>
            <a:r>
              <a:rPr lang="en-US" altLang="ko-KR" sz="2000" dirty="0"/>
              <a:t>RAID 6</a:t>
            </a:r>
            <a:r>
              <a:rPr lang="ko-KR" altLang="en-US" sz="2000" dirty="0"/>
              <a:t>과 </a:t>
            </a:r>
            <a:r>
              <a:rPr lang="en-US" altLang="ko-KR" sz="2000" dirty="0"/>
              <a:t>RAID 1+0</a:t>
            </a:r>
            <a:r>
              <a:rPr lang="ko-KR" altLang="en-US" sz="2000" dirty="0"/>
              <a:t>을 구성해 본다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결과 화면 </a:t>
            </a:r>
            <a:r>
              <a:rPr lang="en-US" altLang="ko-KR" dirty="0"/>
              <a:t>(RAID </a:t>
            </a:r>
            <a:r>
              <a:rPr lang="ko-KR" altLang="en-US" dirty="0"/>
              <a:t>구성 완료</a:t>
            </a:r>
            <a:r>
              <a:rPr lang="en-US" altLang="ko-KR" dirty="0"/>
              <a:t>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EE5C3E97-6C2F-4FC8-BBFE-B248FF029E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36913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DAC368CA-3C2C-DA1D-1C46-866C7ED49EF2}"/>
              </a:ext>
            </a:extLst>
          </p:cNvPr>
          <p:cNvSpPr/>
          <p:nvPr/>
        </p:nvSpPr>
        <p:spPr>
          <a:xfrm>
            <a:off x="5364088" y="625476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419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스크린샷, 폰트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9A187F26-9720-782F-9EA5-B70340BA75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400" y="3068960"/>
            <a:ext cx="6959121" cy="292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706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endParaRPr lang="en-US" altLang="ko-KR" sz="2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8EC0041-064A-D604-4A3E-DB790C78822C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423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7FAFC-5066-7153-B961-844EC3C59FE1}"/>
              </a:ext>
            </a:extLst>
          </p:cNvPr>
          <p:cNvSpPr/>
          <p:nvPr/>
        </p:nvSpPr>
        <p:spPr>
          <a:xfrm>
            <a:off x="1907641" y="908720"/>
            <a:ext cx="51122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6-6 </a:t>
            </a:r>
          </a:p>
        </p:txBody>
      </p:sp>
    </p:spTree>
    <p:extLst>
      <p:ext uri="{BB962C8B-B14F-4D97-AF65-F5344CB8AC3E}">
        <p14:creationId xmlns:p14="http://schemas.microsoft.com/office/powerpoint/2010/main" val="3282337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DD318C-2187-EC35-9E71-5C31C3C70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941" y="1355041"/>
            <a:ext cx="4560566" cy="5137852"/>
          </a:xfrm>
          <a:prstGeom prst="rect">
            <a:avLst/>
          </a:prstGeom>
        </p:spPr>
      </p:pic>
      <p:sp>
        <p:nvSpPr>
          <p:cNvPr id="399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RAID 6</a:t>
            </a:r>
            <a:r>
              <a:rPr lang="ko-KR" altLang="en-US" sz="2800" dirty="0"/>
              <a:t>와 </a:t>
            </a:r>
            <a:r>
              <a:rPr lang="en-US" altLang="ko-KR" sz="2800" dirty="0"/>
              <a:t>RAID 1+0 </a:t>
            </a:r>
            <a:r>
              <a:rPr lang="ko-KR" altLang="en-US" sz="2800" dirty="0"/>
              <a:t>의 문제 발생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실습 구성도</a:t>
            </a:r>
            <a:endParaRPr lang="en-US" altLang="ko-KR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각 </a:t>
            </a:r>
            <a:r>
              <a:rPr lang="en-US" altLang="ko-KR" sz="2000" dirty="0"/>
              <a:t>2</a:t>
            </a:r>
            <a:r>
              <a:rPr lang="ko-KR" altLang="en-US" sz="2000" dirty="0"/>
              <a:t>개씩 하드디스크를 고장 낸다</a:t>
            </a:r>
            <a:r>
              <a:rPr lang="en-US" altLang="ko-KR" sz="2000" dirty="0"/>
              <a:t>.</a:t>
            </a:r>
          </a:p>
          <a:p>
            <a:pPr lvl="1">
              <a:defRPr/>
            </a:pPr>
            <a:r>
              <a:rPr lang="ko-KR" altLang="en-US" sz="2000" dirty="0"/>
              <a:t>고장 후에도 데이터의 이상 여부를</a:t>
            </a:r>
            <a:br>
              <a:rPr lang="en-US" altLang="ko-KR" sz="2000" dirty="0"/>
            </a:br>
            <a:r>
              <a:rPr lang="ko-KR" altLang="en-US" sz="2000" dirty="0"/>
              <a:t>확인한다</a:t>
            </a:r>
            <a:r>
              <a:rPr lang="en-US" altLang="ko-KR" sz="2000" dirty="0"/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0E966E16-2F92-D015-113D-135B55E100F6}"/>
              </a:ext>
            </a:extLst>
          </p:cNvPr>
          <p:cNvSpPr/>
          <p:nvPr/>
        </p:nvSpPr>
        <p:spPr>
          <a:xfrm>
            <a:off x="6588224" y="61293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423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648897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BA48E-E7B7-4309-AC42-9B71DA936293}"/>
              </a:ext>
            </a:extLst>
          </p:cNvPr>
          <p:cNvSpPr txBox="1">
            <a:spLocks/>
          </p:cNvSpPr>
          <p:nvPr/>
        </p:nvSpPr>
        <p:spPr bwMode="auto">
          <a:xfrm>
            <a:off x="773341" y="67592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9&gt; RAID 6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과 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RAID 1+0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 고장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RAID 6</a:t>
            </a:r>
            <a:r>
              <a:rPr lang="ko-KR" altLang="en-US" sz="2000" dirty="0"/>
              <a:t>과 </a:t>
            </a:r>
            <a:r>
              <a:rPr lang="en-US" altLang="ko-KR" sz="2000" dirty="0"/>
              <a:t>RAID 1+0</a:t>
            </a:r>
            <a:r>
              <a:rPr lang="ko-KR" altLang="en-US" sz="2000" dirty="0"/>
              <a:t>의 결함 허용을 확인한다</a:t>
            </a:r>
            <a:r>
              <a:rPr lang="en-US" altLang="ko-KR" sz="2000" dirty="0"/>
              <a:t>. </a:t>
            </a:r>
          </a:p>
          <a:p>
            <a:pPr lvl="1" eaLnBrk="1" hangingPunct="1">
              <a:defRPr/>
            </a:pPr>
            <a:r>
              <a:rPr lang="ko-KR" altLang="en-US" sz="2000" dirty="0"/>
              <a:t>각 디스크를 </a:t>
            </a:r>
            <a:r>
              <a:rPr lang="en-US" altLang="ko-KR" sz="2000" dirty="0"/>
              <a:t>2</a:t>
            </a:r>
            <a:r>
              <a:rPr lang="ko-KR" altLang="en-US" sz="2000" dirty="0"/>
              <a:t>개씩 고장 낸 후에 파일이 정상적으로 있는지 확인한다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r>
              <a:rPr lang="ko-KR" altLang="en-US" dirty="0"/>
              <a:t>실습 화면</a:t>
            </a:r>
            <a:r>
              <a:rPr lang="en-US" altLang="ko-KR" dirty="0"/>
              <a:t>(</a:t>
            </a:r>
            <a:r>
              <a:rPr lang="ko-KR" altLang="en-US" dirty="0"/>
              <a:t>디스크 </a:t>
            </a:r>
            <a:r>
              <a:rPr lang="en-US" altLang="ko-KR" dirty="0"/>
              <a:t>2</a:t>
            </a:r>
            <a:r>
              <a:rPr lang="ko-KR" altLang="en-US" dirty="0"/>
              <a:t>개가 고장나도 작동중인 </a:t>
            </a:r>
            <a:r>
              <a:rPr lang="en-US" altLang="ko-KR" dirty="0"/>
              <a:t>RAID 6)</a:t>
            </a:r>
            <a:endParaRPr lang="ko-KR" altLang="en-US" dirty="0"/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3" name="그림 2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DAF43E67-4D97-4C27-9D75-63886C3689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05348"/>
            <a:ext cx="756709" cy="742276"/>
          </a:xfrm>
          <a:prstGeom prst="rect">
            <a:avLst/>
          </a:prstGeom>
        </p:spPr>
      </p:pic>
      <p:sp>
        <p:nvSpPr>
          <p:cNvPr id="4" name="말풍선: 타원형 3">
            <a:extLst>
              <a:ext uri="{FF2B5EF4-FFF2-40B4-BE49-F238E27FC236}">
                <a16:creationId xmlns:a16="http://schemas.microsoft.com/office/drawing/2014/main" id="{4D7F1FF8-4CB4-73F0-58B6-AFC058217932}"/>
              </a:ext>
            </a:extLst>
          </p:cNvPr>
          <p:cNvSpPr/>
          <p:nvPr/>
        </p:nvSpPr>
        <p:spPr>
          <a:xfrm>
            <a:off x="6588224" y="612939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424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6" name="그림 5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EFE2ACE5-C08B-CBE6-DB06-7AF0468D75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261249"/>
            <a:ext cx="4758663" cy="321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498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2947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 : sdc,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sde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sdg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sdh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사용할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개의 디스크에 파티션을 설정한다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latin typeface="나눔바른고딕" panose="020B0603020101020101" pitchFamily="50" charset="-127"/>
              </a:rPr>
              <a:t>▶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: RAID 6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mdadm /dev/md6 --add /dev/sdc1 /dev/sde1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명령으로 추가한다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latin typeface="나눔바른고딕" panose="020B0603020101020101" pitchFamily="50" charset="-127"/>
              </a:rPr>
              <a:t>▶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 : RAID 10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은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mdadm /dev/md10 --add /dev/sdg1 /dev/sdh1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명령으로 추가한다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latin typeface="나눔바른고딕" panose="020B0603020101020101" pitchFamily="50" charset="-127"/>
              </a:rPr>
              <a:t>▶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 : /etc/mdadm/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mdadm.conf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파일도 편집하고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/etc/fstab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주석을 푼 후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재부팅한다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8EC0041-064A-D604-4A3E-DB790C78822C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428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7FAFC-5066-7153-B961-844EC3C59FE1}"/>
              </a:ext>
            </a:extLst>
          </p:cNvPr>
          <p:cNvSpPr/>
          <p:nvPr/>
        </p:nvSpPr>
        <p:spPr>
          <a:xfrm>
            <a:off x="1907641" y="908720"/>
            <a:ext cx="51122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6-7 </a:t>
            </a:r>
          </a:p>
        </p:txBody>
      </p:sp>
    </p:spTree>
    <p:extLst>
      <p:ext uri="{BB962C8B-B14F-4D97-AF65-F5344CB8AC3E}">
        <p14:creationId xmlns:p14="http://schemas.microsoft.com/office/powerpoint/2010/main" val="23462928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RAID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구성하는 명령은 다음과 같이 사용하자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algn="just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mdadm --create /dev/md0 --level =1 --raid-devices =2 /dev/sdb1 /dev/sdc1</a:t>
            </a:r>
          </a:p>
          <a:p>
            <a:pPr algn="just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mdadm --create /dev/md1 --level =1 --raid-devices =2 /dev/sdd1 /dev/sde1</a:t>
            </a:r>
          </a:p>
          <a:p>
            <a:pPr algn="just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mdadm --create /dev/md2 --level =1 --raid-devices =2 /dev/sdf1 /dev/sdg1</a:t>
            </a:r>
          </a:p>
          <a:p>
            <a:pPr algn="just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mdadm --create /dev/md3 --level =1 --raid-devices=2 /dev/sdh1 /dev/sdi1</a:t>
            </a:r>
          </a:p>
          <a:p>
            <a:pPr algn="just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mdadm --create /dev/md16 --level =6 --raid-devices=4 /dev/md0 /dev/md1 				/dev/md2 /dev/md3</a:t>
            </a:r>
          </a:p>
          <a:p>
            <a:pPr algn="just"/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 VMware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오른쪽의 하드디스크의 깜박거림이 멈출 때까지 몇 분간 기다린다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mkfs.ext4 /dev/md16</a:t>
            </a:r>
          </a:p>
          <a:p>
            <a:pPr algn="just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mkdir /raid16</a:t>
            </a:r>
          </a:p>
          <a:p>
            <a:pPr algn="just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mount /dev/md16 /raid16</a:t>
            </a:r>
          </a:p>
          <a:p>
            <a:pPr algn="just"/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 : </a:t>
            </a:r>
            <a:r>
              <a:rPr lang="en-US" altLang="ko-KR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mdadm.conf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및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fstab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파일도 수정해야 한다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8EC0041-064A-D604-4A3E-DB790C78822C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428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7FAFC-5066-7153-B961-844EC3C59FE1}"/>
              </a:ext>
            </a:extLst>
          </p:cNvPr>
          <p:cNvSpPr/>
          <p:nvPr/>
        </p:nvSpPr>
        <p:spPr>
          <a:xfrm>
            <a:off x="1907641" y="908720"/>
            <a:ext cx="51122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6-8 </a:t>
            </a:r>
          </a:p>
        </p:txBody>
      </p:sp>
    </p:spTree>
    <p:extLst>
      <p:ext uri="{BB962C8B-B14F-4D97-AF65-F5344CB8AC3E}">
        <p14:creationId xmlns:p14="http://schemas.microsoft.com/office/powerpoint/2010/main" val="346387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2800" dirty="0"/>
              <a:t> LVM </a:t>
            </a:r>
            <a:r>
              <a:rPr lang="ko-KR" altLang="en-US" sz="2800" dirty="0"/>
              <a:t>개념</a:t>
            </a:r>
            <a:r>
              <a:rPr lang="en-US" altLang="ko-KR" sz="2800" dirty="0"/>
              <a:t>(1)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LVM(Logical Volume Manage) </a:t>
            </a:r>
            <a:r>
              <a:rPr lang="ko-KR" altLang="en-US" dirty="0"/>
              <a:t>개념 이해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dirty="0"/>
              <a:t>LVM </a:t>
            </a:r>
            <a:r>
              <a:rPr lang="ko-KR" altLang="en-US" dirty="0"/>
              <a:t>주요 기능</a:t>
            </a:r>
            <a:endParaRPr lang="en-US" altLang="ko-KR" dirty="0"/>
          </a:p>
          <a:p>
            <a:pPr lvl="2" eaLnBrk="1" hangingPunct="1">
              <a:defRPr/>
            </a:pPr>
            <a:r>
              <a:rPr lang="ko-KR" altLang="en-US" sz="1800" dirty="0">
                <a:solidFill>
                  <a:srgbClr val="0070C0"/>
                </a:solidFill>
              </a:rPr>
              <a:t>여러 개의 하드디스크를 합쳐서 한 개의 파일시스템으로 사용하는 것으로 필요에 따라서 다시 나눌 수 있다</a:t>
            </a:r>
            <a:r>
              <a:rPr lang="en-US" altLang="ko-KR" sz="1800" dirty="0">
                <a:solidFill>
                  <a:srgbClr val="0070C0"/>
                </a:solidFill>
              </a:rPr>
              <a:t>.</a:t>
            </a:r>
          </a:p>
          <a:p>
            <a:pPr lvl="2" eaLnBrk="1" hangingPunct="1">
              <a:defRPr/>
            </a:pPr>
            <a:r>
              <a:rPr lang="ko-KR" altLang="en-US" sz="1800" dirty="0">
                <a:solidFill>
                  <a:srgbClr val="0070C0"/>
                </a:solidFill>
              </a:rPr>
              <a:t>예로 </a:t>
            </a:r>
            <a:r>
              <a:rPr lang="en-US" altLang="ko-KR" sz="1800" dirty="0">
                <a:solidFill>
                  <a:srgbClr val="0070C0"/>
                </a:solidFill>
              </a:rPr>
              <a:t>2TB </a:t>
            </a:r>
            <a:r>
              <a:rPr lang="ko-KR" altLang="en-US" sz="1800" dirty="0">
                <a:solidFill>
                  <a:srgbClr val="0070C0"/>
                </a:solidFill>
              </a:rPr>
              <a:t>용량의 하드디스크 </a:t>
            </a:r>
            <a:r>
              <a:rPr lang="en-US" altLang="ko-KR" sz="1800" dirty="0">
                <a:solidFill>
                  <a:srgbClr val="0070C0"/>
                </a:solidFill>
              </a:rPr>
              <a:t>2</a:t>
            </a:r>
            <a:r>
              <a:rPr lang="ko-KR" altLang="en-US" sz="1800" dirty="0">
                <a:solidFill>
                  <a:srgbClr val="0070C0"/>
                </a:solidFill>
              </a:rPr>
              <a:t>개를 합친 후에 다시 </a:t>
            </a:r>
            <a:r>
              <a:rPr lang="en-US" altLang="ko-KR" sz="1800" dirty="0">
                <a:solidFill>
                  <a:srgbClr val="0070C0"/>
                </a:solidFill>
              </a:rPr>
              <a:t>1TB</a:t>
            </a:r>
            <a:r>
              <a:rPr lang="ko-KR" altLang="en-US" sz="1800" dirty="0">
                <a:solidFill>
                  <a:srgbClr val="0070C0"/>
                </a:solidFill>
              </a:rPr>
              <a:t>와 </a:t>
            </a:r>
            <a:r>
              <a:rPr lang="en-US" altLang="ko-KR" sz="1800" dirty="0">
                <a:solidFill>
                  <a:srgbClr val="0070C0"/>
                </a:solidFill>
              </a:rPr>
              <a:t>3TB</a:t>
            </a:r>
            <a:r>
              <a:rPr lang="ko-KR" altLang="en-US" sz="1800" dirty="0">
                <a:solidFill>
                  <a:srgbClr val="0070C0"/>
                </a:solidFill>
              </a:rPr>
              <a:t>로 나눠서 사용할 수 있다</a:t>
            </a:r>
            <a:r>
              <a:rPr lang="en-US" altLang="ko-KR" sz="1800" dirty="0">
                <a:solidFill>
                  <a:srgbClr val="0070C0"/>
                </a:solidFill>
              </a:rPr>
              <a:t>.</a:t>
            </a:r>
          </a:p>
          <a:p>
            <a:pPr lvl="2" eaLnBrk="1" hangingPunct="1">
              <a:defRPr/>
            </a:pPr>
            <a:endParaRPr lang="en-US" altLang="ko-KR" sz="1800" dirty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ko-KR" altLang="en-US" dirty="0"/>
              <a:t>용어</a:t>
            </a:r>
          </a:p>
          <a:p>
            <a:pPr lvl="2" eaLnBrk="1" hangingPunct="1"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Physical Volume(</a:t>
            </a:r>
            <a:r>
              <a:rPr lang="ko-KR" altLang="en-US" sz="1800" dirty="0">
                <a:solidFill>
                  <a:srgbClr val="0070C0"/>
                </a:solidFill>
              </a:rPr>
              <a:t>물리 볼륨</a:t>
            </a:r>
            <a:r>
              <a:rPr lang="en-US" altLang="ko-KR" sz="1800" dirty="0">
                <a:solidFill>
                  <a:srgbClr val="0070C0"/>
                </a:solidFill>
              </a:rPr>
              <a:t>) : /dev/sda1, /dev/sdb1</a:t>
            </a:r>
            <a:r>
              <a:rPr lang="ko-KR" altLang="en-US" sz="1800" dirty="0">
                <a:solidFill>
                  <a:srgbClr val="0070C0"/>
                </a:solidFill>
              </a:rPr>
              <a:t> 등의 파티션</a:t>
            </a:r>
            <a:endParaRPr lang="en-US" altLang="ko-KR" sz="1800" dirty="0">
              <a:solidFill>
                <a:srgbClr val="0070C0"/>
              </a:solidFill>
            </a:endParaRPr>
          </a:p>
          <a:p>
            <a:pPr lvl="2" eaLnBrk="1" hangingPunct="1"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Volume Group(</a:t>
            </a:r>
            <a:r>
              <a:rPr lang="ko-KR" altLang="en-US" sz="1800" dirty="0">
                <a:solidFill>
                  <a:srgbClr val="0070C0"/>
                </a:solidFill>
              </a:rPr>
              <a:t>볼륨 그룹</a:t>
            </a:r>
            <a:r>
              <a:rPr lang="en-US" altLang="ko-KR" sz="1800" dirty="0">
                <a:solidFill>
                  <a:srgbClr val="0070C0"/>
                </a:solidFill>
              </a:rPr>
              <a:t>) : </a:t>
            </a:r>
            <a:r>
              <a:rPr lang="ko-KR" altLang="en-US" sz="1800" dirty="0">
                <a:solidFill>
                  <a:srgbClr val="0070C0"/>
                </a:solidFill>
              </a:rPr>
              <a:t>물리 볼륨을 합쳐서 </a:t>
            </a:r>
            <a:r>
              <a:rPr lang="en-US" altLang="ko-KR" sz="1800" dirty="0">
                <a:solidFill>
                  <a:srgbClr val="0070C0"/>
                </a:solidFill>
              </a:rPr>
              <a:t>1</a:t>
            </a:r>
            <a:r>
              <a:rPr lang="ko-KR" altLang="en-US" sz="1800" dirty="0">
                <a:solidFill>
                  <a:srgbClr val="0070C0"/>
                </a:solidFill>
              </a:rPr>
              <a:t>개의 물리 그룹으로 만드는 것</a:t>
            </a:r>
          </a:p>
          <a:p>
            <a:pPr lvl="2" eaLnBrk="1" hangingPunct="1">
              <a:defRPr/>
            </a:pPr>
            <a:r>
              <a:rPr lang="en-US" altLang="ko-KR" sz="1800" dirty="0">
                <a:solidFill>
                  <a:srgbClr val="0070C0"/>
                </a:solidFill>
              </a:rPr>
              <a:t>Logical Volume(</a:t>
            </a:r>
            <a:r>
              <a:rPr lang="ko-KR" altLang="en-US" sz="1800" dirty="0">
                <a:solidFill>
                  <a:srgbClr val="0070C0"/>
                </a:solidFill>
              </a:rPr>
              <a:t>논리 볼륨</a:t>
            </a:r>
            <a:r>
              <a:rPr lang="en-US" altLang="ko-KR" sz="1800" dirty="0">
                <a:solidFill>
                  <a:srgbClr val="0070C0"/>
                </a:solidFill>
              </a:rPr>
              <a:t>) : </a:t>
            </a:r>
            <a:r>
              <a:rPr lang="ko-KR" altLang="en-US" sz="1800" dirty="0">
                <a:solidFill>
                  <a:srgbClr val="0070C0"/>
                </a:solidFill>
              </a:rPr>
              <a:t>볼륨 그룹을 </a:t>
            </a:r>
            <a:r>
              <a:rPr lang="en-US" altLang="ko-KR" sz="1800" dirty="0">
                <a:solidFill>
                  <a:srgbClr val="0070C0"/>
                </a:solidFill>
              </a:rPr>
              <a:t>1</a:t>
            </a:r>
            <a:r>
              <a:rPr lang="ko-KR" altLang="en-US" sz="1800" dirty="0">
                <a:solidFill>
                  <a:srgbClr val="0070C0"/>
                </a:solidFill>
              </a:rPr>
              <a:t>개 이상으로 나눠서 논리 그룹으로 나눈 것</a:t>
            </a:r>
            <a:endParaRPr lang="en-US" altLang="ko-KR" sz="1800" dirty="0">
              <a:solidFill>
                <a:srgbClr val="0070C0"/>
              </a:solidFill>
            </a:endParaRP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57959088-5E36-BC94-4A70-4201EDE8D9B1}"/>
              </a:ext>
            </a:extLst>
          </p:cNvPr>
          <p:cNvSpPr/>
          <p:nvPr/>
        </p:nvSpPr>
        <p:spPr>
          <a:xfrm>
            <a:off x="3059832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430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7646001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sz="2800" dirty="0"/>
              <a:t> LVM </a:t>
            </a:r>
            <a:r>
              <a:rPr lang="ko-KR" altLang="en-US" sz="2800" dirty="0"/>
              <a:t>개념</a:t>
            </a:r>
            <a:r>
              <a:rPr lang="en-US" altLang="ko-KR" sz="2800" dirty="0"/>
              <a:t>(2)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/>
              <a:t>LVM</a:t>
            </a:r>
            <a:r>
              <a:rPr lang="ko-KR" altLang="en-US" dirty="0"/>
              <a:t>을 구현하기 위해 디스크 </a:t>
            </a:r>
            <a:r>
              <a:rPr lang="en-US" altLang="ko-KR" dirty="0"/>
              <a:t>2</a:t>
            </a:r>
            <a:r>
              <a:rPr lang="ko-KR" altLang="en-US" dirty="0"/>
              <a:t>개를 추가한 구성도</a:t>
            </a:r>
            <a:endParaRPr lang="en-US" altLang="ko-KR" sz="16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8C9AA16-3D6F-E41F-8ED7-F82B5DA3DE5F}"/>
              </a:ext>
            </a:extLst>
          </p:cNvPr>
          <p:cNvSpPr/>
          <p:nvPr/>
        </p:nvSpPr>
        <p:spPr>
          <a:xfrm>
            <a:off x="3059832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430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09D997-C58D-2D5F-13F5-22E73284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204864"/>
            <a:ext cx="5491703" cy="373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8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0F726F-4068-43EA-9412-567ED9BD7976}"/>
              </a:ext>
            </a:extLst>
          </p:cNvPr>
          <p:cNvSpPr txBox="1">
            <a:spLocks/>
          </p:cNvSpPr>
          <p:nvPr/>
        </p:nvSpPr>
        <p:spPr bwMode="auto">
          <a:xfrm>
            <a:off x="773341" y="71437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10&gt; LVM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구성</a:t>
            </a:r>
          </a:p>
        </p:txBody>
      </p:sp>
      <p:pic>
        <p:nvPicPr>
          <p:cNvPr id="4" name="그림 3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76C1D088-58AC-4CF0-AE96-5407C52A91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43798"/>
            <a:ext cx="756709" cy="742276"/>
          </a:xfrm>
          <a:prstGeom prst="rect">
            <a:avLst/>
          </a:prstGeom>
        </p:spPr>
      </p:pic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sz="2000" dirty="0"/>
              <a:t>LVM</a:t>
            </a:r>
            <a:r>
              <a:rPr lang="ko-KR" altLang="en-US" sz="2000" dirty="0"/>
              <a:t>을 구현한다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관련 명령어 </a:t>
            </a:r>
            <a:r>
              <a:rPr lang="en-US" altLang="ko-KR" sz="2000" dirty="0" err="1"/>
              <a:t>pvcreate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vgcreate</a:t>
            </a:r>
            <a:r>
              <a:rPr lang="en-US" altLang="ko-KR" sz="2000" dirty="0"/>
              <a:t>, lvcreate </a:t>
            </a:r>
            <a:r>
              <a:rPr lang="ko-KR" altLang="en-US" sz="2000" dirty="0"/>
              <a:t>를 익힌다</a:t>
            </a:r>
            <a:r>
              <a:rPr lang="en-US" altLang="ko-KR" sz="2000" dirty="0"/>
              <a:t>.</a:t>
            </a:r>
          </a:p>
          <a:p>
            <a:pPr eaLnBrk="1" hangingPunct="1">
              <a:defRPr/>
            </a:pPr>
            <a:r>
              <a:rPr lang="ko-KR" altLang="en-US" dirty="0"/>
              <a:t>실습 흐름도</a:t>
            </a:r>
          </a:p>
          <a:p>
            <a:pPr lvl="1" eaLnBrk="1" hangingPunct="1">
              <a:defRPr/>
            </a:pPr>
            <a:endParaRPr lang="en-US" altLang="ko-KR" dirty="0"/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7FB685B2-F663-36DD-471B-56FFA84D5D36}"/>
              </a:ext>
            </a:extLst>
          </p:cNvPr>
          <p:cNvSpPr/>
          <p:nvPr/>
        </p:nvSpPr>
        <p:spPr>
          <a:xfrm>
            <a:off x="404735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431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C5A4504-2D79-4186-B89C-D1778819D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2967298"/>
            <a:ext cx="6408312" cy="352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453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597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824A8F3E-9E4D-C8AE-4549-ABC8C9589F4C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436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AAEC47-9C77-9F9D-7E14-50B9F5BC8ECD}"/>
              </a:ext>
            </a:extLst>
          </p:cNvPr>
          <p:cNvSpPr/>
          <p:nvPr/>
        </p:nvSpPr>
        <p:spPr>
          <a:xfrm>
            <a:off x="1907641" y="908720"/>
            <a:ext cx="51122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6-9 </a:t>
            </a:r>
          </a:p>
        </p:txBody>
      </p:sp>
    </p:spTree>
    <p:extLst>
      <p:ext uri="{BB962C8B-B14F-4D97-AF65-F5344CB8AC3E}">
        <p14:creationId xmlns:p14="http://schemas.microsoft.com/office/powerpoint/2010/main" val="2070788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사용자별 공간 할당하기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214937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쿼터</a:t>
            </a:r>
            <a:r>
              <a:rPr lang="en-US" altLang="ko-KR" dirty="0"/>
              <a:t>(Quota) </a:t>
            </a:r>
            <a:r>
              <a:rPr lang="ko-KR" altLang="en-US" dirty="0"/>
              <a:t>개념</a:t>
            </a:r>
            <a:endParaRPr lang="en-US" altLang="ko-KR" dirty="0"/>
          </a:p>
          <a:p>
            <a:pPr lvl="1">
              <a:defRPr/>
            </a:pPr>
            <a:r>
              <a:rPr lang="ko-KR" altLang="en-US" sz="2000" dirty="0"/>
              <a:t>파일시스템마다 사용자나 그룹이 생성할 수 있는 파일의 용량 및 개수를 제한하는 것</a:t>
            </a: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파일시스템을 “</a:t>
            </a:r>
            <a:r>
              <a:rPr lang="en-US" altLang="ko-KR" sz="2000" dirty="0"/>
              <a:t>/”</a:t>
            </a:r>
            <a:r>
              <a:rPr lang="ko-KR" altLang="en-US" sz="2000" dirty="0"/>
              <a:t>로 지정하는 것보다는</a:t>
            </a:r>
            <a:r>
              <a:rPr lang="en-US" altLang="ko-KR" sz="2000" dirty="0"/>
              <a:t>, </a:t>
            </a:r>
            <a:r>
              <a:rPr lang="ko-KR" altLang="en-US" sz="2000" dirty="0"/>
              <a:t>별도의 파일시스템을 지정해서 해당 부분을 쓰도록 하는 것이 좋음</a:t>
            </a:r>
            <a:endParaRPr lang="en-US" altLang="ko-KR" sz="2000" dirty="0"/>
          </a:p>
          <a:p>
            <a:pPr lvl="1">
              <a:defRPr/>
            </a:pPr>
            <a:endParaRPr lang="en-US" altLang="ko-KR" sz="2000" dirty="0"/>
          </a:p>
          <a:p>
            <a:pPr lvl="1">
              <a:defRPr/>
            </a:pPr>
            <a:r>
              <a:rPr lang="en-US" altLang="ko-KR" sz="2000" dirty="0"/>
              <a:t>“/”</a:t>
            </a:r>
            <a:r>
              <a:rPr lang="ko-KR" altLang="en-US" sz="2000" dirty="0"/>
              <a:t>파일시스템을 많은 사용자가 동시에 사용하게 되면</a:t>
            </a:r>
            <a:r>
              <a:rPr lang="en-US" altLang="ko-KR" sz="2000" dirty="0"/>
              <a:t>, </a:t>
            </a:r>
            <a:r>
              <a:rPr lang="ko-KR" altLang="en-US" sz="2000" dirty="0"/>
              <a:t>우분투</a:t>
            </a:r>
            <a:r>
              <a:rPr lang="en-US" altLang="ko-KR" sz="2000" dirty="0"/>
              <a:t> </a:t>
            </a:r>
            <a:r>
              <a:rPr lang="ko-KR" altLang="en-US" sz="2000" dirty="0"/>
              <a:t>서버를 운영하기 위해서 디스크를 읽고 쓰는 작업과 일반 사용자가 디스크를 읽고 쓰는 작업이 동시에 발생하므로 전반적으로 시스템의 성능이 저하됨</a:t>
            </a:r>
            <a:endParaRPr lang="en-US" altLang="ko-KR" sz="48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C4CCA038-256B-75EE-DE38-6AF0CB27F3E1}"/>
              </a:ext>
            </a:extLst>
          </p:cNvPr>
          <p:cNvSpPr/>
          <p:nvPr/>
        </p:nvSpPr>
        <p:spPr>
          <a:xfrm>
            <a:off x="4716016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436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6657282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C0B8E-C257-4B90-B0F8-D35510927655}"/>
              </a:ext>
            </a:extLst>
          </p:cNvPr>
          <p:cNvSpPr txBox="1">
            <a:spLocks/>
          </p:cNvSpPr>
          <p:nvPr/>
        </p:nvSpPr>
        <p:spPr bwMode="auto">
          <a:xfrm>
            <a:off x="773341" y="714376"/>
            <a:ext cx="8075240" cy="64293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 eaLnBrk="1" hangingPunct="1">
              <a:defRPr/>
            </a:pP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&lt;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실습</a:t>
            </a:r>
            <a:r>
              <a:rPr kumimoji="0" lang="en-US" altLang="ko-KR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11&gt; </a:t>
            </a:r>
            <a:r>
              <a:rPr kumimoji="0" lang="ko-KR" altLang="en-US" sz="2400" dirty="0">
                <a:solidFill>
                  <a:srgbClr val="FFC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쿼터 실습</a:t>
            </a:r>
          </a:p>
        </p:txBody>
      </p:sp>
      <p:sp>
        <p:nvSpPr>
          <p:cNvPr id="19459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실습목표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sz="2000" dirty="0"/>
              <a:t>사용자를 만들고</a:t>
            </a:r>
            <a:r>
              <a:rPr lang="en-US" altLang="ko-KR" sz="2000" dirty="0"/>
              <a:t>, </a:t>
            </a:r>
            <a:r>
              <a:rPr lang="ko-KR" altLang="en-US" sz="2000" dirty="0"/>
              <a:t>해당 사용자에게 공간을 할당한다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r>
              <a:rPr lang="ko-KR" altLang="en-US" sz="2000" dirty="0"/>
              <a:t>쿼터의 설정 및 작동에 대해서 익힌다</a:t>
            </a:r>
            <a:r>
              <a:rPr lang="en-US" altLang="ko-KR" sz="2000" dirty="0"/>
              <a:t>.</a:t>
            </a:r>
          </a:p>
          <a:p>
            <a:pPr lvl="1"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r>
              <a:rPr lang="ko-KR" altLang="en-US" dirty="0"/>
              <a:t>실습 화면 </a:t>
            </a:r>
            <a:r>
              <a:rPr lang="en-US" altLang="ko-KR" dirty="0"/>
              <a:t>(</a:t>
            </a:r>
            <a:r>
              <a:rPr lang="ko-KR" altLang="en-US" dirty="0"/>
              <a:t>사용자별 사용량 확인</a:t>
            </a:r>
            <a:r>
              <a:rPr lang="en-US" altLang="ko-KR" dirty="0"/>
              <a:t>)</a:t>
            </a:r>
          </a:p>
          <a:p>
            <a:pPr lvl="2"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ko-KR" altLang="en-US" dirty="0"/>
          </a:p>
        </p:txBody>
      </p:sp>
      <p:pic>
        <p:nvPicPr>
          <p:cNvPr id="4" name="그림 3" descr="키보드, 컴퓨터이(가) 표시된 사진&#10;&#10;자동 생성된 설명">
            <a:extLst>
              <a:ext uri="{FF2B5EF4-FFF2-40B4-BE49-F238E27FC236}">
                <a16:creationId xmlns:a16="http://schemas.microsoft.com/office/drawing/2014/main" id="{42207DC5-6F17-4596-86EE-55E9EC7E1F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543798"/>
            <a:ext cx="756709" cy="742276"/>
          </a:xfrm>
          <a:prstGeom prst="rect">
            <a:avLst/>
          </a:prstGeom>
        </p:spPr>
      </p:pic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5A06D137-3E50-1D82-BE37-1E01AE972FD9}"/>
              </a:ext>
            </a:extLst>
          </p:cNvPr>
          <p:cNvSpPr/>
          <p:nvPr/>
        </p:nvSpPr>
        <p:spPr>
          <a:xfrm>
            <a:off x="3846744" y="625475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437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961421D4-DCFD-66F2-AEAB-36A629CB97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450666"/>
            <a:ext cx="6264696" cy="275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375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2132856"/>
            <a:ext cx="8496943" cy="597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▶ </a:t>
            </a:r>
            <a:r>
              <a:rPr lang="ko-KR" altLang="en-US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힌트 없음</a:t>
            </a:r>
            <a:r>
              <a:rPr lang="en-US" altLang="ko-KR" sz="2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CC5633C5-8117-46B8-33E0-418E10D2E14F}"/>
              </a:ext>
            </a:extLst>
          </p:cNvPr>
          <p:cNvSpPr/>
          <p:nvPr/>
        </p:nvSpPr>
        <p:spPr>
          <a:xfrm>
            <a:off x="6922453" y="764704"/>
            <a:ext cx="1049292" cy="410369"/>
          </a:xfrm>
          <a:prstGeom prst="wedgeEllipseCallout">
            <a:avLst>
              <a:gd name="adj1" fmla="val -49721"/>
              <a:gd name="adj2" fmla="val 6144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444</a:t>
            </a:r>
            <a:r>
              <a:rPr lang="ko-KR" altLang="en-US" sz="1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F5F0A8B-55E2-20DD-FB95-AFF68203B8B9}"/>
              </a:ext>
            </a:extLst>
          </p:cNvPr>
          <p:cNvSpPr/>
          <p:nvPr/>
        </p:nvSpPr>
        <p:spPr>
          <a:xfrm>
            <a:off x="1697648" y="908720"/>
            <a:ext cx="553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비타민 퀴즈 </a:t>
            </a:r>
            <a:r>
              <a:rPr lang="en-US" altLang="ko-KR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66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6-10 </a:t>
            </a:r>
          </a:p>
        </p:txBody>
      </p:sp>
    </p:spTree>
    <p:extLst>
      <p:ext uri="{BB962C8B-B14F-4D97-AF65-F5344CB8AC3E}">
        <p14:creationId xmlns:p14="http://schemas.microsoft.com/office/powerpoint/2010/main" val="6681575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2469</TotalTime>
  <Words>1653</Words>
  <Application>Microsoft Office PowerPoint</Application>
  <PresentationFormat>화면 슬라이드 쇼(4:3)</PresentationFormat>
  <Paragraphs>313</Paragraphs>
  <Slides>40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9" baseType="lpstr">
      <vt:lpstr>나눔스퀘어라운드 ExtraBold</vt:lpstr>
      <vt:lpstr>굴림</vt:lpstr>
      <vt:lpstr>Wingdings 2</vt:lpstr>
      <vt:lpstr>나눔스퀘어 ExtraBold</vt:lpstr>
      <vt:lpstr>나눔바른고딕</vt:lpstr>
      <vt:lpstr>나눔고딕 ExtraBold</vt:lpstr>
      <vt:lpstr>Trebuchet MS</vt:lpstr>
      <vt:lpstr>Georgia</vt:lpstr>
      <vt:lpstr>Urban</vt:lpstr>
      <vt:lpstr>PowerPoint 프레젠테이션</vt:lpstr>
      <vt:lpstr>SATA 장치와 SCSI 장치 구성 (1)</vt:lpstr>
      <vt:lpstr>SATA 장치와 SCSI 장치 구성 (2)</vt:lpstr>
      <vt:lpstr>디스크 추가하기 – 1개</vt:lpstr>
      <vt:lpstr>PowerPoint 프레젠테이션</vt:lpstr>
      <vt:lpstr>PowerPoint 프레젠테이션</vt:lpstr>
      <vt:lpstr>RAID 정의 및 개념 </vt:lpstr>
      <vt:lpstr>각 RAID방식의 비교</vt:lpstr>
      <vt:lpstr>Linear RAID와 RAID0</vt:lpstr>
      <vt:lpstr>RAID 1</vt:lpstr>
      <vt:lpstr>RAID 5 (1)</vt:lpstr>
      <vt:lpstr>RAID 5 (2)</vt:lpstr>
      <vt:lpstr>기타 RAID</vt:lpstr>
      <vt:lpstr>RAID0, RAID1, RAID5 구현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RAID 0, 1, 5 문제 발생 </vt:lpstr>
      <vt:lpstr>PowerPoint 프레젠테이션</vt:lpstr>
      <vt:lpstr>PowerPoint 프레젠테이션</vt:lpstr>
      <vt:lpstr>RAID 0, 1, 5 원상 복구</vt:lpstr>
      <vt:lpstr>PowerPoint 프레젠테이션</vt:lpstr>
      <vt:lpstr>PowerPoint 프레젠테이션</vt:lpstr>
      <vt:lpstr>RAID 6와 RAID 1+0 개념</vt:lpstr>
      <vt:lpstr>PowerPoint 프레젠테이션</vt:lpstr>
      <vt:lpstr>PowerPoint 프레젠테이션</vt:lpstr>
      <vt:lpstr>RAID 6와 RAID 1+0 의 문제 발생</vt:lpstr>
      <vt:lpstr>PowerPoint 프레젠테이션</vt:lpstr>
      <vt:lpstr>PowerPoint 프레젠테이션</vt:lpstr>
      <vt:lpstr>PowerPoint 프레젠테이션</vt:lpstr>
      <vt:lpstr> LVM 개념(1)</vt:lpstr>
      <vt:lpstr> LVM 개념(2)</vt:lpstr>
      <vt:lpstr>PowerPoint 프레젠테이션</vt:lpstr>
      <vt:lpstr>PowerPoint 프레젠테이션</vt:lpstr>
      <vt:lpstr>사용자별 공간 할당하기</vt:lpstr>
      <vt:lpstr>PowerPoint 프레젠테이션</vt:lpstr>
      <vt:lpstr>PowerPoint 프레젠테이션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124</cp:revision>
  <dcterms:created xsi:type="dcterms:W3CDTF">2007-02-12T03:01:34Z</dcterms:created>
  <dcterms:modified xsi:type="dcterms:W3CDTF">2024-11-13T02:21:58Z</dcterms:modified>
</cp:coreProperties>
</file>