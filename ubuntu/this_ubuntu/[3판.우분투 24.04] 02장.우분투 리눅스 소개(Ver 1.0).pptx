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256" r:id="rId2"/>
    <p:sldId id="264" r:id="rId3"/>
    <p:sldId id="265" r:id="rId4"/>
    <p:sldId id="266" r:id="rId5"/>
    <p:sldId id="267" r:id="rId6"/>
    <p:sldId id="268" r:id="rId7"/>
    <p:sldId id="260" r:id="rId8"/>
    <p:sldId id="261" r:id="rId9"/>
    <p:sldId id="262" r:id="rId10"/>
  </p:sldIdLst>
  <p:sldSz cx="9144000" cy="6858000" type="screen4x3"/>
  <p:notesSz cx="6858000" cy="9144000"/>
  <p:embeddedFontLst>
    <p:embeddedFont>
      <p:font typeface="나눔고딕 ExtraBold" panose="020D0904000000000000" pitchFamily="50" charset="-127"/>
      <p:bold r:id="rId13"/>
    </p:embeddedFont>
    <p:embeddedFont>
      <p:font typeface="나눔바른고딕" panose="020B0603020101020101" pitchFamily="50" charset="-127"/>
      <p:regular r:id="rId14"/>
      <p:bold r:id="rId15"/>
    </p:embeddedFont>
    <p:embeddedFont>
      <p:font typeface="나눔스퀘어 ExtraBold" panose="020B0600000101010101" pitchFamily="50" charset="-127"/>
      <p:bold r:id="rId16"/>
    </p:embeddedFont>
    <p:embeddedFont>
      <p:font typeface="나눔스퀘어라운드 ExtraBold" panose="020B0600000101010101" pitchFamily="50" charset="-127"/>
      <p:bold r:id="rId17"/>
    </p:embeddedFont>
    <p:embeddedFont>
      <p:font typeface="Georgia" panose="02040502050405020303" pitchFamily="18" charset="0"/>
      <p:regular r:id="rId18"/>
      <p:bold r:id="rId19"/>
      <p:italic r:id="rId20"/>
      <p:boldItalic r:id="rId21"/>
    </p:embeddedFont>
    <p:embeddedFont>
      <p:font typeface="Trebuchet MS" panose="020B0603020202020204" pitchFamily="34" charset="0"/>
      <p:regular r:id="rId22"/>
      <p:bold r:id="rId23"/>
      <p:italic r:id="rId24"/>
      <p:boldItalic r:id="rId25"/>
    </p:embeddedFont>
    <p:embeddedFont>
      <p:font typeface="Wingdings 2" panose="05020102010507070707" pitchFamily="18" charset="2"/>
      <p:regular r:id="rId26"/>
    </p:embeddedFont>
  </p:embeddedFontLst>
  <p:defaultTextStyle>
    <a:defPPr>
      <a:defRPr lang="en-US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99FF"/>
    <a:srgbClr val="FF7C80"/>
    <a:srgbClr val="FF9933"/>
    <a:srgbClr val="FF6600"/>
    <a:srgbClr val="CC66FF"/>
    <a:srgbClr val="9966FF"/>
    <a:srgbClr val="FF00FF"/>
    <a:srgbClr val="FFCC66"/>
    <a:srgbClr val="FFCC99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6" autoAdjust="0"/>
    <p:restoredTop sz="94660"/>
  </p:normalViewPr>
  <p:slideViewPr>
    <p:cSldViewPr>
      <p:cViewPr>
        <p:scale>
          <a:sx n="125" d="100"/>
          <a:sy n="125" d="100"/>
        </p:scale>
        <p:origin x="942" y="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3" d="100"/>
          <a:sy n="73" d="100"/>
        </p:scale>
        <p:origin x="2682" y="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3E24673C-6695-4338-BB03-1527ED3D44D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7DF4E72-3AA4-4775-9E94-2B847969C99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F5311B-5D78-499E-BD82-99044A3A2310}" type="datetimeFigureOut">
              <a:rPr lang="ko-KR" altLang="en-US" smtClean="0"/>
              <a:t>2024-10-26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978949C-1257-41BA-BE32-661D22C8D4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0C2EEA3-F82A-453E-B4CB-5CF791CE8C6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91374B-5E44-4691-8385-F83CA52C76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9006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9FE1E17-38D0-4764-A605-7BB07631345D}" type="datetimeFigureOut">
              <a:rPr lang="ko-KR" altLang="en-US"/>
              <a:pPr>
                <a:defRPr/>
              </a:pPr>
              <a:t>2024-10-26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950B175-50B7-496C-B63E-4B4F03E0721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3632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 panose="020B0603020101020101" pitchFamily="50" charset="-127"/>
        <a:ea typeface="나눔바른고딕" panose="020B060302010102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F2E5FF64-107C-C58A-6C47-B1DC6113D1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06634" y="845736"/>
            <a:ext cx="4815919" cy="516652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DB5C4FD-2B03-4A88-A582-AA7ACB7176C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743" y="6264745"/>
            <a:ext cx="1970191" cy="497239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BB051D0-15E5-40BC-B4C6-AB45FF616079}"/>
              </a:ext>
            </a:extLst>
          </p:cNvPr>
          <p:cNvSpPr/>
          <p:nvPr userDrawn="1"/>
        </p:nvSpPr>
        <p:spPr>
          <a:xfrm>
            <a:off x="475580" y="1309948"/>
            <a:ext cx="3196708" cy="954107"/>
          </a:xfrm>
          <a:prstGeom prst="rect">
            <a:avLst/>
          </a:prstGeom>
          <a:solidFill>
            <a:srgbClr val="00B0F0"/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02</a:t>
            </a:r>
            <a:r>
              <a:rPr lang="ko-KR" altLang="en-US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</a:t>
            </a:r>
            <a:r>
              <a:rPr lang="en-US" altLang="ko-KR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  <a:r>
              <a:rPr lang="ko-KR" altLang="en-US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우분투 리눅스 </a:t>
            </a:r>
            <a:endParaRPr lang="en-US" altLang="ko-KR" sz="2800" b="1" cap="none" spc="0" dirty="0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/>
            <a:r>
              <a:rPr lang="ko-KR" altLang="en-US" sz="2800" b="1" cap="none" spc="0" dirty="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소개</a:t>
            </a:r>
            <a:endParaRPr lang="en-US" altLang="ko-KR" sz="2800" b="1" cap="none" spc="0" dirty="0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952CC6D-270C-47EC-BC2A-75F4D0D165C2}"/>
              </a:ext>
            </a:extLst>
          </p:cNvPr>
          <p:cNvSpPr/>
          <p:nvPr userDrawn="1"/>
        </p:nvSpPr>
        <p:spPr>
          <a:xfrm>
            <a:off x="4536228" y="6264745"/>
            <a:ext cx="430829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altLang="ko-KR" sz="2000" b="1" cap="none" spc="0" dirty="0">
                <a:ln/>
                <a:solidFill>
                  <a:schemeClr val="tx1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https://cafe.naver.com/thisisLinux</a:t>
            </a:r>
          </a:p>
        </p:txBody>
      </p:sp>
      <p:sp>
        <p:nvSpPr>
          <p:cNvPr id="9" name="별: 꼭짓점 12개 8">
            <a:extLst>
              <a:ext uri="{FF2B5EF4-FFF2-40B4-BE49-F238E27FC236}">
                <a16:creationId xmlns:a16="http://schemas.microsoft.com/office/drawing/2014/main" id="{0E5C3A4F-295B-BE34-4140-0C39B81E2F61}"/>
              </a:ext>
            </a:extLst>
          </p:cNvPr>
          <p:cNvSpPr/>
          <p:nvPr userDrawn="1"/>
        </p:nvSpPr>
        <p:spPr>
          <a:xfrm>
            <a:off x="7020272" y="593255"/>
            <a:ext cx="1224136" cy="864096"/>
          </a:xfrm>
          <a:prstGeom prst="star12">
            <a:avLst/>
          </a:prstGeom>
          <a:solidFill>
            <a:srgbClr val="CC6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3</a:t>
            </a:r>
            <a:r>
              <a:rPr lang="ko-KR" altLang="en-US" sz="20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판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19C0829C-8AE1-5E32-FB03-DACDB463B5B6}"/>
              </a:ext>
            </a:extLst>
          </p:cNvPr>
          <p:cNvSpPr/>
          <p:nvPr userDrawn="1"/>
        </p:nvSpPr>
        <p:spPr>
          <a:xfrm>
            <a:off x="1088838" y="3645024"/>
            <a:ext cx="1970190" cy="1657849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n>
                  <a:noFill/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우분투 </a:t>
            </a:r>
            <a:r>
              <a:rPr lang="en-US" altLang="ko-KR" sz="2400" dirty="0">
                <a:ln>
                  <a:noFill/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24.04</a:t>
            </a:r>
          </a:p>
          <a:p>
            <a:pPr algn="ctr"/>
            <a:r>
              <a:rPr lang="en-US" altLang="ko-KR" sz="2400" dirty="0">
                <a:ln>
                  <a:noFill/>
                </a:ln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LTS</a:t>
            </a:r>
            <a:endParaRPr lang="ko-KR" altLang="en-US" sz="2400" dirty="0">
              <a:ln>
                <a:noFill/>
              </a:ln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9219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428625" y="6581775"/>
            <a:ext cx="235673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(3</a:t>
            </a:r>
            <a:r>
              <a:rPr kumimoji="0" lang="ko-KR" altLang="en-US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판</a:t>
            </a:r>
            <a:r>
              <a:rPr kumimoji="0" lang="en-US" altLang="ko-KR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) </a:t>
            </a:r>
            <a:r>
              <a:rPr kumimoji="0" lang="ko-KR" altLang="en-US" sz="1400" b="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이것이 우분투 리눅스다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285750" y="0"/>
            <a:ext cx="231986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02</a:t>
            </a:r>
            <a:r>
              <a:rPr kumimoji="0" lang="ko-KR" altLang="en-US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장</a:t>
            </a:r>
            <a:r>
              <a:rPr kumimoji="0" lang="en-US" altLang="ko-KR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. </a:t>
            </a:r>
            <a:r>
              <a:rPr kumimoji="0" lang="ko-KR" altLang="en-US" sz="1600" b="1" dirty="0">
                <a:solidFill>
                  <a:srgbClr val="FFFF0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우분투 리눅스 소개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8358188" y="6550025"/>
            <a:ext cx="79380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49AC353A-281A-4504-9FE1-662E9EF17D8A}" type="slidenum">
              <a:rPr lang="ko-KR" altLang="en-US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pPr eaLnBrk="1" hangingPunct="1"/>
              <a:t>‹#›</a:t>
            </a:fld>
            <a:r>
              <a:rPr lang="en-US" altLang="ko-KR" sz="14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/9</a:t>
            </a:r>
            <a:endParaRPr lang="ko-KR" altLang="en-US" sz="14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5508104" y="0"/>
            <a:ext cx="321453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400" b="1" dirty="0">
                <a:solidFill>
                  <a:schemeClr val="bg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https://cafe.naver.com/thisisLinux</a:t>
            </a:r>
            <a:endParaRPr lang="ko-KR" altLang="en-US" sz="1400" b="1" dirty="0">
              <a:solidFill>
                <a:schemeClr val="bg1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642918"/>
            <a:ext cx="8229600" cy="642942"/>
          </a:xfrm>
        </p:spPr>
        <p:txBody>
          <a:bodyPr>
            <a:normAutofit/>
          </a:bodyPr>
          <a:lstStyle>
            <a:lvl1pPr>
              <a:defRPr sz="3200"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5143536"/>
          </a:xfrm>
        </p:spPr>
        <p:txBody>
          <a:bodyPr>
            <a:normAutofit/>
          </a:bodyPr>
          <a:lstStyle>
            <a:lvl1pPr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sz="18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6444208" y="6548338"/>
            <a:ext cx="1711174" cy="307777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Ubuntu 24.04 LTS</a:t>
            </a:r>
            <a:endParaRPr lang="ko-KR" altLang="en-US" sz="1400" b="1" dirty="0">
              <a:solidFill>
                <a:schemeClr val="bg1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2463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70A40A-1095-4482-A81C-DE8D97CF4FAF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510668-C776-4DEF-90B9-7FD1E5FDC33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69769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D9E67D-5DA1-4729-B991-E4DA6144546D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994A34-7693-4DA8-87B2-5F89B278748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91498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/>
          <a:lstStyle>
            <a:lvl1pPr>
              <a:defRPr sz="4000" b="0" i="0" cap="none" baseline="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날짜 개체 틀 2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D4FCB4-DCC3-4812-BAA4-E89A66CCAA25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8" name="슬라이드 번호 개체 틀 2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17B28E1-79AC-48A3-9558-454E42DE4EDC}" type="slidenum">
              <a:rPr lang="en-US" altLang="ko-KR"/>
              <a:pPr/>
              <a:t>‹#›</a:t>
            </a:fld>
            <a:endParaRPr lang="en-US" altLang="ko-KR"/>
          </a:p>
        </p:txBody>
      </p:sp>
      <p:sp>
        <p:nvSpPr>
          <p:cNvPr id="9" name="바닥글 개체 틀 2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59397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6583363" y="612775"/>
            <a:ext cx="957262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101D40-AEA9-4F59-9273-3AE4BD34FFDA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EA269F-E158-42D9-816A-B30CB7545EE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75787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4D789F-1FA5-4F5C-A900-FE73EF265E54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375B4C-030A-4FCD-9864-787CE94FAE1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57792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6F9F45-433C-435F-9729-7CA4AF07A0F6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71BBA6-43EC-4C88-96A0-166A32778D2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36932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ko-KR" altLang="en-US" noProof="0"/>
              <a:t>그림을 추가하려면 아이콘을 클릭하십시오</a:t>
            </a:r>
            <a:endParaRPr 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6D0103-5A9F-48FB-917D-308A742FCF20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6FC6B0-8FED-4CA7-8A00-7E8567A752B7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27900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793685-C9C7-46A1-BE54-14BF41CEC4D6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59A1A9-6617-4B03-8D81-72B941360C69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85820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086E2D-11AA-4D7A-97B8-811672594385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AF3D2F-599A-49E6-9281-C2BD50F5B85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10843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/>
          <p:cNvSpPr/>
          <p:nvPr/>
        </p:nvSpPr>
        <p:spPr>
          <a:xfrm>
            <a:off x="0" y="366713"/>
            <a:ext cx="9144000" cy="84137"/>
          </a:xfrm>
          <a:prstGeom prst="rect">
            <a:avLst/>
          </a:prstGeom>
          <a:solidFill>
            <a:schemeClr val="accent6">
              <a:lumMod val="60000"/>
              <a:lumOff val="40000"/>
              <a:alpha val="49804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0" y="0"/>
            <a:ext cx="9144000" cy="3111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 dirty="0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0" y="307975"/>
            <a:ext cx="9144000" cy="920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31" name="직사각형 30"/>
          <p:cNvSpPr/>
          <p:nvPr/>
        </p:nvSpPr>
        <p:spPr>
          <a:xfrm flipV="1">
            <a:off x="5410200" y="360363"/>
            <a:ext cx="3733800" cy="90487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32" name="직사각형 31"/>
          <p:cNvSpPr/>
          <p:nvPr/>
        </p:nvSpPr>
        <p:spPr>
          <a:xfrm flipV="1">
            <a:off x="5410200" y="439738"/>
            <a:ext cx="3733800" cy="180975"/>
          </a:xfrm>
          <a:prstGeom prst="rect">
            <a:avLst/>
          </a:prstGeom>
          <a:solidFill>
            <a:schemeClr val="accent3">
              <a:lumMod val="20000"/>
              <a:lumOff val="80000"/>
              <a:alpha val="49804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>
              <a:solidFill>
                <a:srgbClr val="FFFFFF"/>
              </a:solidFill>
              <a:ea typeface="굴림" pitchFamily="50" charset="-127"/>
            </a:endParaRPr>
          </a:p>
        </p:txBody>
      </p:sp>
      <p:sp useBgFill="1">
        <p:nvSpPr>
          <p:cNvPr id="33" name="모서리가 둥근 직사각형 32"/>
          <p:cNvSpPr/>
          <p:nvPr/>
        </p:nvSpPr>
        <p:spPr bwMode="white">
          <a:xfrm>
            <a:off x="5407025" y="496888"/>
            <a:ext cx="3063875" cy="28575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>
              <a:solidFill>
                <a:srgbClr val="FFFFFF"/>
              </a:solidFill>
              <a:ea typeface="굴림" pitchFamily="50" charset="-127"/>
            </a:endParaRPr>
          </a:p>
        </p:txBody>
      </p:sp>
      <p:sp useBgFill="1">
        <p:nvSpPr>
          <p:cNvPr id="34" name="모서리가 둥근 직사각형 33"/>
          <p:cNvSpPr/>
          <p:nvPr/>
        </p:nvSpPr>
        <p:spPr bwMode="white">
          <a:xfrm>
            <a:off x="7373938" y="588963"/>
            <a:ext cx="1600200" cy="3651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35" name="직사각형 34"/>
          <p:cNvSpPr/>
          <p:nvPr/>
        </p:nvSpPr>
        <p:spPr bwMode="invGray">
          <a:xfrm>
            <a:off x="9085263" y="-1588"/>
            <a:ext cx="57150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36" name="직사각형 35"/>
          <p:cNvSpPr/>
          <p:nvPr/>
        </p:nvSpPr>
        <p:spPr bwMode="invGray">
          <a:xfrm>
            <a:off x="9043988" y="-1588"/>
            <a:ext cx="28575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37" name="직사각형 36"/>
          <p:cNvSpPr/>
          <p:nvPr/>
        </p:nvSpPr>
        <p:spPr bwMode="invGray">
          <a:xfrm>
            <a:off x="9024938" y="-1588"/>
            <a:ext cx="9525" cy="620713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38" name="직사각형 37"/>
          <p:cNvSpPr/>
          <p:nvPr/>
        </p:nvSpPr>
        <p:spPr bwMode="invGray">
          <a:xfrm>
            <a:off x="8975725" y="-1588"/>
            <a:ext cx="26988" cy="620713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39" name="직사각형 38"/>
          <p:cNvSpPr/>
          <p:nvPr/>
        </p:nvSpPr>
        <p:spPr bwMode="invGray">
          <a:xfrm>
            <a:off x="8915400" y="0"/>
            <a:ext cx="55563" cy="585788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40" name="직사각형 39"/>
          <p:cNvSpPr/>
          <p:nvPr/>
        </p:nvSpPr>
        <p:spPr bwMode="invGray">
          <a:xfrm>
            <a:off x="8874125" y="0"/>
            <a:ext cx="7938" cy="585788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endParaRPr kumimoji="0" lang="en-US" altLang="ko-KR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1039" name="제목 개체 틀 21"/>
          <p:cNvSpPr>
            <a:spLocks noGrp="1"/>
          </p:cNvSpPr>
          <p:nvPr>
            <p:ph type="title"/>
          </p:nvPr>
        </p:nvSpPr>
        <p:spPr bwMode="auto"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40" name="텍스트 개체 틀 12"/>
          <p:cNvSpPr>
            <a:spLocks noGrp="1"/>
          </p:cNvSpPr>
          <p:nvPr>
            <p:ph type="body" idx="1"/>
          </p:nvPr>
        </p:nvSpPr>
        <p:spPr bwMode="auto">
          <a:xfrm>
            <a:off x="457200" y="2249488"/>
            <a:ext cx="8229600" cy="432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4" name="날짜 개체 틀 13"/>
          <p:cNvSpPr>
            <a:spLocks noGrp="1"/>
          </p:cNvSpPr>
          <p:nvPr>
            <p:ph type="dt" sz="half" idx="2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latinLnBrk="0">
              <a:defRPr kumimoji="0" sz="800">
                <a:solidFill>
                  <a:schemeClr val="accent2"/>
                </a:solidFill>
                <a:latin typeface="Georgia" pitchFamily="18" charset="0"/>
              </a:defRPr>
            </a:lvl1pPr>
          </a:lstStyle>
          <a:p>
            <a:pPr>
              <a:defRPr/>
            </a:pPr>
            <a:fld id="{04372308-AE4D-4F5B-A5F4-8D5BDCABB86D}" type="datetimeFigureOut">
              <a:rPr lang="en-US" altLang="ko-KR"/>
              <a:pPr>
                <a:defRPr/>
              </a:pPr>
              <a:t>10/26/2024</a:t>
            </a:fld>
            <a:endParaRPr lang="en-US" altLang="ko-KR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latinLnBrk="0">
              <a:defRPr kumimoji="0" sz="800">
                <a:solidFill>
                  <a:schemeClr val="accent2"/>
                </a:solidFill>
                <a:latin typeface="Georgia" pitchFamily="18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8174038" y="1588"/>
            <a:ext cx="762000" cy="3667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latinLnBrk="0">
              <a:defRPr kumimoji="0">
                <a:solidFill>
                  <a:srgbClr val="FFFFFF"/>
                </a:solidFill>
                <a:latin typeface="Georgia" panose="02040502050405020303" pitchFamily="18" charset="0"/>
              </a:defRPr>
            </a:lvl1pPr>
          </a:lstStyle>
          <a:p>
            <a:fld id="{80EA332E-FF14-428F-B02F-D0E6231A0C16}" type="slidenum">
              <a:rPr lang="en-US" altLang="ko-KR"/>
              <a:pPr/>
              <a:t>‹#›</a:t>
            </a:fld>
            <a:endParaRPr lang="en-US" altLang="ko-KR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나눔바른고딕" panose="020B0603020101020101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5pPr>
      <a:lvl6pPr marL="4572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6pPr>
      <a:lvl7pPr marL="9144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9pPr>
    </p:titleStyle>
    <p:bodyStyle>
      <a:lvl1pPr marL="365125" indent="-255588" algn="l" rtl="0" eaLnBrk="0" fontAlgn="base" latinLnBrk="1" hangingPunct="0">
        <a:spcBef>
          <a:spcPts val="300"/>
        </a:spcBef>
        <a:spcAft>
          <a:spcPct val="0"/>
        </a:spcAft>
        <a:buClr>
          <a:srgbClr val="A04DA3"/>
        </a:buClr>
        <a:buFont typeface="Georgia" panose="02040502050405020303" pitchFamily="18" charset="0"/>
        <a:buChar char="•"/>
        <a:defRPr sz="2800" kern="1200">
          <a:solidFill>
            <a:schemeClr val="tx1"/>
          </a:solidFill>
          <a:latin typeface="+mn-lt"/>
          <a:ea typeface="나눔바른고딕" panose="020B0603020101020101" pitchFamily="50" charset="-127"/>
          <a:cs typeface="+mn-cs"/>
        </a:defRPr>
      </a:lvl1pPr>
      <a:lvl2pPr marL="657225" indent="-246063" algn="l" rtl="0" eaLnBrk="0" fontAlgn="base" latinLnBrk="1" hangingPunct="0">
        <a:spcBef>
          <a:spcPts val="300"/>
        </a:spcBef>
        <a:spcAft>
          <a:spcPct val="0"/>
        </a:spcAft>
        <a:buClr>
          <a:schemeClr val="accent2"/>
        </a:buClr>
        <a:buFont typeface="Georgia" panose="02040502050405020303" pitchFamily="18" charset="0"/>
        <a:buChar char="▫"/>
        <a:defRPr sz="2600" kern="1200">
          <a:solidFill>
            <a:schemeClr val="accent2"/>
          </a:solidFill>
          <a:latin typeface="+mn-lt"/>
          <a:ea typeface="나눔바른고딕" panose="020B0603020101020101" pitchFamily="50" charset="-127"/>
          <a:cs typeface="+mn-cs"/>
        </a:defRPr>
      </a:lvl2pPr>
      <a:lvl3pPr marL="922338" indent="-219075" algn="l" rtl="0" eaLnBrk="0" fontAlgn="base" latinLnBrk="1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400" kern="1200">
          <a:solidFill>
            <a:schemeClr val="accent1"/>
          </a:solidFill>
          <a:latin typeface="+mn-lt"/>
          <a:ea typeface="나눔바른고딕" panose="020B0603020101020101" pitchFamily="50" charset="-127"/>
          <a:cs typeface="+mn-cs"/>
        </a:defRPr>
      </a:lvl3pPr>
      <a:lvl4pPr marL="1179513" indent="-200025" algn="l" rtl="0" eaLnBrk="0" fontAlgn="base" latinLnBrk="1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200" kern="1200">
          <a:solidFill>
            <a:schemeClr val="accent1"/>
          </a:solidFill>
          <a:latin typeface="+mn-lt"/>
          <a:ea typeface="나눔바른고딕" panose="020B0603020101020101" pitchFamily="50" charset="-127"/>
          <a:cs typeface="+mn-cs"/>
        </a:defRPr>
      </a:lvl4pPr>
      <a:lvl5pPr marL="1389063" indent="-182563" algn="l" rtl="0" eaLnBrk="0" fontAlgn="base" latinLnBrk="1" hangingPunct="0">
        <a:spcBef>
          <a:spcPts val="300"/>
        </a:spcBef>
        <a:spcAft>
          <a:spcPct val="0"/>
        </a:spcAft>
        <a:buClr>
          <a:srgbClr val="A04DA3"/>
        </a:buClr>
        <a:buFont typeface="Georgia" panose="02040502050405020303" pitchFamily="18" charset="0"/>
        <a:buChar char="▫"/>
        <a:defRPr sz="2000" kern="1200">
          <a:solidFill>
            <a:srgbClr val="A04DA3"/>
          </a:solidFill>
          <a:latin typeface="+mn-lt"/>
          <a:ea typeface="나눔바른고딕" panose="020B0603020101020101" pitchFamily="50" charset="-127"/>
          <a:cs typeface="+mn-cs"/>
        </a:defRPr>
      </a:lvl5pPr>
      <a:lvl6pPr marL="1609344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1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>
                <a:latin typeface="나눔바른고딕" panose="020B0603020101020101" pitchFamily="50" charset="-127"/>
              </a:rPr>
              <a:t>리눅스의 개요</a:t>
            </a:r>
            <a:r>
              <a:rPr lang="en-US" altLang="ko-KR" sz="2800" dirty="0">
                <a:latin typeface="나눔바른고딕" panose="020B0603020101020101" pitchFamily="50" charset="-127"/>
              </a:rPr>
              <a:t>  </a:t>
            </a:r>
            <a:endParaRPr lang="ko-KR" altLang="en-US" sz="2800" dirty="0">
              <a:solidFill>
                <a:srgbClr val="00B050"/>
              </a:solidFill>
              <a:latin typeface="나눔바른고딕" panose="020B0603020101020101" pitchFamily="50" charset="-127"/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4714875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>
                <a:latin typeface="나눔바른고딕" panose="020B0603020101020101" pitchFamily="50" charset="-127"/>
              </a:rPr>
              <a:t>리눅스 </a:t>
            </a:r>
            <a:r>
              <a:rPr lang="en-US" altLang="ko-KR" dirty="0">
                <a:latin typeface="나눔바른고딕" panose="020B0603020101020101" pitchFamily="50" charset="-127"/>
              </a:rPr>
              <a:t>= </a:t>
            </a:r>
            <a:r>
              <a:rPr lang="ko-KR" altLang="en-US" dirty="0">
                <a:latin typeface="나눔바른고딕" panose="020B0603020101020101" pitchFamily="50" charset="-127"/>
              </a:rPr>
              <a:t>무료 유닉스</a:t>
            </a:r>
            <a:endParaRPr lang="en-US" altLang="ko-KR" dirty="0">
              <a:latin typeface="나눔바른고딕" panose="020B0603020101020101" pitchFamily="50" charset="-127"/>
            </a:endParaRPr>
          </a:p>
          <a:p>
            <a:pPr eaLnBrk="1" hangingPunct="1">
              <a:defRPr/>
            </a:pPr>
            <a:r>
              <a:rPr lang="en-US" altLang="ko-KR" dirty="0">
                <a:latin typeface="나눔바른고딕" panose="020B0603020101020101" pitchFamily="50" charset="-127"/>
              </a:rPr>
              <a:t>1991</a:t>
            </a:r>
            <a:r>
              <a:rPr lang="ko-KR" altLang="en-US" dirty="0">
                <a:latin typeface="나눔바른고딕" panose="020B0603020101020101" pitchFamily="50" charset="-127"/>
              </a:rPr>
              <a:t>년 </a:t>
            </a:r>
            <a:r>
              <a:rPr lang="en-US" altLang="ko-KR" dirty="0">
                <a:latin typeface="나눔바른고딕" panose="020B0603020101020101" pitchFamily="50" charset="-127"/>
              </a:rPr>
              <a:t>‘</a:t>
            </a:r>
            <a:r>
              <a:rPr lang="ko-KR" altLang="en-US" dirty="0">
                <a:latin typeface="나눔바른고딕" panose="020B0603020101020101" pitchFamily="50" charset="-127"/>
              </a:rPr>
              <a:t>리누스 </a:t>
            </a:r>
            <a:r>
              <a:rPr lang="ko-KR" altLang="en-US" dirty="0" err="1">
                <a:latin typeface="나눔바른고딕" panose="020B0603020101020101" pitchFamily="50" charset="-127"/>
              </a:rPr>
              <a:t>토르발스</a:t>
            </a:r>
            <a:r>
              <a:rPr lang="en-US" altLang="ko-KR" dirty="0">
                <a:latin typeface="나눔바른고딕" panose="020B0603020101020101" pitchFamily="50" charset="-127"/>
              </a:rPr>
              <a:t>’</a:t>
            </a:r>
            <a:r>
              <a:rPr lang="ko-KR" altLang="en-US" dirty="0">
                <a:latin typeface="나눔바른고딕" panose="020B0603020101020101" pitchFamily="50" charset="-127"/>
              </a:rPr>
              <a:t>가 버전 </a:t>
            </a:r>
            <a:r>
              <a:rPr lang="en-US" altLang="ko-KR" dirty="0">
                <a:latin typeface="나눔바른고딕" panose="020B0603020101020101" pitchFamily="50" charset="-127"/>
              </a:rPr>
              <a:t>0.01</a:t>
            </a:r>
            <a:r>
              <a:rPr lang="ko-KR" altLang="en-US" dirty="0">
                <a:latin typeface="나눔바른고딕" panose="020B0603020101020101" pitchFamily="50" charset="-127"/>
              </a:rPr>
              <a:t>을 최초로 작성</a:t>
            </a:r>
            <a:endParaRPr lang="en-US" altLang="ko-KR" dirty="0">
              <a:latin typeface="나눔바른고딕" panose="020B0603020101020101" pitchFamily="50" charset="-127"/>
            </a:endParaRPr>
          </a:p>
          <a:p>
            <a:pPr eaLnBrk="1" hangingPunct="1">
              <a:defRPr/>
            </a:pPr>
            <a:r>
              <a:rPr lang="en-US" altLang="ko-KR" dirty="0">
                <a:latin typeface="나눔바른고딕" panose="020B0603020101020101" pitchFamily="50" charset="-127"/>
              </a:rPr>
              <a:t>1992</a:t>
            </a:r>
            <a:r>
              <a:rPr lang="ko-KR" altLang="en-US" dirty="0">
                <a:latin typeface="나눔바른고딕" panose="020B0603020101020101" pitchFamily="50" charset="-127"/>
              </a:rPr>
              <a:t>년 </a:t>
            </a:r>
            <a:r>
              <a:rPr lang="en-US" altLang="ko-KR" dirty="0">
                <a:latin typeface="나눔바른고딕" panose="020B0603020101020101" pitchFamily="50" charset="-127"/>
              </a:rPr>
              <a:t>0.02 </a:t>
            </a:r>
            <a:r>
              <a:rPr lang="ko-KR" altLang="en-US" dirty="0">
                <a:latin typeface="나눔바른고딕" panose="020B0603020101020101" pitchFamily="50" charset="-127"/>
              </a:rPr>
              <a:t>버전을 공개하면서 시작됨</a:t>
            </a:r>
            <a:endParaRPr lang="en-US" altLang="ko-KR" dirty="0">
              <a:latin typeface="나눔바른고딕" panose="020B0603020101020101" pitchFamily="50" charset="-127"/>
            </a:endParaRPr>
          </a:p>
          <a:p>
            <a:pPr eaLnBrk="1" hangingPunct="1">
              <a:defRPr/>
            </a:pPr>
            <a:r>
              <a:rPr lang="ko-KR" altLang="en-US" dirty="0">
                <a:latin typeface="나눔바른고딕" panose="020B0603020101020101" pitchFamily="50" charset="-127"/>
              </a:rPr>
              <a:t>리누스 </a:t>
            </a:r>
            <a:r>
              <a:rPr lang="ko-KR" altLang="en-US" dirty="0" err="1">
                <a:latin typeface="나눔바른고딕" panose="020B0603020101020101" pitchFamily="50" charset="-127"/>
              </a:rPr>
              <a:t>토르발스는</a:t>
            </a:r>
            <a:r>
              <a:rPr lang="ko-KR" altLang="en-US" dirty="0">
                <a:latin typeface="나눔바른고딕" panose="020B0603020101020101" pitchFamily="50" charset="-127"/>
              </a:rPr>
              <a:t> 커널</a:t>
            </a:r>
            <a:r>
              <a:rPr lang="en-US" altLang="ko-KR" dirty="0">
                <a:latin typeface="나눔바른고딕" panose="020B0603020101020101" pitchFamily="50" charset="-127"/>
              </a:rPr>
              <a:t>(Kernel)</a:t>
            </a:r>
            <a:r>
              <a:rPr lang="ko-KR" altLang="en-US" dirty="0">
                <a:latin typeface="나눔바른고딕" panose="020B0603020101020101" pitchFamily="50" charset="-127"/>
              </a:rPr>
              <a:t>만 개발함</a:t>
            </a:r>
            <a:endParaRPr lang="en-US" altLang="ko-KR" dirty="0">
              <a:latin typeface="나눔바른고딕" panose="020B0603020101020101" pitchFamily="50" charset="-127"/>
            </a:endParaRPr>
          </a:p>
          <a:p>
            <a:pPr eaLnBrk="1" hangingPunct="1">
              <a:defRPr/>
            </a:pPr>
            <a:r>
              <a:rPr lang="ko-KR" altLang="en-US" dirty="0" err="1">
                <a:latin typeface="나눔바른고딕" panose="020B0603020101020101" pitchFamily="50" charset="-127"/>
              </a:rPr>
              <a:t>배포판의</a:t>
            </a:r>
            <a:r>
              <a:rPr lang="ko-KR" altLang="en-US" dirty="0">
                <a:latin typeface="나눔바른고딕" panose="020B0603020101020101" pitchFamily="50" charset="-127"/>
              </a:rPr>
              <a:t> 구성</a:t>
            </a:r>
            <a:endParaRPr lang="en-US" altLang="ko-KR" sz="2000" dirty="0">
              <a:latin typeface="나눔바른고딕" panose="020B0603020101020101" pitchFamily="50" charset="-127"/>
            </a:endParaRPr>
          </a:p>
          <a:p>
            <a:pPr eaLnBrk="1" hangingPunct="1">
              <a:defRPr/>
            </a:pPr>
            <a:endParaRPr lang="en-US" altLang="ko-KR" sz="2000" dirty="0">
              <a:latin typeface="나눔바른고딕" panose="020B0603020101020101" pitchFamily="50" charset="-127"/>
            </a:endParaRPr>
          </a:p>
          <a:p>
            <a:pPr lvl="1" eaLnBrk="1" hangingPunct="1">
              <a:defRPr/>
            </a:pPr>
            <a:endParaRPr lang="en-US" altLang="ko-KR" sz="2000" dirty="0">
              <a:latin typeface="나눔바른고딕" panose="020B0603020101020101" pitchFamily="50" charset="-127"/>
            </a:endParaRPr>
          </a:p>
          <a:p>
            <a:pPr lvl="1" eaLnBrk="1" hangingPunct="1">
              <a:defRPr/>
            </a:pPr>
            <a:endParaRPr lang="ko-KR" altLang="en-US" sz="2000" dirty="0">
              <a:latin typeface="나눔바른고딕" panose="020B0603020101020101" pitchFamily="50" charset="-127"/>
            </a:endParaRPr>
          </a:p>
        </p:txBody>
      </p:sp>
      <p:sp>
        <p:nvSpPr>
          <p:cNvPr id="6" name="말풍선: 타원형 5">
            <a:extLst>
              <a:ext uri="{FF2B5EF4-FFF2-40B4-BE49-F238E27FC236}">
                <a16:creationId xmlns:a16="http://schemas.microsoft.com/office/drawing/2014/main" id="{7C37C00F-E9D6-4504-AE05-B2BC0D21FE3A}"/>
              </a:ext>
            </a:extLst>
          </p:cNvPr>
          <p:cNvSpPr/>
          <p:nvPr/>
        </p:nvSpPr>
        <p:spPr>
          <a:xfrm>
            <a:off x="3118365" y="714375"/>
            <a:ext cx="1152128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57</a:t>
            </a:r>
            <a:r>
              <a:rPr lang="ko-KR" altLang="en-US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9" name="그림 8" descr="사람, 남자, 실내, 쥐고있는이(가) 표시된 사진&#10;&#10;자동 생성된 설명">
            <a:extLst>
              <a:ext uri="{FF2B5EF4-FFF2-40B4-BE49-F238E27FC236}">
                <a16:creationId xmlns:a16="http://schemas.microsoft.com/office/drawing/2014/main" id="{FC285305-4F5F-48B9-8E5A-0EC21A7D402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280" y="2348880"/>
            <a:ext cx="1738536" cy="2418738"/>
          </a:xfrm>
          <a:prstGeom prst="rect">
            <a:avLst/>
          </a:prstGeom>
        </p:spPr>
      </p:pic>
      <p:sp>
        <p:nvSpPr>
          <p:cNvPr id="4" name="물결 3">
            <a:extLst>
              <a:ext uri="{FF2B5EF4-FFF2-40B4-BE49-F238E27FC236}">
                <a16:creationId xmlns:a16="http://schemas.microsoft.com/office/drawing/2014/main" id="{109CDABD-0293-2C30-F789-9899ED3E681B}"/>
              </a:ext>
            </a:extLst>
          </p:cNvPr>
          <p:cNvSpPr/>
          <p:nvPr/>
        </p:nvSpPr>
        <p:spPr>
          <a:xfrm>
            <a:off x="3347864" y="3227934"/>
            <a:ext cx="3276364" cy="432048"/>
          </a:xfrm>
          <a:prstGeom prst="wave">
            <a:avLst>
              <a:gd name="adj1" fmla="val 6856"/>
              <a:gd name="adj2" fmla="val -605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sz="1400" dirty="0">
                <a:solidFill>
                  <a:srgbClr val="0070C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우분투</a:t>
            </a:r>
            <a:r>
              <a:rPr lang="en-US" altLang="ko-KR" sz="1400" dirty="0">
                <a:solidFill>
                  <a:srgbClr val="0070C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400" dirty="0">
                <a:solidFill>
                  <a:srgbClr val="0070C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리눅스도 많은 배포판 중 한가지임</a:t>
            </a:r>
            <a:endParaRPr lang="ko-KR" altLang="en-US" sz="1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F48B545-DC37-9C88-32A7-4E45FB75F1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791" y="3883535"/>
            <a:ext cx="4959361" cy="2483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881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en-US" altLang="ko-KR" sz="2800" dirty="0"/>
              <a:t>GNU </a:t>
            </a:r>
            <a:r>
              <a:rPr lang="ko-KR" altLang="en-US" sz="2800" dirty="0"/>
              <a:t>프로젝트</a:t>
            </a:r>
            <a:r>
              <a:rPr lang="en-US" altLang="ko-KR" sz="2800" dirty="0"/>
              <a:t>  </a:t>
            </a:r>
            <a:endParaRPr lang="ko-KR" altLang="en-US" sz="2800" dirty="0">
              <a:solidFill>
                <a:srgbClr val="00B050"/>
              </a:solidFill>
            </a:endParaRP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143500"/>
          </a:xfrm>
        </p:spPr>
        <p:txBody>
          <a:bodyPr/>
          <a:lstStyle/>
          <a:p>
            <a:pPr>
              <a:defRPr/>
            </a:pPr>
            <a:r>
              <a:rPr lang="en-US" altLang="ko-KR" sz="2000" dirty="0"/>
              <a:t>1984</a:t>
            </a:r>
            <a:r>
              <a:rPr lang="ko-KR" altLang="en-US" sz="2000" dirty="0"/>
              <a:t>년에 </a:t>
            </a:r>
            <a:r>
              <a:rPr lang="ko-KR" altLang="en-US" sz="2000" dirty="0" err="1"/>
              <a:t>리차드</a:t>
            </a:r>
            <a:r>
              <a:rPr lang="ko-KR" altLang="en-US" sz="2000" dirty="0"/>
              <a:t> </a:t>
            </a:r>
            <a:r>
              <a:rPr lang="ko-KR" altLang="en-US" sz="2000" dirty="0" err="1"/>
              <a:t>스톨만</a:t>
            </a:r>
            <a:r>
              <a:rPr lang="en-US" altLang="ko-KR" sz="2000" dirty="0"/>
              <a:t>(Richard Stallman)</a:t>
            </a:r>
            <a:r>
              <a:rPr lang="ko-KR" altLang="en-US" sz="2000" dirty="0"/>
              <a:t>에 의해서</a:t>
            </a:r>
            <a:br>
              <a:rPr lang="en-US" altLang="ko-KR" sz="2000" dirty="0"/>
            </a:br>
            <a:r>
              <a:rPr lang="en-US" altLang="ko-KR" sz="2000" dirty="0"/>
              <a:t>GNU </a:t>
            </a:r>
            <a:r>
              <a:rPr lang="ko-KR" altLang="en-US" sz="2000" dirty="0"/>
              <a:t>프로젝트가 시작</a:t>
            </a:r>
            <a:endParaRPr lang="en-US" altLang="ko-KR" sz="2000" dirty="0"/>
          </a:p>
          <a:p>
            <a:pPr>
              <a:defRPr/>
            </a:pPr>
            <a:r>
              <a:rPr lang="ko-KR" altLang="en-US" sz="2000" dirty="0"/>
              <a:t>목표는 ‘모두가 공유할 수 있는 소프트웨어’</a:t>
            </a:r>
            <a:r>
              <a:rPr lang="ko-KR" altLang="en-US" sz="2000" dirty="0" err="1"/>
              <a:t>를</a:t>
            </a:r>
            <a:r>
              <a:rPr lang="ko-KR" altLang="en-US" sz="2000" dirty="0"/>
              <a:t> 만드는 것</a:t>
            </a:r>
            <a:endParaRPr lang="en-US" altLang="ko-KR" sz="2000" dirty="0"/>
          </a:p>
          <a:p>
            <a:pPr>
              <a:defRPr/>
            </a:pPr>
            <a:r>
              <a:rPr lang="ko-KR" altLang="en-US" sz="2000" dirty="0" err="1"/>
              <a:t>리차드</a:t>
            </a:r>
            <a:r>
              <a:rPr lang="ko-KR" altLang="en-US" sz="2000" dirty="0"/>
              <a:t> </a:t>
            </a:r>
            <a:r>
              <a:rPr lang="ko-KR" altLang="en-US" sz="2000" dirty="0" err="1"/>
              <a:t>스톨만은</a:t>
            </a:r>
            <a:r>
              <a:rPr lang="ko-KR" altLang="en-US" sz="2000" dirty="0"/>
              <a:t> </a:t>
            </a:r>
            <a:r>
              <a:rPr lang="en-US" altLang="ko-KR" sz="2000" dirty="0"/>
              <a:t>1985</a:t>
            </a:r>
            <a:r>
              <a:rPr lang="ko-KR" altLang="en-US" sz="2000" dirty="0"/>
              <a:t>년에 자유 소프트웨어 재단</a:t>
            </a:r>
            <a:r>
              <a:rPr lang="en-US" altLang="ko-KR" sz="2000" dirty="0"/>
              <a:t>(FSF, Free Software Foundation)</a:t>
            </a:r>
            <a:r>
              <a:rPr lang="ko-KR" altLang="en-US" sz="2000" dirty="0"/>
              <a:t>을 설립</a:t>
            </a:r>
            <a:endParaRPr lang="en-US" altLang="ko-KR" sz="2000" dirty="0"/>
          </a:p>
          <a:p>
            <a:pPr>
              <a:defRPr/>
            </a:pPr>
            <a:r>
              <a:rPr lang="ko-KR" altLang="en-US" sz="2000" dirty="0"/>
              <a:t>목표는 </a:t>
            </a:r>
            <a:r>
              <a:rPr lang="en-US" altLang="ko-KR" sz="2000" dirty="0"/>
              <a:t>GNU </a:t>
            </a:r>
            <a:r>
              <a:rPr lang="ko-KR" altLang="en-US" sz="2000" dirty="0"/>
              <a:t>프로젝트에서 제작한 소프트웨어를 지원함으로써 컴퓨터 프로그램의 복제</a:t>
            </a:r>
            <a:r>
              <a:rPr lang="en-US" altLang="ko-KR" sz="2000" dirty="0"/>
              <a:t>, </a:t>
            </a:r>
            <a:r>
              <a:rPr lang="ko-KR" altLang="en-US" sz="2000" dirty="0"/>
              <a:t>변경</a:t>
            </a:r>
            <a:r>
              <a:rPr lang="en-US" altLang="ko-KR" sz="2000" dirty="0"/>
              <a:t>, </a:t>
            </a:r>
            <a:r>
              <a:rPr lang="ko-KR" altLang="en-US" sz="2000" dirty="0"/>
              <a:t>소스 코드의 사용에 대한 제한을 철폐하는 것</a:t>
            </a:r>
            <a:endParaRPr lang="en-US" altLang="ko-KR" sz="2000" dirty="0"/>
          </a:p>
          <a:p>
            <a:pPr>
              <a:defRPr/>
            </a:pPr>
            <a:r>
              <a:rPr lang="en-US" altLang="ko-KR" sz="2000" dirty="0"/>
              <a:t>GPL(General Public License)</a:t>
            </a:r>
            <a:r>
              <a:rPr lang="ko-KR" altLang="en-US" sz="2000" dirty="0"/>
              <a:t>을 따름</a:t>
            </a:r>
            <a:r>
              <a:rPr lang="en-US" altLang="ko-KR" sz="2000" dirty="0"/>
              <a:t>. </a:t>
            </a:r>
            <a:r>
              <a:rPr lang="ko-KR" altLang="en-US" sz="2000" dirty="0"/>
              <a:t>이 라이선스는 자유 소프트웨어</a:t>
            </a:r>
            <a:r>
              <a:rPr lang="en-US" altLang="ko-KR" sz="2000" dirty="0"/>
              <a:t>(Free Software)</a:t>
            </a:r>
            <a:r>
              <a:rPr lang="ko-KR" altLang="en-US" sz="2000" dirty="0"/>
              <a:t>의 수정과 공유의 자유를 보장함</a:t>
            </a:r>
            <a:endParaRPr lang="en-US" altLang="ko-KR" sz="2000" dirty="0"/>
          </a:p>
          <a:p>
            <a:pPr>
              <a:defRPr/>
            </a:pPr>
            <a:r>
              <a:rPr lang="ko-KR" altLang="en-US" sz="2000" dirty="0" err="1"/>
              <a:t>프리웨어</a:t>
            </a:r>
            <a:r>
              <a:rPr lang="en-US" altLang="ko-KR" sz="2000" dirty="0"/>
              <a:t>(Freeware, </a:t>
            </a:r>
            <a:r>
              <a:rPr lang="ko-KR" altLang="en-US" sz="2000" dirty="0"/>
              <a:t>무료 소프트웨어</a:t>
            </a:r>
            <a:r>
              <a:rPr lang="en-US" altLang="ko-KR" sz="2000" dirty="0"/>
              <a:t>)</a:t>
            </a:r>
            <a:r>
              <a:rPr lang="ko-KR" altLang="en-US" sz="2000" dirty="0"/>
              <a:t>라는 개념을 뛰어넘어서 진정한 자유</a:t>
            </a:r>
            <a:r>
              <a:rPr lang="en-US" altLang="ko-KR" sz="2000" dirty="0"/>
              <a:t>(Freedom)</a:t>
            </a:r>
            <a:r>
              <a:rPr lang="ko-KR" altLang="en-US" sz="2000" dirty="0"/>
              <a:t>에 대한 개념</a:t>
            </a:r>
            <a:endParaRPr lang="en-US" altLang="ko-KR" sz="2000" dirty="0"/>
          </a:p>
          <a:p>
            <a:pPr>
              <a:defRPr/>
            </a:pPr>
            <a:r>
              <a:rPr lang="ko-KR" altLang="en-US" sz="2000" dirty="0"/>
              <a:t>자유 소프트웨어는 심지어 무료로 얻은 소프트웨어를 유상으로 판매할 자유도 보장</a:t>
            </a:r>
          </a:p>
        </p:txBody>
      </p:sp>
      <p:pic>
        <p:nvPicPr>
          <p:cNvPr id="6" name="그림 5" descr="사람, 실내, 남자, 창문이(가) 표시된 사진&#10;&#10;자동 생성된 설명">
            <a:extLst>
              <a:ext uri="{FF2B5EF4-FFF2-40B4-BE49-F238E27FC236}">
                <a16:creationId xmlns:a16="http://schemas.microsoft.com/office/drawing/2014/main" id="{EB85CF1E-BFF2-4D5B-B7CD-ABFFE43489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97919"/>
            <a:ext cx="1888978" cy="1860643"/>
          </a:xfrm>
          <a:prstGeom prst="rect">
            <a:avLst/>
          </a:prstGeom>
        </p:spPr>
      </p:pic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DF93918A-A02B-42C5-A97F-A6E75DA5C999}"/>
              </a:ext>
            </a:extLst>
          </p:cNvPr>
          <p:cNvSpPr/>
          <p:nvPr/>
        </p:nvSpPr>
        <p:spPr>
          <a:xfrm>
            <a:off x="3118365" y="714375"/>
            <a:ext cx="1152128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58</a:t>
            </a:r>
            <a:r>
              <a:rPr lang="ko-KR" altLang="en-US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1236690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커널</a:t>
            </a: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072062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ko-KR" dirty="0"/>
              <a:t>https://www.kernel.org </a:t>
            </a:r>
            <a:r>
              <a:rPr lang="ko-KR" altLang="en-US" dirty="0"/>
              <a:t>에서 최신버전을 무료로 다운로드</a:t>
            </a: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r>
              <a:rPr lang="ko-KR" altLang="en-US" dirty="0"/>
              <a:t>커널의 주요 변천사 </a:t>
            </a:r>
            <a:r>
              <a:rPr lang="en-US" altLang="ko-KR" dirty="0"/>
              <a:t>(2024</a:t>
            </a:r>
            <a:r>
              <a:rPr lang="ko-KR" altLang="en-US" dirty="0"/>
              <a:t>년 중반 기준</a:t>
            </a:r>
            <a:r>
              <a:rPr lang="en-US" altLang="ko-KR" dirty="0"/>
              <a:t>)</a:t>
            </a:r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B3E84C4A-1FAE-BD1C-3CBF-D19ADAF0F338}"/>
              </a:ext>
            </a:extLst>
          </p:cNvPr>
          <p:cNvSpPr/>
          <p:nvPr/>
        </p:nvSpPr>
        <p:spPr>
          <a:xfrm>
            <a:off x="1691680" y="714375"/>
            <a:ext cx="1152128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60</a:t>
            </a:r>
            <a:r>
              <a:rPr lang="ko-KR" altLang="en-US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E6B6724-A3A4-3328-1E91-4AF41AD02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5473967"/>
            <a:ext cx="7171428" cy="771429"/>
          </a:xfrm>
          <a:prstGeom prst="rect">
            <a:avLst/>
          </a:prstGeom>
        </p:spPr>
      </p:pic>
      <p:pic>
        <p:nvPicPr>
          <p:cNvPr id="10" name="그림 9" descr="텍스트, 스크린샷, 펭귄, 만화 영화이(가) 표시된 사진&#10;&#10;자동 생성된 설명">
            <a:extLst>
              <a:ext uri="{FF2B5EF4-FFF2-40B4-BE49-F238E27FC236}">
                <a16:creationId xmlns:a16="http://schemas.microsoft.com/office/drawing/2014/main" id="{76C260B4-423D-9275-D503-4DD4D43F98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2091463"/>
            <a:ext cx="5436096" cy="2648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900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커널</a:t>
            </a: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072062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ko-KR" altLang="en-US" dirty="0"/>
              <a:t>커널 버전의 종류</a:t>
            </a:r>
            <a:endParaRPr lang="en-US" altLang="ko-KR" dirty="0"/>
          </a:p>
          <a:p>
            <a:pPr lvl="1">
              <a:defRPr/>
            </a:pPr>
            <a:r>
              <a:rPr lang="en-US" altLang="ko-KR" sz="2000" dirty="0" err="1"/>
              <a:t>Prepatch</a:t>
            </a:r>
            <a:r>
              <a:rPr lang="en-US" altLang="ko-KR" sz="2000" dirty="0"/>
              <a:t> (=RC) :</a:t>
            </a:r>
          </a:p>
          <a:p>
            <a:pPr lvl="2">
              <a:defRPr/>
            </a:pPr>
            <a:r>
              <a:rPr lang="ko-KR" altLang="en-US" sz="1600" dirty="0"/>
              <a:t>새로운 기술이 포함될 수 있지만 안정화 측면에서 조금 떨어질 수 있음</a:t>
            </a:r>
            <a:endParaRPr lang="en-US" altLang="ko-KR" sz="1600" dirty="0"/>
          </a:p>
          <a:p>
            <a:pPr lvl="2">
              <a:defRPr/>
            </a:pPr>
            <a:r>
              <a:rPr lang="ko-KR" altLang="en-US" sz="1600" dirty="0"/>
              <a:t>시험 버전으로 사용할 수 있음</a:t>
            </a:r>
            <a:endParaRPr lang="en-US" altLang="ko-KR" sz="1600" dirty="0"/>
          </a:p>
          <a:p>
            <a:pPr lvl="2">
              <a:defRPr/>
            </a:pPr>
            <a:r>
              <a:rPr lang="ko-KR" altLang="en-US" sz="1600" dirty="0"/>
              <a:t>리누스 </a:t>
            </a:r>
            <a:r>
              <a:rPr lang="ko-KR" altLang="en-US" sz="1600" dirty="0" err="1"/>
              <a:t>토르발스가</a:t>
            </a:r>
            <a:r>
              <a:rPr lang="ko-KR" altLang="en-US" sz="1600" dirty="0"/>
              <a:t> 관리</a:t>
            </a:r>
            <a:endParaRPr lang="en-US" altLang="ko-KR" sz="1600" dirty="0"/>
          </a:p>
          <a:p>
            <a:pPr lvl="1">
              <a:defRPr/>
            </a:pPr>
            <a:r>
              <a:rPr lang="en-US" altLang="ko-KR" sz="2000" dirty="0"/>
              <a:t>Mainline</a:t>
            </a:r>
          </a:p>
          <a:p>
            <a:pPr lvl="2">
              <a:defRPr/>
            </a:pPr>
            <a:r>
              <a:rPr lang="en-US" altLang="ko-KR" sz="1600" dirty="0" err="1"/>
              <a:t>Prepatch</a:t>
            </a:r>
            <a:r>
              <a:rPr lang="ko-KR" altLang="en-US" sz="1600" dirty="0"/>
              <a:t>보다 안정적이며 새로운 기능이 포함</a:t>
            </a:r>
            <a:endParaRPr lang="en-US" altLang="ko-KR" sz="1600" dirty="0"/>
          </a:p>
          <a:p>
            <a:pPr lvl="2">
              <a:defRPr/>
            </a:pPr>
            <a:r>
              <a:rPr lang="ko-KR" altLang="en-US" sz="1600" dirty="0"/>
              <a:t>리누스 </a:t>
            </a:r>
            <a:r>
              <a:rPr lang="ko-KR" altLang="en-US" sz="1600" dirty="0" err="1"/>
              <a:t>토르발스가</a:t>
            </a:r>
            <a:r>
              <a:rPr lang="ko-KR" altLang="en-US" sz="1600" dirty="0"/>
              <a:t> 관리</a:t>
            </a:r>
            <a:endParaRPr lang="en-US" altLang="ko-KR" sz="1600" dirty="0"/>
          </a:p>
          <a:p>
            <a:pPr lvl="2">
              <a:defRPr/>
            </a:pPr>
            <a:r>
              <a:rPr lang="ko-KR" altLang="en-US" sz="1600" dirty="0"/>
              <a:t>주로 </a:t>
            </a:r>
            <a:r>
              <a:rPr lang="en-US" altLang="ko-KR" sz="1600" dirty="0"/>
              <a:t>9~10</a:t>
            </a:r>
            <a:r>
              <a:rPr lang="ko-KR" altLang="en-US" sz="1600" dirty="0"/>
              <a:t>주 간격으로 발표</a:t>
            </a:r>
            <a:endParaRPr lang="en-US" altLang="ko-KR" sz="1600" dirty="0"/>
          </a:p>
          <a:p>
            <a:pPr lvl="1">
              <a:defRPr/>
            </a:pPr>
            <a:r>
              <a:rPr lang="en-US" altLang="ko-KR" sz="2000" dirty="0"/>
              <a:t>Stable</a:t>
            </a:r>
          </a:p>
          <a:p>
            <a:pPr lvl="2">
              <a:defRPr/>
            </a:pPr>
            <a:r>
              <a:rPr lang="ko-KR" altLang="en-US" sz="1600" dirty="0"/>
              <a:t>대부분의 버그가 잡힌 안정화된 커널</a:t>
            </a:r>
            <a:endParaRPr lang="en-US" altLang="ko-KR" sz="1600" dirty="0"/>
          </a:p>
          <a:p>
            <a:pPr lvl="2">
              <a:defRPr/>
            </a:pPr>
            <a:r>
              <a:rPr lang="ko-KR" altLang="en-US" sz="1600" dirty="0"/>
              <a:t>주로 </a:t>
            </a:r>
            <a:r>
              <a:rPr lang="en-US" altLang="ko-KR" sz="1600" dirty="0"/>
              <a:t>1</a:t>
            </a:r>
            <a:r>
              <a:rPr lang="ko-KR" altLang="en-US" sz="1600" dirty="0"/>
              <a:t>주 간격으로 발표</a:t>
            </a:r>
            <a:endParaRPr lang="en-US" altLang="ko-KR" sz="1600" dirty="0"/>
          </a:p>
          <a:p>
            <a:pPr lvl="1">
              <a:defRPr/>
            </a:pPr>
            <a:r>
              <a:rPr lang="en-US" altLang="ko-KR" sz="2000" dirty="0"/>
              <a:t>Longterm</a:t>
            </a:r>
          </a:p>
          <a:p>
            <a:pPr lvl="2">
              <a:defRPr/>
            </a:pPr>
            <a:r>
              <a:rPr lang="ko-KR" altLang="en-US" sz="1600" dirty="0"/>
              <a:t>장기 지원 버전</a:t>
            </a:r>
            <a:endParaRPr lang="en-US" altLang="ko-KR" sz="1600" dirty="0"/>
          </a:p>
          <a:p>
            <a:pPr lvl="2">
              <a:defRPr/>
            </a:pPr>
            <a:r>
              <a:rPr lang="ko-KR" altLang="en-US" sz="1600" dirty="0"/>
              <a:t>안정화된 </a:t>
            </a:r>
            <a:r>
              <a:rPr lang="en-US" altLang="ko-KR" sz="1600" dirty="0"/>
              <a:t>Stable </a:t>
            </a:r>
            <a:r>
              <a:rPr lang="ko-KR" altLang="en-US" sz="1600" dirty="0"/>
              <a:t>버전보다 좀 더 안정적이며 업데이트가 오랫동안 지원</a:t>
            </a:r>
            <a:endParaRPr lang="en-US" altLang="ko-KR" sz="1600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B3E84C4A-1FAE-BD1C-3CBF-D19ADAF0F338}"/>
              </a:ext>
            </a:extLst>
          </p:cNvPr>
          <p:cNvSpPr/>
          <p:nvPr/>
        </p:nvSpPr>
        <p:spPr>
          <a:xfrm>
            <a:off x="1691680" y="714375"/>
            <a:ext cx="1152128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61</a:t>
            </a:r>
            <a:r>
              <a:rPr lang="ko-KR" altLang="en-US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563290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커널</a:t>
            </a: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072062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ko-KR" altLang="en-US" dirty="0"/>
              <a:t>장기 지원 버전 </a:t>
            </a:r>
            <a:r>
              <a:rPr lang="en-US" altLang="ko-KR" dirty="0"/>
              <a:t>(2024</a:t>
            </a:r>
            <a:r>
              <a:rPr lang="ko-KR" altLang="en-US" dirty="0"/>
              <a:t>년 중반 기준</a:t>
            </a:r>
            <a:r>
              <a:rPr lang="en-US" altLang="ko-KR" dirty="0"/>
              <a:t>)</a:t>
            </a:r>
          </a:p>
          <a:p>
            <a:pPr eaLnBrk="1" hangingPunct="1">
              <a:defRPr/>
            </a:pPr>
            <a:endParaRPr lang="en-US" altLang="ko-KR" sz="2000" dirty="0"/>
          </a:p>
          <a:p>
            <a:pPr eaLnBrk="1" hangingPunct="1">
              <a:defRPr/>
            </a:pPr>
            <a:endParaRPr lang="en-US" altLang="ko-KR" sz="2000" dirty="0"/>
          </a:p>
          <a:p>
            <a:pPr eaLnBrk="1" hangingPunct="1">
              <a:defRPr/>
            </a:pPr>
            <a:endParaRPr lang="en-US" altLang="ko-KR" sz="2000" dirty="0"/>
          </a:p>
          <a:p>
            <a:pPr eaLnBrk="1" hangingPunct="1">
              <a:defRPr/>
            </a:pPr>
            <a:endParaRPr lang="en-US" altLang="ko-KR" sz="2000" dirty="0"/>
          </a:p>
          <a:p>
            <a:pPr eaLnBrk="1" hangingPunct="1">
              <a:defRPr/>
            </a:pPr>
            <a:endParaRPr lang="en-US" altLang="ko-KR" sz="2000" dirty="0"/>
          </a:p>
          <a:p>
            <a:pPr eaLnBrk="1" hangingPunct="1">
              <a:defRPr/>
            </a:pPr>
            <a:endParaRPr lang="en-US" altLang="ko-KR" sz="2000" dirty="0"/>
          </a:p>
          <a:p>
            <a:pPr eaLnBrk="1" hangingPunct="1">
              <a:defRPr/>
            </a:pPr>
            <a:endParaRPr lang="en-US" altLang="ko-KR" sz="2000" dirty="0"/>
          </a:p>
          <a:p>
            <a:pPr eaLnBrk="1" hangingPunct="1">
              <a:defRPr/>
            </a:pPr>
            <a:endParaRPr lang="en-US" altLang="ko-KR" sz="2000" dirty="0"/>
          </a:p>
          <a:p>
            <a:pPr eaLnBrk="1" hangingPunct="1">
              <a:defRPr/>
            </a:pPr>
            <a:endParaRPr lang="en-US" altLang="ko-KR" sz="2000" dirty="0"/>
          </a:p>
          <a:p>
            <a:pPr>
              <a:defRPr/>
            </a:pPr>
            <a:r>
              <a:rPr lang="ko-KR" altLang="en-US" dirty="0"/>
              <a:t>배포판에 포함된 기본 커널을 사용자가 직접 최신의 커널로 업그레이드할 수 있음 </a:t>
            </a:r>
            <a:r>
              <a:rPr lang="en-US" altLang="ko-KR" dirty="0"/>
              <a:t>(</a:t>
            </a:r>
            <a:r>
              <a:rPr lang="ko-KR" altLang="en-US" dirty="0"/>
              <a:t>커널 업그레이드</a:t>
            </a:r>
            <a:r>
              <a:rPr lang="en-US" altLang="ko-KR" dirty="0"/>
              <a:t>)</a:t>
            </a:r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B3E84C4A-1FAE-BD1C-3CBF-D19ADAF0F338}"/>
              </a:ext>
            </a:extLst>
          </p:cNvPr>
          <p:cNvSpPr/>
          <p:nvPr/>
        </p:nvSpPr>
        <p:spPr>
          <a:xfrm>
            <a:off x="1691680" y="714375"/>
            <a:ext cx="1152128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62</a:t>
            </a:r>
            <a:r>
              <a:rPr lang="ko-KR" altLang="en-US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3" name="물결 2">
            <a:extLst>
              <a:ext uri="{FF2B5EF4-FFF2-40B4-BE49-F238E27FC236}">
                <a16:creationId xmlns:a16="http://schemas.microsoft.com/office/drawing/2014/main" id="{4C1BCF58-4B24-58A4-DC52-A060BF3058A7}"/>
              </a:ext>
            </a:extLst>
          </p:cNvPr>
          <p:cNvSpPr/>
          <p:nvPr/>
        </p:nvSpPr>
        <p:spPr>
          <a:xfrm>
            <a:off x="2123728" y="5877272"/>
            <a:ext cx="4536504" cy="432048"/>
          </a:xfrm>
          <a:prstGeom prst="wave">
            <a:avLst>
              <a:gd name="adj1" fmla="val 6856"/>
              <a:gd name="adj2" fmla="val -605"/>
            </a:avLst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우분투 리눅스 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24.04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는 커널 버전 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6.8.0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을 기본적으로 포함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9025E3A-6A94-3C64-7DD2-4FFDD8950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123" y="2000251"/>
            <a:ext cx="5885714" cy="24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141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데비안 리눅스와 우분투 리눅스</a:t>
            </a:r>
            <a:r>
              <a:rPr lang="en-US" altLang="ko-KR" sz="2800" dirty="0"/>
              <a:t>(1)</a:t>
            </a:r>
            <a:endParaRPr lang="ko-KR" altLang="en-US" sz="2800" dirty="0"/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072062"/>
          </a:xfrm>
        </p:spPr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ko-KR" altLang="en-US" dirty="0"/>
              <a:t>유명한 배포판 중 하나가 데비안 프로젝트</a:t>
            </a:r>
            <a:r>
              <a:rPr lang="en-US" altLang="ko-KR" dirty="0"/>
              <a:t>(Debian Project)</a:t>
            </a:r>
            <a:r>
              <a:rPr lang="ko-KR" altLang="en-US" dirty="0"/>
              <a:t>에서 제작한 데비안 리눅스</a:t>
            </a:r>
            <a:r>
              <a:rPr lang="en-US" altLang="ko-KR" dirty="0"/>
              <a:t>(Debian Linux)</a:t>
            </a:r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r>
              <a:rPr lang="ko-KR" altLang="en-US" dirty="0"/>
              <a:t>우분투 리눅스는 데비안 리눅스를 기초로 유니티</a:t>
            </a:r>
            <a:r>
              <a:rPr lang="en-US" altLang="ko-KR" dirty="0"/>
              <a:t>(Unity) </a:t>
            </a:r>
            <a:r>
              <a:rPr lang="ko-KR" altLang="en-US" dirty="0"/>
              <a:t>데스크톱 환경을 사용하는 리눅스 배포판으로 최초 버전은 </a:t>
            </a:r>
            <a:r>
              <a:rPr lang="en-US" altLang="ko-KR" dirty="0"/>
              <a:t>2004</a:t>
            </a:r>
            <a:r>
              <a:rPr lang="ko-KR" altLang="en-US" dirty="0"/>
              <a:t>년 </a:t>
            </a:r>
            <a:r>
              <a:rPr lang="en-US" altLang="ko-KR" dirty="0"/>
              <a:t>10</a:t>
            </a:r>
            <a:r>
              <a:rPr lang="ko-KR" altLang="en-US" dirty="0"/>
              <a:t>월에 우분투 </a:t>
            </a:r>
            <a:r>
              <a:rPr lang="en-US" altLang="ko-KR" dirty="0"/>
              <a:t>4.10</a:t>
            </a:r>
            <a:r>
              <a:rPr lang="ko-KR" altLang="en-US" dirty="0"/>
              <a:t>버전부터 시작</a:t>
            </a:r>
            <a:r>
              <a:rPr lang="en-US" altLang="ko-KR" dirty="0"/>
              <a:t>. </a:t>
            </a:r>
            <a:r>
              <a:rPr lang="ko-KR" altLang="en-US" dirty="0"/>
              <a:t>현재는</a:t>
            </a:r>
            <a:r>
              <a:rPr lang="en-US" altLang="ko-KR" dirty="0"/>
              <a:t> </a:t>
            </a:r>
            <a:r>
              <a:rPr lang="ko-KR" altLang="en-US" dirty="0"/>
              <a:t>그놈</a:t>
            </a:r>
            <a:r>
              <a:rPr lang="en-US" altLang="ko-KR" dirty="0"/>
              <a:t>(Gnome) </a:t>
            </a:r>
            <a:r>
              <a:rPr lang="ko-KR" altLang="en-US" dirty="0"/>
              <a:t>데스크톱 환경으로 배포됨</a:t>
            </a: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r>
              <a:rPr lang="ko-KR" altLang="en-US" dirty="0"/>
              <a:t>우분투 배포판은 </a:t>
            </a:r>
            <a:r>
              <a:rPr lang="ko-KR" altLang="en-US" dirty="0">
                <a:solidFill>
                  <a:srgbClr val="FF0000"/>
                </a:solidFill>
              </a:rPr>
              <a:t>우분투 데스크톱</a:t>
            </a:r>
            <a:r>
              <a:rPr lang="ko-KR" altLang="en-US" dirty="0"/>
              <a:t>과 </a:t>
            </a:r>
            <a:r>
              <a:rPr lang="ko-KR" altLang="en-US" dirty="0">
                <a:solidFill>
                  <a:srgbClr val="FF0000"/>
                </a:solidFill>
              </a:rPr>
              <a:t>우분투 서버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ko-KR" altLang="en-US" dirty="0"/>
              <a:t>두 가지를 기본적으로 배포</a:t>
            </a:r>
            <a:endParaRPr lang="en-US" altLang="ko-KR" dirty="0"/>
          </a:p>
          <a:p>
            <a:pPr eaLnBrk="1" hangingPunct="1">
              <a:defRPr/>
            </a:pPr>
            <a:endParaRPr lang="en-US" altLang="ko-KR" dirty="0"/>
          </a:p>
          <a:p>
            <a:pPr eaLnBrk="1" hangingPunct="1">
              <a:defRPr/>
            </a:pPr>
            <a:r>
              <a:rPr lang="en-US" altLang="ko-KR" dirty="0"/>
              <a:t>Ubuntu flavors : </a:t>
            </a:r>
            <a:r>
              <a:rPr lang="ko-KR" altLang="en-US" dirty="0" err="1"/>
              <a:t>쿠분투</a:t>
            </a:r>
            <a:r>
              <a:rPr lang="en-US" altLang="ko-KR" dirty="0"/>
              <a:t>(Kubuntu), </a:t>
            </a:r>
            <a:r>
              <a:rPr lang="ko-KR" altLang="en-US" dirty="0" err="1"/>
              <a:t>루분투</a:t>
            </a:r>
            <a:r>
              <a:rPr lang="en-US" altLang="ko-KR" dirty="0"/>
              <a:t>(Lubuntu), </a:t>
            </a:r>
            <a:r>
              <a:rPr lang="ko-KR" altLang="en-US" dirty="0">
                <a:solidFill>
                  <a:srgbClr val="FF0000"/>
                </a:solidFill>
              </a:rPr>
              <a:t>우분투 버시</a:t>
            </a:r>
            <a:r>
              <a:rPr lang="en-US" altLang="ko-KR" dirty="0">
                <a:solidFill>
                  <a:srgbClr val="FF0000"/>
                </a:solidFill>
              </a:rPr>
              <a:t>(Ubuntu Budgie)</a:t>
            </a:r>
            <a:r>
              <a:rPr lang="en-US" altLang="ko-KR" dirty="0"/>
              <a:t>, </a:t>
            </a:r>
            <a:r>
              <a:rPr lang="ko-KR" altLang="en-US" dirty="0"/>
              <a:t>우분투 기린</a:t>
            </a:r>
            <a:r>
              <a:rPr lang="en-US" altLang="ko-KR" dirty="0"/>
              <a:t>(Ubuntu </a:t>
            </a:r>
            <a:r>
              <a:rPr lang="en-US" altLang="ko-KR" dirty="0" err="1"/>
              <a:t>Kylin</a:t>
            </a:r>
            <a:r>
              <a:rPr lang="en-US" altLang="ko-KR" dirty="0"/>
              <a:t>) </a:t>
            </a:r>
            <a:r>
              <a:rPr lang="ko-KR" altLang="en-US" dirty="0"/>
              <a:t>등</a:t>
            </a:r>
            <a:endParaRPr lang="en-US" altLang="ko-KR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0BD74649-B3F7-44F6-23AC-AF213D590812}"/>
              </a:ext>
            </a:extLst>
          </p:cNvPr>
          <p:cNvSpPr/>
          <p:nvPr/>
        </p:nvSpPr>
        <p:spPr>
          <a:xfrm>
            <a:off x="5940152" y="714375"/>
            <a:ext cx="1152128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63</a:t>
            </a:r>
            <a:r>
              <a:rPr lang="ko-KR" altLang="en-US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</p:spTree>
    <p:extLst>
      <p:ext uri="{BB962C8B-B14F-4D97-AF65-F5344CB8AC3E}">
        <p14:creationId xmlns:p14="http://schemas.microsoft.com/office/powerpoint/2010/main" val="2490481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/>
          <a:lstStyle/>
          <a:p>
            <a:pPr eaLnBrk="1" hangingPunct="1"/>
            <a:r>
              <a:rPr lang="ko-KR" altLang="en-US" sz="2800" dirty="0"/>
              <a:t>데비안 리눅스와 우분투 리눅스</a:t>
            </a:r>
            <a:r>
              <a:rPr lang="en-US" altLang="ko-KR" sz="2800" dirty="0"/>
              <a:t>(2) </a:t>
            </a:r>
            <a:endParaRPr lang="ko-KR" altLang="en-US" sz="2800" dirty="0"/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5072062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dirty="0"/>
              <a:t>우분투 버전</a:t>
            </a:r>
            <a:endParaRPr lang="en-US" altLang="ko-KR" dirty="0"/>
          </a:p>
        </p:txBody>
      </p:sp>
      <p:sp>
        <p:nvSpPr>
          <p:cNvPr id="5" name="TextBox 4"/>
          <p:cNvSpPr txBox="1"/>
          <p:nvPr/>
        </p:nvSpPr>
        <p:spPr>
          <a:xfrm>
            <a:off x="3772767" y="4093753"/>
            <a:ext cx="8771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dirty="0"/>
              <a:t>…</a:t>
            </a:r>
            <a:endParaRPr lang="ko-KR" altLang="en-US" sz="5400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183BFE8C-6DAC-98EF-9765-1638CA4B5E28}"/>
              </a:ext>
            </a:extLst>
          </p:cNvPr>
          <p:cNvSpPr/>
          <p:nvPr/>
        </p:nvSpPr>
        <p:spPr>
          <a:xfrm>
            <a:off x="6084168" y="619780"/>
            <a:ext cx="1152128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65</a:t>
            </a:r>
            <a:r>
              <a:rPr lang="ko-KR" altLang="en-US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3" name="물결 2">
            <a:extLst>
              <a:ext uri="{FF2B5EF4-FFF2-40B4-BE49-F238E27FC236}">
                <a16:creationId xmlns:a16="http://schemas.microsoft.com/office/drawing/2014/main" id="{CD6A7A0F-5AA3-0652-8177-F82A10904585}"/>
              </a:ext>
            </a:extLst>
          </p:cNvPr>
          <p:cNvSpPr/>
          <p:nvPr/>
        </p:nvSpPr>
        <p:spPr>
          <a:xfrm>
            <a:off x="3286184" y="1451908"/>
            <a:ext cx="5328592" cy="788829"/>
          </a:xfrm>
          <a:prstGeom prst="wave">
            <a:avLst>
              <a:gd name="adj1" fmla="val 6856"/>
              <a:gd name="adj2" fmla="val -605"/>
            </a:avLst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개월마다 새로운 버전을 발표하며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4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회에 한 번씩 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LTS(Long Term Support) 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버전을 발표하고 </a:t>
            </a: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년 동안 지원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31F6541-DE3C-C767-8259-026EE2305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962" y="2455794"/>
            <a:ext cx="8285714" cy="167619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F0844B6-0D56-9FE0-FC90-4F329425CB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474" y="4998116"/>
            <a:ext cx="8076190" cy="132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351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제목 1"/>
          <p:cNvSpPr>
            <a:spLocks noGrp="1"/>
          </p:cNvSpPr>
          <p:nvPr>
            <p:ph type="title"/>
          </p:nvPr>
        </p:nvSpPr>
        <p:spPr>
          <a:xfrm>
            <a:off x="500063" y="714375"/>
            <a:ext cx="8229600" cy="642938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ko-KR" sz="2800" dirty="0"/>
              <a:t>Ubuntu 24.04</a:t>
            </a:r>
            <a:r>
              <a:rPr lang="ko-KR" altLang="en-US" sz="2800" dirty="0"/>
              <a:t>를</a:t>
            </a:r>
            <a:r>
              <a:rPr lang="en-US" altLang="ko-KR" sz="2800" dirty="0"/>
              <a:t> </a:t>
            </a:r>
            <a:r>
              <a:rPr lang="ko-KR" altLang="en-US" sz="2800" dirty="0"/>
              <a:t>설치하기 위한 하드웨어 요구 사항</a:t>
            </a: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457200" y="1772815"/>
            <a:ext cx="8229600" cy="4656559"/>
          </a:xfrm>
        </p:spPr>
        <p:txBody>
          <a:bodyPr/>
          <a:lstStyle/>
          <a:p>
            <a:pPr>
              <a:buFont typeface="Georgia" panose="02040502050405020303" pitchFamily="18" charset="0"/>
              <a:buNone/>
              <a:defRPr/>
            </a:pPr>
            <a:r>
              <a:rPr lang="en-US" altLang="ko-KR" dirty="0"/>
              <a:t>① </a:t>
            </a:r>
            <a:r>
              <a:rPr lang="en-US" altLang="ko-KR" b="1" dirty="0"/>
              <a:t>CPU</a:t>
            </a:r>
          </a:p>
          <a:p>
            <a:pPr lvl="1">
              <a:buNone/>
              <a:defRPr/>
            </a:pPr>
            <a:r>
              <a:rPr lang="en-US" altLang="ko-KR" sz="2000" dirty="0"/>
              <a:t>•2GHz</a:t>
            </a:r>
            <a:r>
              <a:rPr lang="ko-KR" altLang="en-US" sz="2000" dirty="0"/>
              <a:t>보다 빠른 프로세서</a:t>
            </a:r>
            <a:endParaRPr lang="en-US" altLang="ko-KR" sz="2000" dirty="0"/>
          </a:p>
          <a:p>
            <a:pPr lvl="1">
              <a:buNone/>
              <a:defRPr/>
            </a:pPr>
            <a:endParaRPr lang="en-US" altLang="ko-KR" sz="2000" dirty="0"/>
          </a:p>
          <a:p>
            <a:pPr>
              <a:buFont typeface="Georgia" panose="02040502050405020303" pitchFamily="18" charset="0"/>
              <a:buNone/>
              <a:defRPr/>
            </a:pPr>
            <a:r>
              <a:rPr lang="ko-KR" altLang="en-US" dirty="0"/>
              <a:t>② 하드디스크 여유 공간</a:t>
            </a:r>
          </a:p>
          <a:p>
            <a:pPr lvl="1">
              <a:buFont typeface="Georgia" panose="02040502050405020303" pitchFamily="18" charset="0"/>
              <a:buNone/>
              <a:defRPr/>
            </a:pPr>
            <a:r>
              <a:rPr lang="en-US" altLang="ko-KR" dirty="0"/>
              <a:t>• </a:t>
            </a:r>
            <a:r>
              <a:rPr lang="en-US" altLang="ko-KR" sz="2000" dirty="0"/>
              <a:t>25GB </a:t>
            </a:r>
            <a:r>
              <a:rPr lang="ko-KR" altLang="en-US" sz="2000" dirty="0"/>
              <a:t>이상의 여유공간 권장</a:t>
            </a:r>
            <a:r>
              <a:rPr lang="en-US" altLang="ko-KR" sz="2000" dirty="0"/>
              <a:t>(</a:t>
            </a:r>
            <a:r>
              <a:rPr lang="ko-KR" altLang="en-US" sz="2000" dirty="0"/>
              <a:t>추가 설치에 따라서 달라질 수 있음</a:t>
            </a:r>
            <a:r>
              <a:rPr lang="en-US" altLang="ko-KR" sz="2000" dirty="0"/>
              <a:t>)</a:t>
            </a:r>
          </a:p>
          <a:p>
            <a:pPr lvl="1">
              <a:buFont typeface="Georgia" panose="02040502050405020303" pitchFamily="18" charset="0"/>
              <a:buNone/>
              <a:defRPr/>
            </a:pPr>
            <a:endParaRPr lang="en-US" altLang="ko-KR" dirty="0"/>
          </a:p>
          <a:p>
            <a:pPr>
              <a:buFont typeface="Georgia" panose="02040502050405020303" pitchFamily="18" charset="0"/>
              <a:buNone/>
              <a:defRPr/>
            </a:pPr>
            <a:r>
              <a:rPr lang="ko-KR" altLang="en-US" dirty="0"/>
              <a:t>③ 메모리</a:t>
            </a:r>
          </a:p>
          <a:p>
            <a:pPr lvl="1">
              <a:buNone/>
              <a:defRPr/>
            </a:pPr>
            <a:r>
              <a:rPr lang="en-US" altLang="ko-KR" sz="2000" dirty="0"/>
              <a:t>•</a:t>
            </a:r>
            <a:r>
              <a:rPr lang="ko-KR" altLang="en-US" sz="2000" dirty="0"/>
              <a:t>최소 </a:t>
            </a:r>
            <a:r>
              <a:rPr lang="en-US" altLang="ko-KR" sz="2000" dirty="0"/>
              <a:t>2GB, </a:t>
            </a:r>
            <a:r>
              <a:rPr lang="ko-KR" altLang="en-US" sz="2000" dirty="0"/>
              <a:t>권장 </a:t>
            </a:r>
            <a:r>
              <a:rPr lang="en-US" altLang="ko-KR" sz="2000" dirty="0"/>
              <a:t>4GB</a:t>
            </a:r>
          </a:p>
          <a:p>
            <a:pPr lvl="1">
              <a:buNone/>
              <a:defRPr/>
            </a:pPr>
            <a:endParaRPr lang="en-US" altLang="ko-KR" sz="2000" dirty="0"/>
          </a:p>
          <a:p>
            <a:pPr>
              <a:buNone/>
              <a:defRPr/>
            </a:pPr>
            <a:r>
              <a:rPr lang="ko-KR" altLang="en-US" dirty="0"/>
              <a:t>④ 그래픽 카드</a:t>
            </a:r>
          </a:p>
          <a:p>
            <a:pPr lvl="1">
              <a:buNone/>
              <a:defRPr/>
            </a:pPr>
            <a:r>
              <a:rPr lang="en-US" altLang="ko-KR" sz="2000" dirty="0"/>
              <a:t>•1024x768  </a:t>
            </a:r>
            <a:r>
              <a:rPr lang="ko-KR" altLang="en-US" sz="2000" dirty="0"/>
              <a:t>이상의 해상도</a:t>
            </a:r>
            <a:endParaRPr lang="en-US" altLang="ko-KR" sz="2000" dirty="0"/>
          </a:p>
          <a:p>
            <a:pPr lvl="1">
              <a:buNone/>
              <a:defRPr/>
            </a:pPr>
            <a:endParaRPr lang="en-US" altLang="ko-KR" sz="2000" dirty="0"/>
          </a:p>
        </p:txBody>
      </p:sp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1F998127-0AFB-B2B5-DDF3-26F7E14159F6}"/>
              </a:ext>
            </a:extLst>
          </p:cNvPr>
          <p:cNvSpPr/>
          <p:nvPr/>
        </p:nvSpPr>
        <p:spPr>
          <a:xfrm>
            <a:off x="7740352" y="334326"/>
            <a:ext cx="1152128" cy="410369"/>
          </a:xfrm>
          <a:prstGeom prst="wedgeEllipseCallout">
            <a:avLst>
              <a:gd name="adj1" fmla="val -66556"/>
              <a:gd name="adj2" fmla="val 47936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66</a:t>
            </a:r>
            <a:r>
              <a:rPr lang="ko-KR" altLang="en-US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쪽</a:t>
            </a:r>
          </a:p>
        </p:txBody>
      </p:sp>
      <p:sp>
        <p:nvSpPr>
          <p:cNvPr id="3" name="물결 2">
            <a:extLst>
              <a:ext uri="{FF2B5EF4-FFF2-40B4-BE49-F238E27FC236}">
                <a16:creationId xmlns:a16="http://schemas.microsoft.com/office/drawing/2014/main" id="{C5DAB6AE-3CA6-A304-C7BD-360D71214638}"/>
              </a:ext>
            </a:extLst>
          </p:cNvPr>
          <p:cNvSpPr/>
          <p:nvPr/>
        </p:nvSpPr>
        <p:spPr>
          <a:xfrm>
            <a:off x="4241105" y="1772014"/>
            <a:ext cx="4445695" cy="504056"/>
          </a:xfrm>
          <a:prstGeom prst="wave">
            <a:avLst>
              <a:gd name="adj1" fmla="val 6856"/>
              <a:gd name="adj2" fmla="val -605"/>
            </a:avLst>
          </a:prstGeom>
          <a:solidFill>
            <a:srgbClr val="FF7C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altLang="ko-KR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VMware</a:t>
            </a:r>
            <a:r>
              <a:rPr lang="ko-KR" altLang="en-US" sz="1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사용할 경우에는 훨씬 높은 사양이 요구됨</a:t>
            </a:r>
          </a:p>
        </p:txBody>
      </p:sp>
    </p:spTree>
    <p:extLst>
      <p:ext uri="{BB962C8B-B14F-4D97-AF65-F5344CB8AC3E}">
        <p14:creationId xmlns:p14="http://schemas.microsoft.com/office/powerpoint/2010/main" val="40969955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황록색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[우분투]00장.시작하기전에(Ver 1.0).pptx" id="{9CB7B681-7F69-4437-97DB-78D719B423D5}" vid="{18BC4063-0A75-45F0-B6F0-A104C17F8AB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2429</TotalTime>
  <Words>470</Words>
  <Application>Microsoft Office PowerPoint</Application>
  <PresentationFormat>화면 슬라이드 쇼(4:3)</PresentationFormat>
  <Paragraphs>91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8" baseType="lpstr">
      <vt:lpstr>Georgia</vt:lpstr>
      <vt:lpstr>나눔고딕 ExtraBold</vt:lpstr>
      <vt:lpstr>Trebuchet MS</vt:lpstr>
      <vt:lpstr>나눔스퀘어 ExtraBold</vt:lpstr>
      <vt:lpstr>나눔스퀘어라운드 ExtraBold</vt:lpstr>
      <vt:lpstr>굴림</vt:lpstr>
      <vt:lpstr>Wingdings 2</vt:lpstr>
      <vt:lpstr>나눔바른고딕</vt:lpstr>
      <vt:lpstr>Urban</vt:lpstr>
      <vt:lpstr>PowerPoint 프레젠테이션</vt:lpstr>
      <vt:lpstr>리눅스의 개요  </vt:lpstr>
      <vt:lpstr>GNU 프로젝트  </vt:lpstr>
      <vt:lpstr>커널</vt:lpstr>
      <vt:lpstr>커널</vt:lpstr>
      <vt:lpstr>커널</vt:lpstr>
      <vt:lpstr>데비안 리눅스와 우분투 리눅스(1)</vt:lpstr>
      <vt:lpstr>데비안 리눅스와 우분투 리눅스(2) </vt:lpstr>
      <vt:lpstr>Ubuntu 24.04를 설치하기 위한 하드웨어 요구 사항</vt:lpstr>
    </vt:vector>
  </TitlesOfParts>
  <Company>DTSOLUTION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이것이 리눅스다</dc:title>
  <dc:creator>한빛미디어</dc:creator>
  <cp:lastModifiedBy>재남 우</cp:lastModifiedBy>
  <cp:revision>112</cp:revision>
  <dcterms:created xsi:type="dcterms:W3CDTF">2007-02-12T03:01:34Z</dcterms:created>
  <dcterms:modified xsi:type="dcterms:W3CDTF">2024-10-26T02:39:35Z</dcterms:modified>
</cp:coreProperties>
</file>