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2" r:id="rId7"/>
    <p:sldId id="277" r:id="rId8"/>
    <p:sldId id="264" r:id="rId9"/>
    <p:sldId id="265" r:id="rId10"/>
    <p:sldId id="266" r:id="rId11"/>
    <p:sldId id="267" r:id="rId12"/>
    <p:sldId id="269" r:id="rId13"/>
    <p:sldId id="270" r:id="rId14"/>
    <p:sldId id="272" r:id="rId15"/>
    <p:sldId id="273" r:id="rId16"/>
    <p:sldId id="274" r:id="rId17"/>
    <p:sldId id="275" r:id="rId18"/>
    <p:sldId id="271" r:id="rId19"/>
    <p:sldId id="276" r:id="rId20"/>
  </p:sldIdLst>
  <p:sldSz cx="9144000" cy="6858000" type="screen4x3"/>
  <p:notesSz cx="6858000" cy="9144000"/>
  <p:embeddedFontLst>
    <p:embeddedFont>
      <p:font typeface="Georgia" panose="02040502050405020303" pitchFamily="18" charset="0"/>
      <p:regular r:id="rId23"/>
      <p:bold r:id="rId24"/>
      <p:italic r:id="rId25"/>
      <p:boldItalic r:id="rId26"/>
    </p:embeddedFont>
    <p:embeddedFont>
      <p:font typeface="Trebuchet MS" panose="020B0603020202020204" pitchFamily="34" charset="0"/>
      <p:regular r:id="rId27"/>
      <p:bold r:id="rId28"/>
      <p:italic r:id="rId29"/>
      <p:boldItalic r:id="rId30"/>
    </p:embeddedFont>
    <p:embeddedFont>
      <p:font typeface="Wingdings 2" panose="05020102010507070707" pitchFamily="18" charset="2"/>
      <p:regular r:id="rId31"/>
    </p:embeddedFont>
    <p:embeddedFont>
      <p:font typeface="나눔고딕 ExtraBold" panose="020D0904000000000000" pitchFamily="50" charset="-127"/>
      <p:bold r:id="rId32"/>
    </p:embeddedFont>
    <p:embeddedFont>
      <p:font typeface="나눔바른고딕" panose="020B0603020101020101" pitchFamily="50" charset="-127"/>
      <p:regular r:id="rId33"/>
      <p:bold r:id="rId34"/>
    </p:embeddedFont>
    <p:embeddedFont>
      <p:font typeface="나눔스퀘어 ExtraBold" panose="020B0600000101010101" pitchFamily="50" charset="-127"/>
      <p:bold r:id="rId35"/>
    </p:embeddedFont>
    <p:embeddedFont>
      <p:font typeface="나눔스퀘어라운드 ExtraBold" panose="020B0600000101010101" pitchFamily="50" charset="-127"/>
      <p:bold r:id="rId36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 varScale="1">
        <p:scale>
          <a:sx n="108" d="100"/>
          <a:sy n="108" d="100"/>
        </p:scale>
        <p:origin x="114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2024-11-17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2024-11-17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67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13ADC843-B75A-4496-9A0F-7D56B7B0FAB4}" type="slidenum">
              <a:rPr lang="ko-KR" altLang="en-US"/>
              <a:pPr eaLnBrk="1" hangingPunct="1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136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7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67343DB3-08D9-4858-8136-09A484A3AFEF}" type="slidenum">
              <a:rPr lang="ko-KR" altLang="en-US"/>
              <a:pPr eaLnBrk="1" hangingPunct="1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743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데이터베이스 서버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226857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11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데이터베이스 서버</a:t>
            </a:r>
          </a:p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b="1" dirty="0">
              <a:solidFill>
                <a:srgbClr val="FFFF0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898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/19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11/17/2024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11/17/2024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11/17/2024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11/17/2024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11/17/2024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11/17/2024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11/17/2024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11/17/2024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11/17/2024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11/17/2024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DBMS </a:t>
            </a:r>
            <a:r>
              <a:rPr lang="ko-KR" altLang="en-US" sz="2800" dirty="0"/>
              <a:t>개념 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6DF1E663-FDCC-80A6-DF07-DB2174B5D87B}"/>
              </a:ext>
            </a:extLst>
          </p:cNvPr>
          <p:cNvSpPr/>
          <p:nvPr/>
        </p:nvSpPr>
        <p:spPr>
          <a:xfrm>
            <a:off x="3131840" y="55890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597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6F0955-B12C-1DA6-4CD9-5DB28A994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13" y="1427709"/>
            <a:ext cx="7680773" cy="488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1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DBMS </a:t>
            </a:r>
            <a:r>
              <a:rPr lang="ko-KR" altLang="en-US" sz="2800" dirty="0"/>
              <a:t>개념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Autofit/>
          </a:bodyPr>
          <a:lstStyle/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D3AEB33-AB3C-AAE4-9F52-C09CE7E7BD27}"/>
              </a:ext>
            </a:extLst>
          </p:cNvPr>
          <p:cNvSpPr/>
          <p:nvPr/>
        </p:nvSpPr>
        <p:spPr>
          <a:xfrm>
            <a:off x="3131840" y="55890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598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7819F3-9593-9C79-717D-53D8A8487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11" y="1373709"/>
            <a:ext cx="8136904" cy="498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85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필수 </a:t>
            </a:r>
            <a:r>
              <a:rPr lang="en-US" altLang="ko-KR" sz="2800" dirty="0"/>
              <a:t>SQL </a:t>
            </a:r>
            <a:r>
              <a:rPr lang="ko-KR" altLang="en-US" sz="2800" dirty="0"/>
              <a:t>구문 </a:t>
            </a:r>
            <a:r>
              <a:rPr lang="en-US" altLang="ko-KR" sz="2800" dirty="0"/>
              <a:t>(1) 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 lnSpcReduction="10000"/>
          </a:bodyPr>
          <a:lstStyle/>
          <a:p>
            <a:pPr eaLnBrk="1" hangingPunct="1">
              <a:buFont typeface="Georgia" panose="02040502050405020303" pitchFamily="18" charset="0"/>
              <a:buNone/>
              <a:defRPr/>
            </a:pPr>
            <a:r>
              <a:rPr lang="en-US" altLang="ko-KR" dirty="0"/>
              <a:t>(1) </a:t>
            </a:r>
            <a:r>
              <a:rPr lang="ko-KR" altLang="en-US" dirty="0"/>
              <a:t>데이터베이스 관련 </a:t>
            </a:r>
            <a:r>
              <a:rPr lang="en-US" altLang="ko-KR" dirty="0"/>
              <a:t>SQL </a:t>
            </a:r>
            <a:r>
              <a:rPr lang="ko-KR" altLang="en-US" dirty="0"/>
              <a:t>문</a:t>
            </a:r>
            <a:endParaRPr lang="en-US" altLang="ko-KR" dirty="0"/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DB </a:t>
            </a:r>
            <a:r>
              <a:rPr lang="ko-KR" altLang="en-US" dirty="0"/>
              <a:t>이름 조회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SHOW DATABASES;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SHOW DATABASES;</a:t>
            </a:r>
          </a:p>
          <a:p>
            <a:pPr>
              <a:defRPr/>
            </a:pPr>
            <a:r>
              <a:rPr lang="ko-KR" altLang="en-US" dirty="0"/>
              <a:t>사용할 </a:t>
            </a:r>
            <a:r>
              <a:rPr lang="en-US" altLang="ko-KR" dirty="0"/>
              <a:t>DB </a:t>
            </a:r>
            <a:r>
              <a:rPr lang="ko-KR" altLang="en-US" dirty="0"/>
              <a:t>지정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USE </a:t>
            </a:r>
            <a:r>
              <a:rPr lang="ko-KR" altLang="en-US" sz="2000" dirty="0"/>
              <a:t>데이터베이스이름</a:t>
            </a:r>
            <a:r>
              <a:rPr lang="en-US" altLang="ko-KR" sz="2000" dirty="0"/>
              <a:t>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USE </a:t>
            </a:r>
            <a:r>
              <a:rPr lang="en-US" altLang="ko-KR" sz="2000" dirty="0" err="1"/>
              <a:t>shopping_db</a:t>
            </a:r>
            <a:r>
              <a:rPr lang="en-US" altLang="ko-KR" sz="2000" dirty="0"/>
              <a:t>;</a:t>
            </a:r>
          </a:p>
          <a:p>
            <a:pPr>
              <a:defRPr/>
            </a:pPr>
            <a:r>
              <a:rPr lang="en-US" altLang="ko-KR" dirty="0"/>
              <a:t>DB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CREATE DATABASE </a:t>
            </a:r>
            <a:r>
              <a:rPr lang="ko-KR" altLang="en-US" sz="2000" dirty="0"/>
              <a:t>데이터베이스이름 </a:t>
            </a:r>
            <a:r>
              <a:rPr lang="en-US" altLang="ko-KR" sz="2000" dirty="0"/>
              <a:t>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CREATE DATABASE </a:t>
            </a:r>
            <a:r>
              <a:rPr lang="en-US" altLang="ko-KR" sz="2000" dirty="0" err="1"/>
              <a:t>shopping_db</a:t>
            </a:r>
            <a:r>
              <a:rPr lang="en-US" altLang="ko-KR" sz="2000" dirty="0"/>
              <a:t> ;</a:t>
            </a:r>
          </a:p>
          <a:p>
            <a:pPr>
              <a:defRPr/>
            </a:pPr>
            <a:r>
              <a:rPr lang="en-US" altLang="ko-KR" dirty="0"/>
              <a:t>DB </a:t>
            </a:r>
            <a:r>
              <a:rPr lang="ko-KR" altLang="en-US" dirty="0"/>
              <a:t>삭제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DROP DATABASE </a:t>
            </a:r>
            <a:r>
              <a:rPr lang="ko-KR" altLang="en-US" sz="2000" dirty="0"/>
              <a:t>데이터베이스이름</a:t>
            </a:r>
            <a:r>
              <a:rPr lang="en-US" altLang="ko-KR" sz="2000" dirty="0"/>
              <a:t>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DROP DATABASE </a:t>
            </a:r>
            <a:r>
              <a:rPr lang="en-US" altLang="ko-KR" sz="2000" dirty="0" err="1"/>
              <a:t>shopping_db</a:t>
            </a:r>
            <a:r>
              <a:rPr lang="en-US" altLang="ko-KR" sz="2000" dirty="0"/>
              <a:t>;</a:t>
            </a:r>
          </a:p>
          <a:p>
            <a:pPr lvl="1">
              <a:defRPr/>
            </a:pPr>
            <a:endParaRPr lang="en-US" altLang="ko-KR" sz="1800" dirty="0"/>
          </a:p>
          <a:p>
            <a:pPr lvl="1">
              <a:defRPr/>
            </a:pPr>
            <a:endParaRPr lang="en-US" altLang="ko-KR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001B085-06F7-E736-9C22-9D354BB16763}"/>
              </a:ext>
            </a:extLst>
          </p:cNvPr>
          <p:cNvSpPr/>
          <p:nvPr/>
        </p:nvSpPr>
        <p:spPr>
          <a:xfrm>
            <a:off x="3564435" y="55890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602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3D372E41-C229-74B3-EF0F-457661E17FC9}"/>
              </a:ext>
            </a:extLst>
          </p:cNvPr>
          <p:cNvSpPr/>
          <p:nvPr/>
        </p:nvSpPr>
        <p:spPr>
          <a:xfrm>
            <a:off x="4868498" y="1745351"/>
            <a:ext cx="3888941" cy="576064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구문의 끝에는 세미콜론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(;)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찍어 주자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3820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필수 </a:t>
            </a:r>
            <a:r>
              <a:rPr lang="en-US" altLang="ko-KR" sz="2800" dirty="0"/>
              <a:t>SQL </a:t>
            </a:r>
            <a:r>
              <a:rPr lang="ko-KR" altLang="en-US" sz="2800" dirty="0"/>
              <a:t>구문 </a:t>
            </a:r>
            <a:r>
              <a:rPr lang="en-US" altLang="ko-KR" sz="2800" dirty="0"/>
              <a:t>(2)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Georgia" panose="02040502050405020303" pitchFamily="18" charset="0"/>
              <a:buNone/>
              <a:defRPr/>
            </a:pPr>
            <a:r>
              <a:rPr lang="en-US" altLang="ko-KR" dirty="0"/>
              <a:t>(2) </a:t>
            </a:r>
            <a:r>
              <a:rPr lang="ko-KR" altLang="en-US" dirty="0"/>
              <a:t>테이블 관련 </a:t>
            </a:r>
            <a:r>
              <a:rPr lang="en-US" altLang="ko-KR" dirty="0"/>
              <a:t>SQL </a:t>
            </a:r>
            <a:r>
              <a:rPr lang="ko-KR" altLang="en-US" dirty="0"/>
              <a:t>문</a:t>
            </a:r>
            <a:endParaRPr lang="en-US" altLang="ko-KR" dirty="0"/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테이블 이름 조회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SHOW TABLES;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SHOW TABLES;</a:t>
            </a:r>
          </a:p>
          <a:p>
            <a:pPr>
              <a:defRPr/>
            </a:pPr>
            <a:r>
              <a:rPr lang="ko-KR" altLang="en-US" dirty="0"/>
              <a:t>테이블 구조</a:t>
            </a:r>
            <a:r>
              <a:rPr lang="en-US" altLang="ko-KR" dirty="0"/>
              <a:t>(</a:t>
            </a:r>
            <a:r>
              <a:rPr lang="ko-KR" altLang="en-US" dirty="0"/>
              <a:t>형태</a:t>
            </a:r>
            <a:r>
              <a:rPr lang="en-US" altLang="ko-KR" dirty="0"/>
              <a:t>) </a:t>
            </a:r>
            <a:r>
              <a:rPr lang="ko-KR" altLang="en-US" dirty="0"/>
              <a:t>조회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EXPLAIN </a:t>
            </a:r>
            <a:r>
              <a:rPr lang="ko-KR" altLang="en-US" sz="2000" dirty="0"/>
              <a:t>테이블이름</a:t>
            </a:r>
            <a:r>
              <a:rPr lang="en-US" altLang="ko-KR" sz="2000" dirty="0"/>
              <a:t>; </a:t>
            </a:r>
            <a:r>
              <a:rPr lang="ko-KR" altLang="en-US" sz="2000" dirty="0"/>
              <a:t>또는</a:t>
            </a:r>
            <a:r>
              <a:rPr lang="en-US" altLang="ko-KR" sz="2000" dirty="0"/>
              <a:t>DESC </a:t>
            </a:r>
            <a:r>
              <a:rPr lang="ko-KR" altLang="en-US" sz="2000" dirty="0"/>
              <a:t>테이블이름</a:t>
            </a:r>
            <a:r>
              <a:rPr lang="en-US" altLang="ko-KR" sz="2000" dirty="0"/>
              <a:t>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EXPLAIN customer;</a:t>
            </a:r>
          </a:p>
          <a:p>
            <a:pPr>
              <a:defRPr/>
            </a:pPr>
            <a:r>
              <a:rPr lang="ko-KR" altLang="en-US" dirty="0"/>
              <a:t>테이블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CREATE TABLE </a:t>
            </a:r>
            <a:r>
              <a:rPr lang="ko-KR" altLang="en-US" sz="2000" dirty="0"/>
              <a:t>테이블이름 </a:t>
            </a:r>
            <a:r>
              <a:rPr lang="en-US" altLang="ko-KR" sz="2000" dirty="0"/>
              <a:t>(</a:t>
            </a:r>
            <a:r>
              <a:rPr lang="ko-KR" altLang="en-US" sz="2000" dirty="0"/>
              <a:t>필드이름</a:t>
            </a:r>
            <a:r>
              <a:rPr lang="en-US" altLang="ko-KR" sz="2000" dirty="0"/>
              <a:t>1 </a:t>
            </a:r>
            <a:r>
              <a:rPr lang="ko-KR" altLang="en-US" sz="2000" dirty="0"/>
              <a:t>필드타입</a:t>
            </a:r>
            <a:r>
              <a:rPr lang="en-US" altLang="ko-KR" sz="2000" dirty="0"/>
              <a:t>1, </a:t>
            </a:r>
            <a:r>
              <a:rPr lang="ko-KR" altLang="en-US" sz="2000" dirty="0"/>
              <a:t>필드이름</a:t>
            </a:r>
            <a:r>
              <a:rPr lang="en-US" altLang="ko-KR" sz="2000" dirty="0"/>
              <a:t>2 </a:t>
            </a:r>
            <a:r>
              <a:rPr lang="ko-KR" altLang="en-US" sz="2000" dirty="0"/>
              <a:t>필드타입</a:t>
            </a:r>
            <a:r>
              <a:rPr lang="en-US" altLang="ko-KR" sz="2000" dirty="0"/>
              <a:t>2, … …) 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CREATE TABLE customer (id CHAR(10), name VARCHAR(10), age INT, ADDRESS VARCHAR(30));</a:t>
            </a:r>
          </a:p>
          <a:p>
            <a:pPr>
              <a:defRPr/>
            </a:pPr>
            <a:r>
              <a:rPr lang="ko-KR" altLang="en-US" dirty="0"/>
              <a:t>테이블</a:t>
            </a:r>
            <a:r>
              <a:rPr lang="en-US" altLang="ko-KR" dirty="0"/>
              <a:t> </a:t>
            </a:r>
            <a:r>
              <a:rPr lang="ko-KR" altLang="en-US" dirty="0"/>
              <a:t>삭제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DROP TABLE </a:t>
            </a:r>
            <a:r>
              <a:rPr lang="ko-KR" altLang="en-US" sz="2000" dirty="0"/>
              <a:t>테이블이름</a:t>
            </a:r>
            <a:r>
              <a:rPr lang="en-US" altLang="ko-KR" sz="2000" dirty="0"/>
              <a:t>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DROP TABLE customer;</a:t>
            </a:r>
            <a:endParaRPr lang="en-US" altLang="ko-KR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7ED3863-7C27-26BB-B07F-4FCBAC0C8F0E}"/>
              </a:ext>
            </a:extLst>
          </p:cNvPr>
          <p:cNvSpPr/>
          <p:nvPr/>
        </p:nvSpPr>
        <p:spPr>
          <a:xfrm>
            <a:off x="3564435" y="55890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603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35DC2EB4-2DCF-920A-AD89-59BFDBC5DB26}"/>
              </a:ext>
            </a:extLst>
          </p:cNvPr>
          <p:cNvSpPr/>
          <p:nvPr/>
        </p:nvSpPr>
        <p:spPr>
          <a:xfrm>
            <a:off x="5364088" y="998639"/>
            <a:ext cx="3227708" cy="2132242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형의 종류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•VARCHAR(n)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가변 길이 문자열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•CHAR(n)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고정 길이 문자열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•INT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정수형 숫자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•FLOAT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실수형 숫자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•DATE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날짜를 저장함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•TIME :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시간을 저장함</a:t>
            </a:r>
          </a:p>
        </p:txBody>
      </p:sp>
    </p:spTree>
    <p:extLst>
      <p:ext uri="{BB962C8B-B14F-4D97-AF65-F5344CB8AC3E}">
        <p14:creationId xmlns:p14="http://schemas.microsoft.com/office/powerpoint/2010/main" val="68699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필수 </a:t>
            </a:r>
            <a:r>
              <a:rPr lang="en-US" altLang="ko-KR" sz="2800" dirty="0"/>
              <a:t>SQL </a:t>
            </a:r>
            <a:r>
              <a:rPr lang="ko-KR" altLang="en-US" sz="2800" dirty="0"/>
              <a:t>구문 </a:t>
            </a:r>
            <a:r>
              <a:rPr lang="en-US" altLang="ko-KR" sz="2800" dirty="0"/>
              <a:t>(3)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 lnSpcReduction="10000"/>
          </a:bodyPr>
          <a:lstStyle/>
          <a:p>
            <a:pPr eaLnBrk="1" hangingPunct="1">
              <a:buFont typeface="Georgia" panose="02040502050405020303" pitchFamily="18" charset="0"/>
              <a:buNone/>
              <a:defRPr/>
            </a:pPr>
            <a:r>
              <a:rPr lang="en-US" altLang="ko-KR" dirty="0"/>
              <a:t>(2) </a:t>
            </a:r>
            <a:r>
              <a:rPr lang="ko-KR" altLang="en-US" dirty="0"/>
              <a:t>테이블 운영과 관련된 </a:t>
            </a:r>
            <a:r>
              <a:rPr lang="en-US" altLang="ko-KR" dirty="0"/>
              <a:t>SQL </a:t>
            </a:r>
            <a:r>
              <a:rPr lang="ko-KR" altLang="en-US" dirty="0"/>
              <a:t>문 </a:t>
            </a:r>
            <a:r>
              <a:rPr lang="en-US" altLang="ko-KR" dirty="0"/>
              <a:t>&lt;</a:t>
            </a:r>
            <a:r>
              <a:rPr lang="ko-KR" altLang="en-US" dirty="0"/>
              <a:t>계속</a:t>
            </a:r>
            <a:r>
              <a:rPr lang="en-US" altLang="ko-KR" dirty="0"/>
              <a:t>&gt;</a:t>
            </a:r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테이블 수정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ALTER TABLE </a:t>
            </a:r>
            <a:r>
              <a:rPr lang="ko-KR" altLang="en-US" sz="2000" dirty="0"/>
              <a:t>옵션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ALTER TABLE customer MODIFY name CHAR(20);</a:t>
            </a:r>
          </a:p>
          <a:p>
            <a:pPr marL="411162" lvl="1" indent="0">
              <a:buNone/>
              <a:defRPr/>
            </a:pPr>
            <a:r>
              <a:rPr lang="en-US" altLang="ko-KR" sz="2000" dirty="0"/>
              <a:t>        ALTER TABLE customer CHANGE name </a:t>
            </a:r>
            <a:r>
              <a:rPr lang="en-US" altLang="ko-KR" sz="2000" dirty="0" err="1"/>
              <a:t>fullname</a:t>
            </a:r>
            <a:r>
              <a:rPr lang="en-US" altLang="ko-KR" sz="2000" dirty="0"/>
              <a:t> CHAR(10);</a:t>
            </a:r>
          </a:p>
          <a:p>
            <a:pPr marL="411162" lvl="1" indent="0">
              <a:buNone/>
              <a:defRPr/>
            </a:pPr>
            <a:r>
              <a:rPr lang="en-US" altLang="ko-KR" sz="2000" dirty="0"/>
              <a:t>        ALTER TABLE customer ADD phone VARCHAR(20) AFTER name;</a:t>
            </a:r>
          </a:p>
          <a:p>
            <a:pPr marL="411162" lvl="1" indent="0">
              <a:buNone/>
              <a:defRPr/>
            </a:pPr>
            <a:r>
              <a:rPr lang="en-US" altLang="ko-KR" sz="2000" dirty="0"/>
              <a:t>        ALTER TABLE customer DROP age ;</a:t>
            </a:r>
          </a:p>
          <a:p>
            <a:pPr>
              <a:defRPr/>
            </a:pPr>
            <a:r>
              <a:rPr lang="ko-KR" altLang="en-US" dirty="0"/>
              <a:t>테이블 조회 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SELECT </a:t>
            </a:r>
            <a:r>
              <a:rPr lang="ko-KR" altLang="en-US" sz="2000" dirty="0"/>
              <a:t>필드이름</a:t>
            </a:r>
            <a:r>
              <a:rPr lang="en-US" altLang="ko-KR" sz="2000" dirty="0"/>
              <a:t>1, </a:t>
            </a:r>
            <a:r>
              <a:rPr lang="ko-KR" altLang="en-US" sz="2000" dirty="0"/>
              <a:t>필드이름</a:t>
            </a:r>
            <a:r>
              <a:rPr lang="en-US" altLang="ko-KR" sz="2000" dirty="0"/>
              <a:t>2…… FROM </a:t>
            </a:r>
            <a:r>
              <a:rPr lang="ko-KR" altLang="en-US" sz="2000" dirty="0"/>
              <a:t>테이블이름 </a:t>
            </a:r>
            <a:br>
              <a:rPr lang="en-US" altLang="ko-KR" sz="2000" dirty="0"/>
            </a:br>
            <a:r>
              <a:rPr lang="en-US" altLang="ko-KR" sz="2000" dirty="0"/>
              <a:t>         </a:t>
            </a:r>
            <a:r>
              <a:rPr lang="ko-KR" altLang="en-US" sz="2000" dirty="0"/>
              <a:t> </a:t>
            </a:r>
            <a:r>
              <a:rPr lang="en-US" altLang="ko-KR" sz="2000" dirty="0"/>
              <a:t>WHERE </a:t>
            </a:r>
            <a:r>
              <a:rPr lang="ko-KR" altLang="en-US" sz="2000" dirty="0"/>
              <a:t>조건 </a:t>
            </a:r>
            <a:r>
              <a:rPr lang="en-US" altLang="ko-KR" sz="2000" dirty="0"/>
              <a:t>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SELECT * FROM customer;</a:t>
            </a:r>
          </a:p>
          <a:p>
            <a:pPr marL="411162" lvl="1" indent="0">
              <a:buNone/>
              <a:defRPr/>
            </a:pPr>
            <a:r>
              <a:rPr lang="en-US" altLang="ko-KR" sz="2000" dirty="0"/>
              <a:t>        SELECT id, name FROM customer;</a:t>
            </a:r>
          </a:p>
          <a:p>
            <a:pPr marL="411162" lvl="1" indent="0">
              <a:buNone/>
              <a:defRPr/>
            </a:pPr>
            <a:r>
              <a:rPr lang="en-US" altLang="ko-KR" sz="2000" dirty="0"/>
              <a:t>        SELECT id, name FROM customer WHERE id =‘ JISOO’;</a:t>
            </a:r>
          </a:p>
          <a:p>
            <a:pPr marL="411162" lvl="1" indent="0">
              <a:buNone/>
              <a:defRPr/>
            </a:pPr>
            <a:r>
              <a:rPr lang="en-US" altLang="ko-KR" sz="2000" dirty="0"/>
              <a:t>        SELECT id, name FROM customer WHERE age &gt; 25;</a:t>
            </a:r>
          </a:p>
          <a:p>
            <a:pPr lvl="1">
              <a:defRPr/>
            </a:pPr>
            <a:endParaRPr lang="en-US" altLang="ko-KR" sz="1800" dirty="0"/>
          </a:p>
          <a:p>
            <a:pPr lvl="1">
              <a:defRPr/>
            </a:pPr>
            <a:endParaRPr lang="en-US" altLang="ko-KR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76395C2-CBBC-FBAE-ABEE-E1CF88FA609E}"/>
              </a:ext>
            </a:extLst>
          </p:cNvPr>
          <p:cNvSpPr/>
          <p:nvPr/>
        </p:nvSpPr>
        <p:spPr>
          <a:xfrm>
            <a:off x="3564435" y="55890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605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09487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필수 </a:t>
            </a:r>
            <a:r>
              <a:rPr lang="en-US" altLang="ko-KR" sz="2800" dirty="0"/>
              <a:t>SQL </a:t>
            </a:r>
            <a:r>
              <a:rPr lang="ko-KR" altLang="en-US" sz="2800" dirty="0"/>
              <a:t>구문 </a:t>
            </a:r>
            <a:r>
              <a:rPr lang="en-US" altLang="ko-KR" sz="2800" dirty="0"/>
              <a:t>(3)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>
              <a:buFont typeface="Georgia" panose="02040502050405020303" pitchFamily="18" charset="0"/>
              <a:buNone/>
              <a:defRPr/>
            </a:pPr>
            <a:r>
              <a:rPr lang="en-US" altLang="ko-KR" dirty="0"/>
              <a:t>(3) </a:t>
            </a:r>
            <a:r>
              <a:rPr lang="ko-KR" altLang="en-US" dirty="0"/>
              <a:t>레코드 삽입</a:t>
            </a:r>
            <a:r>
              <a:rPr lang="en-US" altLang="ko-KR" dirty="0"/>
              <a:t>/</a:t>
            </a:r>
            <a:r>
              <a:rPr lang="ko-KR" altLang="en-US" dirty="0"/>
              <a:t>삭제</a:t>
            </a:r>
            <a:r>
              <a:rPr lang="en-US" altLang="ko-KR" dirty="0"/>
              <a:t>/</a:t>
            </a:r>
            <a:r>
              <a:rPr lang="ko-KR" altLang="en-US" dirty="0"/>
              <a:t>수정과 관련 </a:t>
            </a:r>
            <a:r>
              <a:rPr lang="en-US" altLang="ko-KR" dirty="0"/>
              <a:t>SQL </a:t>
            </a:r>
            <a:r>
              <a:rPr lang="ko-KR" altLang="en-US" dirty="0"/>
              <a:t>문</a:t>
            </a: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sz="2800" dirty="0"/>
          </a:p>
          <a:p>
            <a:pPr>
              <a:defRPr/>
            </a:pPr>
            <a:r>
              <a:rPr lang="ko-KR" altLang="en-US" dirty="0"/>
              <a:t>레코드 입력 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INSERT INTO </a:t>
            </a:r>
            <a:r>
              <a:rPr lang="ko-KR" altLang="en-US" sz="2000" dirty="0"/>
              <a:t>테이블이름 </a:t>
            </a:r>
            <a:r>
              <a:rPr lang="en-US" altLang="ko-KR" sz="2000" dirty="0"/>
              <a:t>VALUES (</a:t>
            </a:r>
            <a:r>
              <a:rPr lang="ko-KR" altLang="en-US" sz="2000" dirty="0"/>
              <a:t>값</a:t>
            </a:r>
            <a:r>
              <a:rPr lang="en-US" altLang="ko-KR" sz="2000" dirty="0"/>
              <a:t>1, </a:t>
            </a:r>
            <a:r>
              <a:rPr lang="ko-KR" altLang="en-US" sz="2000" dirty="0"/>
              <a:t>값</a:t>
            </a:r>
            <a:r>
              <a:rPr lang="en-US" altLang="ko-KR" sz="2000" dirty="0"/>
              <a:t>2, … …);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INSERT INTO customer VALUES( ‘JISOO’ , ‘</a:t>
            </a:r>
            <a:r>
              <a:rPr lang="ko-KR" altLang="en-US" sz="2000" dirty="0"/>
              <a:t>지수’ </a:t>
            </a:r>
            <a:r>
              <a:rPr lang="en-US" altLang="ko-KR" sz="2000" dirty="0"/>
              <a:t>, 29, ‘</a:t>
            </a:r>
            <a:r>
              <a:rPr lang="ko-KR" altLang="en-US" sz="2000" dirty="0"/>
              <a:t>경기’</a:t>
            </a:r>
            <a:r>
              <a:rPr lang="en-US" altLang="ko-KR" sz="2000" dirty="0"/>
              <a:t>);</a:t>
            </a:r>
          </a:p>
          <a:p>
            <a:pPr>
              <a:defRPr/>
            </a:pPr>
            <a:r>
              <a:rPr lang="ko-KR" altLang="en-US" dirty="0"/>
              <a:t>레코드 삭제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DELETE FROM </a:t>
            </a:r>
            <a:r>
              <a:rPr lang="ko-KR" altLang="en-US" sz="2000" dirty="0"/>
              <a:t>테이블이름</a:t>
            </a:r>
            <a:r>
              <a:rPr lang="en-US" altLang="ko-KR" sz="2000" dirty="0"/>
              <a:t>WHERE </a:t>
            </a:r>
            <a:r>
              <a:rPr lang="ko-KR" altLang="en-US" sz="2000" dirty="0"/>
              <a:t>조건</a:t>
            </a:r>
            <a:r>
              <a:rPr lang="en-US" altLang="ko-KR" sz="2000" dirty="0"/>
              <a:t>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DELETE FROM customer WHERE id=‘JISOO’;</a:t>
            </a:r>
          </a:p>
          <a:p>
            <a:pPr>
              <a:defRPr/>
            </a:pPr>
            <a:r>
              <a:rPr lang="ko-KR" altLang="en-US" dirty="0"/>
              <a:t>레코드 수정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구문 </a:t>
            </a:r>
            <a:r>
              <a:rPr lang="en-US" altLang="ko-KR" sz="2000" dirty="0"/>
              <a:t>: UPDATE </a:t>
            </a:r>
            <a:r>
              <a:rPr lang="ko-KR" altLang="en-US" sz="2000" dirty="0"/>
              <a:t>테이블이름 </a:t>
            </a:r>
            <a:r>
              <a:rPr lang="en-US" altLang="ko-KR" sz="2000" dirty="0"/>
              <a:t>SET </a:t>
            </a:r>
            <a:r>
              <a:rPr lang="ko-KR" altLang="en-US" sz="2000" dirty="0"/>
              <a:t>필드이름</a:t>
            </a:r>
            <a:r>
              <a:rPr lang="en-US" altLang="ko-KR" sz="2000" dirty="0"/>
              <a:t>1 = </a:t>
            </a:r>
            <a:r>
              <a:rPr lang="ko-KR" altLang="en-US" sz="2000" dirty="0" err="1"/>
              <a:t>수정할값</a:t>
            </a:r>
            <a:r>
              <a:rPr lang="en-US" altLang="ko-KR" sz="2000" dirty="0"/>
              <a:t>1, </a:t>
            </a:r>
            <a:r>
              <a:rPr lang="ko-KR" altLang="en-US" sz="2000" dirty="0"/>
              <a:t>필드이름</a:t>
            </a:r>
            <a:r>
              <a:rPr lang="en-US" altLang="ko-KR" sz="2000" dirty="0"/>
              <a:t>2 = </a:t>
            </a:r>
            <a:r>
              <a:rPr lang="ko-KR" altLang="en-US" sz="2000" dirty="0" err="1"/>
              <a:t>수정할값</a:t>
            </a:r>
            <a:r>
              <a:rPr lang="en-US" altLang="ko-KR" sz="2000" dirty="0"/>
              <a:t>2 ....... WHERE </a:t>
            </a:r>
            <a:r>
              <a:rPr lang="ko-KR" altLang="en-US" sz="2000" dirty="0"/>
              <a:t>조건</a:t>
            </a:r>
            <a:r>
              <a:rPr lang="en-US" altLang="ko-KR" sz="2000" dirty="0"/>
              <a:t>;</a:t>
            </a:r>
          </a:p>
          <a:p>
            <a:pPr marL="411162" lvl="1" indent="0">
              <a:buNone/>
              <a:defRPr/>
            </a:pPr>
            <a:r>
              <a:rPr lang="ko-KR" altLang="en-US" sz="2000" dirty="0"/>
              <a:t>   예</a:t>
            </a:r>
            <a:r>
              <a:rPr lang="en-US" altLang="ko-KR" sz="2000" dirty="0"/>
              <a:t>) UPDATE customer age=25 WHERE id=‘JISOO’;</a:t>
            </a:r>
          </a:p>
          <a:p>
            <a:pPr lvl="1">
              <a:defRPr/>
            </a:pPr>
            <a:endParaRPr lang="en-US" altLang="ko-KR" sz="1800" dirty="0"/>
          </a:p>
          <a:p>
            <a:pPr lvl="1">
              <a:defRPr/>
            </a:pPr>
            <a:endParaRPr lang="en-US" altLang="ko-KR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76395C2-CBBC-FBAE-ABEE-E1CF88FA609E}"/>
              </a:ext>
            </a:extLst>
          </p:cNvPr>
          <p:cNvSpPr/>
          <p:nvPr/>
        </p:nvSpPr>
        <p:spPr>
          <a:xfrm>
            <a:off x="3564435" y="55890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606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3533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MySQL</a:t>
            </a:r>
            <a:r>
              <a:rPr lang="ko-KR" altLang="en-US" sz="2800" dirty="0"/>
              <a:t>의</a:t>
            </a:r>
            <a:r>
              <a:rPr lang="en-US" altLang="ko-KR" sz="2800" dirty="0"/>
              <a:t> </a:t>
            </a:r>
            <a:r>
              <a:rPr lang="ko-KR" altLang="en-US" sz="2800" dirty="0"/>
              <a:t>설치와 운영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가상 시나리오 </a:t>
            </a:r>
            <a:endParaRPr lang="en-US" altLang="ko-KR" dirty="0"/>
          </a:p>
          <a:p>
            <a:pPr marL="411162" lvl="1" indent="0">
              <a:buNone/>
              <a:defRPr/>
            </a:pPr>
            <a:endParaRPr lang="en-US" altLang="ko-KR" sz="2000" dirty="0"/>
          </a:p>
          <a:p>
            <a:pPr marL="411162" lvl="1" indent="0">
              <a:buNone/>
              <a:defRPr/>
            </a:pPr>
            <a:r>
              <a:rPr lang="ko-KR" altLang="en-US" sz="2000" dirty="0"/>
              <a:t>여러분은 오프라인 쇼핑몰 회사의 </a:t>
            </a:r>
            <a:r>
              <a:rPr lang="en-US" altLang="ko-KR" sz="2000" dirty="0"/>
              <a:t>IT </a:t>
            </a:r>
            <a:r>
              <a:rPr lang="ko-KR" altLang="en-US" sz="2000" dirty="0"/>
              <a:t>부서에 신입 사원으로 취직했다</a:t>
            </a:r>
            <a:r>
              <a:rPr lang="en-US" altLang="ko-KR" sz="2000" dirty="0"/>
              <a:t>. </a:t>
            </a:r>
            <a:r>
              <a:rPr lang="ko-KR" altLang="en-US" sz="2000" dirty="0"/>
              <a:t>처음으로 참여한 회의의 주제는 오프라인 쇼핑몰과 연동한 온라인 쇼핑몰 구축이다</a:t>
            </a:r>
            <a:r>
              <a:rPr lang="en-US" altLang="ko-KR" sz="2000" dirty="0"/>
              <a:t>. </a:t>
            </a:r>
            <a:r>
              <a:rPr lang="ko-KR" altLang="en-US" sz="2000" dirty="0"/>
              <a:t>팀원 중 웹 프로그래머와 웹 디자이너가 있어 웹사이트 구축은 문제 없을 것 같은데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데이터베이스 관리자가 별도로 없어서 모두 고민 중이다</a:t>
            </a:r>
            <a:r>
              <a:rPr lang="en-US" altLang="ko-KR" sz="2000" dirty="0"/>
              <a:t>. </a:t>
            </a:r>
            <a:r>
              <a:rPr lang="ko-KR" altLang="en-US" sz="2000" dirty="0"/>
              <a:t>또 다른 문제는 비용이다</a:t>
            </a:r>
            <a:r>
              <a:rPr lang="en-US" altLang="ko-KR" sz="2000" dirty="0"/>
              <a:t>. </a:t>
            </a:r>
            <a:r>
              <a:rPr lang="ko-KR" altLang="en-US" sz="2000" dirty="0"/>
              <a:t>아직은 시범 시스템을 구축하는 단계여서 별도의 하드웨어나 소프트웨어를 구매할 수 없는 상황이다</a:t>
            </a:r>
            <a:r>
              <a:rPr lang="en-US" altLang="ko-KR" sz="2000" dirty="0"/>
              <a:t>. </a:t>
            </a:r>
            <a:r>
              <a:rPr lang="ko-KR" altLang="en-US" sz="2000" dirty="0"/>
              <a:t>그렇다고 기존 데이터베이스 서버에 시범 운영할 시스템을 같이 </a:t>
            </a:r>
            <a:r>
              <a:rPr lang="ko-KR" altLang="en-US" sz="2000" dirty="0" err="1"/>
              <a:t>사용하려니</a:t>
            </a:r>
            <a:r>
              <a:rPr lang="ko-KR" altLang="en-US" sz="2000" dirty="0"/>
              <a:t> 아무래도 기존에 운영하던 시스템이 느려질 것 </a:t>
            </a:r>
            <a:r>
              <a:rPr lang="ko-KR" altLang="en-US" sz="2000" dirty="0" err="1"/>
              <a:t>같아서불안하다</a:t>
            </a:r>
            <a:r>
              <a:rPr lang="en-US" altLang="ko-KR" sz="2000" dirty="0"/>
              <a:t>. </a:t>
            </a:r>
            <a:r>
              <a:rPr lang="ko-KR" altLang="en-US" sz="2000" dirty="0"/>
              <a:t>이때 신입 사원인 여러분이 조용히 손을 들고 “제가 데이터베이스 구축을 책임지겠습니다</a:t>
            </a:r>
            <a:r>
              <a:rPr lang="en-US" altLang="ko-KR" sz="2000" dirty="0"/>
              <a:t>.”</a:t>
            </a:r>
            <a:r>
              <a:rPr lang="ko-KR" altLang="en-US" sz="2000" dirty="0"/>
              <a:t>라고 말해버렸다</a:t>
            </a:r>
            <a:r>
              <a:rPr lang="en-US" altLang="ko-KR" sz="2000" dirty="0"/>
              <a:t>. </a:t>
            </a:r>
            <a:r>
              <a:rPr lang="ko-KR" altLang="en-US" sz="2000" dirty="0"/>
              <a:t>막상 큰 소리는 쳤으나 난감한 상황이 아닐 수 없다</a:t>
            </a:r>
            <a:endParaRPr lang="en-US" altLang="ko-KR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81F0864B-B48D-D0C8-B400-BB42926414BE}"/>
              </a:ext>
            </a:extLst>
          </p:cNvPr>
          <p:cNvSpPr/>
          <p:nvPr/>
        </p:nvSpPr>
        <p:spPr>
          <a:xfrm>
            <a:off x="4139952" y="55890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607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443666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98A2E8-0DAE-4E63-B4FC-A972D5A3446D}"/>
              </a:ext>
            </a:extLst>
          </p:cNvPr>
          <p:cNvSpPr txBox="1">
            <a:spLocks/>
          </p:cNvSpPr>
          <p:nvPr/>
        </p:nvSpPr>
        <p:spPr bwMode="auto">
          <a:xfrm>
            <a:off x="773341" y="60976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DBMS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전용 서버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운영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46A5BE60-7C76-4D5D-A058-1A5EC3DD65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39188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Server </a:t>
            </a:r>
            <a:r>
              <a:rPr lang="ko-KR" altLang="en-US" sz="2000" dirty="0" err="1"/>
              <a:t>가상머신을</a:t>
            </a:r>
            <a:r>
              <a:rPr lang="ko-KR" altLang="en-US" sz="2000" dirty="0"/>
              <a:t> </a:t>
            </a:r>
            <a:r>
              <a:rPr lang="en-US" altLang="ko-KR" sz="2000" dirty="0"/>
              <a:t>DBMS </a:t>
            </a:r>
            <a:r>
              <a:rPr lang="ko-KR" altLang="en-US" sz="2000" dirty="0"/>
              <a:t>전용 서버로 운영하자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MySQL</a:t>
            </a:r>
            <a:r>
              <a:rPr lang="ko-KR" altLang="en-US" sz="2000" dirty="0"/>
              <a:t>을 </a:t>
            </a:r>
            <a:r>
              <a:rPr lang="en-US" altLang="ko-KR" sz="2000" dirty="0"/>
              <a:t>apt</a:t>
            </a:r>
            <a:r>
              <a:rPr lang="ko-KR" altLang="en-US" sz="2000" dirty="0"/>
              <a:t>로 설치한다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(MySQL </a:t>
            </a:r>
            <a:r>
              <a:rPr lang="ko-KR" altLang="en-US" dirty="0"/>
              <a:t>접속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8C406077-B210-B65E-0F26-3C1990C56E7E}"/>
              </a:ext>
            </a:extLst>
          </p:cNvPr>
          <p:cNvSpPr/>
          <p:nvPr/>
        </p:nvSpPr>
        <p:spPr>
          <a:xfrm>
            <a:off x="5364088" y="51518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607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9" name="그림 8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38FFF2C9-6D86-ED4E-4D30-9D8B1CD712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068960"/>
            <a:ext cx="5877169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6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+mn-ea"/>
                <a:ea typeface="+mn-ea"/>
              </a:rPr>
              <a:t>▶ </a:t>
            </a:r>
            <a:r>
              <a:rPr lang="ko-KR" altLang="en-US" sz="2400" dirty="0">
                <a:latin typeface="+mn-ea"/>
                <a:ea typeface="+mn-ea"/>
              </a:rPr>
              <a:t>힌트 없음</a:t>
            </a:r>
            <a:endParaRPr lang="en-US" altLang="ko-KR" sz="2400" dirty="0">
              <a:latin typeface="+mn-ea"/>
              <a:ea typeface="+mn-ea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806BB873-7A2B-CE4F-3FF6-072D62584728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610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6AEDFA-8BDA-65E0-A2C3-93664A8F131C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11-1 </a:t>
            </a:r>
          </a:p>
        </p:txBody>
      </p:sp>
    </p:spTree>
    <p:extLst>
      <p:ext uri="{BB962C8B-B14F-4D97-AF65-F5344CB8AC3E}">
        <p14:creationId xmlns:p14="http://schemas.microsoft.com/office/powerpoint/2010/main" val="81962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004E4-5607-4A7E-8815-E90FA4050C6A}"/>
              </a:ext>
            </a:extLst>
          </p:cNvPr>
          <p:cNvSpPr txBox="1">
            <a:spLocks/>
          </p:cNvSpPr>
          <p:nvPr/>
        </p:nvSpPr>
        <p:spPr bwMode="auto">
          <a:xfrm>
            <a:off x="773341" y="142234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Windows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에서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MySQL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접속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E34D4025-B641-4256-8962-5B1744B77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251765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2132855"/>
            <a:ext cx="8229600" cy="436795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MySQL</a:t>
            </a:r>
            <a:r>
              <a:rPr lang="ko-KR" altLang="en-US" sz="2000" dirty="0"/>
              <a:t>의 기본적인 보안을 설정하고</a:t>
            </a:r>
            <a:r>
              <a:rPr lang="en-US" altLang="ko-KR" sz="2000" dirty="0"/>
              <a:t>, Windows</a:t>
            </a:r>
            <a:r>
              <a:rPr lang="ko-KR" altLang="en-US" sz="2000" dirty="0"/>
              <a:t>에서 리눅스의 </a:t>
            </a:r>
            <a:r>
              <a:rPr lang="en-US" altLang="ko-KR" sz="2000" dirty="0"/>
              <a:t>MySQL </a:t>
            </a:r>
            <a:r>
              <a:rPr lang="ko-KR" altLang="en-US" sz="2000" dirty="0"/>
              <a:t>서버에 접속해서 사용하도록 설정하자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MySQL</a:t>
            </a:r>
            <a:r>
              <a:rPr lang="ko-KR" altLang="en-US" sz="2000" dirty="0"/>
              <a:t>의 보안에 대해서 이해한다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(Windows</a:t>
            </a:r>
            <a:r>
              <a:rPr lang="ko-KR" altLang="en-US" dirty="0"/>
              <a:t>에서 리눅스 </a:t>
            </a:r>
            <a:r>
              <a:rPr lang="en-US" altLang="ko-KR" dirty="0"/>
              <a:t>MySQL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접속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500063" y="697830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2800" dirty="0"/>
              <a:t>Windows</a:t>
            </a:r>
            <a:r>
              <a:rPr lang="ko-KR" altLang="en-US" sz="2800" dirty="0"/>
              <a:t>에서 리눅스 </a:t>
            </a:r>
            <a:r>
              <a:rPr lang="en-US" altLang="ko-KR" sz="2800" dirty="0"/>
              <a:t>MySQL </a:t>
            </a:r>
            <a:r>
              <a:rPr lang="ko-KR" altLang="en-US" sz="2800" dirty="0"/>
              <a:t>서버로 접속</a:t>
            </a:r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2DC68113-1328-90F0-78A0-DB564BF3EB35}"/>
              </a:ext>
            </a:extLst>
          </p:cNvPr>
          <p:cNvSpPr/>
          <p:nvPr/>
        </p:nvSpPr>
        <p:spPr>
          <a:xfrm>
            <a:off x="7236296" y="593591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611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A40782C7-2554-7A23-E963-7EF6D1ADB245}"/>
              </a:ext>
            </a:extLst>
          </p:cNvPr>
          <p:cNvSpPr/>
          <p:nvPr/>
        </p:nvSpPr>
        <p:spPr>
          <a:xfrm>
            <a:off x="6588224" y="1309482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612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 descr="텍스트, 소프트웨어, 멀티미디어 소프트웨어, 폰트이(가) 표시된 사진&#10;&#10;자동 생성된 설명">
            <a:extLst>
              <a:ext uri="{FF2B5EF4-FFF2-40B4-BE49-F238E27FC236}">
                <a16:creationId xmlns:a16="http://schemas.microsoft.com/office/drawing/2014/main" id="{B94A6C0C-4263-CDC4-F299-15F5D808AE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149080"/>
            <a:ext cx="7580952" cy="2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841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2132855"/>
            <a:ext cx="8229600" cy="436795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[</a:t>
            </a:r>
            <a:r>
              <a:rPr lang="ko-KR" altLang="en-US" sz="2000" dirty="0"/>
              <a:t>그림 </a:t>
            </a:r>
            <a:r>
              <a:rPr lang="en-US" altLang="ko-KR" sz="2000" dirty="0"/>
              <a:t>11-1]</a:t>
            </a:r>
            <a:r>
              <a:rPr lang="ko-KR" altLang="en-US" sz="2000" dirty="0"/>
              <a:t>의 쇼핑몰 </a:t>
            </a:r>
            <a:r>
              <a:rPr lang="en-US" altLang="ko-KR" sz="2000" dirty="0"/>
              <a:t>DB</a:t>
            </a:r>
            <a:r>
              <a:rPr lang="ko-KR" altLang="en-US" sz="2000" dirty="0"/>
              <a:t>를 </a:t>
            </a:r>
            <a:r>
              <a:rPr lang="en-US" altLang="ko-KR" sz="2000" dirty="0"/>
              <a:t>MySQL </a:t>
            </a:r>
            <a:r>
              <a:rPr lang="ko-KR" altLang="en-US" sz="2000" dirty="0"/>
              <a:t>서버에 구축하자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SQL </a:t>
            </a:r>
            <a:r>
              <a:rPr lang="ko-KR" altLang="en-US" sz="2000" dirty="0"/>
              <a:t>구문에 대해 익숙해지도록 연습한다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</a:t>
            </a:r>
            <a:r>
              <a:rPr lang="ko-KR" altLang="en-US" dirty="0"/>
              <a:t>쇼핑몰 </a:t>
            </a:r>
            <a:r>
              <a:rPr lang="en-US" altLang="ko-KR" dirty="0"/>
              <a:t>DB </a:t>
            </a:r>
            <a:r>
              <a:rPr lang="ko-KR" altLang="en-US" dirty="0"/>
              <a:t>구축 완료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500063" y="697830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2800"/>
              <a:t>MySQL </a:t>
            </a:r>
            <a:r>
              <a:rPr lang="ko-KR" altLang="en-US" sz="2800" dirty="0"/>
              <a:t>데이터베이스 생성과 운영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48C8AD-87F2-4059-9336-23DF5577DCE0}"/>
              </a:ext>
            </a:extLst>
          </p:cNvPr>
          <p:cNvSpPr txBox="1">
            <a:spLocks/>
          </p:cNvSpPr>
          <p:nvPr/>
        </p:nvSpPr>
        <p:spPr bwMode="auto">
          <a:xfrm>
            <a:off x="773341" y="141518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쇼핑몰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DB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구축 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903A1074-10AC-4702-A2CF-1D880C279B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244605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9B770621-9FCA-70A9-0512-4914F1B8D518}"/>
              </a:ext>
            </a:extLst>
          </p:cNvPr>
          <p:cNvSpPr/>
          <p:nvPr/>
        </p:nvSpPr>
        <p:spPr>
          <a:xfrm>
            <a:off x="6336745" y="593591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620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ADB70F91-FEF7-F43D-7A59-6D71481895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3697796"/>
            <a:ext cx="5184576" cy="280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67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우선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Server(B)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MySQL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서버에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winuser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사용자를 생성한다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CDB72B6-F352-97E9-CC68-5A0D0C94BC84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624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B02A1F-4D88-C182-41C7-905004764F03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11-2 </a:t>
            </a:r>
          </a:p>
        </p:txBody>
      </p:sp>
    </p:spTree>
    <p:extLst>
      <p:ext uri="{BB962C8B-B14F-4D97-AF65-F5344CB8AC3E}">
        <p14:creationId xmlns:p14="http://schemas.microsoft.com/office/powerpoint/2010/main" val="2931583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Windows</a:t>
            </a:r>
            <a:r>
              <a:rPr lang="ko-KR" altLang="en-US" sz="2800" dirty="0"/>
              <a:t>용 앱과 리눅스 </a:t>
            </a:r>
            <a:r>
              <a:rPr lang="en-US" altLang="ko-KR" sz="2800" dirty="0"/>
              <a:t>DBMS</a:t>
            </a:r>
            <a:r>
              <a:rPr lang="ko-KR" altLang="en-US" sz="2800" dirty="0"/>
              <a:t>의 연동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1428750"/>
            <a:ext cx="8229600" cy="5214938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Windows</a:t>
            </a:r>
            <a:r>
              <a:rPr lang="ko-KR" altLang="en-US" dirty="0"/>
              <a:t>와 </a:t>
            </a:r>
            <a:r>
              <a:rPr lang="en-US" altLang="ko-KR" dirty="0"/>
              <a:t>MySQL </a:t>
            </a:r>
            <a:r>
              <a:rPr lang="ko-KR" altLang="en-US" dirty="0"/>
              <a:t>서버 연결을 위한 구성도 </a:t>
            </a:r>
            <a:endParaRPr lang="en-US" altLang="ko-KR" dirty="0"/>
          </a:p>
          <a:p>
            <a:pPr lvl="1">
              <a:defRPr/>
            </a:pPr>
            <a:endParaRPr lang="en-US" altLang="ko-KR" sz="1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CA42FCA-9F49-C24C-7C97-342894750103}"/>
              </a:ext>
            </a:extLst>
          </p:cNvPr>
          <p:cNvSpPr/>
          <p:nvPr/>
        </p:nvSpPr>
        <p:spPr>
          <a:xfrm>
            <a:off x="6732240" y="61977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625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70AA1A-25BA-676E-F394-08B2A0451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564904"/>
            <a:ext cx="7219048" cy="2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46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EF04C-7D6B-4983-BC09-473A2D198D6A}"/>
              </a:ext>
            </a:extLst>
          </p:cNvPr>
          <p:cNvSpPr txBox="1">
            <a:spLocks/>
          </p:cNvSpPr>
          <p:nvPr/>
        </p:nvSpPr>
        <p:spPr bwMode="auto">
          <a:xfrm>
            <a:off x="773341" y="681962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4&gt; Visual Studio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와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MySQL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연동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535A4393-41D3-4AEA-9A3F-1C78B73A11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11384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Windows</a:t>
            </a:r>
            <a:r>
              <a:rPr lang="ko-KR" altLang="en-US" sz="2000" dirty="0"/>
              <a:t>의 </a:t>
            </a:r>
            <a:r>
              <a:rPr lang="en-US" altLang="ko-KR" sz="2000" dirty="0"/>
              <a:t>Visual Studio</a:t>
            </a:r>
            <a:r>
              <a:rPr lang="ko-KR" altLang="en-US" sz="2000" dirty="0"/>
              <a:t>와 리눅스의 </a:t>
            </a:r>
            <a:r>
              <a:rPr lang="en-US" altLang="ko-KR" sz="2000" dirty="0"/>
              <a:t>MySQL</a:t>
            </a:r>
            <a:r>
              <a:rPr lang="ko-KR" altLang="en-US" sz="2000" dirty="0"/>
              <a:t> 연동하는 방법을 확인</a:t>
            </a:r>
            <a:endParaRPr lang="en-US" altLang="ko-KR" sz="2000" dirty="0"/>
          </a:p>
          <a:p>
            <a:pPr lvl="1" eaLnBrk="1" hangingPunct="1">
              <a:defRPr/>
            </a:pPr>
            <a:r>
              <a:rPr lang="en-US" altLang="ko-KR" sz="2000" dirty="0"/>
              <a:t>Visual Studio Community 2022</a:t>
            </a:r>
            <a:r>
              <a:rPr lang="ko-KR" altLang="en-US" sz="2000" dirty="0"/>
              <a:t>의 기본적인 사용법을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ODBC </a:t>
            </a:r>
            <a:r>
              <a:rPr lang="ko-KR" altLang="en-US" sz="2000" dirty="0"/>
              <a:t>설정 방법을 알아본다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(ODBC </a:t>
            </a:r>
            <a:r>
              <a:rPr lang="ko-KR" altLang="en-US" dirty="0"/>
              <a:t>연동 결과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7EE0CB8C-21DF-24BC-30DD-58B7C1152C8A}"/>
              </a:ext>
            </a:extLst>
          </p:cNvPr>
          <p:cNvSpPr/>
          <p:nvPr/>
        </p:nvSpPr>
        <p:spPr>
          <a:xfrm>
            <a:off x="6804248" y="58142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625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스크린샷, 텍스트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0BDC873D-02B4-5C0B-3C7E-A56A7CA71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31" y="3568965"/>
            <a:ext cx="5719460" cy="25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60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ACF76C8-6306-E7F3-F7E8-362F64D2EC3B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639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6DC815-A0FA-CD2E-A9BE-42BFE89B77B9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11-3 </a:t>
            </a:r>
          </a:p>
        </p:txBody>
      </p:sp>
    </p:spTree>
    <p:extLst>
      <p:ext uri="{BB962C8B-B14F-4D97-AF65-F5344CB8AC3E}">
        <p14:creationId xmlns:p14="http://schemas.microsoft.com/office/powerpoint/2010/main" val="3670347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5E4631B-8D2F-4749-8ECA-F719EA4B90B5}"/>
              </a:ext>
            </a:extLst>
          </p:cNvPr>
          <p:cNvSpPr txBox="1">
            <a:spLocks/>
          </p:cNvSpPr>
          <p:nvPr/>
        </p:nvSpPr>
        <p:spPr bwMode="auto">
          <a:xfrm>
            <a:off x="773341" y="1402062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5&gt; Oracle Database Express 18c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설치 </a:t>
            </a:r>
          </a:p>
        </p:txBody>
      </p:sp>
      <p:pic>
        <p:nvPicPr>
          <p:cNvPr id="4" name="그림 3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65F8BDF2-CA6C-4EBF-A088-A3CA777BD4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231484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2276871"/>
            <a:ext cx="8229600" cy="4223941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Server</a:t>
            </a:r>
            <a:r>
              <a:rPr lang="ko-KR" altLang="en-US" sz="2000" dirty="0"/>
              <a:t>에 </a:t>
            </a:r>
            <a:r>
              <a:rPr lang="ko-KR" altLang="en-US" sz="2000" dirty="0" err="1"/>
              <a:t>리눅스용</a:t>
            </a:r>
            <a:r>
              <a:rPr lang="ko-KR" altLang="en-US" sz="2000" dirty="0"/>
              <a:t> </a:t>
            </a:r>
            <a:r>
              <a:rPr lang="en-US" altLang="ko-KR" sz="2000" dirty="0"/>
              <a:t>Oracle Database Express 18c</a:t>
            </a:r>
            <a:r>
              <a:rPr lang="ko-KR" altLang="en-US" sz="2000" dirty="0"/>
              <a:t>를 설치하자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(Oracle</a:t>
            </a:r>
            <a:r>
              <a:rPr lang="ko-KR" altLang="en-US" dirty="0"/>
              <a:t> </a:t>
            </a:r>
            <a:r>
              <a:rPr lang="en-US" altLang="ko-KR" dirty="0"/>
              <a:t>XE</a:t>
            </a:r>
            <a:r>
              <a:rPr lang="ko-KR" altLang="en-US" dirty="0"/>
              <a:t> </a:t>
            </a:r>
            <a:r>
              <a:rPr lang="en-US" altLang="ko-KR" dirty="0"/>
              <a:t>18c</a:t>
            </a:r>
            <a:r>
              <a:rPr lang="ko-KR" altLang="en-US" dirty="0"/>
              <a:t> 가동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500063" y="697830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2800" dirty="0"/>
              <a:t>Oracle Database Express</a:t>
            </a:r>
            <a:r>
              <a:rPr lang="ko-KR" altLang="en-US" sz="2800" dirty="0"/>
              <a:t>를 설치와 운영</a:t>
            </a: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10589E9C-213E-B5F2-A9B7-6E6F4E902E5E}"/>
              </a:ext>
            </a:extLst>
          </p:cNvPr>
          <p:cNvSpPr/>
          <p:nvPr/>
        </p:nvSpPr>
        <p:spPr>
          <a:xfrm>
            <a:off x="6954500" y="60893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639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AD6C9C8E-8026-DBF7-B550-44D8E7072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3486186"/>
            <a:ext cx="5046796" cy="29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63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9EF51-CC8E-4EE6-B64D-7419095B3D28}"/>
              </a:ext>
            </a:extLst>
          </p:cNvPr>
          <p:cNvSpPr txBox="1">
            <a:spLocks/>
          </p:cNvSpPr>
          <p:nvPr/>
        </p:nvSpPr>
        <p:spPr bwMode="auto">
          <a:xfrm>
            <a:off x="773341" y="672877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6&gt; Oracle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에서 쇼핑몰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DB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구축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44DD66ED-907D-4837-A822-EFBDBFF412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02299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[</a:t>
            </a:r>
            <a:r>
              <a:rPr lang="ko-KR" altLang="en-US" sz="2000" dirty="0"/>
              <a:t>그림 </a:t>
            </a:r>
            <a:r>
              <a:rPr lang="en-US" altLang="ko-KR" sz="2000" dirty="0"/>
              <a:t>11-1]</a:t>
            </a:r>
            <a:r>
              <a:rPr lang="ko-KR" altLang="en-US" sz="2000" dirty="0"/>
              <a:t>의 쇼핑몰 </a:t>
            </a:r>
            <a:r>
              <a:rPr lang="en-US" altLang="ko-KR" sz="2000" dirty="0"/>
              <a:t>DB</a:t>
            </a:r>
            <a:r>
              <a:rPr lang="ko-KR" altLang="en-US" sz="2000" dirty="0"/>
              <a:t>를 </a:t>
            </a:r>
            <a:r>
              <a:rPr lang="en-US" altLang="ko-KR" sz="2000" dirty="0"/>
              <a:t>Oracle</a:t>
            </a:r>
            <a:r>
              <a:rPr lang="ko-KR" altLang="en-US" sz="2000" dirty="0"/>
              <a:t>에 구축하자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SQL*Plus </a:t>
            </a:r>
            <a:r>
              <a:rPr lang="ko-KR" altLang="en-US" sz="2000" dirty="0"/>
              <a:t>사용법을 익힌다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</a:t>
            </a:r>
            <a:r>
              <a:rPr lang="ko-KR" altLang="en-US" dirty="0"/>
              <a:t>쇼핑몰 </a:t>
            </a:r>
            <a:r>
              <a:rPr lang="en-US" altLang="ko-KR" dirty="0"/>
              <a:t>DB </a:t>
            </a:r>
            <a:r>
              <a:rPr lang="ko-KR" altLang="en-US" dirty="0"/>
              <a:t>구축 결과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17D5BE08-81BD-E658-7AF9-36D7EA058B7C}"/>
              </a:ext>
            </a:extLst>
          </p:cNvPr>
          <p:cNvSpPr/>
          <p:nvPr/>
        </p:nvSpPr>
        <p:spPr>
          <a:xfrm>
            <a:off x="6335283" y="55886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647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E0CD2C6F-ACD0-395A-F0E4-BE27097B7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543" y="3356992"/>
            <a:ext cx="4546913" cy="310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86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메모리 용량을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4GB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이상으로 변경하고 부팅한다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8C190243-C19D-CF1F-5ED6-5BF093249EA3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652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F5EF29-599A-B0AD-FC55-2367546D2D2F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11-4 </a:t>
            </a:r>
          </a:p>
        </p:txBody>
      </p:sp>
    </p:spTree>
    <p:extLst>
      <p:ext uri="{BB962C8B-B14F-4D97-AF65-F5344CB8AC3E}">
        <p14:creationId xmlns:p14="http://schemas.microsoft.com/office/powerpoint/2010/main" val="20364003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2421</TotalTime>
  <Words>915</Words>
  <Application>Microsoft Office PowerPoint</Application>
  <PresentationFormat>화면 슬라이드 쇼(4:3)</PresentationFormat>
  <Paragraphs>142</Paragraphs>
  <Slides>19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굴림</vt:lpstr>
      <vt:lpstr>Wingdings 2</vt:lpstr>
      <vt:lpstr>나눔바른고딕</vt:lpstr>
      <vt:lpstr>Georgia</vt:lpstr>
      <vt:lpstr>나눔스퀘어 ExtraBold</vt:lpstr>
      <vt:lpstr>나눔스퀘어라운드 ExtraBold</vt:lpstr>
      <vt:lpstr>Trebuchet MS</vt:lpstr>
      <vt:lpstr>나눔고딕 ExtraBold</vt:lpstr>
      <vt:lpstr>Urban</vt:lpstr>
      <vt:lpstr>PowerPoint 프레젠테이션</vt:lpstr>
      <vt:lpstr>DBMS 개념 (1)</vt:lpstr>
      <vt:lpstr>DBMS 개념 (2)</vt:lpstr>
      <vt:lpstr>필수 SQL 구문 (1) </vt:lpstr>
      <vt:lpstr>필수 SQL 구문 (2)</vt:lpstr>
      <vt:lpstr>필수 SQL 구문 (3)</vt:lpstr>
      <vt:lpstr>필수 SQL 구문 (3)</vt:lpstr>
      <vt:lpstr>MySQL의 설치와 운영</vt:lpstr>
      <vt:lpstr>PowerPoint 프레젠테이션</vt:lpstr>
      <vt:lpstr>PowerPoint 프레젠테이션</vt:lpstr>
      <vt:lpstr>Windows에서 리눅스 MySQL 서버로 접속</vt:lpstr>
      <vt:lpstr>MySQL 데이터베이스 생성과 운영</vt:lpstr>
      <vt:lpstr>PowerPoint 프레젠테이션</vt:lpstr>
      <vt:lpstr>Windows용 앱과 리눅스 DBMS의 연동</vt:lpstr>
      <vt:lpstr>PowerPoint 프레젠테이션</vt:lpstr>
      <vt:lpstr>PowerPoint 프레젠테이션</vt:lpstr>
      <vt:lpstr>Oracle Database Express를 설치와 운영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123</cp:revision>
  <dcterms:created xsi:type="dcterms:W3CDTF">2007-02-12T03:01:34Z</dcterms:created>
  <dcterms:modified xsi:type="dcterms:W3CDTF">2024-11-17T01:58:35Z</dcterms:modified>
</cp:coreProperties>
</file>