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</p:sldIdLst>
  <p:sldSz cx="9144000" cy="6858000" type="screen4x3"/>
  <p:notesSz cx="6858000" cy="9144000"/>
  <p:embeddedFontLst>
    <p:embeddedFont>
      <p:font typeface="나눔고딕 ExtraBold" panose="020D0904000000000000" pitchFamily="50" charset="-127"/>
      <p:bold r:id="rId13"/>
    </p:embeddedFont>
    <p:embeddedFont>
      <p:font typeface="나눔바른고딕" panose="020B0603020101020101" pitchFamily="50" charset="-127"/>
      <p:regular r:id="rId14"/>
      <p:bold r:id="rId15"/>
    </p:embeddedFont>
    <p:embeddedFont>
      <p:font typeface="나눔스퀘어 ExtraBold" panose="020B0600000101010101" pitchFamily="50" charset="-127"/>
      <p:bold r:id="rId16"/>
    </p:embeddedFont>
    <p:embeddedFont>
      <p:font typeface="나눔스퀘어라운드 ExtraBold" panose="020B0600000101010101" pitchFamily="50" charset="-127"/>
      <p:bold r:id="rId17"/>
    </p:embeddedFont>
    <p:embeddedFont>
      <p:font typeface="Georgia" panose="02040502050405020303" pitchFamily="18" charset="0"/>
      <p:regular r:id="rId18"/>
      <p:bold r:id="rId19"/>
      <p:italic r:id="rId20"/>
      <p:boldItalic r:id="rId21"/>
    </p:embeddedFont>
    <p:embeddedFont>
      <p:font typeface="Trebuchet MS" panose="020B0603020202020204" pitchFamily="34" charset="0"/>
      <p:regular r:id="rId22"/>
      <p:bold r:id="rId23"/>
      <p:italic r:id="rId24"/>
      <p:boldItalic r:id="rId25"/>
    </p:embeddedFont>
    <p:embeddedFont>
      <p:font typeface="Wingdings 2" panose="05020102010507070707" pitchFamily="18" charset="2"/>
      <p:regular r:id="rId26"/>
    </p:embeddedFont>
  </p:embeddedFontLst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FF6600"/>
    <a:srgbClr val="CC66FF"/>
    <a:srgbClr val="FF7C80"/>
    <a:srgbClr val="9966FF"/>
    <a:srgbClr val="FF00FF"/>
    <a:srgbClr val="FFCC66"/>
    <a:srgbClr val="CC99FF"/>
    <a:srgbClr val="FFCC99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6" autoAdjust="0"/>
    <p:restoredTop sz="94660"/>
  </p:normalViewPr>
  <p:slideViewPr>
    <p:cSldViewPr>
      <p:cViewPr>
        <p:scale>
          <a:sx n="125" d="100"/>
          <a:sy n="125" d="100"/>
        </p:scale>
        <p:origin x="942" y="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3" d="100"/>
          <a:sy n="73" d="100"/>
        </p:scale>
        <p:origin x="2682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E24673C-6695-4338-BB03-1527ED3D44D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7DF4E72-3AA4-4775-9E94-2B847969C99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F5311B-5D78-499E-BD82-99044A3A2310}" type="datetimeFigureOut">
              <a:rPr lang="ko-KR" altLang="en-US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2024-10-26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978949C-1257-41BA-BE32-661D22C8D4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0C2EEA3-F82A-453E-B4CB-5CF791CE8C6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91374B-5E44-4691-8385-F83CA52C76B9}" type="slidenum">
              <a:rPr lang="ko-KR" altLang="en-US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‹#›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9006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fld id="{A9FE1E17-38D0-4764-A605-7BB07631345D}" type="datetimeFigureOut">
              <a:rPr lang="ko-KR" altLang="en-US" smtClean="0"/>
              <a:pPr>
                <a:defRPr/>
              </a:pPr>
              <a:t>2024-10-26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fld id="{8950B175-50B7-496C-B63E-4B4F03E0721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3632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2E5FF64-107C-C58A-6C47-B1DC6113D1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06634" y="845736"/>
            <a:ext cx="4815919" cy="516652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DB5C4FD-2B03-4A88-A582-AA7ACB7176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743" y="6264745"/>
            <a:ext cx="1970191" cy="497239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BB051D0-15E5-40BC-B4C6-AB45FF616079}"/>
              </a:ext>
            </a:extLst>
          </p:cNvPr>
          <p:cNvSpPr/>
          <p:nvPr userDrawn="1"/>
        </p:nvSpPr>
        <p:spPr>
          <a:xfrm>
            <a:off x="354120" y="1025303"/>
            <a:ext cx="3506222" cy="954107"/>
          </a:xfrm>
          <a:prstGeom prst="rect">
            <a:avLst/>
          </a:prstGeom>
          <a:solidFill>
            <a:srgbClr val="00B0F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15</a:t>
            </a:r>
            <a:r>
              <a:rPr lang="ko-KR" altLang="en-US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</a:t>
            </a:r>
            <a:r>
              <a:rPr lang="en-US" altLang="ko-KR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pPr algn="ctr"/>
            <a:r>
              <a:rPr lang="en-US" altLang="ko-KR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Samba </a:t>
            </a:r>
            <a:r>
              <a:rPr lang="ko-KR" altLang="en-US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서버</a:t>
            </a:r>
            <a:endParaRPr lang="en-US" altLang="ko-KR" sz="2800" b="1" cap="none" spc="0" dirty="0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952CC6D-270C-47EC-BC2A-75F4D0D165C2}"/>
              </a:ext>
            </a:extLst>
          </p:cNvPr>
          <p:cNvSpPr/>
          <p:nvPr userDrawn="1"/>
        </p:nvSpPr>
        <p:spPr>
          <a:xfrm>
            <a:off x="4536228" y="6264745"/>
            <a:ext cx="430829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altLang="ko-KR" sz="2000" b="1" cap="none" spc="0" dirty="0">
                <a:ln/>
                <a:solidFill>
                  <a:schemeClr val="tx1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https://cafe.naver.com/thisisLinux</a:t>
            </a:r>
          </a:p>
        </p:txBody>
      </p:sp>
      <p:sp>
        <p:nvSpPr>
          <p:cNvPr id="9" name="별: 꼭짓점 12개 8">
            <a:extLst>
              <a:ext uri="{FF2B5EF4-FFF2-40B4-BE49-F238E27FC236}">
                <a16:creationId xmlns:a16="http://schemas.microsoft.com/office/drawing/2014/main" id="{0E5C3A4F-295B-BE34-4140-0C39B81E2F61}"/>
              </a:ext>
            </a:extLst>
          </p:cNvPr>
          <p:cNvSpPr/>
          <p:nvPr userDrawn="1"/>
        </p:nvSpPr>
        <p:spPr>
          <a:xfrm>
            <a:off x="7020272" y="593255"/>
            <a:ext cx="1224136" cy="864096"/>
          </a:xfrm>
          <a:prstGeom prst="star12">
            <a:avLst/>
          </a:prstGeom>
          <a:solidFill>
            <a:srgbClr val="CC6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판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9C0829C-8AE1-5E32-FB03-DACDB463B5B6}"/>
              </a:ext>
            </a:extLst>
          </p:cNvPr>
          <p:cNvSpPr/>
          <p:nvPr userDrawn="1"/>
        </p:nvSpPr>
        <p:spPr>
          <a:xfrm>
            <a:off x="1088838" y="3645024"/>
            <a:ext cx="1970190" cy="1657849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우분투 </a:t>
            </a:r>
            <a:r>
              <a:rPr lang="en-US" altLang="ko-KR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24.04</a:t>
            </a:r>
          </a:p>
          <a:p>
            <a:pPr algn="ctr"/>
            <a:r>
              <a:rPr lang="en-US" altLang="ko-KR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LTS</a:t>
            </a:r>
            <a:endParaRPr lang="ko-KR" altLang="en-US" sz="2400" dirty="0">
              <a:ln>
                <a:noFill/>
              </a:ln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9219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428625" y="6581775"/>
            <a:ext cx="235673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(3</a:t>
            </a:r>
            <a:r>
              <a:rPr kumimoji="0" lang="ko-KR" altLang="en-US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판</a:t>
            </a:r>
            <a:r>
              <a:rPr kumimoji="0" lang="en-US" altLang="ko-KR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 </a:t>
            </a:r>
            <a:r>
              <a:rPr kumimoji="0" lang="ko-KR" altLang="en-US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이것이 우분투 리눅스다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285750" y="0"/>
            <a:ext cx="182934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15</a:t>
            </a:r>
            <a:r>
              <a:rPr kumimoji="0" lang="ko-KR" altLang="en-US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장</a:t>
            </a:r>
            <a:r>
              <a:rPr kumimoji="0" lang="en-US" altLang="ko-KR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 Samba</a:t>
            </a:r>
            <a:r>
              <a:rPr kumimoji="0" lang="ko-KR" altLang="en-US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서버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8285226" y="6550025"/>
            <a:ext cx="79380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49AC353A-281A-4504-9FE1-662E9EF17D8A}" type="slidenum">
              <a:rPr lang="ko-KR" altLang="en-US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eaLnBrk="1" hangingPunct="1"/>
              <a:t>‹#›</a:t>
            </a:fld>
            <a:r>
              <a:rPr lang="en-US" altLang="ko-KR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/9</a:t>
            </a:r>
            <a:endParaRPr lang="ko-KR" altLang="en-US" sz="14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5508104" y="0"/>
            <a:ext cx="321453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400" b="1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https://cafe.naver.com/thisisLinux</a:t>
            </a:r>
            <a:endParaRPr lang="ko-KR" altLang="en-US" sz="1400" b="1" dirty="0">
              <a:solidFill>
                <a:schemeClr val="bg1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642918"/>
            <a:ext cx="8229600" cy="642942"/>
          </a:xfrm>
        </p:spPr>
        <p:txBody>
          <a:bodyPr>
            <a:normAutofit/>
          </a:bodyPr>
          <a:lstStyle>
            <a:lvl1pPr>
              <a:defRPr sz="3200"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143536"/>
          </a:xfrm>
        </p:spPr>
        <p:txBody>
          <a:bodyPr>
            <a:normAutofit/>
          </a:bodyPr>
          <a:lstStyle>
            <a:lvl1pPr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sz="18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6444208" y="6548338"/>
            <a:ext cx="1711174" cy="307777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Ubuntu 24.04 LTS</a:t>
            </a:r>
            <a:endParaRPr lang="ko-KR" altLang="en-US" sz="1400" b="1" dirty="0">
              <a:solidFill>
                <a:schemeClr val="bg1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2463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70A40A-1095-4482-A81C-DE8D97CF4FAF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510668-C776-4DEF-90B9-7FD1E5FDC33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69769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D9E67D-5DA1-4729-B991-E4DA6144546D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994A34-7693-4DA8-87B2-5F89B278748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91498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/>
          <a:lstStyle>
            <a:lvl1pPr>
              <a:defRPr sz="4000" b="0" i="0" cap="none" baseline="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날짜 개체 틀 2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D4FCB4-DCC3-4812-BAA4-E89A66CCAA25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8" name="슬라이드 번호 개체 틀 2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17B28E1-79AC-48A3-9558-454E42DE4EDC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9" name="바닥글 개체 틀 2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59397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583363" y="612775"/>
            <a:ext cx="957262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101D40-AEA9-4F59-9273-3AE4BD34FFDA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EA269F-E158-42D9-816A-B30CB7545EE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75787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4D789F-1FA5-4F5C-A900-FE73EF265E54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375B4C-030A-4FCD-9864-787CE94FAE1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57792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6F9F45-433C-435F-9729-7CA4AF07A0F6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71BBA6-43EC-4C88-96A0-166A32778D2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36932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ko-KR" altLang="en-US" noProof="0"/>
              <a:t>그림을 추가하려면 아이콘을 클릭하십시오</a:t>
            </a:r>
            <a:endParaRPr 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6D0103-5A9F-48FB-917D-308A742FCF20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6FC6B0-8FED-4CA7-8A00-7E8567A752B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27900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793685-C9C7-46A1-BE54-14BF41CEC4D6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59A1A9-6617-4B03-8D81-72B941360C6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5820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086E2D-11AA-4D7A-97B8-811672594385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AF3D2F-599A-49E6-9281-C2BD50F5B85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10843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/>
          <p:cNvSpPr/>
          <p:nvPr/>
        </p:nvSpPr>
        <p:spPr>
          <a:xfrm>
            <a:off x="0" y="366713"/>
            <a:ext cx="9144000" cy="84137"/>
          </a:xfrm>
          <a:prstGeom prst="rect">
            <a:avLst/>
          </a:prstGeom>
          <a:solidFill>
            <a:schemeClr val="accent6">
              <a:lumMod val="60000"/>
              <a:lumOff val="40000"/>
              <a:alpha val="49804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0" y="307975"/>
            <a:ext cx="9144000" cy="920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1" name="직사각형 30"/>
          <p:cNvSpPr/>
          <p:nvPr/>
        </p:nvSpPr>
        <p:spPr>
          <a:xfrm flipV="1">
            <a:off x="5410200" y="360363"/>
            <a:ext cx="3733800" cy="90487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2" name="직사각형 31"/>
          <p:cNvSpPr/>
          <p:nvPr/>
        </p:nvSpPr>
        <p:spPr>
          <a:xfrm flipV="1">
            <a:off x="5410200" y="439738"/>
            <a:ext cx="3733800" cy="180975"/>
          </a:xfrm>
          <a:prstGeom prst="rect">
            <a:avLst/>
          </a:prstGeom>
          <a:solidFill>
            <a:schemeClr val="accent3">
              <a:lumMod val="20000"/>
              <a:lumOff val="80000"/>
              <a:alpha val="49804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 useBgFill="1">
        <p:nvSpPr>
          <p:cNvPr id="33" name="모서리가 둥근 직사각형 32"/>
          <p:cNvSpPr/>
          <p:nvPr/>
        </p:nvSpPr>
        <p:spPr bwMode="white">
          <a:xfrm>
            <a:off x="5407025" y="496888"/>
            <a:ext cx="3063875" cy="28575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 useBgFill="1">
        <p:nvSpPr>
          <p:cNvPr id="34" name="모서리가 둥근 직사각형 33"/>
          <p:cNvSpPr/>
          <p:nvPr/>
        </p:nvSpPr>
        <p:spPr bwMode="white">
          <a:xfrm>
            <a:off x="7373938" y="588963"/>
            <a:ext cx="1600200" cy="3651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5" name="직사각형 34"/>
          <p:cNvSpPr/>
          <p:nvPr/>
        </p:nvSpPr>
        <p:spPr bwMode="invGray">
          <a:xfrm>
            <a:off x="9085263" y="-1588"/>
            <a:ext cx="57150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6" name="직사각형 35"/>
          <p:cNvSpPr/>
          <p:nvPr/>
        </p:nvSpPr>
        <p:spPr bwMode="invGray">
          <a:xfrm>
            <a:off x="9043988" y="-1588"/>
            <a:ext cx="28575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7" name="직사각형 36"/>
          <p:cNvSpPr/>
          <p:nvPr/>
        </p:nvSpPr>
        <p:spPr bwMode="invGray">
          <a:xfrm>
            <a:off x="9024938" y="-1588"/>
            <a:ext cx="9525" cy="620713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8" name="직사각형 37"/>
          <p:cNvSpPr/>
          <p:nvPr/>
        </p:nvSpPr>
        <p:spPr bwMode="invGray">
          <a:xfrm>
            <a:off x="8975725" y="-1588"/>
            <a:ext cx="26988" cy="620713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9" name="직사각형 38"/>
          <p:cNvSpPr/>
          <p:nvPr/>
        </p:nvSpPr>
        <p:spPr bwMode="invGray">
          <a:xfrm>
            <a:off x="8915400" y="0"/>
            <a:ext cx="55563" cy="585788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40" name="직사각형 39"/>
          <p:cNvSpPr/>
          <p:nvPr/>
        </p:nvSpPr>
        <p:spPr bwMode="invGray">
          <a:xfrm>
            <a:off x="8874125" y="0"/>
            <a:ext cx="7938" cy="585788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1039" name="제목 개체 틀 21"/>
          <p:cNvSpPr>
            <a:spLocks noGrp="1"/>
          </p:cNvSpPr>
          <p:nvPr>
            <p:ph type="title"/>
          </p:nvPr>
        </p:nvSpPr>
        <p:spPr bwMode="auto"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40" name="텍스트 개체 틀 12"/>
          <p:cNvSpPr>
            <a:spLocks noGrp="1"/>
          </p:cNvSpPr>
          <p:nvPr>
            <p:ph type="body" idx="1"/>
          </p:nvPr>
        </p:nvSpPr>
        <p:spPr bwMode="auto">
          <a:xfrm>
            <a:off x="457200" y="2249488"/>
            <a:ext cx="8229600" cy="432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latinLnBrk="0">
              <a:defRPr kumimoji="0" sz="800">
                <a:solidFill>
                  <a:schemeClr val="accent2"/>
                </a:solidFill>
                <a:latin typeface="Georgia" pitchFamily="18" charset="0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fld id="{04372308-AE4D-4F5B-A5F4-8D5BDCABB86D}" type="datetimeFigureOut">
              <a:rPr lang="en-US" altLang="ko-KR" smtClean="0"/>
              <a:pPr>
                <a:defRPr/>
              </a:pPr>
              <a:t>10/26/2024</a:t>
            </a:fld>
            <a:endParaRPr lang="en-US" altLang="ko-KR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latinLnBrk="0">
              <a:defRPr kumimoji="0" sz="800">
                <a:solidFill>
                  <a:schemeClr val="accent2"/>
                </a:solidFill>
                <a:latin typeface="Georgia" pitchFamily="18" charset="0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8174038" y="1588"/>
            <a:ext cx="762000" cy="3667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latinLnBrk="0">
              <a:defRPr kumimoji="0">
                <a:solidFill>
                  <a:srgbClr val="FFFFFF"/>
                </a:solidFill>
                <a:latin typeface="Georgia" panose="02040502050405020303" pitchFamily="18" charset="0"/>
                <a:ea typeface="나눔바른고딕" panose="020B0603020101020101" pitchFamily="50" charset="-127"/>
              </a:defRPr>
            </a:lvl1pPr>
          </a:lstStyle>
          <a:p>
            <a:fld id="{80EA332E-FF14-428F-B02F-D0E6231A0C16}" type="slidenum">
              <a:rPr lang="en-US" altLang="ko-KR" smtClean="0"/>
              <a:pPr/>
              <a:t>‹#›</a:t>
            </a:fld>
            <a:endParaRPr lang="en-US" altLang="ko-KR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나눔바른고딕" panose="020B0603020101020101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5pPr>
      <a:lvl6pPr marL="4572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6pPr>
      <a:lvl7pPr marL="9144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9pPr>
    </p:titleStyle>
    <p:bodyStyle>
      <a:lvl1pPr marL="365125" indent="-255588" algn="l" rtl="0" eaLnBrk="0" fontAlgn="base" latinLnBrk="1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•"/>
        <a:defRPr sz="2800" kern="1200">
          <a:solidFill>
            <a:schemeClr val="tx1"/>
          </a:solidFill>
          <a:latin typeface="+mn-lt"/>
          <a:ea typeface="나눔바른고딕" panose="020B0603020101020101" pitchFamily="50" charset="-127"/>
          <a:cs typeface="+mn-cs"/>
        </a:defRPr>
      </a:lvl1pPr>
      <a:lvl2pPr marL="657225" indent="-246063" algn="l" rtl="0" eaLnBrk="0" fontAlgn="base" latinLnBrk="1" hangingPunct="0">
        <a:spcBef>
          <a:spcPts val="300"/>
        </a:spcBef>
        <a:spcAft>
          <a:spcPct val="0"/>
        </a:spcAft>
        <a:buClr>
          <a:schemeClr val="accent2"/>
        </a:buClr>
        <a:buFont typeface="Georgia" panose="02040502050405020303" pitchFamily="18" charset="0"/>
        <a:buChar char="▫"/>
        <a:defRPr sz="2600" kern="1200">
          <a:solidFill>
            <a:schemeClr val="accent2"/>
          </a:solidFill>
          <a:latin typeface="+mn-lt"/>
          <a:ea typeface="나눔바른고딕" panose="020B0603020101020101" pitchFamily="50" charset="-127"/>
          <a:cs typeface="+mn-cs"/>
        </a:defRPr>
      </a:lvl2pPr>
      <a:lvl3pPr marL="922338" indent="-219075" algn="l" rtl="0" eaLnBrk="0" fontAlgn="base" latinLnBrk="1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400" kern="1200">
          <a:solidFill>
            <a:schemeClr val="accent1"/>
          </a:solidFill>
          <a:latin typeface="+mn-lt"/>
          <a:ea typeface="나눔바른고딕" panose="020B0603020101020101" pitchFamily="50" charset="-127"/>
          <a:cs typeface="+mn-cs"/>
        </a:defRPr>
      </a:lvl3pPr>
      <a:lvl4pPr marL="1179513" indent="-200025" algn="l" rtl="0" eaLnBrk="0" fontAlgn="base" latinLnBrk="1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200" kern="1200">
          <a:solidFill>
            <a:schemeClr val="accent1"/>
          </a:solidFill>
          <a:latin typeface="+mn-lt"/>
          <a:ea typeface="나눔바른고딕" panose="020B0603020101020101" pitchFamily="50" charset="-127"/>
          <a:cs typeface="+mn-cs"/>
        </a:defRPr>
      </a:lvl4pPr>
      <a:lvl5pPr marL="1389063" indent="-182563" algn="l" rtl="0" eaLnBrk="0" fontAlgn="base" latinLnBrk="1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▫"/>
        <a:defRPr sz="2000" kern="1200">
          <a:solidFill>
            <a:srgbClr val="A04DA3"/>
          </a:solidFill>
          <a:latin typeface="+mn-lt"/>
          <a:ea typeface="나눔바른고딕" panose="020B0603020101020101" pitchFamily="50" charset="-127"/>
          <a:cs typeface="+mn-cs"/>
        </a:defRPr>
      </a:lvl5pPr>
      <a:lvl6pPr marL="1609344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/>
              <a:t>Samba </a:t>
            </a:r>
            <a:r>
              <a:rPr lang="ko-KR" altLang="en-US" sz="2800" dirty="0"/>
              <a:t>서버 소개</a:t>
            </a:r>
            <a:r>
              <a:rPr lang="en-US" altLang="ko-KR" sz="2800" dirty="0"/>
              <a:t>  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>
            <a:normAutofit/>
          </a:bodyPr>
          <a:lstStyle/>
          <a:p>
            <a:pPr>
              <a:defRPr/>
            </a:pPr>
            <a:endParaRPr lang="en-US" altLang="ko-KR" dirty="0"/>
          </a:p>
          <a:p>
            <a:pPr>
              <a:defRPr/>
            </a:pPr>
            <a:r>
              <a:rPr lang="en-US" altLang="ko-KR" dirty="0"/>
              <a:t>Samba </a:t>
            </a:r>
            <a:r>
              <a:rPr lang="ko-KR" altLang="en-US" dirty="0"/>
              <a:t>서버는 </a:t>
            </a:r>
            <a:r>
              <a:rPr lang="en-US" altLang="ko-KR" dirty="0"/>
              <a:t>Windows</a:t>
            </a:r>
            <a:r>
              <a:rPr lang="ko-KR" altLang="en-US" dirty="0"/>
              <a:t>와 </a:t>
            </a:r>
            <a:r>
              <a:rPr lang="en-US" altLang="ko-KR" dirty="0"/>
              <a:t>Linux/Unix </a:t>
            </a:r>
            <a:r>
              <a:rPr lang="ko-KR" altLang="en-US" dirty="0"/>
              <a:t>사이에서 자원을 공유하기 위해서 개발됨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r>
              <a:rPr lang="en-US" altLang="ko-KR" dirty="0"/>
              <a:t>Linux</a:t>
            </a:r>
            <a:r>
              <a:rPr lang="ko-KR" altLang="en-US" dirty="0"/>
              <a:t>에서 </a:t>
            </a:r>
            <a:r>
              <a:rPr lang="en-US" altLang="ko-KR" dirty="0"/>
              <a:t>Windows</a:t>
            </a:r>
            <a:r>
              <a:rPr lang="ko-KR" altLang="en-US" dirty="0"/>
              <a:t>의 자원을 사용하는 방법과 </a:t>
            </a:r>
            <a:r>
              <a:rPr lang="en-US" altLang="ko-KR" dirty="0"/>
              <a:t>Windows</a:t>
            </a:r>
            <a:r>
              <a:rPr lang="ko-KR" altLang="en-US" dirty="0"/>
              <a:t>에서 </a:t>
            </a:r>
            <a:r>
              <a:rPr lang="en-US" altLang="ko-KR" dirty="0"/>
              <a:t>Linux</a:t>
            </a:r>
            <a:r>
              <a:rPr lang="ko-KR" altLang="en-US" dirty="0"/>
              <a:t>의 자원을 사용하는 방법으로 나뉨</a:t>
            </a:r>
            <a:endParaRPr lang="en-US" altLang="ko-KR" dirty="0"/>
          </a:p>
          <a:p>
            <a:pPr lvl="1" eaLnBrk="1" hangingPunct="1">
              <a:defRPr/>
            </a:pPr>
            <a:endParaRPr lang="ko-KR" altLang="en-US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D8B327DB-08D5-73FB-588F-A2EDCAA003B7}"/>
              </a:ext>
            </a:extLst>
          </p:cNvPr>
          <p:cNvSpPr/>
          <p:nvPr/>
        </p:nvSpPr>
        <p:spPr>
          <a:xfrm>
            <a:off x="3524690" y="623742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723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1521155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ko-KR" altLang="en-US" sz="2800" dirty="0"/>
              <a:t>리눅스에서 </a:t>
            </a:r>
            <a:r>
              <a:rPr lang="en-US" altLang="ko-KR" sz="2800" dirty="0"/>
              <a:t>Windows </a:t>
            </a:r>
            <a:r>
              <a:rPr lang="ko-KR" altLang="en-US" sz="2800" dirty="0"/>
              <a:t>폴더와 프린터 사용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sz="2000" dirty="0"/>
              <a:t>리눅스에서 </a:t>
            </a:r>
            <a:r>
              <a:rPr lang="en-US" altLang="ko-KR" sz="2000" dirty="0"/>
              <a:t>Windows</a:t>
            </a:r>
            <a:r>
              <a:rPr lang="ko-KR" altLang="en-US" sz="2000" dirty="0"/>
              <a:t>의 파일과 프린터를 사용하기 위한 구성도</a:t>
            </a:r>
            <a:endParaRPr lang="en-US" altLang="ko-KR" sz="2000" dirty="0"/>
          </a:p>
          <a:p>
            <a:pPr lvl="1" eaLnBrk="1" hangingPunct="1">
              <a:defRPr/>
            </a:pPr>
            <a:endParaRPr lang="en-US" altLang="ko-KR" sz="2000" dirty="0"/>
          </a:p>
          <a:p>
            <a:pPr lvl="1" eaLnBrk="1" hangingPunct="1">
              <a:defRPr/>
            </a:pPr>
            <a:endParaRPr lang="ko-KR" altLang="en-US" sz="2000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44DCBCEA-88BC-0E49-F0E7-28654660B7E1}"/>
              </a:ext>
            </a:extLst>
          </p:cNvPr>
          <p:cNvSpPr/>
          <p:nvPr/>
        </p:nvSpPr>
        <p:spPr>
          <a:xfrm>
            <a:off x="7164288" y="623742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725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1E0E758-FE76-1844-5EF2-5638358C6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440" y="2121302"/>
            <a:ext cx="7812360" cy="4046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98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97B97D-5B12-48BB-9087-DD9AC30EC632}"/>
              </a:ext>
            </a:extLst>
          </p:cNvPr>
          <p:cNvSpPr txBox="1">
            <a:spLocks/>
          </p:cNvSpPr>
          <p:nvPr/>
        </p:nvSpPr>
        <p:spPr bwMode="auto">
          <a:xfrm>
            <a:off x="773341" y="669609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1&gt; Windows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를 공유하고 리눅스에서 접근</a:t>
            </a:r>
          </a:p>
        </p:txBody>
      </p:sp>
      <p:pic>
        <p:nvPicPr>
          <p:cNvPr id="3" name="그림 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5BFE6EAB-F0C2-479E-897A-C62451606F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499031"/>
            <a:ext cx="756709" cy="742276"/>
          </a:xfrm>
          <a:prstGeom prst="rect">
            <a:avLst/>
          </a:prstGeom>
        </p:spPr>
      </p:pic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en-US" altLang="ko-KR" sz="2000" dirty="0"/>
              <a:t>WinClient</a:t>
            </a:r>
            <a:r>
              <a:rPr lang="ko-KR" altLang="en-US" sz="2000" dirty="0"/>
              <a:t>의 폴더를 공유하고</a:t>
            </a:r>
            <a:r>
              <a:rPr lang="en-US" altLang="ko-KR" sz="2000" dirty="0"/>
              <a:t>, Server</a:t>
            </a:r>
            <a:r>
              <a:rPr lang="ko-KR" altLang="en-US" sz="2000" dirty="0"/>
              <a:t>에서 접근하여 사용하자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r>
              <a:rPr lang="en-US" altLang="ko-KR" sz="2000" dirty="0"/>
              <a:t>samba </a:t>
            </a:r>
            <a:r>
              <a:rPr lang="ko-KR" altLang="en-US" sz="2000" dirty="0"/>
              <a:t>클라이언트 패키지 사용법을 익힌다</a:t>
            </a:r>
            <a:r>
              <a:rPr lang="en-US" altLang="ko-KR" sz="2000" dirty="0"/>
              <a:t>.</a:t>
            </a: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결과 화면 </a:t>
            </a:r>
            <a:r>
              <a:rPr lang="en-US" altLang="ko-KR" dirty="0"/>
              <a:t>(Linux</a:t>
            </a:r>
            <a:r>
              <a:rPr lang="ko-KR" altLang="en-US" dirty="0"/>
              <a:t>에서 </a:t>
            </a:r>
            <a:r>
              <a:rPr lang="en-US" altLang="ko-KR" dirty="0"/>
              <a:t>Windows </a:t>
            </a:r>
            <a:r>
              <a:rPr lang="ko-KR" altLang="en-US" dirty="0"/>
              <a:t>공유 폴더 사용</a:t>
            </a:r>
            <a:r>
              <a:rPr lang="en-US" altLang="ko-KR" dirty="0"/>
              <a:t>)</a:t>
            </a:r>
            <a:endParaRPr lang="ko-KR" altLang="en-US" dirty="0"/>
          </a:p>
          <a:p>
            <a:pPr lvl="1" eaLnBrk="1" hangingPunct="1">
              <a:defRPr/>
            </a:pPr>
            <a:endParaRPr lang="en-US" altLang="ko-KR" dirty="0"/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647ECEC7-4688-237D-B5D7-5C2475A982EA}"/>
              </a:ext>
            </a:extLst>
          </p:cNvPr>
          <p:cNvSpPr/>
          <p:nvPr/>
        </p:nvSpPr>
        <p:spPr>
          <a:xfrm>
            <a:off x="7639492" y="558259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726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7" name="그림 6" descr="텍스트, 스크린샷, 소프트웨어, 컴퓨터 아이콘이(가) 표시된 사진&#10;&#10;자동 생성된 설명">
            <a:extLst>
              <a:ext uri="{FF2B5EF4-FFF2-40B4-BE49-F238E27FC236}">
                <a16:creationId xmlns:a16="http://schemas.microsoft.com/office/drawing/2014/main" id="{B25B20C3-104D-52F3-580D-E782ED03D9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2924943"/>
            <a:ext cx="6048672" cy="3597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404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3528" y="2132856"/>
            <a:ext cx="849694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▶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힌트 없음</a:t>
            </a: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3A0672D4-F712-E453-89CF-7E10A3BC39F5}"/>
              </a:ext>
            </a:extLst>
          </p:cNvPr>
          <p:cNvSpPr/>
          <p:nvPr/>
        </p:nvSpPr>
        <p:spPr>
          <a:xfrm>
            <a:off x="7216640" y="764704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730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667E77F-9B2B-7B05-344B-33D7DD9B0503}"/>
              </a:ext>
            </a:extLst>
          </p:cNvPr>
          <p:cNvSpPr/>
          <p:nvPr/>
        </p:nvSpPr>
        <p:spPr>
          <a:xfrm>
            <a:off x="1697649" y="908720"/>
            <a:ext cx="55322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비타민 퀴즈 </a:t>
            </a:r>
            <a:r>
              <a:rPr lang="en-US" altLang="ko-KR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15-1 </a:t>
            </a:r>
          </a:p>
        </p:txBody>
      </p:sp>
    </p:spTree>
    <p:extLst>
      <p:ext uri="{BB962C8B-B14F-4D97-AF65-F5344CB8AC3E}">
        <p14:creationId xmlns:p14="http://schemas.microsoft.com/office/powerpoint/2010/main" val="3897927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ko-KR" sz="2800" dirty="0"/>
              <a:t>Windows</a:t>
            </a:r>
            <a:r>
              <a:rPr lang="ko-KR" altLang="en-US" sz="2800" dirty="0"/>
              <a:t>에서 리눅스 폴더와 프린터 사용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sz="2000" dirty="0"/>
              <a:t>Windows</a:t>
            </a:r>
            <a:r>
              <a:rPr lang="ko-KR" altLang="en-US" sz="2000" dirty="0"/>
              <a:t>에서 리눅스의 자원을 사용하기 위한 구성도</a:t>
            </a:r>
            <a:endParaRPr lang="en-US" altLang="ko-KR" sz="2000" dirty="0"/>
          </a:p>
          <a:p>
            <a:pPr lvl="1" eaLnBrk="1" hangingPunct="1">
              <a:defRPr/>
            </a:pPr>
            <a:endParaRPr lang="en-US" altLang="ko-KR" sz="2000" dirty="0"/>
          </a:p>
          <a:p>
            <a:pPr lvl="1" eaLnBrk="1" hangingPunct="1">
              <a:defRPr/>
            </a:pPr>
            <a:endParaRPr lang="ko-KR" altLang="en-US" sz="2000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49285251-7C9D-15EC-62E1-24EB614D3CFE}"/>
              </a:ext>
            </a:extLst>
          </p:cNvPr>
          <p:cNvSpPr/>
          <p:nvPr/>
        </p:nvSpPr>
        <p:spPr>
          <a:xfrm>
            <a:off x="7092280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731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E04D94F-0B49-6B55-D862-47752A1CB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857" y="2276872"/>
            <a:ext cx="7514286" cy="36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38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7BE050-CAF4-4D24-B95C-94380509DEF5}"/>
              </a:ext>
            </a:extLst>
          </p:cNvPr>
          <p:cNvSpPr txBox="1">
            <a:spLocks/>
          </p:cNvSpPr>
          <p:nvPr/>
        </p:nvSpPr>
        <p:spPr bwMode="auto">
          <a:xfrm>
            <a:off x="773341" y="629021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2&gt; Windows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에서 리눅스 자원 사용 </a:t>
            </a:r>
          </a:p>
        </p:txBody>
      </p:sp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en-US" altLang="ko-KR" sz="2000" dirty="0"/>
              <a:t>Windows</a:t>
            </a:r>
            <a:r>
              <a:rPr lang="ko-KR" altLang="en-US" sz="2000" dirty="0"/>
              <a:t>에서 리눅스의 자원을 사용해 보자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r>
              <a:rPr lang="en-US" altLang="ko-KR" sz="2000" dirty="0"/>
              <a:t>Samba </a:t>
            </a:r>
            <a:r>
              <a:rPr lang="ko-KR" altLang="en-US" sz="2000" dirty="0"/>
              <a:t>서버 패키지의 설치 및 설정법을 확인한다</a:t>
            </a:r>
            <a:r>
              <a:rPr lang="en-US" altLang="ko-KR" sz="2000" dirty="0"/>
              <a:t>.</a:t>
            </a: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결과 화면 </a:t>
            </a:r>
            <a:r>
              <a:rPr lang="en-US" altLang="ko-KR" dirty="0"/>
              <a:t>(Windows</a:t>
            </a:r>
            <a:r>
              <a:rPr lang="ko-KR" altLang="en-US" dirty="0"/>
              <a:t>에서 리눅스의 공유 폴더 사용</a:t>
            </a:r>
            <a:r>
              <a:rPr lang="en-US" altLang="ko-KR" dirty="0"/>
              <a:t>)</a:t>
            </a:r>
            <a:endParaRPr lang="ko-KR" altLang="en-US" dirty="0"/>
          </a:p>
          <a:p>
            <a:pPr lvl="1" eaLnBrk="1" hangingPunct="1">
              <a:defRPr/>
            </a:pPr>
            <a:endParaRPr lang="en-US" altLang="ko-KR" dirty="0"/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pic>
        <p:nvPicPr>
          <p:cNvPr id="3" name="그림 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F1608112-8F7D-497D-99F3-BE06BC2CB8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458443"/>
            <a:ext cx="756709" cy="742276"/>
          </a:xfrm>
          <a:prstGeom prst="rect">
            <a:avLst/>
          </a:prstGeom>
        </p:spPr>
      </p:pic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E10BFD75-8E75-8E2D-C125-3D593E027B04}"/>
              </a:ext>
            </a:extLst>
          </p:cNvPr>
          <p:cNvSpPr/>
          <p:nvPr/>
        </p:nvSpPr>
        <p:spPr>
          <a:xfrm>
            <a:off x="6876256" y="530226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731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7" name="그림 6" descr="텍스트, 폰트, 번호, 소프트웨어이(가) 표시된 사진&#10;&#10;자동 생성된 설명">
            <a:extLst>
              <a:ext uri="{FF2B5EF4-FFF2-40B4-BE49-F238E27FC236}">
                <a16:creationId xmlns:a16="http://schemas.microsoft.com/office/drawing/2014/main" id="{CC32F477-6AA0-64EB-CCF3-E2C7CC4001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666" y="3108726"/>
            <a:ext cx="7266667" cy="32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975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/>
              <a:t>Samba </a:t>
            </a:r>
            <a:r>
              <a:rPr lang="ko-KR" altLang="en-US" sz="2800" dirty="0"/>
              <a:t>서버 설정 파일</a:t>
            </a:r>
            <a:r>
              <a:rPr lang="en-US" altLang="ko-KR" sz="2800" dirty="0"/>
              <a:t>(</a:t>
            </a:r>
            <a:r>
              <a:rPr lang="en-US" altLang="ko-KR" sz="2800" dirty="0" err="1"/>
              <a:t>smb.conf</a:t>
            </a:r>
            <a:r>
              <a:rPr lang="en-US" altLang="ko-KR" sz="2800" dirty="0"/>
              <a:t>)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sz="2800" dirty="0"/>
              <a:t>/etc/samba/</a:t>
            </a:r>
            <a:r>
              <a:rPr lang="en-US" altLang="ko-KR" sz="2800" dirty="0" err="1"/>
              <a:t>smb.conf</a:t>
            </a:r>
            <a:r>
              <a:rPr lang="en-US" altLang="ko-KR" sz="2800" dirty="0"/>
              <a:t> </a:t>
            </a:r>
            <a:r>
              <a:rPr lang="ko-KR" altLang="en-US" sz="2800" dirty="0"/>
              <a:t>파일</a:t>
            </a:r>
            <a:endParaRPr lang="en-US" altLang="ko-KR" sz="2800" dirty="0"/>
          </a:p>
          <a:p>
            <a:pPr>
              <a:buNone/>
              <a:defRPr/>
            </a:pPr>
            <a:r>
              <a:rPr lang="ko-KR" altLang="en-US" dirty="0"/>
              <a:t>① </a:t>
            </a:r>
            <a:r>
              <a:rPr lang="en-US" altLang="ko-KR" dirty="0"/>
              <a:t>[global]: </a:t>
            </a:r>
            <a:r>
              <a:rPr lang="ko-KR" altLang="en-US" dirty="0"/>
              <a:t>모든 자원의 공유를 위한 설정</a:t>
            </a:r>
            <a:endParaRPr lang="ko-KR" altLang="en-US" b="1" dirty="0"/>
          </a:p>
          <a:p>
            <a:pPr lvl="1">
              <a:buNone/>
              <a:defRPr/>
            </a:pPr>
            <a:r>
              <a:rPr lang="ko-KR" altLang="en-US" dirty="0"/>
              <a:t>● </a:t>
            </a:r>
            <a:r>
              <a:rPr lang="en-US" altLang="ko-KR" dirty="0"/>
              <a:t>workgroup : Windows</a:t>
            </a:r>
            <a:r>
              <a:rPr lang="ko-KR" altLang="en-US" dirty="0"/>
              <a:t>의 작업 그룹 이름</a:t>
            </a:r>
          </a:p>
          <a:p>
            <a:pPr lvl="1">
              <a:buNone/>
              <a:defRPr/>
            </a:pPr>
            <a:r>
              <a:rPr lang="ko-KR" altLang="en-US" dirty="0"/>
              <a:t>● </a:t>
            </a:r>
            <a:r>
              <a:rPr lang="en-US" altLang="ko-KR" dirty="0"/>
              <a:t>server string : Windows</a:t>
            </a:r>
            <a:r>
              <a:rPr lang="ko-KR" altLang="en-US" dirty="0"/>
              <a:t>의 네트워크에 보이는 컴퓨터 설명 이름</a:t>
            </a:r>
            <a:r>
              <a:rPr lang="en-US" altLang="ko-KR" dirty="0"/>
              <a:t>(</a:t>
            </a:r>
            <a:r>
              <a:rPr lang="ko-KR" altLang="en-US" dirty="0"/>
              <a:t>생략 가능</a:t>
            </a:r>
            <a:r>
              <a:rPr lang="en-US" altLang="ko-KR" dirty="0"/>
              <a:t>)</a:t>
            </a:r>
          </a:p>
          <a:p>
            <a:pPr lvl="1">
              <a:buNone/>
              <a:defRPr/>
            </a:pPr>
            <a:r>
              <a:rPr lang="en-US" altLang="ko-KR" dirty="0"/>
              <a:t>● log file : </a:t>
            </a:r>
            <a:r>
              <a:rPr lang="ko-KR" altLang="en-US" dirty="0"/>
              <a:t>삼바 서버에 접속하는 컴퓨터의 접속 기록 파일</a:t>
            </a:r>
            <a:endParaRPr lang="en-US" altLang="ko-KR" dirty="0"/>
          </a:p>
          <a:p>
            <a:pPr lvl="1">
              <a:buNone/>
              <a:defRPr/>
            </a:pPr>
            <a:endParaRPr lang="en-US" altLang="ko-KR" dirty="0"/>
          </a:p>
          <a:p>
            <a:pPr>
              <a:buFont typeface="Georgia" panose="02040502050405020303" pitchFamily="18" charset="0"/>
              <a:buNone/>
              <a:defRPr/>
            </a:pPr>
            <a:r>
              <a:rPr lang="ko-KR" altLang="en-US" dirty="0"/>
              <a:t>② </a:t>
            </a:r>
            <a:r>
              <a:rPr lang="en-US" altLang="ko-KR" dirty="0"/>
              <a:t>[</a:t>
            </a:r>
            <a:r>
              <a:rPr lang="ko-KR" altLang="en-US" dirty="0"/>
              <a:t>공유이름</a:t>
            </a:r>
            <a:r>
              <a:rPr lang="en-US" altLang="ko-KR" dirty="0"/>
              <a:t>] : </a:t>
            </a:r>
            <a:r>
              <a:rPr lang="ko-KR" altLang="en-US" dirty="0"/>
              <a:t>공유되는 디렉터리에 대한 설정</a:t>
            </a:r>
          </a:p>
          <a:p>
            <a:pPr lvl="1">
              <a:buNone/>
              <a:defRPr/>
            </a:pPr>
            <a:r>
              <a:rPr lang="ko-KR" altLang="en-US" dirty="0"/>
              <a:t>● </a:t>
            </a:r>
            <a:r>
              <a:rPr lang="en-US" altLang="ko-KR" dirty="0"/>
              <a:t>comment : </a:t>
            </a:r>
            <a:r>
              <a:rPr lang="ko-KR" altLang="en-US" dirty="0"/>
              <a:t>공유하는 디렉터리를 설명</a:t>
            </a:r>
            <a:r>
              <a:rPr lang="en-US" altLang="ko-KR" dirty="0"/>
              <a:t>. </a:t>
            </a:r>
            <a:r>
              <a:rPr lang="ko-KR" altLang="en-US" dirty="0"/>
              <a:t>생략 가능</a:t>
            </a:r>
          </a:p>
          <a:p>
            <a:pPr lvl="1">
              <a:buNone/>
              <a:defRPr/>
            </a:pPr>
            <a:r>
              <a:rPr lang="ko-KR" altLang="en-US" dirty="0"/>
              <a:t>● </a:t>
            </a:r>
            <a:r>
              <a:rPr lang="en-US" altLang="ko-KR" dirty="0"/>
              <a:t>path : </a:t>
            </a:r>
            <a:r>
              <a:rPr lang="ko-KR" altLang="en-US" dirty="0"/>
              <a:t>물리적인 디렉터리</a:t>
            </a:r>
          </a:p>
          <a:p>
            <a:pPr lvl="1">
              <a:buNone/>
              <a:defRPr/>
            </a:pPr>
            <a:r>
              <a:rPr lang="ko-KR" altLang="en-US" dirty="0"/>
              <a:t>● </a:t>
            </a:r>
            <a:r>
              <a:rPr lang="en-US" altLang="ko-KR" dirty="0" err="1"/>
              <a:t>browseable</a:t>
            </a:r>
            <a:r>
              <a:rPr lang="en-US" altLang="ko-KR" dirty="0"/>
              <a:t> : </a:t>
            </a:r>
            <a:r>
              <a:rPr lang="ko-KR" altLang="en-US" dirty="0"/>
              <a:t>공유 리스트를 보여줄지 여부</a:t>
            </a:r>
          </a:p>
          <a:p>
            <a:pPr lvl="1">
              <a:buNone/>
              <a:defRPr/>
            </a:pPr>
            <a:r>
              <a:rPr lang="ko-KR" altLang="en-US" dirty="0"/>
              <a:t>● </a:t>
            </a:r>
            <a:r>
              <a:rPr lang="en-US" altLang="ko-KR" dirty="0"/>
              <a:t>guest ok : </a:t>
            </a:r>
            <a:r>
              <a:rPr lang="ko-KR" altLang="en-US" dirty="0"/>
              <a:t>다른 사용자도 사용하게 할지 여부</a:t>
            </a: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42901B18-9579-5B30-2DAF-19526428E155}"/>
              </a:ext>
            </a:extLst>
          </p:cNvPr>
          <p:cNvSpPr/>
          <p:nvPr/>
        </p:nvSpPr>
        <p:spPr>
          <a:xfrm>
            <a:off x="6012160" y="530226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737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1307577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3528" y="2132856"/>
            <a:ext cx="84969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▶ </a:t>
            </a:r>
            <a:r>
              <a:rPr lang="ko-KR" altLang="en-US" sz="2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힌트 없음</a:t>
            </a:r>
            <a:endParaRPr lang="en-US" altLang="ko-KR" sz="28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2551E1F0-96CF-6474-1742-22909B02C73D}"/>
              </a:ext>
            </a:extLst>
          </p:cNvPr>
          <p:cNvSpPr/>
          <p:nvPr/>
        </p:nvSpPr>
        <p:spPr>
          <a:xfrm>
            <a:off x="7216640" y="764704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738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F79F970-11F5-4D4E-9CAF-5ECBAF00F8D1}"/>
              </a:ext>
            </a:extLst>
          </p:cNvPr>
          <p:cNvSpPr/>
          <p:nvPr/>
        </p:nvSpPr>
        <p:spPr>
          <a:xfrm>
            <a:off x="1697649" y="908720"/>
            <a:ext cx="55322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비타민 퀴즈 </a:t>
            </a:r>
            <a:r>
              <a:rPr lang="en-US" altLang="ko-KR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15-2 </a:t>
            </a:r>
          </a:p>
        </p:txBody>
      </p:sp>
    </p:spTree>
    <p:extLst>
      <p:ext uri="{BB962C8B-B14F-4D97-AF65-F5344CB8AC3E}">
        <p14:creationId xmlns:p14="http://schemas.microsoft.com/office/powerpoint/2010/main" val="38162502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황록색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[우분투]00장.시작하기전에(Ver 1.0).pptx" id="{9CB7B681-7F69-4437-97DB-78D719B423D5}" vid="{18BC4063-0A75-45F0-B6F0-A104C17F8AB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2404</TotalTime>
  <Words>255</Words>
  <Application>Microsoft Office PowerPoint</Application>
  <PresentationFormat>화면 슬라이드 쇼(4:3)</PresentationFormat>
  <Paragraphs>45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8" baseType="lpstr">
      <vt:lpstr>Georgia</vt:lpstr>
      <vt:lpstr>Trebuchet MS</vt:lpstr>
      <vt:lpstr>나눔스퀘어라운드 ExtraBold</vt:lpstr>
      <vt:lpstr>나눔바른고딕</vt:lpstr>
      <vt:lpstr>나눔고딕 ExtraBold</vt:lpstr>
      <vt:lpstr>나눔스퀘어 ExtraBold</vt:lpstr>
      <vt:lpstr>굴림</vt:lpstr>
      <vt:lpstr>Wingdings 2</vt:lpstr>
      <vt:lpstr>Urban</vt:lpstr>
      <vt:lpstr>PowerPoint 프레젠테이션</vt:lpstr>
      <vt:lpstr>Samba 서버 소개  </vt:lpstr>
      <vt:lpstr>리눅스에서 Windows 폴더와 프린터 사용</vt:lpstr>
      <vt:lpstr>PowerPoint 프레젠테이션</vt:lpstr>
      <vt:lpstr>PowerPoint 프레젠테이션</vt:lpstr>
      <vt:lpstr>Windows에서 리눅스 폴더와 프린터 사용</vt:lpstr>
      <vt:lpstr>PowerPoint 프레젠테이션</vt:lpstr>
      <vt:lpstr>Samba 서버 설정 파일(smb.conf)</vt:lpstr>
      <vt:lpstr>PowerPoint 프레젠테이션</vt:lpstr>
    </vt:vector>
  </TitlesOfParts>
  <Company>DTSOLUTION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이것이 리눅스다</dc:title>
  <dc:creator>한빛미디어</dc:creator>
  <cp:lastModifiedBy>재남 우</cp:lastModifiedBy>
  <cp:revision>124</cp:revision>
  <dcterms:created xsi:type="dcterms:W3CDTF">2007-02-12T03:01:34Z</dcterms:created>
  <dcterms:modified xsi:type="dcterms:W3CDTF">2024-10-26T04:29:19Z</dcterms:modified>
</cp:coreProperties>
</file>