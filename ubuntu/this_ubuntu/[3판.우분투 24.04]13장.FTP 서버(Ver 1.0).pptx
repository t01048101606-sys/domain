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56" r:id="rId2"/>
    <p:sldId id="257" r:id="rId3"/>
    <p:sldId id="258" r:id="rId4"/>
    <p:sldId id="259" r:id="rId5"/>
    <p:sldId id="260" r:id="rId6"/>
    <p:sldId id="262" r:id="rId7"/>
    <p:sldId id="269" r:id="rId8"/>
  </p:sldIdLst>
  <p:sldSz cx="9144000" cy="6858000" type="screen4x3"/>
  <p:notesSz cx="6858000" cy="9144000"/>
  <p:embeddedFontLst>
    <p:embeddedFont>
      <p:font typeface="나눔고딕 ExtraBold" panose="020D0904000000000000" pitchFamily="50" charset="-127"/>
      <p:bold r:id="rId11"/>
    </p:embeddedFont>
    <p:embeddedFont>
      <p:font typeface="나눔바른고딕" panose="020B0603020101020101" pitchFamily="50" charset="-127"/>
      <p:regular r:id="rId12"/>
      <p:bold r:id="rId13"/>
    </p:embeddedFont>
    <p:embeddedFont>
      <p:font typeface="나눔스퀘어 ExtraBold" panose="020B0600000101010101" pitchFamily="50" charset="-127"/>
      <p:bold r:id="rId14"/>
    </p:embeddedFont>
    <p:embeddedFont>
      <p:font typeface="나눔스퀘어라운드 ExtraBold" panose="020B0600000101010101" pitchFamily="50" charset="-127"/>
      <p:bold r:id="rId15"/>
    </p:embeddedFont>
    <p:embeddedFont>
      <p:font typeface="Georgia" panose="02040502050405020303" pitchFamily="18" charset="0"/>
      <p:regular r:id="rId16"/>
      <p:bold r:id="rId17"/>
      <p:italic r:id="rId18"/>
      <p:boldItalic r:id="rId19"/>
    </p:embeddedFont>
    <p:embeddedFont>
      <p:font typeface="Trebuchet MS" panose="020B0603020202020204" pitchFamily="34" charset="0"/>
      <p:regular r:id="rId20"/>
      <p:bold r:id="rId21"/>
      <p:italic r:id="rId22"/>
      <p:boldItalic r:id="rId23"/>
    </p:embeddedFont>
    <p:embeddedFont>
      <p:font typeface="Wingdings 2" panose="05020102010507070707" pitchFamily="18" charset="2"/>
      <p:regular r:id="rId24"/>
    </p:embeddedFont>
  </p:embeddedFontLst>
  <p:defaultTextStyle>
    <a:defPPr>
      <a:defRPr lang="en-US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33"/>
    <a:srgbClr val="FF6600"/>
    <a:srgbClr val="CC66FF"/>
    <a:srgbClr val="FF7C80"/>
    <a:srgbClr val="9966FF"/>
    <a:srgbClr val="FF00FF"/>
    <a:srgbClr val="FFCC66"/>
    <a:srgbClr val="CC99FF"/>
    <a:srgbClr val="FFCC99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6" autoAdjust="0"/>
    <p:restoredTop sz="94660"/>
  </p:normalViewPr>
  <p:slideViewPr>
    <p:cSldViewPr>
      <p:cViewPr>
        <p:scale>
          <a:sx n="125" d="100"/>
          <a:sy n="125" d="100"/>
        </p:scale>
        <p:origin x="942" y="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3" d="100"/>
          <a:sy n="73" d="100"/>
        </p:scale>
        <p:origin x="2682" y="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3E24673C-6695-4338-BB03-1527ED3D44D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7DF4E72-3AA4-4775-9E94-2B847969C99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F5311B-5D78-499E-BD82-99044A3A2310}" type="datetimeFigureOut">
              <a:rPr lang="ko-KR" altLang="en-US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2024-10-26</a:t>
            </a:fld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978949C-1257-41BA-BE32-661D22C8D4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0C2EEA3-F82A-453E-B4CB-5CF791CE8C6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91374B-5E44-4691-8385-F83CA52C76B9}" type="slidenum">
              <a:rPr lang="ko-KR" altLang="en-US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‹#›</a:t>
            </a:fld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89006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fld id="{A9FE1E17-38D0-4764-A605-7BB07631345D}" type="datetimeFigureOut">
              <a:rPr lang="ko-KR" altLang="en-US" smtClean="0"/>
              <a:pPr>
                <a:defRPr/>
              </a:pPr>
              <a:t>2024-10-26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fld id="{8950B175-50B7-496C-B63E-4B4F03E0721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83632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F2E5FF64-107C-C58A-6C47-B1DC6113D1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06634" y="845736"/>
            <a:ext cx="4815919" cy="516652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FDB5C4FD-2B03-4A88-A582-AA7ACB7176C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743" y="6264745"/>
            <a:ext cx="1970191" cy="497239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BB051D0-15E5-40BC-B4C6-AB45FF616079}"/>
              </a:ext>
            </a:extLst>
          </p:cNvPr>
          <p:cNvSpPr/>
          <p:nvPr userDrawn="1"/>
        </p:nvSpPr>
        <p:spPr>
          <a:xfrm>
            <a:off x="354120" y="1025303"/>
            <a:ext cx="3506222" cy="954107"/>
          </a:xfrm>
          <a:prstGeom prst="rect">
            <a:avLst/>
          </a:prstGeom>
          <a:solidFill>
            <a:srgbClr val="00B0F0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13</a:t>
            </a:r>
            <a:r>
              <a:rPr lang="ko-KR" altLang="en-US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</a:t>
            </a:r>
            <a:r>
              <a:rPr lang="en-US" altLang="ko-KR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</a:p>
          <a:p>
            <a:pPr algn="ctr"/>
            <a:r>
              <a:rPr lang="en-US" altLang="ko-KR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FTP </a:t>
            </a:r>
            <a:r>
              <a:rPr lang="ko-KR" altLang="en-US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서버</a:t>
            </a:r>
            <a:endParaRPr lang="en-US" altLang="ko-KR" sz="2800" b="1" cap="none" spc="0" dirty="0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952CC6D-270C-47EC-BC2A-75F4D0D165C2}"/>
              </a:ext>
            </a:extLst>
          </p:cNvPr>
          <p:cNvSpPr/>
          <p:nvPr userDrawn="1"/>
        </p:nvSpPr>
        <p:spPr>
          <a:xfrm>
            <a:off x="4536228" y="6264745"/>
            <a:ext cx="4308295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altLang="ko-KR" sz="2000" b="1" cap="none" spc="0" dirty="0">
                <a:ln/>
                <a:solidFill>
                  <a:schemeClr val="tx1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https://cafe.naver.com/thisisLinux</a:t>
            </a:r>
          </a:p>
        </p:txBody>
      </p:sp>
      <p:sp>
        <p:nvSpPr>
          <p:cNvPr id="9" name="별: 꼭짓점 12개 8">
            <a:extLst>
              <a:ext uri="{FF2B5EF4-FFF2-40B4-BE49-F238E27FC236}">
                <a16:creationId xmlns:a16="http://schemas.microsoft.com/office/drawing/2014/main" id="{0E5C3A4F-295B-BE34-4140-0C39B81E2F61}"/>
              </a:ext>
            </a:extLst>
          </p:cNvPr>
          <p:cNvSpPr/>
          <p:nvPr userDrawn="1"/>
        </p:nvSpPr>
        <p:spPr>
          <a:xfrm>
            <a:off x="7020272" y="593255"/>
            <a:ext cx="1224136" cy="864096"/>
          </a:xfrm>
          <a:prstGeom prst="star12">
            <a:avLst/>
          </a:prstGeom>
          <a:solidFill>
            <a:srgbClr val="CC6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판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19C0829C-8AE1-5E32-FB03-DACDB463B5B6}"/>
              </a:ext>
            </a:extLst>
          </p:cNvPr>
          <p:cNvSpPr/>
          <p:nvPr userDrawn="1"/>
        </p:nvSpPr>
        <p:spPr>
          <a:xfrm>
            <a:off x="1088838" y="3645024"/>
            <a:ext cx="1970190" cy="1657849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n>
                  <a:noFill/>
                </a:ln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우분투 </a:t>
            </a:r>
            <a:r>
              <a:rPr lang="en-US" altLang="ko-KR" sz="2400" dirty="0">
                <a:ln>
                  <a:noFill/>
                </a:ln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24.04</a:t>
            </a:r>
          </a:p>
          <a:p>
            <a:pPr algn="ctr"/>
            <a:r>
              <a:rPr lang="en-US" altLang="ko-KR" sz="2400" dirty="0">
                <a:ln>
                  <a:noFill/>
                </a:ln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LTS</a:t>
            </a:r>
            <a:endParaRPr lang="ko-KR" altLang="en-US" sz="2400" dirty="0">
              <a:ln>
                <a:noFill/>
              </a:ln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59219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428625" y="6581775"/>
            <a:ext cx="235673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(3</a:t>
            </a:r>
            <a:r>
              <a:rPr kumimoji="0" lang="ko-KR" altLang="en-US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판</a:t>
            </a:r>
            <a:r>
              <a:rPr kumimoji="0" lang="en-US" altLang="ko-KR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 </a:t>
            </a:r>
            <a:r>
              <a:rPr kumimoji="0" lang="ko-KR" altLang="en-US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이것이 우분투 리눅스다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285750" y="0"/>
            <a:ext cx="151836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13</a:t>
            </a:r>
            <a:r>
              <a:rPr kumimoji="0" lang="ko-KR" altLang="en-US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장</a:t>
            </a:r>
            <a:r>
              <a:rPr kumimoji="0" lang="en-US" altLang="ko-KR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. FTP</a:t>
            </a:r>
            <a:r>
              <a:rPr kumimoji="0" lang="ko-KR" altLang="en-US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서버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8285226" y="6550025"/>
            <a:ext cx="79380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49AC353A-281A-4504-9FE1-662E9EF17D8A}" type="slidenum">
              <a:rPr lang="ko-KR" altLang="en-US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pPr eaLnBrk="1" hangingPunct="1"/>
              <a:t>‹#›</a:t>
            </a:fld>
            <a:r>
              <a:rPr lang="en-US" altLang="ko-KR" sz="14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/7</a:t>
            </a:r>
            <a:endParaRPr lang="ko-KR" altLang="en-US" sz="14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5508104" y="0"/>
            <a:ext cx="321453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400" b="1" dirty="0">
                <a:solidFill>
                  <a:schemeClr val="bg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https://cafe.naver.com/thisisLinux</a:t>
            </a:r>
            <a:endParaRPr lang="ko-KR" altLang="en-US" sz="1400" b="1" dirty="0">
              <a:solidFill>
                <a:schemeClr val="bg1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642918"/>
            <a:ext cx="8229600" cy="642942"/>
          </a:xfrm>
        </p:spPr>
        <p:txBody>
          <a:bodyPr>
            <a:normAutofit/>
          </a:bodyPr>
          <a:lstStyle>
            <a:lvl1pPr>
              <a:defRPr sz="3200"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5143536"/>
          </a:xfrm>
        </p:spPr>
        <p:txBody>
          <a:bodyPr>
            <a:normAutofit/>
          </a:bodyPr>
          <a:lstStyle>
            <a:lvl1pPr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 sz="2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 sz="2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 sz="18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6444208" y="6548338"/>
            <a:ext cx="1711174" cy="307777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Ubuntu 24.04 LTS</a:t>
            </a:r>
            <a:endParaRPr lang="ko-KR" altLang="en-US" sz="1400" b="1" dirty="0">
              <a:solidFill>
                <a:schemeClr val="bg1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2463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70A40A-1095-4482-A81C-DE8D97CF4FAF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510668-C776-4DEF-90B9-7FD1E5FDC33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69769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D9E67D-5DA1-4729-B991-E4DA6144546D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994A34-7693-4DA8-87B2-5F89B278748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91498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/>
          <a:lstStyle>
            <a:lvl1pPr>
              <a:defRPr sz="4000" b="0" i="0" cap="none" baseline="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날짜 개체 틀 2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D4FCB4-DCC3-4812-BAA4-E89A66CCAA25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8" name="슬라이드 번호 개체 틀 2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17B28E1-79AC-48A3-9558-454E42DE4EDC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9" name="바닥글 개체 틀 2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59397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6583363" y="612775"/>
            <a:ext cx="957262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101D40-AEA9-4F59-9273-3AE4BD34FFDA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EA269F-E158-42D9-816A-B30CB7545EE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75787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4D789F-1FA5-4F5C-A900-FE73EF265E54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375B4C-030A-4FCD-9864-787CE94FAE18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57792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6F9F45-433C-435F-9729-7CA4AF07A0F6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71BBA6-43EC-4C88-96A0-166A32778D2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36932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ko-KR" altLang="en-US" noProof="0"/>
              <a:t>그림을 추가하려면 아이콘을 클릭하십시오</a:t>
            </a:r>
            <a:endParaRPr 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6D0103-5A9F-48FB-917D-308A742FCF20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6FC6B0-8FED-4CA7-8A00-7E8567A752B7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27900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793685-C9C7-46A1-BE54-14BF41CEC4D6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59A1A9-6617-4B03-8D81-72B941360C69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85820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086E2D-11AA-4D7A-97B8-811672594385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AF3D2F-599A-49E6-9281-C2BD50F5B85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10843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/>
          <p:cNvSpPr/>
          <p:nvPr/>
        </p:nvSpPr>
        <p:spPr>
          <a:xfrm>
            <a:off x="0" y="366713"/>
            <a:ext cx="9144000" cy="84137"/>
          </a:xfrm>
          <a:prstGeom prst="rect">
            <a:avLst/>
          </a:prstGeom>
          <a:solidFill>
            <a:schemeClr val="accent6">
              <a:lumMod val="60000"/>
              <a:lumOff val="40000"/>
              <a:alpha val="49804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0" y="0"/>
            <a:ext cx="9144000" cy="3111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0" y="307975"/>
            <a:ext cx="9144000" cy="920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1" name="직사각형 30"/>
          <p:cNvSpPr/>
          <p:nvPr/>
        </p:nvSpPr>
        <p:spPr>
          <a:xfrm flipV="1">
            <a:off x="5410200" y="360363"/>
            <a:ext cx="3733800" cy="90487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2" name="직사각형 31"/>
          <p:cNvSpPr/>
          <p:nvPr/>
        </p:nvSpPr>
        <p:spPr>
          <a:xfrm flipV="1">
            <a:off x="5410200" y="439738"/>
            <a:ext cx="3733800" cy="180975"/>
          </a:xfrm>
          <a:prstGeom prst="rect">
            <a:avLst/>
          </a:prstGeom>
          <a:solidFill>
            <a:schemeClr val="accent3">
              <a:lumMod val="20000"/>
              <a:lumOff val="80000"/>
              <a:alpha val="49804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 useBgFill="1">
        <p:nvSpPr>
          <p:cNvPr id="33" name="모서리가 둥근 직사각형 32"/>
          <p:cNvSpPr/>
          <p:nvPr/>
        </p:nvSpPr>
        <p:spPr bwMode="white">
          <a:xfrm>
            <a:off x="5407025" y="496888"/>
            <a:ext cx="3063875" cy="28575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 useBgFill="1">
        <p:nvSpPr>
          <p:cNvPr id="34" name="모서리가 둥근 직사각형 33"/>
          <p:cNvSpPr/>
          <p:nvPr/>
        </p:nvSpPr>
        <p:spPr bwMode="white">
          <a:xfrm>
            <a:off x="7373938" y="588963"/>
            <a:ext cx="1600200" cy="3651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5" name="직사각형 34"/>
          <p:cNvSpPr/>
          <p:nvPr/>
        </p:nvSpPr>
        <p:spPr bwMode="invGray">
          <a:xfrm>
            <a:off x="9085263" y="-1588"/>
            <a:ext cx="57150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6" name="직사각형 35"/>
          <p:cNvSpPr/>
          <p:nvPr/>
        </p:nvSpPr>
        <p:spPr bwMode="invGray">
          <a:xfrm>
            <a:off x="9043988" y="-1588"/>
            <a:ext cx="28575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7" name="직사각형 36"/>
          <p:cNvSpPr/>
          <p:nvPr/>
        </p:nvSpPr>
        <p:spPr bwMode="invGray">
          <a:xfrm>
            <a:off x="9024938" y="-1588"/>
            <a:ext cx="9525" cy="620713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8" name="직사각형 37"/>
          <p:cNvSpPr/>
          <p:nvPr/>
        </p:nvSpPr>
        <p:spPr bwMode="invGray">
          <a:xfrm>
            <a:off x="8975725" y="-1588"/>
            <a:ext cx="26988" cy="620713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9" name="직사각형 38"/>
          <p:cNvSpPr/>
          <p:nvPr/>
        </p:nvSpPr>
        <p:spPr bwMode="invGray">
          <a:xfrm>
            <a:off x="8915400" y="0"/>
            <a:ext cx="55563" cy="585788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40" name="직사각형 39"/>
          <p:cNvSpPr/>
          <p:nvPr/>
        </p:nvSpPr>
        <p:spPr bwMode="invGray">
          <a:xfrm>
            <a:off x="8874125" y="0"/>
            <a:ext cx="7938" cy="585788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1039" name="제목 개체 틀 21"/>
          <p:cNvSpPr>
            <a:spLocks noGrp="1"/>
          </p:cNvSpPr>
          <p:nvPr>
            <p:ph type="title"/>
          </p:nvPr>
        </p:nvSpPr>
        <p:spPr bwMode="auto"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40" name="텍스트 개체 틀 12"/>
          <p:cNvSpPr>
            <a:spLocks noGrp="1"/>
          </p:cNvSpPr>
          <p:nvPr>
            <p:ph type="body" idx="1"/>
          </p:nvPr>
        </p:nvSpPr>
        <p:spPr bwMode="auto">
          <a:xfrm>
            <a:off x="457200" y="2249488"/>
            <a:ext cx="8229600" cy="432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4" name="날짜 개체 틀 13"/>
          <p:cNvSpPr>
            <a:spLocks noGrp="1"/>
          </p:cNvSpPr>
          <p:nvPr>
            <p:ph type="dt" sz="half" idx="2"/>
          </p:nvPr>
        </p:nvSpPr>
        <p:spPr>
          <a:xfrm>
            <a:off x="6586538" y="612775"/>
            <a:ext cx="957262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latinLnBrk="0">
              <a:defRPr kumimoji="0" sz="800">
                <a:solidFill>
                  <a:schemeClr val="accent2"/>
                </a:solidFill>
                <a:latin typeface="Georgia" pitchFamily="18" charset="0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fld id="{04372308-AE4D-4F5B-A5F4-8D5BDCABB86D}" type="datetimeFigureOut">
              <a:rPr lang="en-US" altLang="ko-KR" smtClean="0"/>
              <a:pPr>
                <a:defRPr/>
              </a:pPr>
              <a:t>10/26/2024</a:t>
            </a:fld>
            <a:endParaRPr lang="en-US" altLang="ko-KR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latinLnBrk="0">
              <a:defRPr kumimoji="0" sz="800">
                <a:solidFill>
                  <a:schemeClr val="accent2"/>
                </a:solidFill>
                <a:latin typeface="Georgia" pitchFamily="18" charset="0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4"/>
          </p:nvPr>
        </p:nvSpPr>
        <p:spPr>
          <a:xfrm>
            <a:off x="8174038" y="1588"/>
            <a:ext cx="762000" cy="3667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latinLnBrk="0">
              <a:defRPr kumimoji="0">
                <a:solidFill>
                  <a:srgbClr val="FFFFFF"/>
                </a:solidFill>
                <a:latin typeface="Georgia" panose="02040502050405020303" pitchFamily="18" charset="0"/>
                <a:ea typeface="나눔바른고딕" panose="020B0603020101020101" pitchFamily="50" charset="-127"/>
              </a:defRPr>
            </a:lvl1pPr>
          </a:lstStyle>
          <a:p>
            <a:fld id="{80EA332E-FF14-428F-B02F-D0E6231A0C16}" type="slidenum">
              <a:rPr lang="en-US" altLang="ko-KR" smtClean="0"/>
              <a:pPr/>
              <a:t>‹#›</a:t>
            </a:fld>
            <a:endParaRPr lang="en-US" altLang="ko-KR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나눔바른고딕" panose="020B0603020101020101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5pPr>
      <a:lvl6pPr marL="4572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6pPr>
      <a:lvl7pPr marL="9144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9pPr>
    </p:titleStyle>
    <p:bodyStyle>
      <a:lvl1pPr marL="365125" indent="-255588" algn="l" rtl="0" eaLnBrk="0" fontAlgn="base" latinLnBrk="1" hangingPunct="0">
        <a:spcBef>
          <a:spcPts val="300"/>
        </a:spcBef>
        <a:spcAft>
          <a:spcPct val="0"/>
        </a:spcAft>
        <a:buClr>
          <a:srgbClr val="A04DA3"/>
        </a:buClr>
        <a:buFont typeface="Georgia" panose="02040502050405020303" pitchFamily="18" charset="0"/>
        <a:buChar char="•"/>
        <a:defRPr sz="2800" kern="1200">
          <a:solidFill>
            <a:schemeClr val="tx1"/>
          </a:solidFill>
          <a:latin typeface="+mn-lt"/>
          <a:ea typeface="나눔바른고딕" panose="020B0603020101020101" pitchFamily="50" charset="-127"/>
          <a:cs typeface="+mn-cs"/>
        </a:defRPr>
      </a:lvl1pPr>
      <a:lvl2pPr marL="657225" indent="-246063" algn="l" rtl="0" eaLnBrk="0" fontAlgn="base" latinLnBrk="1" hangingPunct="0">
        <a:spcBef>
          <a:spcPts val="300"/>
        </a:spcBef>
        <a:spcAft>
          <a:spcPct val="0"/>
        </a:spcAft>
        <a:buClr>
          <a:schemeClr val="accent2"/>
        </a:buClr>
        <a:buFont typeface="Georgia" panose="02040502050405020303" pitchFamily="18" charset="0"/>
        <a:buChar char="▫"/>
        <a:defRPr sz="2600" kern="1200">
          <a:solidFill>
            <a:schemeClr val="accent2"/>
          </a:solidFill>
          <a:latin typeface="+mn-lt"/>
          <a:ea typeface="나눔바른고딕" panose="020B0603020101020101" pitchFamily="50" charset="-127"/>
          <a:cs typeface="+mn-cs"/>
        </a:defRPr>
      </a:lvl2pPr>
      <a:lvl3pPr marL="922338" indent="-219075" algn="l" rtl="0" eaLnBrk="0" fontAlgn="base" latinLnBrk="1" hangingPunct="0">
        <a:spcBef>
          <a:spcPts val="300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"/>
        <a:defRPr sz="2400" kern="1200">
          <a:solidFill>
            <a:schemeClr val="accent1"/>
          </a:solidFill>
          <a:latin typeface="+mn-lt"/>
          <a:ea typeface="나눔바른고딕" panose="020B0603020101020101" pitchFamily="50" charset="-127"/>
          <a:cs typeface="+mn-cs"/>
        </a:defRPr>
      </a:lvl3pPr>
      <a:lvl4pPr marL="1179513" indent="-200025" algn="l" rtl="0" eaLnBrk="0" fontAlgn="base" latinLnBrk="1" hangingPunct="0">
        <a:spcBef>
          <a:spcPts val="300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"/>
        <a:defRPr sz="2200" kern="1200">
          <a:solidFill>
            <a:schemeClr val="accent1"/>
          </a:solidFill>
          <a:latin typeface="+mn-lt"/>
          <a:ea typeface="나눔바른고딕" panose="020B0603020101020101" pitchFamily="50" charset="-127"/>
          <a:cs typeface="+mn-cs"/>
        </a:defRPr>
      </a:lvl4pPr>
      <a:lvl5pPr marL="1389063" indent="-182563" algn="l" rtl="0" eaLnBrk="0" fontAlgn="base" latinLnBrk="1" hangingPunct="0">
        <a:spcBef>
          <a:spcPts val="300"/>
        </a:spcBef>
        <a:spcAft>
          <a:spcPct val="0"/>
        </a:spcAft>
        <a:buClr>
          <a:srgbClr val="A04DA3"/>
        </a:buClr>
        <a:buFont typeface="Georgia" panose="02040502050405020303" pitchFamily="18" charset="0"/>
        <a:buChar char="▫"/>
        <a:defRPr sz="2000" kern="1200">
          <a:solidFill>
            <a:srgbClr val="A04DA3"/>
          </a:solidFill>
          <a:latin typeface="+mn-lt"/>
          <a:ea typeface="나눔바른고딕" panose="020B0603020101020101" pitchFamily="50" charset="-127"/>
          <a:cs typeface="+mn-cs"/>
        </a:defRPr>
      </a:lvl5pPr>
      <a:lvl6pPr marL="1609344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%ED%82%A4%EB%B3%B4%EB%93%9C-%EC%9E%85%EB%A0%A5-%EC%9C%A0%ED%98%95-%EC%97%B4%EC%87%A0-%EC%9E%A5%EC%B9%98-%EB%A1%9C%EA%B7%B8%EC%9D%B8-%EA%B8%B0%ED%98%B8-%EC%95%84%EC%9D%B4%EC%BD%98-27797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%ED%82%A4%EB%B3%B4%EB%93%9C-%EC%9E%85%EB%A0%A5-%EC%9C%A0%ED%98%95-%EC%97%B4%EC%87%A0-%EC%9E%A5%EC%B9%98-%EB%A1%9C%EA%B7%B8%EC%9D%B8-%EA%B8%B0%ED%98%B8-%EC%95%84%EC%9D%B4%EC%BD%98-27797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en-US" altLang="ko-KR" sz="2800" dirty="0"/>
              <a:t>FTP </a:t>
            </a:r>
            <a:r>
              <a:rPr lang="ko-KR" altLang="en-US" sz="2800" dirty="0"/>
              <a:t>개요</a:t>
            </a:r>
            <a:r>
              <a:rPr lang="en-US" altLang="ko-KR" sz="2800" dirty="0"/>
              <a:t> 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1493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dirty="0"/>
              <a:t>FTP(File Transfer Protocol)</a:t>
            </a:r>
            <a:r>
              <a:rPr lang="ko-KR" altLang="en-US" dirty="0"/>
              <a:t>는 파일을 전송하기 위한 서비스</a:t>
            </a:r>
            <a:endParaRPr lang="en-US" altLang="ko-KR" dirty="0"/>
          </a:p>
          <a:p>
            <a:pPr>
              <a:defRPr/>
            </a:pPr>
            <a:r>
              <a:rPr lang="ko-KR" altLang="en-US" dirty="0"/>
              <a:t>웹에서 </a:t>
            </a:r>
            <a:r>
              <a:rPr lang="en-US" altLang="ko-KR" dirty="0"/>
              <a:t>FTP</a:t>
            </a:r>
            <a:r>
              <a:rPr lang="ko-KR" altLang="en-US" dirty="0"/>
              <a:t>의 고유 기능인 파일 전송을 편리하게 할 수 있게 되어서 예전보다 인기가 많이 떨어짐</a:t>
            </a:r>
            <a:endParaRPr lang="en-US" altLang="ko-KR" dirty="0"/>
          </a:p>
          <a:p>
            <a:pPr eaLnBrk="1" hangingPunct="1">
              <a:defRPr/>
            </a:pPr>
            <a:r>
              <a:rPr lang="ko-KR" altLang="en-US" dirty="0"/>
              <a:t>파일 전송 자체를 위해서는 성능이 뛰어남</a:t>
            </a:r>
            <a:endParaRPr lang="en-US" altLang="ko-KR" dirty="0"/>
          </a:p>
          <a:p>
            <a:pPr eaLnBrk="1" hangingPunct="1">
              <a:defRPr/>
            </a:pPr>
            <a:r>
              <a:rPr lang="en-US" altLang="ko-KR" dirty="0"/>
              <a:t>vsftpd</a:t>
            </a:r>
            <a:r>
              <a:rPr lang="ko-KR" altLang="en-US" dirty="0"/>
              <a:t>는 우분투에서 제공해 줌</a:t>
            </a:r>
            <a:endParaRPr lang="en-US" altLang="ko-KR" dirty="0"/>
          </a:p>
          <a:p>
            <a:pPr lvl="1" eaLnBrk="1" hangingPunct="1">
              <a:defRPr/>
            </a:pPr>
            <a:r>
              <a:rPr lang="en-US" altLang="ko-KR" sz="2000" dirty="0"/>
              <a:t>vsftpd(Very Secure FTPD)</a:t>
            </a:r>
            <a:r>
              <a:rPr lang="ko-KR" altLang="en-US" sz="2000" dirty="0"/>
              <a:t>는 우분투에서 기본적으로 제공되며</a:t>
            </a:r>
            <a:r>
              <a:rPr lang="en-US" altLang="ko-KR" sz="2000" dirty="0"/>
              <a:t>, </a:t>
            </a:r>
            <a:r>
              <a:rPr lang="ko-KR" altLang="en-US" sz="2000" dirty="0"/>
              <a:t>리눅스와 유닉스 환경에서 보안성과 성능이 우수한 </a:t>
            </a:r>
            <a:r>
              <a:rPr lang="en-US" altLang="ko-KR" sz="2000" dirty="0"/>
              <a:t>FTP </a:t>
            </a:r>
            <a:r>
              <a:rPr lang="ko-KR" altLang="en-US" sz="2000" dirty="0"/>
              <a:t>서버로 인정받고 있음</a:t>
            </a:r>
            <a:r>
              <a:rPr lang="en-US" altLang="ko-KR" sz="2000" dirty="0"/>
              <a:t>.</a:t>
            </a:r>
          </a:p>
          <a:p>
            <a:pPr lvl="1" eaLnBrk="1" hangingPunct="1">
              <a:defRPr/>
            </a:pPr>
            <a:r>
              <a:rPr lang="en-US" altLang="ko-KR" sz="2000" dirty="0"/>
              <a:t>SFTP</a:t>
            </a:r>
            <a:r>
              <a:rPr lang="ko-KR" altLang="en-US" sz="2000" dirty="0"/>
              <a:t>는 보안이 강화된 </a:t>
            </a:r>
            <a:r>
              <a:rPr lang="en-US" altLang="ko-KR" sz="2000" dirty="0"/>
              <a:t>FTP </a:t>
            </a:r>
            <a:r>
              <a:rPr lang="ko-KR" altLang="en-US" sz="2000" dirty="0"/>
              <a:t>서버</a:t>
            </a:r>
            <a:endParaRPr lang="en-US" altLang="ko-KR" dirty="0"/>
          </a:p>
          <a:p>
            <a:pPr lvl="2" eaLnBrk="1" hangingPunct="1">
              <a:defRPr/>
            </a:pPr>
            <a:endParaRPr lang="ko-KR" altLang="en-US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F07432CC-ACF8-6945-8A4B-92EFC997637C}"/>
              </a:ext>
            </a:extLst>
          </p:cNvPr>
          <p:cNvSpPr/>
          <p:nvPr/>
        </p:nvSpPr>
        <p:spPr>
          <a:xfrm>
            <a:off x="2123728" y="594126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695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</p:spTree>
    <p:extLst>
      <p:ext uri="{BB962C8B-B14F-4D97-AF65-F5344CB8AC3E}">
        <p14:creationId xmlns:p14="http://schemas.microsoft.com/office/powerpoint/2010/main" val="3227199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3C82A5-DFF4-432E-97F3-7B3957AD0AF2}"/>
              </a:ext>
            </a:extLst>
          </p:cNvPr>
          <p:cNvSpPr txBox="1">
            <a:spLocks/>
          </p:cNvSpPr>
          <p:nvPr/>
        </p:nvSpPr>
        <p:spPr bwMode="auto">
          <a:xfrm>
            <a:off x="773341" y="622004"/>
            <a:ext cx="8075240" cy="642937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 eaLnBrk="1" hangingPunct="1">
              <a:defRPr/>
            </a:pP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&lt;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실습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1&gt; </a:t>
            </a:r>
            <a:r>
              <a:rPr kumimoji="0" lang="en-US" altLang="ko-KR" sz="2400" dirty="0" err="1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vsftpd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설치 및 운영</a:t>
            </a:r>
          </a:p>
        </p:txBody>
      </p:sp>
      <p:sp>
        <p:nvSpPr>
          <p:cNvPr id="19459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실습목표</a:t>
            </a:r>
            <a:endParaRPr lang="en-US" altLang="ko-KR" dirty="0"/>
          </a:p>
          <a:p>
            <a:pPr lvl="1" eaLnBrk="1" hangingPunct="1">
              <a:defRPr/>
            </a:pPr>
            <a:r>
              <a:rPr lang="en-US" altLang="ko-KR" sz="2000" dirty="0" err="1"/>
              <a:t>vsFTPD</a:t>
            </a:r>
            <a:r>
              <a:rPr lang="en-US" altLang="ko-KR" sz="2000" dirty="0"/>
              <a:t>(Very Secure FTPD)</a:t>
            </a:r>
            <a:r>
              <a:rPr lang="ko-KR" altLang="en-US" sz="2000" dirty="0"/>
              <a:t>를 설치</a:t>
            </a:r>
            <a:r>
              <a:rPr lang="en-US" altLang="ko-KR" sz="2000" dirty="0"/>
              <a:t>/</a:t>
            </a:r>
            <a:r>
              <a:rPr lang="ko-KR" altLang="en-US" sz="2000" dirty="0"/>
              <a:t>운영하자</a:t>
            </a:r>
            <a:r>
              <a:rPr lang="en-US" altLang="ko-KR" sz="2000" dirty="0"/>
              <a:t>.</a:t>
            </a:r>
          </a:p>
          <a:p>
            <a:pPr lvl="1" eaLnBrk="1" hangingPunct="1">
              <a:defRPr/>
            </a:pPr>
            <a:r>
              <a:rPr lang="ko-KR" altLang="en-US" sz="2000" dirty="0"/>
              <a:t>익명</a:t>
            </a:r>
            <a:r>
              <a:rPr lang="en-US" altLang="ko-KR" sz="2000" dirty="0"/>
              <a:t>(anonymous)</a:t>
            </a:r>
            <a:r>
              <a:rPr lang="ko-KR" altLang="en-US" sz="2000" dirty="0"/>
              <a:t>사용자도 업로드 되도록 설정한다</a:t>
            </a:r>
            <a:r>
              <a:rPr lang="en-US" altLang="ko-KR" sz="2000" dirty="0"/>
              <a:t>.</a:t>
            </a:r>
          </a:p>
          <a:p>
            <a:pPr lvl="1" eaLnBrk="1" hangingPunct="1">
              <a:defRPr/>
            </a:pPr>
            <a:r>
              <a:rPr lang="en-US" altLang="ko-KR" sz="2000" dirty="0"/>
              <a:t> </a:t>
            </a:r>
            <a:r>
              <a:rPr lang="en-US" altLang="ko-KR" sz="2000" dirty="0" err="1"/>
              <a:t>vsftpd.conf</a:t>
            </a:r>
            <a:r>
              <a:rPr lang="en-US" altLang="ko-KR" sz="2000" dirty="0"/>
              <a:t> </a:t>
            </a:r>
            <a:r>
              <a:rPr lang="ko-KR" altLang="en-US" sz="2000" dirty="0"/>
              <a:t>파일의 설정법을 익힌다</a:t>
            </a:r>
            <a:r>
              <a:rPr lang="en-US" altLang="ko-KR" sz="2000" dirty="0"/>
              <a:t>.</a:t>
            </a:r>
            <a:endParaRPr lang="en-US" altLang="ko-KR" dirty="0"/>
          </a:p>
          <a:p>
            <a:pPr eaLnBrk="1" hangingPunct="1">
              <a:defRPr/>
            </a:pPr>
            <a:r>
              <a:rPr lang="ko-KR" altLang="en-US" dirty="0"/>
              <a:t>결과 화면 </a:t>
            </a:r>
            <a:r>
              <a:rPr lang="en-US" altLang="ko-KR" dirty="0"/>
              <a:t>(FTP </a:t>
            </a:r>
            <a:r>
              <a:rPr lang="ko-KR" altLang="en-US" dirty="0"/>
              <a:t>파일 업로드 화면</a:t>
            </a:r>
            <a:r>
              <a:rPr lang="en-US" altLang="ko-KR" dirty="0"/>
              <a:t>)</a:t>
            </a:r>
            <a:endParaRPr lang="ko-KR" altLang="en-US" dirty="0"/>
          </a:p>
          <a:p>
            <a:pPr lvl="1" eaLnBrk="1" hangingPunct="1">
              <a:defRPr/>
            </a:pPr>
            <a:endParaRPr lang="en-US" altLang="ko-KR" dirty="0"/>
          </a:p>
          <a:p>
            <a:pPr lvl="2"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ko-KR" altLang="en-US" dirty="0"/>
          </a:p>
        </p:txBody>
      </p:sp>
      <p:pic>
        <p:nvPicPr>
          <p:cNvPr id="3" name="그림 2" descr="키보드, 컴퓨터이(가) 표시된 사진&#10;&#10;자동 생성된 설명">
            <a:extLst>
              <a:ext uri="{FF2B5EF4-FFF2-40B4-BE49-F238E27FC236}">
                <a16:creationId xmlns:a16="http://schemas.microsoft.com/office/drawing/2014/main" id="{C14B7779-CED7-4467-B3C9-EB3A75138B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451426"/>
            <a:ext cx="756709" cy="742276"/>
          </a:xfrm>
          <a:prstGeom prst="rect">
            <a:avLst/>
          </a:prstGeom>
        </p:spPr>
      </p:pic>
      <p:sp>
        <p:nvSpPr>
          <p:cNvPr id="4" name="말풍선: 타원형 3">
            <a:extLst>
              <a:ext uri="{FF2B5EF4-FFF2-40B4-BE49-F238E27FC236}">
                <a16:creationId xmlns:a16="http://schemas.microsoft.com/office/drawing/2014/main" id="{B6CB74D2-DCE2-29F6-D010-C44F5DB82FCE}"/>
              </a:ext>
            </a:extLst>
          </p:cNvPr>
          <p:cNvSpPr/>
          <p:nvPr/>
        </p:nvSpPr>
        <p:spPr>
          <a:xfrm>
            <a:off x="5148064" y="529632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697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7" name="그림 6" descr="텍스트, 번호, 라인, 그래프이(가) 표시된 사진&#10;&#10;자동 생성된 설명">
            <a:extLst>
              <a:ext uri="{FF2B5EF4-FFF2-40B4-BE49-F238E27FC236}">
                <a16:creationId xmlns:a16="http://schemas.microsoft.com/office/drawing/2014/main" id="{E932E255-ACB0-2439-1178-1C5EBF1A8F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641" y="3429000"/>
            <a:ext cx="8532440" cy="2878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959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en-US" altLang="ko-KR" sz="2800" dirty="0"/>
              <a:t>vsftpd.conf </a:t>
            </a:r>
            <a:r>
              <a:rPr lang="ko-KR" altLang="en-US" sz="2800" dirty="0"/>
              <a:t>옵션</a:t>
            </a:r>
            <a:r>
              <a:rPr lang="en-US" altLang="ko-KR" sz="2800" dirty="0"/>
              <a:t> 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14937"/>
          </a:xfrm>
        </p:spPr>
        <p:txBody>
          <a:bodyPr>
            <a:noAutofit/>
          </a:bodyPr>
          <a:lstStyle/>
          <a:p>
            <a:pPr algn="just" eaLnBrk="1" hangingPunct="1">
              <a:buNone/>
              <a:defRPr/>
            </a:pPr>
            <a:r>
              <a:rPr lang="en-US" altLang="ko-KR" sz="1800" dirty="0"/>
              <a:t>- </a:t>
            </a:r>
            <a:r>
              <a:rPr lang="en-US" altLang="ko-KR" sz="1800" dirty="0" err="1"/>
              <a:t>anonymous_enable</a:t>
            </a:r>
            <a:r>
              <a:rPr lang="en-US" altLang="ko-KR" sz="1800" dirty="0"/>
              <a:t>: anonymous(</a:t>
            </a:r>
            <a:r>
              <a:rPr lang="ko-KR" altLang="en-US" sz="1800" dirty="0"/>
              <a:t>익명</a:t>
            </a:r>
            <a:r>
              <a:rPr lang="en-US" altLang="ko-KR" sz="1800" dirty="0"/>
              <a:t>) </a:t>
            </a:r>
            <a:r>
              <a:rPr lang="ko-KR" altLang="en-US" sz="1800" dirty="0"/>
              <a:t>사용자의 접속을 허가할지 설정</a:t>
            </a:r>
          </a:p>
          <a:p>
            <a:pPr algn="just" eaLnBrk="1" hangingPunct="1">
              <a:buNone/>
              <a:defRPr/>
            </a:pPr>
            <a:r>
              <a:rPr lang="en-US" altLang="ko-KR" sz="1800" dirty="0"/>
              <a:t>- </a:t>
            </a:r>
            <a:r>
              <a:rPr lang="en-US" altLang="ko-KR" sz="1800" dirty="0" err="1"/>
              <a:t>local_enable</a:t>
            </a:r>
            <a:r>
              <a:rPr lang="en-US" altLang="ko-KR" sz="1800" dirty="0"/>
              <a:t>: </a:t>
            </a:r>
            <a:r>
              <a:rPr lang="ko-KR" altLang="en-US" sz="1800" dirty="0"/>
              <a:t>로컬 사용자의 접속 허가 여부를 설정</a:t>
            </a:r>
          </a:p>
          <a:p>
            <a:pPr algn="just" eaLnBrk="1" hangingPunct="1">
              <a:buNone/>
              <a:defRPr/>
            </a:pPr>
            <a:r>
              <a:rPr lang="en-US" altLang="ko-KR" sz="1800" dirty="0"/>
              <a:t>- </a:t>
            </a:r>
            <a:r>
              <a:rPr lang="en-US" altLang="ko-KR" sz="1800" dirty="0" err="1"/>
              <a:t>write_enable</a:t>
            </a:r>
            <a:r>
              <a:rPr lang="en-US" altLang="ko-KR" sz="1800" dirty="0"/>
              <a:t>: </a:t>
            </a:r>
            <a:r>
              <a:rPr lang="ko-KR" altLang="en-US" sz="1800" dirty="0"/>
              <a:t>로컬 사용자가 저장</a:t>
            </a:r>
            <a:r>
              <a:rPr lang="en-US" altLang="ko-KR" sz="1800" dirty="0"/>
              <a:t>, </a:t>
            </a:r>
            <a:r>
              <a:rPr lang="ko-KR" altLang="en-US" sz="1800" dirty="0"/>
              <a:t>삭제</a:t>
            </a:r>
            <a:r>
              <a:rPr lang="en-US" altLang="ko-KR" sz="1800" dirty="0"/>
              <a:t>, </a:t>
            </a:r>
            <a:r>
              <a:rPr lang="ko-KR" altLang="en-US" sz="1800" dirty="0"/>
              <a:t>디렉터리 생성 등의 명령을 실행하게 할 것인지 설정</a:t>
            </a:r>
            <a:r>
              <a:rPr lang="en-US" altLang="ko-KR" sz="1800" dirty="0"/>
              <a:t>(anonymous </a:t>
            </a:r>
            <a:r>
              <a:rPr lang="ko-KR" altLang="en-US" sz="1800" dirty="0"/>
              <a:t>사용자는 해당 없음</a:t>
            </a:r>
            <a:r>
              <a:rPr lang="en-US" altLang="ko-KR" sz="1800" dirty="0"/>
              <a:t>)</a:t>
            </a:r>
          </a:p>
          <a:p>
            <a:pPr algn="just" eaLnBrk="1" hangingPunct="1">
              <a:buNone/>
              <a:defRPr/>
            </a:pPr>
            <a:r>
              <a:rPr lang="en-US" altLang="ko-KR" sz="1800" dirty="0"/>
              <a:t>- </a:t>
            </a:r>
            <a:r>
              <a:rPr lang="en-US" altLang="ko-KR" sz="1800" dirty="0" err="1"/>
              <a:t>anon_upload_enable</a:t>
            </a:r>
            <a:r>
              <a:rPr lang="en-US" altLang="ko-KR" sz="1800" dirty="0"/>
              <a:t>: anonymous </a:t>
            </a:r>
            <a:r>
              <a:rPr lang="ko-KR" altLang="en-US" sz="1800" dirty="0"/>
              <a:t>사용자의 파일 업로드 허가 여부를 설정</a:t>
            </a:r>
          </a:p>
          <a:p>
            <a:pPr algn="just" eaLnBrk="1" hangingPunct="1">
              <a:buNone/>
              <a:defRPr/>
            </a:pPr>
            <a:r>
              <a:rPr lang="en-US" altLang="ko-KR" sz="1800" dirty="0"/>
              <a:t>- </a:t>
            </a:r>
            <a:r>
              <a:rPr lang="en-US" altLang="ko-KR" sz="1800" dirty="0" err="1"/>
              <a:t>anon_mkdir_write_eanble</a:t>
            </a:r>
            <a:r>
              <a:rPr lang="en-US" altLang="ko-KR" sz="1800" dirty="0"/>
              <a:t>: anonymous </a:t>
            </a:r>
            <a:r>
              <a:rPr lang="ko-KR" altLang="en-US" sz="1800" dirty="0"/>
              <a:t>사용자의 디렉터리 생성 허가 여부를 설정</a:t>
            </a:r>
          </a:p>
          <a:p>
            <a:pPr algn="just" eaLnBrk="1" hangingPunct="1">
              <a:buNone/>
              <a:defRPr/>
            </a:pPr>
            <a:r>
              <a:rPr lang="en-US" altLang="ko-KR" sz="1800" dirty="0"/>
              <a:t>- </a:t>
            </a:r>
            <a:r>
              <a:rPr lang="en-US" altLang="ko-KR" sz="1800" dirty="0" err="1"/>
              <a:t>dirlist_enable</a:t>
            </a:r>
            <a:r>
              <a:rPr lang="en-US" altLang="ko-KR" sz="1800" dirty="0"/>
              <a:t>: </a:t>
            </a:r>
            <a:r>
              <a:rPr lang="ko-KR" altLang="en-US" sz="1800" dirty="0"/>
              <a:t>접속한 디렉터리의 파일 리스트를 보여줄지 설정</a:t>
            </a:r>
          </a:p>
          <a:p>
            <a:pPr algn="just" eaLnBrk="1" hangingPunct="1">
              <a:buNone/>
              <a:defRPr/>
            </a:pPr>
            <a:r>
              <a:rPr lang="en-US" altLang="ko-KR" sz="1800" dirty="0"/>
              <a:t>- </a:t>
            </a:r>
            <a:r>
              <a:rPr lang="en-US" altLang="ko-KR" sz="1800" dirty="0" err="1"/>
              <a:t>download_enable</a:t>
            </a:r>
            <a:r>
              <a:rPr lang="en-US" altLang="ko-KR" sz="1800" dirty="0"/>
              <a:t>: </a:t>
            </a:r>
            <a:r>
              <a:rPr lang="ko-KR" altLang="en-US" sz="1800" dirty="0"/>
              <a:t>다운로드의 허가 여부를 설정</a:t>
            </a:r>
          </a:p>
          <a:p>
            <a:pPr algn="just" eaLnBrk="1" hangingPunct="1">
              <a:buNone/>
              <a:defRPr/>
            </a:pPr>
            <a:r>
              <a:rPr lang="en-US" altLang="ko-KR" sz="1800" dirty="0"/>
              <a:t>- </a:t>
            </a:r>
            <a:r>
              <a:rPr lang="en-US" altLang="ko-KR" sz="1800" dirty="0" err="1"/>
              <a:t>listen_port</a:t>
            </a:r>
            <a:r>
              <a:rPr lang="en-US" altLang="ko-KR" sz="1800" dirty="0"/>
              <a:t>: FTP </a:t>
            </a:r>
            <a:r>
              <a:rPr lang="ko-KR" altLang="en-US" sz="1800" dirty="0"/>
              <a:t>서비스의 포트 번호를 설정</a:t>
            </a:r>
            <a:r>
              <a:rPr lang="en-US" altLang="ko-KR" sz="1800" dirty="0"/>
              <a:t>(</a:t>
            </a:r>
            <a:r>
              <a:rPr lang="ko-KR" altLang="en-US" sz="1800" dirty="0"/>
              <a:t>기본</a:t>
            </a:r>
            <a:r>
              <a:rPr lang="en-US" altLang="ko-KR" sz="1800" dirty="0"/>
              <a:t>: 21</a:t>
            </a:r>
            <a:r>
              <a:rPr lang="ko-KR" altLang="en-US" sz="1800" dirty="0"/>
              <a:t>번</a:t>
            </a:r>
            <a:r>
              <a:rPr lang="en-US" altLang="ko-KR" sz="1800" dirty="0"/>
              <a:t>)</a:t>
            </a:r>
          </a:p>
          <a:p>
            <a:pPr algn="just" eaLnBrk="1" hangingPunct="1">
              <a:buNone/>
              <a:defRPr/>
            </a:pPr>
            <a:r>
              <a:rPr lang="en-US" altLang="ko-KR" sz="1800" dirty="0"/>
              <a:t>- </a:t>
            </a:r>
            <a:r>
              <a:rPr lang="en-US" altLang="ko-KR" sz="1800" dirty="0" err="1"/>
              <a:t>deny_file</a:t>
            </a:r>
            <a:r>
              <a:rPr lang="en-US" altLang="ko-KR" sz="1800" dirty="0"/>
              <a:t>: </a:t>
            </a:r>
            <a:r>
              <a:rPr lang="ko-KR" altLang="en-US" sz="1800" dirty="0"/>
              <a:t>업로드를 금지할 파일을 지정</a:t>
            </a:r>
            <a:r>
              <a:rPr lang="en-US" altLang="ko-KR" sz="1800" dirty="0"/>
              <a:t>(</a:t>
            </a:r>
            <a:r>
              <a:rPr lang="ko-KR" altLang="en-US" sz="1800" dirty="0"/>
              <a:t>예</a:t>
            </a:r>
            <a:r>
              <a:rPr lang="en-US" altLang="ko-KR" sz="1800" dirty="0"/>
              <a:t>: </a:t>
            </a:r>
            <a:r>
              <a:rPr lang="en-US" altLang="ko-KR" sz="1800" dirty="0" err="1"/>
              <a:t>deny_file</a:t>
            </a:r>
            <a:r>
              <a:rPr lang="en-US" altLang="ko-KR" sz="1800" dirty="0"/>
              <a:t>={*.mpg,*.mpeg,*.</a:t>
            </a:r>
            <a:r>
              <a:rPr lang="en-US" altLang="ko-KR" sz="1800" dirty="0" err="1"/>
              <a:t>avi</a:t>
            </a:r>
            <a:r>
              <a:rPr lang="en-US" altLang="ko-KR" sz="1800" dirty="0"/>
              <a:t>})</a:t>
            </a:r>
          </a:p>
          <a:p>
            <a:pPr algn="just" eaLnBrk="1" hangingPunct="1">
              <a:buNone/>
              <a:defRPr/>
            </a:pPr>
            <a:r>
              <a:rPr lang="en-US" altLang="ko-KR" sz="1800" dirty="0"/>
              <a:t>- </a:t>
            </a:r>
            <a:r>
              <a:rPr lang="en-US" altLang="ko-KR" sz="1800" dirty="0" err="1"/>
              <a:t>hide_file</a:t>
            </a:r>
            <a:r>
              <a:rPr lang="en-US" altLang="ko-KR" sz="1800" dirty="0"/>
              <a:t>: </a:t>
            </a:r>
            <a:r>
              <a:rPr lang="ko-KR" altLang="en-US" sz="1800" dirty="0"/>
              <a:t>보여주지 않을 파일을 지정</a:t>
            </a:r>
            <a:r>
              <a:rPr lang="en-US" altLang="ko-KR" sz="1800" dirty="0"/>
              <a:t>(</a:t>
            </a:r>
            <a:r>
              <a:rPr lang="ko-KR" altLang="en-US" sz="1800" dirty="0"/>
              <a:t>예</a:t>
            </a:r>
            <a:r>
              <a:rPr lang="en-US" altLang="ko-KR" sz="1800" dirty="0"/>
              <a:t>: </a:t>
            </a:r>
            <a:r>
              <a:rPr lang="en-US" altLang="ko-KR" sz="1800" dirty="0" err="1"/>
              <a:t>hide_file</a:t>
            </a:r>
            <a:r>
              <a:rPr lang="en-US" altLang="ko-KR" sz="1800" dirty="0"/>
              <a:t>={*.gif,*.jpg,*.</a:t>
            </a:r>
            <a:r>
              <a:rPr lang="en-US" altLang="ko-KR" sz="1800" dirty="0" err="1"/>
              <a:t>png</a:t>
            </a:r>
            <a:r>
              <a:rPr lang="en-US" altLang="ko-KR" sz="1800" dirty="0"/>
              <a:t>})</a:t>
            </a:r>
          </a:p>
          <a:p>
            <a:pPr algn="just" eaLnBrk="1" hangingPunct="1">
              <a:buNone/>
              <a:defRPr/>
            </a:pPr>
            <a:r>
              <a:rPr lang="en-US" altLang="ko-KR" sz="1800" dirty="0"/>
              <a:t>- </a:t>
            </a:r>
            <a:r>
              <a:rPr lang="en-US" altLang="ko-KR" sz="1800" dirty="0" err="1"/>
              <a:t>max_clients</a:t>
            </a:r>
            <a:r>
              <a:rPr lang="en-US" altLang="ko-KR" sz="1800" dirty="0"/>
              <a:t>: FTP </a:t>
            </a:r>
            <a:r>
              <a:rPr lang="ko-KR" altLang="en-US" sz="1800" dirty="0"/>
              <a:t>서버의 동시 최대 </a:t>
            </a:r>
            <a:r>
              <a:rPr lang="ko-KR" altLang="en-US" sz="1800" dirty="0" err="1"/>
              <a:t>접속자</a:t>
            </a:r>
            <a:r>
              <a:rPr lang="ko-KR" altLang="en-US" sz="1800" dirty="0"/>
              <a:t> 수를 지정</a:t>
            </a:r>
          </a:p>
          <a:p>
            <a:pPr algn="just" eaLnBrk="1" hangingPunct="1">
              <a:buNone/>
              <a:defRPr/>
            </a:pPr>
            <a:r>
              <a:rPr lang="en-US" altLang="ko-KR" sz="1800" dirty="0"/>
              <a:t>- </a:t>
            </a:r>
            <a:r>
              <a:rPr lang="en-US" altLang="ko-KR" sz="1800" dirty="0" err="1"/>
              <a:t>max_per_ip</a:t>
            </a:r>
            <a:r>
              <a:rPr lang="en-US" altLang="ko-KR" sz="1800" dirty="0"/>
              <a:t>: 1</a:t>
            </a:r>
            <a:r>
              <a:rPr lang="ko-KR" altLang="en-US" sz="1800" dirty="0"/>
              <a:t>개 </a:t>
            </a:r>
            <a:r>
              <a:rPr lang="en-US" altLang="ko-KR" sz="1800" dirty="0"/>
              <a:t>PC</a:t>
            </a:r>
            <a:r>
              <a:rPr lang="ko-KR" altLang="en-US" sz="1800" dirty="0"/>
              <a:t>가 동시에 접속할 수 있는 </a:t>
            </a:r>
            <a:r>
              <a:rPr lang="ko-KR" altLang="en-US" sz="1800" dirty="0" err="1"/>
              <a:t>접속자</a:t>
            </a:r>
            <a:r>
              <a:rPr lang="ko-KR" altLang="en-US" sz="1800" dirty="0"/>
              <a:t> 수를 지정</a:t>
            </a: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1E4BCCDA-F5B1-E4F8-87E5-231792089E73}"/>
              </a:ext>
            </a:extLst>
          </p:cNvPr>
          <p:cNvSpPr/>
          <p:nvPr/>
        </p:nvSpPr>
        <p:spPr>
          <a:xfrm>
            <a:off x="3419872" y="594126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698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</p:spTree>
    <p:extLst>
      <p:ext uri="{BB962C8B-B14F-4D97-AF65-F5344CB8AC3E}">
        <p14:creationId xmlns:p14="http://schemas.microsoft.com/office/powerpoint/2010/main" val="2888504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3528" y="2132856"/>
            <a:ext cx="8496943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▶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힌트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Client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gftp-common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과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gftp-</a:t>
            </a:r>
            <a:r>
              <a:rPr lang="en-US" altLang="ko-KR" sz="24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gtk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패키지를 설치해야 한다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 </a:t>
            </a:r>
          </a:p>
          <a:p>
            <a:pPr>
              <a:lnSpc>
                <a:spcPct val="150000"/>
              </a:lnSpc>
            </a:pPr>
            <a:endParaRPr lang="en-US" altLang="ko-KR" sz="2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D5D5D8C6-C270-F03A-C4DE-EDB931649207}"/>
              </a:ext>
            </a:extLst>
          </p:cNvPr>
          <p:cNvSpPr/>
          <p:nvPr/>
        </p:nvSpPr>
        <p:spPr>
          <a:xfrm>
            <a:off x="7092280" y="70353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704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4C9B2CF-DA4E-8CA9-7257-89FCCA860A9E}"/>
              </a:ext>
            </a:extLst>
          </p:cNvPr>
          <p:cNvSpPr/>
          <p:nvPr/>
        </p:nvSpPr>
        <p:spPr>
          <a:xfrm>
            <a:off x="1697649" y="908720"/>
            <a:ext cx="553228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66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비타민 퀴즈 </a:t>
            </a:r>
            <a:r>
              <a:rPr lang="en-US" altLang="ko-KR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66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13-1 </a:t>
            </a:r>
          </a:p>
        </p:txBody>
      </p:sp>
    </p:spTree>
    <p:extLst>
      <p:ext uri="{BB962C8B-B14F-4D97-AF65-F5344CB8AC3E}">
        <p14:creationId xmlns:p14="http://schemas.microsoft.com/office/powerpoint/2010/main" val="1657775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097EA8-C94F-4515-86E8-BFF0FB3D4F96}"/>
              </a:ext>
            </a:extLst>
          </p:cNvPr>
          <p:cNvSpPr txBox="1">
            <a:spLocks/>
          </p:cNvSpPr>
          <p:nvPr/>
        </p:nvSpPr>
        <p:spPr bwMode="auto">
          <a:xfrm>
            <a:off x="773341" y="661362"/>
            <a:ext cx="8075240" cy="642937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 eaLnBrk="1" hangingPunct="1">
              <a:defRPr/>
            </a:pP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&lt;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실습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2&gt; SFTP 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설치 및 운영</a:t>
            </a:r>
          </a:p>
        </p:txBody>
      </p:sp>
      <p:pic>
        <p:nvPicPr>
          <p:cNvPr id="3" name="그림 2" descr="키보드, 컴퓨터이(가) 표시된 사진&#10;&#10;자동 생성된 설명">
            <a:extLst>
              <a:ext uri="{FF2B5EF4-FFF2-40B4-BE49-F238E27FC236}">
                <a16:creationId xmlns:a16="http://schemas.microsoft.com/office/drawing/2014/main" id="{80FEFC61-B06C-41CE-AE7D-C7AA538525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490784"/>
            <a:ext cx="756709" cy="742276"/>
          </a:xfrm>
          <a:prstGeom prst="rect">
            <a:avLst/>
          </a:prstGeom>
        </p:spPr>
      </p:pic>
      <p:sp>
        <p:nvSpPr>
          <p:cNvPr id="19459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실습목표</a:t>
            </a:r>
            <a:endParaRPr lang="en-US" altLang="ko-KR" dirty="0"/>
          </a:p>
          <a:p>
            <a:pPr lvl="1" eaLnBrk="1" hangingPunct="1">
              <a:defRPr/>
            </a:pPr>
            <a:r>
              <a:rPr lang="ko-KR" altLang="en-US" sz="2000" dirty="0"/>
              <a:t>보안이</a:t>
            </a:r>
            <a:r>
              <a:rPr lang="en-US" altLang="ko-KR" sz="2000" dirty="0"/>
              <a:t> </a:t>
            </a:r>
            <a:r>
              <a:rPr lang="ko-KR" altLang="en-US" sz="2000" dirty="0"/>
              <a:t>강화된 </a:t>
            </a:r>
            <a:r>
              <a:rPr lang="en-US" altLang="ko-KR" sz="2000" dirty="0"/>
              <a:t>SFTP(Secure FTP)</a:t>
            </a:r>
            <a:r>
              <a:rPr lang="ko-KR" altLang="en-US" sz="2000" dirty="0"/>
              <a:t>를 설치하고 운영한다</a:t>
            </a:r>
            <a:r>
              <a:rPr lang="en-US" altLang="ko-KR" sz="2000" dirty="0"/>
              <a:t>.</a:t>
            </a:r>
          </a:p>
          <a:p>
            <a:pPr lvl="1" eaLnBrk="1" hangingPunct="1">
              <a:defRPr/>
            </a:pPr>
            <a:r>
              <a:rPr lang="en-US" altLang="ko-KR" sz="2000" dirty="0"/>
              <a:t>SFTP</a:t>
            </a:r>
            <a:r>
              <a:rPr lang="ko-KR" altLang="en-US" sz="2000" dirty="0"/>
              <a:t>는 </a:t>
            </a:r>
            <a:r>
              <a:rPr lang="en-US" altLang="ko-KR" sz="2000" dirty="0"/>
              <a:t>SSH </a:t>
            </a:r>
            <a:r>
              <a:rPr lang="ko-KR" altLang="en-US" sz="2000" dirty="0"/>
              <a:t>서버와 함께 설치되고 운영된다</a:t>
            </a:r>
            <a:r>
              <a:rPr lang="en-US" altLang="ko-KR" sz="2000" dirty="0"/>
              <a:t>.</a:t>
            </a:r>
          </a:p>
          <a:p>
            <a:pPr lvl="1" eaLnBrk="1" hangingPunct="1">
              <a:defRPr/>
            </a:pPr>
            <a:endParaRPr lang="en-US" altLang="ko-KR" sz="2000" dirty="0"/>
          </a:p>
          <a:p>
            <a:pPr eaLnBrk="1" hangingPunct="1">
              <a:defRPr/>
            </a:pPr>
            <a:r>
              <a:rPr lang="ko-KR" altLang="en-US" dirty="0"/>
              <a:t>결과 화면 </a:t>
            </a:r>
            <a:r>
              <a:rPr lang="en-US" altLang="ko-KR" dirty="0"/>
              <a:t>(SFTP </a:t>
            </a:r>
            <a:r>
              <a:rPr lang="ko-KR" altLang="en-US" dirty="0"/>
              <a:t>파일 업로드</a:t>
            </a:r>
            <a:r>
              <a:rPr lang="en-US" altLang="ko-KR" dirty="0"/>
              <a:t>/</a:t>
            </a:r>
            <a:r>
              <a:rPr lang="ko-KR" altLang="en-US" dirty="0"/>
              <a:t>다운로드 화면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5" name="그림 4" descr="텍스트, 라인, 그래프, 폰트이(가) 표시된 사진&#10;&#10;자동 생성된 설명">
            <a:extLst>
              <a:ext uri="{FF2B5EF4-FFF2-40B4-BE49-F238E27FC236}">
                <a16:creationId xmlns:a16="http://schemas.microsoft.com/office/drawing/2014/main" id="{999B7F40-0824-4BAC-65C9-FE32EA696D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167" y="3429000"/>
            <a:ext cx="8028384" cy="2693538"/>
          </a:xfrm>
          <a:prstGeom prst="rect">
            <a:avLst/>
          </a:prstGeom>
        </p:spPr>
      </p:pic>
      <p:sp>
        <p:nvSpPr>
          <p:cNvPr id="7" name="말풍선: 타원형 6">
            <a:extLst>
              <a:ext uri="{FF2B5EF4-FFF2-40B4-BE49-F238E27FC236}">
                <a16:creationId xmlns:a16="http://schemas.microsoft.com/office/drawing/2014/main" id="{DAE6DE13-E2A5-2551-97E7-276869C7B0AB}"/>
              </a:ext>
            </a:extLst>
          </p:cNvPr>
          <p:cNvSpPr/>
          <p:nvPr/>
        </p:nvSpPr>
        <p:spPr>
          <a:xfrm>
            <a:off x="5076056" y="55608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705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</p:spTree>
    <p:extLst>
      <p:ext uri="{BB962C8B-B14F-4D97-AF65-F5344CB8AC3E}">
        <p14:creationId xmlns:p14="http://schemas.microsoft.com/office/powerpoint/2010/main" val="2487740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3528" y="2132856"/>
            <a:ext cx="8496943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▶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힌트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Client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gftp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화면에서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[SSH2]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방식으로 접속한다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2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D5D5D8C6-C270-F03A-C4DE-EDB931649207}"/>
              </a:ext>
            </a:extLst>
          </p:cNvPr>
          <p:cNvSpPr/>
          <p:nvPr/>
        </p:nvSpPr>
        <p:spPr>
          <a:xfrm>
            <a:off x="7092280" y="70353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711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4C9B2CF-DA4E-8CA9-7257-89FCCA860A9E}"/>
              </a:ext>
            </a:extLst>
          </p:cNvPr>
          <p:cNvSpPr/>
          <p:nvPr/>
        </p:nvSpPr>
        <p:spPr>
          <a:xfrm>
            <a:off x="1697649" y="908720"/>
            <a:ext cx="553228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66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비타민 퀴즈 </a:t>
            </a:r>
            <a:r>
              <a:rPr lang="en-US" altLang="ko-KR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66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13-2 </a:t>
            </a:r>
          </a:p>
        </p:txBody>
      </p:sp>
    </p:spTree>
    <p:extLst>
      <p:ext uri="{BB962C8B-B14F-4D97-AF65-F5344CB8AC3E}">
        <p14:creationId xmlns:p14="http://schemas.microsoft.com/office/powerpoint/2010/main" val="5348855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황록색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[우분투]00장.시작하기전에(Ver 1.0).pptx" id="{9CB7B681-7F69-4437-97DB-78D719B423D5}" vid="{18BC4063-0A75-45F0-B6F0-A104C17F8AB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2395</TotalTime>
  <Words>387</Words>
  <Application>Microsoft Office PowerPoint</Application>
  <PresentationFormat>화면 슬라이드 쇼(4:3)</PresentationFormat>
  <Paragraphs>43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6" baseType="lpstr">
      <vt:lpstr>나눔바른고딕</vt:lpstr>
      <vt:lpstr>Georgia</vt:lpstr>
      <vt:lpstr>나눔스퀘어라운드 ExtraBold</vt:lpstr>
      <vt:lpstr>Trebuchet MS</vt:lpstr>
      <vt:lpstr>나눔고딕 ExtraBold</vt:lpstr>
      <vt:lpstr>나눔스퀘어 ExtraBold</vt:lpstr>
      <vt:lpstr>굴림</vt:lpstr>
      <vt:lpstr>Wingdings 2</vt:lpstr>
      <vt:lpstr>Urban</vt:lpstr>
      <vt:lpstr>PowerPoint 프레젠테이션</vt:lpstr>
      <vt:lpstr>FTP 개요 </vt:lpstr>
      <vt:lpstr>PowerPoint 프레젠테이션</vt:lpstr>
      <vt:lpstr>vsftpd.conf 옵션 </vt:lpstr>
      <vt:lpstr>PowerPoint 프레젠테이션</vt:lpstr>
      <vt:lpstr>PowerPoint 프레젠테이션</vt:lpstr>
      <vt:lpstr>PowerPoint 프레젠테이션</vt:lpstr>
    </vt:vector>
  </TitlesOfParts>
  <Company>DTSOLUTION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이것이 리눅스다</dc:title>
  <dc:creator>한빛미디어</dc:creator>
  <cp:lastModifiedBy>재남 우</cp:lastModifiedBy>
  <cp:revision>121</cp:revision>
  <dcterms:created xsi:type="dcterms:W3CDTF">2007-02-12T03:01:34Z</dcterms:created>
  <dcterms:modified xsi:type="dcterms:W3CDTF">2024-10-26T04:27:17Z</dcterms:modified>
</cp:coreProperties>
</file>