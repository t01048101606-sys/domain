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notesMasterIdLst>
    <p:notesMasterId r:id="rId74"/>
  </p:notesMasterIdLst>
  <p:handoutMasterIdLst>
    <p:handoutMasterId r:id="rId75"/>
  </p:handoutMasterIdLst>
  <p:sldIdLst>
    <p:sldId id="256" r:id="rId2"/>
    <p:sldId id="258" r:id="rId3"/>
    <p:sldId id="259" r:id="rId4"/>
    <p:sldId id="333" r:id="rId5"/>
    <p:sldId id="337" r:id="rId6"/>
    <p:sldId id="334" r:id="rId7"/>
    <p:sldId id="335" r:id="rId8"/>
    <p:sldId id="336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328" r:id="rId37"/>
    <p:sldId id="329" r:id="rId38"/>
    <p:sldId id="292" r:id="rId39"/>
    <p:sldId id="293" r:id="rId40"/>
    <p:sldId id="330" r:id="rId41"/>
    <p:sldId id="331" r:id="rId42"/>
    <p:sldId id="296" r:id="rId43"/>
    <p:sldId id="297" r:id="rId44"/>
    <p:sldId id="298" r:id="rId45"/>
    <p:sldId id="299" r:id="rId46"/>
    <p:sldId id="300" r:id="rId47"/>
    <p:sldId id="301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3" r:id="rId58"/>
    <p:sldId id="314" r:id="rId59"/>
    <p:sldId id="315" r:id="rId60"/>
    <p:sldId id="316" r:id="rId61"/>
    <p:sldId id="317" r:id="rId62"/>
    <p:sldId id="332" r:id="rId63"/>
    <p:sldId id="318" r:id="rId64"/>
    <p:sldId id="319" r:id="rId65"/>
    <p:sldId id="320" r:id="rId66"/>
    <p:sldId id="339" r:id="rId67"/>
    <p:sldId id="321" r:id="rId68"/>
    <p:sldId id="322" r:id="rId69"/>
    <p:sldId id="323" r:id="rId70"/>
    <p:sldId id="324" r:id="rId71"/>
    <p:sldId id="325" r:id="rId72"/>
    <p:sldId id="326" r:id="rId73"/>
  </p:sldIdLst>
  <p:sldSz cx="9144000" cy="6858000" type="screen4x3"/>
  <p:notesSz cx="6858000" cy="9144000"/>
  <p:embeddedFontLst>
    <p:embeddedFont>
      <p:font typeface="Georgia" panose="02040502050405020303" pitchFamily="18" charset="0"/>
      <p:regular r:id="rId76"/>
      <p:bold r:id="rId77"/>
      <p:italic r:id="rId78"/>
      <p:boldItalic r:id="rId79"/>
    </p:embeddedFont>
    <p:embeddedFont>
      <p:font typeface="Trebuchet MS" panose="020B0603020202020204" pitchFamily="34" charset="0"/>
      <p:regular r:id="rId80"/>
      <p:bold r:id="rId81"/>
      <p:italic r:id="rId82"/>
      <p:boldItalic r:id="rId83"/>
    </p:embeddedFont>
    <p:embeddedFont>
      <p:font typeface="Wingdings 2" panose="05020102010507070707" pitchFamily="18" charset="2"/>
      <p:regular r:id="rId84"/>
    </p:embeddedFont>
    <p:embeddedFont>
      <p:font typeface="나눔고딕 ExtraBold" panose="020D0904000000000000" pitchFamily="50" charset="-127"/>
      <p:bold r:id="rId85"/>
    </p:embeddedFont>
    <p:embeddedFont>
      <p:font typeface="나눔바른고딕" panose="020B0603020101020101" pitchFamily="50" charset="-127"/>
      <p:regular r:id="rId86"/>
      <p:bold r:id="rId87"/>
    </p:embeddedFont>
    <p:embeddedFont>
      <p:font typeface="나눔스퀘어 ExtraBold" panose="020B0600000101010101" pitchFamily="50" charset="-127"/>
      <p:bold r:id="rId88"/>
    </p:embeddedFont>
    <p:embeddedFont>
      <p:font typeface="나눔스퀘어라운드 ExtraBold" panose="020B0600000101010101" pitchFamily="50" charset="-127"/>
      <p:bold r:id="rId89"/>
    </p:embeddedFont>
  </p:embeddedFontLst>
  <p:defaultTextStyle>
    <a:defPPr>
      <a:defRPr lang="en-US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00"/>
    <a:srgbClr val="FF9933"/>
    <a:srgbClr val="CC66FF"/>
    <a:srgbClr val="FF7C80"/>
    <a:srgbClr val="9966FF"/>
    <a:srgbClr val="FF00FF"/>
    <a:srgbClr val="FFCC66"/>
    <a:srgbClr val="CC99FF"/>
    <a:srgbClr val="FFCC99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26" autoAdjust="0"/>
    <p:restoredTop sz="94660"/>
  </p:normalViewPr>
  <p:slideViewPr>
    <p:cSldViewPr>
      <p:cViewPr varScale="1">
        <p:scale>
          <a:sx n="108" d="100"/>
          <a:sy n="108" d="100"/>
        </p:scale>
        <p:origin x="96" y="29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73" d="100"/>
          <a:sy n="73" d="100"/>
        </p:scale>
        <p:origin x="2682" y="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font" Target="fonts/font9.fntdata"/><Relationship Id="rId89" Type="http://schemas.openxmlformats.org/officeDocument/2006/relationships/font" Target="fonts/font14.fntdata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notesMaster" Target="notesMasters/notesMaster1.xml"/><Relationship Id="rId79" Type="http://schemas.openxmlformats.org/officeDocument/2006/relationships/font" Target="fonts/font4.fntdata"/><Relationship Id="rId5" Type="http://schemas.openxmlformats.org/officeDocument/2006/relationships/slide" Target="slides/slide4.xml"/><Relationship Id="rId90" Type="http://schemas.openxmlformats.org/officeDocument/2006/relationships/presProps" Target="presProps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font" Target="fonts/font5.fntdata"/><Relationship Id="rId85" Type="http://schemas.openxmlformats.org/officeDocument/2006/relationships/font" Target="fonts/font10.fntdata"/><Relationship Id="rId93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handoutMaster" Target="handoutMasters/handoutMaster1.xml"/><Relationship Id="rId83" Type="http://schemas.openxmlformats.org/officeDocument/2006/relationships/font" Target="fonts/font8.fntdata"/><Relationship Id="rId88" Type="http://schemas.openxmlformats.org/officeDocument/2006/relationships/font" Target="fonts/font13.fntdata"/><Relationship Id="rId9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font" Target="fonts/font3.fntdata"/><Relationship Id="rId81" Type="http://schemas.openxmlformats.org/officeDocument/2006/relationships/font" Target="fonts/font6.fntdata"/><Relationship Id="rId86" Type="http://schemas.openxmlformats.org/officeDocument/2006/relationships/font" Target="fonts/font1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font" Target="fonts/font1.fntdata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theme" Target="theme/theme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font" Target="fonts/font12.fntdata"/><Relationship Id="rId61" Type="http://schemas.openxmlformats.org/officeDocument/2006/relationships/slide" Target="slides/slide60.xml"/><Relationship Id="rId82" Type="http://schemas.openxmlformats.org/officeDocument/2006/relationships/font" Target="fonts/font7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font" Target="fonts/font2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3E24673C-6695-4338-BB03-1527ED3D44D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7DF4E72-3AA4-4775-9E94-2B847969C99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F5311B-5D78-499E-BD82-99044A3A2310}" type="datetimeFigureOut">
              <a:rPr lang="ko-KR" altLang="en-US" smtClean="0"/>
              <a:t>2024-11-09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978949C-1257-41BA-BE32-661D22C8D40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0C2EEA3-F82A-453E-B4CB-5CF791CE8C6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91374B-5E44-4691-8385-F83CA52C76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90064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A9FE1E17-38D0-4764-A605-7BB07631345D}" type="datetimeFigureOut">
              <a:rPr lang="ko-KR" altLang="en-US"/>
              <a:pPr>
                <a:defRPr/>
              </a:pPr>
              <a:t>2024-11-09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 noProof="0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noProof="0" dirty="0"/>
              <a:t>마스터 텍스트 스타일을 편집합니다</a:t>
            </a:r>
          </a:p>
          <a:p>
            <a:pPr lvl="1"/>
            <a:r>
              <a:rPr lang="ko-KR" altLang="en-US" noProof="0" dirty="0"/>
              <a:t>둘째 수준</a:t>
            </a:r>
          </a:p>
          <a:p>
            <a:pPr lvl="2"/>
            <a:r>
              <a:rPr lang="ko-KR" altLang="en-US" noProof="0" dirty="0"/>
              <a:t>셋째 수준</a:t>
            </a:r>
          </a:p>
          <a:p>
            <a:pPr lvl="3"/>
            <a:r>
              <a:rPr lang="ko-KR" altLang="en-US" noProof="0" dirty="0"/>
              <a:t>넷째 수준</a:t>
            </a:r>
          </a:p>
          <a:p>
            <a:pPr lvl="4"/>
            <a:r>
              <a:rPr lang="ko-KR" altLang="en-US" noProof="0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8950B175-50B7-496C-B63E-4B4F03E07213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3632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나눔바른고딕" panose="020B0603020101020101" pitchFamily="50" charset="-127"/>
        <a:ea typeface="나눔바른고딕" panose="020B0603020101020101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나눔바른고딕" panose="020B0603020101020101" pitchFamily="50" charset="-127"/>
        <a:ea typeface="나눔바른고딕" panose="020B0603020101020101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나눔바른고딕" panose="020B0603020101020101" pitchFamily="50" charset="-127"/>
        <a:ea typeface="나눔바른고딕" panose="020B0603020101020101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나눔바른고딕" panose="020B0603020101020101" pitchFamily="50" charset="-127"/>
        <a:ea typeface="나눔바른고딕" panose="020B0603020101020101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나눔바른고딕" panose="020B0603020101020101" pitchFamily="50" charset="-127"/>
        <a:ea typeface="나눔바른고딕" panose="020B0603020101020101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475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7475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fld id="{68C739A5-DD01-448D-90CF-248C3194C7DA}" type="slidenum">
              <a:rPr lang="ko-KR" altLang="en-US"/>
              <a:pPr eaLnBrk="1" hangingPunct="1"/>
              <a:t>69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93541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577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7578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fld id="{D9A55B61-C848-4C3C-AB99-A02D1DDB42F7}" type="slidenum">
              <a:rPr lang="ko-KR" altLang="en-US"/>
              <a:pPr eaLnBrk="1" hangingPunct="1"/>
              <a:t>70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69422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F2E5FF64-107C-C58A-6C47-B1DC6113D1E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206634" y="845736"/>
            <a:ext cx="4815919" cy="5166528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FDB5C4FD-2B03-4A88-A582-AA7ACB7176C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3743" y="6264745"/>
            <a:ext cx="1970191" cy="497239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CBB051D0-15E5-40BC-B4C6-AB45FF616079}"/>
              </a:ext>
            </a:extLst>
          </p:cNvPr>
          <p:cNvSpPr/>
          <p:nvPr userDrawn="1"/>
        </p:nvSpPr>
        <p:spPr>
          <a:xfrm>
            <a:off x="354120" y="1025303"/>
            <a:ext cx="3506222" cy="1815882"/>
          </a:xfrm>
          <a:prstGeom prst="rect">
            <a:avLst/>
          </a:prstGeom>
          <a:solidFill>
            <a:srgbClr val="00B0F0"/>
          </a:solidFill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ko-KR" sz="2800" b="1" cap="none" spc="0" dirty="0">
                <a:ln w="10160">
                  <a:noFill/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04</a:t>
            </a:r>
            <a:r>
              <a:rPr lang="ko-KR" altLang="en-US" sz="2800" b="1" cap="none" spc="0" dirty="0">
                <a:ln w="10160">
                  <a:noFill/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장</a:t>
            </a:r>
            <a:r>
              <a:rPr lang="en-US" altLang="ko-KR" sz="2800" b="1" cap="none" spc="0" dirty="0">
                <a:ln w="10160">
                  <a:noFill/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</a:p>
          <a:p>
            <a:pPr algn="ctr"/>
            <a:r>
              <a:rPr lang="ko-KR" altLang="en-US" sz="2800" b="1" cap="none" spc="0" dirty="0">
                <a:ln w="10160">
                  <a:noFill/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서버 구축 시 </a:t>
            </a:r>
            <a:endParaRPr lang="en-US" altLang="ko-KR" sz="2800" b="1" cap="none" spc="0" dirty="0">
              <a:ln w="10160">
                <a:noFill/>
                <a:prstDash val="solid"/>
              </a:ln>
              <a:solidFill>
                <a:schemeClr val="bg1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algn="ctr"/>
            <a:r>
              <a:rPr lang="ko-KR" altLang="en-US" sz="2800" b="1" cap="none" spc="0" dirty="0">
                <a:ln w="10160">
                  <a:noFill/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알아야 할 </a:t>
            </a:r>
            <a:endParaRPr lang="en-US" altLang="ko-KR" sz="2800" b="1" cap="none" spc="0" dirty="0">
              <a:ln w="10160">
                <a:noFill/>
                <a:prstDash val="solid"/>
              </a:ln>
              <a:solidFill>
                <a:schemeClr val="bg1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algn="ctr"/>
            <a:r>
              <a:rPr lang="ko-KR" altLang="en-US" sz="2800" b="1" cap="none" spc="0" dirty="0">
                <a:ln w="10160">
                  <a:noFill/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필수 개념과 명령어</a:t>
            </a:r>
            <a:endParaRPr lang="en-US" altLang="ko-KR" sz="2800" b="1" cap="none" spc="0" dirty="0">
              <a:ln w="10160">
                <a:noFill/>
                <a:prstDash val="solid"/>
              </a:ln>
              <a:solidFill>
                <a:schemeClr val="bg1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0952CC6D-270C-47EC-BC2A-75F4D0D165C2}"/>
              </a:ext>
            </a:extLst>
          </p:cNvPr>
          <p:cNvSpPr/>
          <p:nvPr userDrawn="1"/>
        </p:nvSpPr>
        <p:spPr>
          <a:xfrm>
            <a:off x="4536228" y="6264745"/>
            <a:ext cx="4308295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altLang="ko-KR" sz="2000" b="1" cap="none" spc="0" dirty="0">
                <a:ln/>
                <a:solidFill>
                  <a:schemeClr val="tx1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https://cafe.naver.com/thisisLinux</a:t>
            </a:r>
          </a:p>
        </p:txBody>
      </p:sp>
      <p:sp>
        <p:nvSpPr>
          <p:cNvPr id="9" name="별: 꼭짓점 12개 8">
            <a:extLst>
              <a:ext uri="{FF2B5EF4-FFF2-40B4-BE49-F238E27FC236}">
                <a16:creationId xmlns:a16="http://schemas.microsoft.com/office/drawing/2014/main" id="{0E5C3A4F-295B-BE34-4140-0C39B81E2F61}"/>
              </a:ext>
            </a:extLst>
          </p:cNvPr>
          <p:cNvSpPr/>
          <p:nvPr userDrawn="1"/>
        </p:nvSpPr>
        <p:spPr>
          <a:xfrm>
            <a:off x="7020272" y="593255"/>
            <a:ext cx="1224136" cy="864096"/>
          </a:xfrm>
          <a:prstGeom prst="star12">
            <a:avLst/>
          </a:prstGeom>
          <a:solidFill>
            <a:srgbClr val="CC66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3</a:t>
            </a:r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판</a:t>
            </a: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19C0829C-8AE1-5E32-FB03-DACDB463B5B6}"/>
              </a:ext>
            </a:extLst>
          </p:cNvPr>
          <p:cNvSpPr/>
          <p:nvPr userDrawn="1"/>
        </p:nvSpPr>
        <p:spPr>
          <a:xfrm>
            <a:off x="1088838" y="3645024"/>
            <a:ext cx="1970190" cy="1657849"/>
          </a:xfrm>
          <a:prstGeom prst="ellipse">
            <a:avLst/>
          </a:pr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>
                <a:ln>
                  <a:noFill/>
                </a:ln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우분투 </a:t>
            </a:r>
            <a:r>
              <a:rPr lang="en-US" altLang="ko-KR" sz="2400" dirty="0">
                <a:ln>
                  <a:noFill/>
                </a:ln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24.04</a:t>
            </a:r>
          </a:p>
          <a:p>
            <a:pPr algn="ctr"/>
            <a:r>
              <a:rPr lang="en-US" altLang="ko-KR" sz="2400" dirty="0">
                <a:ln>
                  <a:noFill/>
                </a:ln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LTS</a:t>
            </a:r>
            <a:endParaRPr lang="ko-KR" altLang="en-US" sz="2400" dirty="0">
              <a:ln>
                <a:noFill/>
              </a:ln>
              <a:ea typeface="나눔바른고딕" panose="020B060302010102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592198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428625" y="6581775"/>
            <a:ext cx="2356735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400" b="0" dirty="0">
                <a:solidFill>
                  <a:srgbClr val="0070C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(3</a:t>
            </a:r>
            <a:r>
              <a:rPr kumimoji="0" lang="ko-KR" altLang="en-US" sz="1400" b="0" dirty="0">
                <a:solidFill>
                  <a:srgbClr val="0070C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판</a:t>
            </a:r>
            <a:r>
              <a:rPr kumimoji="0" lang="en-US" altLang="ko-KR" sz="1400" b="0" dirty="0">
                <a:solidFill>
                  <a:srgbClr val="0070C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) </a:t>
            </a:r>
            <a:r>
              <a:rPr kumimoji="0" lang="ko-KR" altLang="en-US" sz="1400" b="0" dirty="0">
                <a:solidFill>
                  <a:srgbClr val="0070C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이것이 우분투 리눅스다</a:t>
            </a:r>
          </a:p>
        </p:txBody>
      </p:sp>
      <p:sp>
        <p:nvSpPr>
          <p:cNvPr id="5" name="TextBox 4"/>
          <p:cNvSpPr txBox="1"/>
          <p:nvPr userDrawn="1"/>
        </p:nvSpPr>
        <p:spPr>
          <a:xfrm>
            <a:off x="285750" y="0"/>
            <a:ext cx="4249881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600" b="1" dirty="0">
                <a:solidFill>
                  <a:srgbClr val="FFFF00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04</a:t>
            </a:r>
            <a:r>
              <a:rPr kumimoji="0" lang="ko-KR" altLang="en-US" sz="1600" b="1" dirty="0">
                <a:solidFill>
                  <a:srgbClr val="FFFF00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장</a:t>
            </a:r>
            <a:r>
              <a:rPr kumimoji="0" lang="en-US" altLang="ko-KR" sz="1600" b="1" dirty="0">
                <a:solidFill>
                  <a:srgbClr val="FFFF00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. </a:t>
            </a:r>
            <a:r>
              <a:rPr kumimoji="0" lang="ko-KR" altLang="en-US" sz="1600" b="1" dirty="0">
                <a:solidFill>
                  <a:srgbClr val="FFFF00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서버 구축 시 알아야 할 필수 개념과 명령어</a:t>
            </a:r>
          </a:p>
        </p:txBody>
      </p:sp>
      <p:sp>
        <p:nvSpPr>
          <p:cNvPr id="6" name="TextBox 5"/>
          <p:cNvSpPr txBox="1"/>
          <p:nvPr userDrawn="1"/>
        </p:nvSpPr>
        <p:spPr>
          <a:xfrm>
            <a:off x="8358188" y="6550025"/>
            <a:ext cx="898003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fld id="{49AC353A-281A-4504-9FE1-662E9EF17D8A}" type="slidenum">
              <a:rPr lang="ko-KR" altLang="en-US" sz="1400" b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pPr eaLnBrk="1" hangingPunct="1"/>
              <a:t>‹#›</a:t>
            </a:fld>
            <a:r>
              <a:rPr lang="en-US" altLang="ko-KR" sz="14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/72</a:t>
            </a:r>
            <a:endParaRPr lang="ko-KR" altLang="en-US" sz="1400" b="1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7" name="TextBox 6"/>
          <p:cNvSpPr txBox="1"/>
          <p:nvPr userDrawn="1"/>
        </p:nvSpPr>
        <p:spPr>
          <a:xfrm>
            <a:off x="5508104" y="0"/>
            <a:ext cx="3214534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 sz="1400" b="1" dirty="0">
                <a:solidFill>
                  <a:schemeClr val="bg1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https://cafe.naver.com/thisisLinux</a:t>
            </a:r>
            <a:endParaRPr lang="ko-KR" altLang="en-US" sz="1400" b="1" dirty="0">
              <a:solidFill>
                <a:schemeClr val="bg1"/>
              </a:solidFill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642918"/>
            <a:ext cx="8229600" cy="642942"/>
          </a:xfrm>
        </p:spPr>
        <p:txBody>
          <a:bodyPr>
            <a:normAutofit/>
          </a:bodyPr>
          <a:lstStyle>
            <a:lvl1pPr>
              <a:defRPr sz="3200">
                <a:latin typeface="나눔고딕 ExtraBold" panose="020D0904000000000000" pitchFamily="50" charset="-127"/>
                <a:ea typeface="나눔고딕 ExtraBold" panose="020D0904000000000000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357298"/>
            <a:ext cx="8229600" cy="5143536"/>
          </a:xfrm>
        </p:spPr>
        <p:txBody>
          <a:bodyPr>
            <a:normAutofit/>
          </a:bodyPr>
          <a:lstStyle>
            <a:lvl1pPr>
              <a:defRPr sz="24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>
              <a:defRPr sz="24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2pPr>
            <a:lvl3pPr>
              <a:defRPr sz="20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3pPr>
            <a:lvl4pPr>
              <a:defRPr sz="20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4pPr>
            <a:lvl5pPr>
              <a:defRPr sz="18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6444208" y="6548338"/>
            <a:ext cx="1711174" cy="307777"/>
          </a:xfrm>
          <a:prstGeom prst="rect">
            <a:avLst/>
          </a:prstGeom>
          <a:solidFill>
            <a:schemeClr val="accent2"/>
          </a:solidFill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Ubuntu 24.04 LTS</a:t>
            </a:r>
            <a:endParaRPr lang="ko-KR" altLang="en-US" sz="1400" b="1" dirty="0">
              <a:solidFill>
                <a:schemeClr val="bg1"/>
              </a:solidFill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524632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1981200"/>
            <a:ext cx="7772400" cy="1362075"/>
          </a:xfrm>
        </p:spPr>
        <p:txBody>
          <a:bodyPr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rgbClr val="FFFFFF"/>
                </a:solidFill>
                <a:effectLst>
                  <a:outerShdw blurRad="38100" dist="381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3367088"/>
            <a:ext cx="7772400" cy="1509712"/>
          </a:xfrm>
        </p:spPr>
        <p:txBody>
          <a:bodyPr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70A40A-1095-4482-A81C-DE8D97CF4FAF}" type="datetimeFigureOut">
              <a:rPr lang="en-US" altLang="ko-KR"/>
              <a:pPr>
                <a:defRPr/>
              </a:pPr>
              <a:t>11/9/2024</a:t>
            </a:fld>
            <a:endParaRPr lang="en-US" alt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5510668-C776-4DEF-90B9-7FD1E5FDC330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4697697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5D9E67D-5DA1-4729-B991-E4DA6144546D}" type="datetimeFigureOut">
              <a:rPr lang="en-US" altLang="ko-KR"/>
              <a:pPr>
                <a:defRPr/>
              </a:pPr>
              <a:t>11/9/2024</a:t>
            </a:fld>
            <a:endParaRPr lang="en-US" altLang="ko-KR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5994A34-7693-4DA8-87B2-5F89B278748A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3914986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1000" y="1143000"/>
            <a:ext cx="8382000" cy="1069848"/>
          </a:xfrm>
        </p:spPr>
        <p:txBody>
          <a:bodyPr/>
          <a:lstStyle>
            <a:lvl1pPr>
              <a:defRPr sz="4000" b="0" i="0" cap="none" baseline="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81000" y="2244970"/>
            <a:ext cx="4041648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3"/>
          </p:nvPr>
        </p:nvSpPr>
        <p:spPr>
          <a:xfrm>
            <a:off x="4721225" y="2244970"/>
            <a:ext cx="4041775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내용 개체 틀 4"/>
          <p:cNvSpPr>
            <a:spLocks noGrp="1"/>
          </p:cNvSpPr>
          <p:nvPr>
            <p:ph sz="quarter" idx="2"/>
          </p:nvPr>
        </p:nvSpPr>
        <p:spPr>
          <a:xfrm>
            <a:off x="381000" y="2708519"/>
            <a:ext cx="4041648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718304" y="2708519"/>
            <a:ext cx="4041775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7" name="날짜 개체 틀 2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DD4FCB4-DCC3-4812-BAA4-E89A66CCAA25}" type="datetimeFigureOut">
              <a:rPr lang="en-US" altLang="ko-KR"/>
              <a:pPr>
                <a:defRPr/>
              </a:pPr>
              <a:t>11/9/2024</a:t>
            </a:fld>
            <a:endParaRPr lang="en-US" altLang="ko-KR"/>
          </a:p>
        </p:txBody>
      </p:sp>
      <p:sp>
        <p:nvSpPr>
          <p:cNvPr id="8" name="슬라이드 번호 개체 틀 2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D17B28E1-79AC-48A3-9558-454E42DE4EDC}" type="slidenum">
              <a:rPr lang="en-US" altLang="ko-KR"/>
              <a:pPr/>
              <a:t>‹#›</a:t>
            </a:fld>
            <a:endParaRPr lang="en-US" altLang="ko-KR"/>
          </a:p>
        </p:txBody>
      </p:sp>
      <p:sp>
        <p:nvSpPr>
          <p:cNvPr id="9" name="바닥글 개체 틀 27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6593977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9848"/>
          </a:xfrm>
        </p:spPr>
        <p:txBody>
          <a:bodyPr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6583363" y="612775"/>
            <a:ext cx="957262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7101D40-AEA9-4F59-9273-3AE4BD34FFDA}" type="datetimeFigureOut">
              <a:rPr lang="en-US" altLang="ko-KR"/>
              <a:pPr>
                <a:defRPr/>
              </a:pPr>
              <a:t>11/9/2024</a:t>
            </a:fld>
            <a:endParaRPr lang="en-US" altLang="ko-KR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8EA269F-E158-42D9-816A-B30CB7545EE3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8757877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64D789F-1FA5-4F5C-A900-FE73EF265E54}" type="datetimeFigureOut">
              <a:rPr lang="en-US" altLang="ko-KR"/>
              <a:pPr>
                <a:defRPr/>
              </a:pPr>
              <a:t>11/9/2024</a:t>
            </a:fld>
            <a:endParaRPr lang="en-US" altLang="ko-KR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5375B4C-030A-4FCD-9864-787CE94FAE18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7577925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53496" y="1101970"/>
            <a:ext cx="3383280" cy="877824"/>
          </a:xfrm>
        </p:spPr>
        <p:txBody>
          <a:bodyPr anchor="b"/>
          <a:lstStyle>
            <a:lvl1pPr algn="l">
              <a:buNone/>
              <a:defRPr sz="1800" b="1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2"/>
          </p:nvPr>
        </p:nvSpPr>
        <p:spPr>
          <a:xfrm>
            <a:off x="5353496" y="2010727"/>
            <a:ext cx="3383280" cy="4617720"/>
          </a:xfrm>
        </p:spPr>
        <p:txBody>
          <a:bodyPr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1"/>
          </p:nvPr>
        </p:nvSpPr>
        <p:spPr>
          <a:xfrm>
            <a:off x="152400" y="776287"/>
            <a:ext cx="5102352" cy="58521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6F9F45-433C-435F-9729-7CA4AF07A0F6}" type="datetimeFigureOut">
              <a:rPr lang="en-US" altLang="ko-KR"/>
              <a:pPr>
                <a:defRPr/>
              </a:pPr>
              <a:t>11/9/2024</a:t>
            </a:fld>
            <a:endParaRPr lang="en-US" altLang="ko-KR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071BBA6-43EC-4C88-96A0-166A32778D20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9369329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40434" y="1109160"/>
            <a:ext cx="586803" cy="4681637"/>
          </a:xfrm>
        </p:spPr>
        <p:txBody>
          <a:bodyPr vert="vert270" lIns="45720" tIns="0" rIns="45720" anchor="t"/>
          <a:lstStyle>
            <a:lvl1pPr algn="ctr">
              <a:buNone/>
              <a:defRPr sz="2000" b="1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403671" y="1143000"/>
            <a:ext cx="4572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ko-KR" altLang="en-US" noProof="0"/>
              <a:t>그림을 추가하려면 아이콘을 클릭하십시오</a:t>
            </a:r>
            <a:endParaRPr lang="en-US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088443" y="3274308"/>
            <a:ext cx="2590800" cy="2516489"/>
          </a:xfrm>
        </p:spPr>
        <p:txBody>
          <a:bodyPr lIns="0" tIns="0" rIns="4572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6D0103-5A9F-48FB-917D-308A742FCF20}" type="datetimeFigureOut">
              <a:rPr lang="en-US" altLang="ko-KR"/>
              <a:pPr>
                <a:defRPr/>
              </a:pPr>
              <a:t>11/9/2024</a:t>
            </a:fld>
            <a:endParaRPr lang="en-US" altLang="ko-KR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6FC6B0-8FED-4CA7-8A00-7E8567A752B7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2279008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793685-C9C7-46A1-BE54-14BF41CEC4D6}" type="datetimeFigureOut">
              <a:rPr lang="en-US" altLang="ko-KR"/>
              <a:pPr>
                <a:defRPr/>
              </a:pPr>
              <a:t>11/9/2024</a:t>
            </a:fld>
            <a:endParaRPr lang="en-US" alt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59A1A9-6617-4B03-8D81-72B941360C69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8858202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781800" y="1143000"/>
            <a:ext cx="1905000" cy="54864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1143000"/>
            <a:ext cx="6248400" cy="54864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086E2D-11AA-4D7A-97B8-811672594385}" type="datetimeFigureOut">
              <a:rPr lang="en-US" altLang="ko-KR"/>
              <a:pPr>
                <a:defRPr/>
              </a:pPr>
              <a:t>11/9/2024</a:t>
            </a:fld>
            <a:endParaRPr lang="en-US" alt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7AF3D2F-599A-49E6-9281-C2BD50F5B853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9108436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직사각형 27"/>
          <p:cNvSpPr/>
          <p:nvPr/>
        </p:nvSpPr>
        <p:spPr>
          <a:xfrm>
            <a:off x="0" y="366713"/>
            <a:ext cx="9144000" cy="84137"/>
          </a:xfrm>
          <a:prstGeom prst="rect">
            <a:avLst/>
          </a:prstGeom>
          <a:solidFill>
            <a:schemeClr val="accent6">
              <a:lumMod val="60000"/>
              <a:lumOff val="40000"/>
              <a:alpha val="49804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defRPr/>
            </a:pPr>
            <a:endParaRPr kumimoji="0" lang="en-US" altLang="ko-KR">
              <a:solidFill>
                <a:srgbClr val="FFFFFF"/>
              </a:solidFill>
              <a:ea typeface="굴림" pitchFamily="50" charset="-127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0" y="0"/>
            <a:ext cx="9144000" cy="31115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defRPr/>
            </a:pPr>
            <a:endParaRPr kumimoji="0" lang="en-US" altLang="ko-KR" dirty="0">
              <a:solidFill>
                <a:srgbClr val="FFFFFF"/>
              </a:solidFill>
              <a:ea typeface="굴림" pitchFamily="50" charset="-127"/>
            </a:endParaRPr>
          </a:p>
        </p:txBody>
      </p:sp>
      <p:sp>
        <p:nvSpPr>
          <p:cNvPr id="30" name="직사각형 29"/>
          <p:cNvSpPr/>
          <p:nvPr/>
        </p:nvSpPr>
        <p:spPr>
          <a:xfrm>
            <a:off x="0" y="307975"/>
            <a:ext cx="9144000" cy="9207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defRPr/>
            </a:pPr>
            <a:endParaRPr kumimoji="0" lang="en-US" altLang="ko-KR">
              <a:solidFill>
                <a:srgbClr val="FFFFFF"/>
              </a:solidFill>
              <a:ea typeface="굴림" pitchFamily="50" charset="-127"/>
            </a:endParaRPr>
          </a:p>
        </p:txBody>
      </p:sp>
      <p:sp>
        <p:nvSpPr>
          <p:cNvPr id="31" name="직사각형 30"/>
          <p:cNvSpPr/>
          <p:nvPr/>
        </p:nvSpPr>
        <p:spPr>
          <a:xfrm flipV="1">
            <a:off x="5410200" y="360363"/>
            <a:ext cx="3733800" cy="90487"/>
          </a:xfrm>
          <a:prstGeom prst="rect">
            <a:avLst/>
          </a:prstGeom>
          <a:solidFill>
            <a:schemeClr val="accent3">
              <a:lumMod val="20000"/>
              <a:lumOff val="80000"/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defRPr/>
            </a:pPr>
            <a:endParaRPr kumimoji="0" lang="en-US" altLang="ko-KR">
              <a:solidFill>
                <a:srgbClr val="FFFFFF"/>
              </a:solidFill>
              <a:ea typeface="굴림" pitchFamily="50" charset="-127"/>
            </a:endParaRPr>
          </a:p>
        </p:txBody>
      </p:sp>
      <p:sp>
        <p:nvSpPr>
          <p:cNvPr id="32" name="직사각형 31"/>
          <p:cNvSpPr/>
          <p:nvPr/>
        </p:nvSpPr>
        <p:spPr>
          <a:xfrm flipV="1">
            <a:off x="5410200" y="439738"/>
            <a:ext cx="3733800" cy="180975"/>
          </a:xfrm>
          <a:prstGeom prst="rect">
            <a:avLst/>
          </a:prstGeom>
          <a:solidFill>
            <a:schemeClr val="accent3">
              <a:lumMod val="20000"/>
              <a:lumOff val="80000"/>
              <a:alpha val="49804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defRPr/>
            </a:pPr>
            <a:endParaRPr kumimoji="0" lang="en-US" altLang="ko-KR">
              <a:solidFill>
                <a:srgbClr val="FFFFFF"/>
              </a:solidFill>
              <a:ea typeface="굴림" pitchFamily="50" charset="-127"/>
            </a:endParaRPr>
          </a:p>
        </p:txBody>
      </p:sp>
      <p:sp useBgFill="1">
        <p:nvSpPr>
          <p:cNvPr id="33" name="모서리가 둥근 직사각형 32"/>
          <p:cNvSpPr/>
          <p:nvPr/>
        </p:nvSpPr>
        <p:spPr bwMode="white">
          <a:xfrm>
            <a:off x="5407025" y="496888"/>
            <a:ext cx="3063875" cy="28575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defRPr/>
            </a:pPr>
            <a:endParaRPr kumimoji="0" lang="en-US" altLang="ko-KR">
              <a:solidFill>
                <a:srgbClr val="FFFFFF"/>
              </a:solidFill>
              <a:ea typeface="굴림" pitchFamily="50" charset="-127"/>
            </a:endParaRPr>
          </a:p>
        </p:txBody>
      </p:sp>
      <p:sp useBgFill="1">
        <p:nvSpPr>
          <p:cNvPr id="34" name="모서리가 둥근 직사각형 33"/>
          <p:cNvSpPr/>
          <p:nvPr/>
        </p:nvSpPr>
        <p:spPr bwMode="white">
          <a:xfrm>
            <a:off x="7373938" y="588963"/>
            <a:ext cx="1600200" cy="3651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defRPr/>
            </a:pPr>
            <a:endParaRPr kumimoji="0" lang="en-US" altLang="ko-KR">
              <a:solidFill>
                <a:srgbClr val="FFFFFF"/>
              </a:solidFill>
              <a:ea typeface="굴림" pitchFamily="50" charset="-127"/>
            </a:endParaRPr>
          </a:p>
        </p:txBody>
      </p:sp>
      <p:sp>
        <p:nvSpPr>
          <p:cNvPr id="35" name="직사각형 34"/>
          <p:cNvSpPr/>
          <p:nvPr/>
        </p:nvSpPr>
        <p:spPr bwMode="invGray">
          <a:xfrm>
            <a:off x="9085263" y="-1588"/>
            <a:ext cx="57150" cy="620713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defRPr/>
            </a:pPr>
            <a:endParaRPr kumimoji="0" lang="en-US" altLang="ko-KR">
              <a:solidFill>
                <a:srgbClr val="FFFFFF"/>
              </a:solidFill>
              <a:ea typeface="굴림" pitchFamily="50" charset="-127"/>
            </a:endParaRPr>
          </a:p>
        </p:txBody>
      </p:sp>
      <p:sp>
        <p:nvSpPr>
          <p:cNvPr id="36" name="직사각형 35"/>
          <p:cNvSpPr/>
          <p:nvPr/>
        </p:nvSpPr>
        <p:spPr bwMode="invGray">
          <a:xfrm>
            <a:off x="9043988" y="-1588"/>
            <a:ext cx="28575" cy="620713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defRPr/>
            </a:pPr>
            <a:endParaRPr kumimoji="0" lang="en-US" altLang="ko-KR">
              <a:solidFill>
                <a:srgbClr val="FFFFFF"/>
              </a:solidFill>
              <a:ea typeface="굴림" pitchFamily="50" charset="-127"/>
            </a:endParaRPr>
          </a:p>
        </p:txBody>
      </p:sp>
      <p:sp>
        <p:nvSpPr>
          <p:cNvPr id="37" name="직사각형 36"/>
          <p:cNvSpPr/>
          <p:nvPr/>
        </p:nvSpPr>
        <p:spPr bwMode="invGray">
          <a:xfrm>
            <a:off x="9024938" y="-1588"/>
            <a:ext cx="9525" cy="620713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defRPr/>
            </a:pPr>
            <a:endParaRPr kumimoji="0" lang="en-US" altLang="ko-KR">
              <a:solidFill>
                <a:srgbClr val="FFFFFF"/>
              </a:solidFill>
              <a:ea typeface="굴림" pitchFamily="50" charset="-127"/>
            </a:endParaRPr>
          </a:p>
        </p:txBody>
      </p:sp>
      <p:sp>
        <p:nvSpPr>
          <p:cNvPr id="38" name="직사각형 37"/>
          <p:cNvSpPr/>
          <p:nvPr/>
        </p:nvSpPr>
        <p:spPr bwMode="invGray">
          <a:xfrm>
            <a:off x="8975725" y="-1588"/>
            <a:ext cx="26988" cy="620713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defRPr/>
            </a:pPr>
            <a:endParaRPr kumimoji="0" lang="en-US" altLang="ko-KR">
              <a:solidFill>
                <a:srgbClr val="FFFFFF"/>
              </a:solidFill>
              <a:ea typeface="굴림" pitchFamily="50" charset="-127"/>
            </a:endParaRPr>
          </a:p>
        </p:txBody>
      </p:sp>
      <p:sp>
        <p:nvSpPr>
          <p:cNvPr id="39" name="직사각형 38"/>
          <p:cNvSpPr/>
          <p:nvPr/>
        </p:nvSpPr>
        <p:spPr bwMode="invGray">
          <a:xfrm>
            <a:off x="8915400" y="0"/>
            <a:ext cx="55563" cy="585788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defRPr/>
            </a:pPr>
            <a:endParaRPr kumimoji="0" lang="en-US" altLang="ko-KR">
              <a:solidFill>
                <a:srgbClr val="FFFFFF"/>
              </a:solidFill>
              <a:ea typeface="굴림" pitchFamily="50" charset="-127"/>
            </a:endParaRPr>
          </a:p>
        </p:txBody>
      </p:sp>
      <p:sp>
        <p:nvSpPr>
          <p:cNvPr id="40" name="직사각형 39"/>
          <p:cNvSpPr/>
          <p:nvPr/>
        </p:nvSpPr>
        <p:spPr bwMode="invGray">
          <a:xfrm>
            <a:off x="8874125" y="0"/>
            <a:ext cx="7938" cy="585788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defRPr/>
            </a:pPr>
            <a:endParaRPr kumimoji="0" lang="en-US" altLang="ko-KR">
              <a:solidFill>
                <a:srgbClr val="FFFFFF"/>
              </a:solidFill>
              <a:ea typeface="굴림" pitchFamily="50" charset="-127"/>
            </a:endParaRPr>
          </a:p>
        </p:txBody>
      </p:sp>
      <p:sp>
        <p:nvSpPr>
          <p:cNvPr id="1039" name="제목 개체 틀 21"/>
          <p:cNvSpPr>
            <a:spLocks noGrp="1"/>
          </p:cNvSpPr>
          <p:nvPr>
            <p:ph type="title"/>
          </p:nvPr>
        </p:nvSpPr>
        <p:spPr bwMode="auto">
          <a:xfrm>
            <a:off x="457200" y="1143000"/>
            <a:ext cx="82296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제목 스타일 편집</a:t>
            </a:r>
          </a:p>
        </p:txBody>
      </p:sp>
      <p:sp>
        <p:nvSpPr>
          <p:cNvPr id="1040" name="텍스트 개체 틀 12"/>
          <p:cNvSpPr>
            <a:spLocks noGrp="1"/>
          </p:cNvSpPr>
          <p:nvPr>
            <p:ph type="body" idx="1"/>
          </p:nvPr>
        </p:nvSpPr>
        <p:spPr bwMode="auto">
          <a:xfrm>
            <a:off x="457200" y="2249488"/>
            <a:ext cx="8229600" cy="432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14" name="날짜 개체 틀 13"/>
          <p:cNvSpPr>
            <a:spLocks noGrp="1"/>
          </p:cNvSpPr>
          <p:nvPr>
            <p:ph type="dt" sz="half" idx="2"/>
          </p:nvPr>
        </p:nvSpPr>
        <p:spPr>
          <a:xfrm>
            <a:off x="6586538" y="612775"/>
            <a:ext cx="957262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latinLnBrk="0">
              <a:defRPr kumimoji="0" sz="800">
                <a:solidFill>
                  <a:schemeClr val="accent2"/>
                </a:solidFill>
                <a:latin typeface="Georgia" pitchFamily="18" charset="0"/>
              </a:defRPr>
            </a:lvl1pPr>
          </a:lstStyle>
          <a:p>
            <a:pPr>
              <a:defRPr/>
            </a:pPr>
            <a:fld id="{04372308-AE4D-4F5B-A5F4-8D5BDCABB86D}" type="datetimeFigureOut">
              <a:rPr lang="en-US" altLang="ko-KR"/>
              <a:pPr>
                <a:defRPr/>
              </a:pPr>
              <a:t>11/9/2024</a:t>
            </a:fld>
            <a:endParaRPr lang="en-US" altLang="ko-KR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3"/>
          </p:nvPr>
        </p:nvSpPr>
        <p:spPr>
          <a:xfrm>
            <a:off x="5257800" y="612775"/>
            <a:ext cx="1325563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latinLnBrk="0">
              <a:defRPr kumimoji="0" sz="800">
                <a:solidFill>
                  <a:schemeClr val="accent2"/>
                </a:solidFill>
                <a:latin typeface="Georgia" pitchFamily="18" charset="0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3" name="슬라이드 번호 개체 틀 22"/>
          <p:cNvSpPr>
            <a:spLocks noGrp="1"/>
          </p:cNvSpPr>
          <p:nvPr>
            <p:ph type="sldNum" sz="quarter" idx="4"/>
          </p:nvPr>
        </p:nvSpPr>
        <p:spPr>
          <a:xfrm>
            <a:off x="8174038" y="1588"/>
            <a:ext cx="762000" cy="366712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latinLnBrk="0">
              <a:defRPr kumimoji="0">
                <a:solidFill>
                  <a:srgbClr val="FFFFFF"/>
                </a:solidFill>
                <a:latin typeface="Georgia" panose="02040502050405020303" pitchFamily="18" charset="0"/>
              </a:defRPr>
            </a:lvl1pPr>
          </a:lstStyle>
          <a:p>
            <a:fld id="{80EA332E-FF14-428F-B02F-D0E6231A0C16}" type="slidenum">
              <a:rPr lang="en-US" altLang="ko-KR"/>
              <a:pPr/>
              <a:t>‹#›</a:t>
            </a:fld>
            <a:endParaRPr lang="en-US" altLang="ko-KR">
              <a:solidFill>
                <a:schemeClr val="bg1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91" r:id="rId1"/>
    <p:sldLayoutId id="2147483992" r:id="rId2"/>
    <p:sldLayoutId id="2147483993" r:id="rId3"/>
    <p:sldLayoutId id="2147483994" r:id="rId4"/>
    <p:sldLayoutId id="2147483995" r:id="rId5"/>
    <p:sldLayoutId id="2147483996" r:id="rId6"/>
    <p:sldLayoutId id="2147483997" r:id="rId7"/>
    <p:sldLayoutId id="2147483998" r:id="rId8"/>
    <p:sldLayoutId id="2147483999" r:id="rId9"/>
    <p:sldLayoutId id="2147484000" r:id="rId10"/>
    <p:sldLayoutId id="2147484001" r:id="rId11"/>
  </p:sldLayoutIdLst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sz="4000" kern="1200">
          <a:solidFill>
            <a:schemeClr val="tx2"/>
          </a:solidFill>
          <a:latin typeface="+mj-lt"/>
          <a:ea typeface="나눔바른고딕" panose="020B0603020101020101" pitchFamily="50" charset="-127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</a:defRPr>
      </a:lvl5pPr>
      <a:lvl6pPr marL="457200" algn="l" rtl="0" fontAlgn="base" latinLnBrk="1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</a:defRPr>
      </a:lvl6pPr>
      <a:lvl7pPr marL="914400" algn="l" rtl="0" fontAlgn="base" latinLnBrk="1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</a:defRPr>
      </a:lvl9pPr>
    </p:titleStyle>
    <p:bodyStyle>
      <a:lvl1pPr marL="365125" indent="-255588" algn="l" rtl="0" eaLnBrk="0" fontAlgn="base" latinLnBrk="1" hangingPunct="0">
        <a:spcBef>
          <a:spcPts val="300"/>
        </a:spcBef>
        <a:spcAft>
          <a:spcPct val="0"/>
        </a:spcAft>
        <a:buClr>
          <a:srgbClr val="A04DA3"/>
        </a:buClr>
        <a:buFont typeface="Georgia" panose="02040502050405020303" pitchFamily="18" charset="0"/>
        <a:buChar char="•"/>
        <a:defRPr sz="2800" kern="1200">
          <a:solidFill>
            <a:schemeClr val="tx1"/>
          </a:solidFill>
          <a:latin typeface="+mn-lt"/>
          <a:ea typeface="나눔바른고딕" panose="020B0603020101020101" pitchFamily="50" charset="-127"/>
          <a:cs typeface="+mn-cs"/>
        </a:defRPr>
      </a:lvl1pPr>
      <a:lvl2pPr marL="657225" indent="-246063" algn="l" rtl="0" eaLnBrk="0" fontAlgn="base" latinLnBrk="1" hangingPunct="0">
        <a:spcBef>
          <a:spcPts val="300"/>
        </a:spcBef>
        <a:spcAft>
          <a:spcPct val="0"/>
        </a:spcAft>
        <a:buClr>
          <a:schemeClr val="accent2"/>
        </a:buClr>
        <a:buFont typeface="Georgia" panose="02040502050405020303" pitchFamily="18" charset="0"/>
        <a:buChar char="▫"/>
        <a:defRPr sz="2600" kern="1200">
          <a:solidFill>
            <a:schemeClr val="accent2"/>
          </a:solidFill>
          <a:latin typeface="+mn-lt"/>
          <a:ea typeface="나눔바른고딕" panose="020B0603020101020101" pitchFamily="50" charset="-127"/>
          <a:cs typeface="+mn-cs"/>
        </a:defRPr>
      </a:lvl2pPr>
      <a:lvl3pPr marL="922338" indent="-219075" algn="l" rtl="0" eaLnBrk="0" fontAlgn="base" latinLnBrk="1" hangingPunct="0">
        <a:spcBef>
          <a:spcPts val="300"/>
        </a:spcBef>
        <a:spcAft>
          <a:spcPct val="0"/>
        </a:spcAft>
        <a:buClr>
          <a:schemeClr val="accent1"/>
        </a:buClr>
        <a:buFont typeface="Wingdings 2" panose="05020102010507070707" pitchFamily="18" charset="2"/>
        <a:buChar char=""/>
        <a:defRPr sz="2400" kern="1200">
          <a:solidFill>
            <a:schemeClr val="accent1"/>
          </a:solidFill>
          <a:latin typeface="+mn-lt"/>
          <a:ea typeface="나눔바른고딕" panose="020B0603020101020101" pitchFamily="50" charset="-127"/>
          <a:cs typeface="+mn-cs"/>
        </a:defRPr>
      </a:lvl3pPr>
      <a:lvl4pPr marL="1179513" indent="-200025" algn="l" rtl="0" eaLnBrk="0" fontAlgn="base" latinLnBrk="1" hangingPunct="0">
        <a:spcBef>
          <a:spcPts val="300"/>
        </a:spcBef>
        <a:spcAft>
          <a:spcPct val="0"/>
        </a:spcAft>
        <a:buClr>
          <a:schemeClr val="accent1"/>
        </a:buClr>
        <a:buFont typeface="Wingdings 2" panose="05020102010507070707" pitchFamily="18" charset="2"/>
        <a:buChar char=""/>
        <a:defRPr sz="2200" kern="1200">
          <a:solidFill>
            <a:schemeClr val="accent1"/>
          </a:solidFill>
          <a:latin typeface="+mn-lt"/>
          <a:ea typeface="나눔바른고딕" panose="020B0603020101020101" pitchFamily="50" charset="-127"/>
          <a:cs typeface="+mn-cs"/>
        </a:defRPr>
      </a:lvl4pPr>
      <a:lvl5pPr marL="1389063" indent="-182563" algn="l" rtl="0" eaLnBrk="0" fontAlgn="base" latinLnBrk="1" hangingPunct="0">
        <a:spcBef>
          <a:spcPts val="300"/>
        </a:spcBef>
        <a:spcAft>
          <a:spcPct val="0"/>
        </a:spcAft>
        <a:buClr>
          <a:srgbClr val="A04DA3"/>
        </a:buClr>
        <a:buFont typeface="Georgia" panose="02040502050405020303" pitchFamily="18" charset="0"/>
        <a:buChar char="▫"/>
        <a:defRPr sz="2000" kern="1200">
          <a:solidFill>
            <a:srgbClr val="A04DA3"/>
          </a:solidFill>
          <a:latin typeface="+mn-lt"/>
          <a:ea typeface="나눔바른고딕" panose="020B0603020101020101" pitchFamily="50" charset="-127"/>
          <a:cs typeface="+mn-cs"/>
        </a:defRPr>
      </a:lvl5pPr>
      <a:lvl6pPr marL="1609344" indent="-182880" algn="l" rtl="0" eaLnBrk="1" latinLnBrk="1" hangingPunct="1">
        <a:spcBef>
          <a:spcPts val="300"/>
        </a:spcBef>
        <a:buClr>
          <a:schemeClr val="accent3"/>
        </a:buClr>
        <a:buFont typeface="Georgia"/>
        <a:buChar char="▫"/>
        <a:defRPr kumimoji="0" sz="18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1828800" indent="-182880" algn="l" rtl="0" eaLnBrk="1" latinLnBrk="1" hangingPunct="1">
        <a:spcBef>
          <a:spcPts val="300"/>
        </a:spcBef>
        <a:buClr>
          <a:schemeClr val="accent3"/>
        </a:buClr>
        <a:buFont typeface="Georgia"/>
        <a:buChar char="▫"/>
        <a:defRPr kumimoji="0" sz="1600" kern="1200">
          <a:solidFill>
            <a:schemeClr val="accent3"/>
          </a:solidFill>
          <a:latin typeface="+mn-lt"/>
          <a:ea typeface="+mn-ea"/>
          <a:cs typeface="+mn-cs"/>
        </a:defRPr>
      </a:lvl7pPr>
      <a:lvl8pPr marL="2029968" indent="-182880" algn="l" rtl="0" eaLnBrk="1" latinLnBrk="1" hangingPunct="1">
        <a:spcBef>
          <a:spcPts val="300"/>
        </a:spcBef>
        <a:buClr>
          <a:schemeClr val="accent3"/>
        </a:buClr>
        <a:buFont typeface="Georgia"/>
        <a:buChar char="◦"/>
        <a:defRPr kumimoji="0" sz="1500" kern="1200">
          <a:solidFill>
            <a:schemeClr val="accent3"/>
          </a:solidFill>
          <a:latin typeface="+mn-lt"/>
          <a:ea typeface="+mn-ea"/>
          <a:cs typeface="+mn-cs"/>
        </a:defRPr>
      </a:lvl8pPr>
      <a:lvl9pPr marL="2240280" indent="-182880" algn="l" rtl="0" eaLnBrk="1" latinLnBrk="1" hangingPunct="1">
        <a:spcBef>
          <a:spcPts val="300"/>
        </a:spcBef>
        <a:buClr>
          <a:schemeClr val="accent3"/>
        </a:buClr>
        <a:buFont typeface="Georgia"/>
        <a:buChar char="◦"/>
        <a:defRPr kumimoji="0" sz="1400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ko/%ED%82%A4%EB%B3%B4%EB%93%9C-%EC%9E%85%EB%A0%A5-%EC%9C%A0%ED%98%95-%EC%97%B4%EC%87%A0-%EC%9E%A5%EC%B9%98-%EB%A1%9C%EA%B7%B8%EC%9D%B8-%EA%B8%B0%ED%98%B8-%EC%95%84%EC%9D%B4%EC%BD%98-27797/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ko/%ED%82%A4%EB%B3%B4%EB%93%9C-%EC%9E%85%EB%A0%A5-%EC%9C%A0%ED%98%95-%EC%97%B4%EC%87%A0-%EC%9E%A5%EC%B9%98-%EB%A1%9C%EA%B7%B8%EC%9D%B8-%EA%B8%B0%ED%98%B8-%EC%95%84%EC%9D%B4%EC%BD%98-27797/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ko/%ED%82%A4%EB%B3%B4%EB%93%9C-%EC%9E%85%EB%A0%A5-%EC%9C%A0%ED%98%95-%EC%97%B4%EC%87%A0-%EC%9E%A5%EC%B9%98-%EB%A1%9C%EA%B7%B8%EC%9D%B8-%EA%B8%B0%ED%98%B8-%EC%95%84%EC%9D%B4%EC%BD%98-27797/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ko/%ED%82%A4%EB%B3%B4%EB%93%9C-%EC%9E%85%EB%A0%A5-%EC%9C%A0%ED%98%95-%EC%97%B4%EC%87%A0-%EC%9E%A5%EC%B9%98-%EB%A1%9C%EA%B7%B8%EC%9D%B8-%EA%B8%B0%ED%98%B8-%EC%95%84%EC%9D%B4%EC%BD%98-27797/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ko/%ED%82%A4%EB%B3%B4%EB%93%9C-%EC%9E%85%EB%A0%A5-%EC%9C%A0%ED%98%95-%EC%97%B4%EC%87%A0-%EC%9E%A5%EC%B9%98-%EB%A1%9C%EA%B7%B8%EC%9D%B8-%EA%B8%B0%ED%98%B8-%EC%95%84%EC%9D%B4%EC%BD%98-27797/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ko/%ED%82%A4%EB%B3%B4%EB%93%9C-%EC%9E%85%EB%A0%A5-%EC%9C%A0%ED%98%95-%EC%97%B4%EC%87%A0-%EC%9E%A5%EC%B9%98-%EB%A1%9C%EA%B7%B8%EC%9D%B8-%EA%B8%B0%ED%98%B8-%EC%95%84%EC%9D%B4%EC%BD%98-27797/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ko/%ED%82%A4%EB%B3%B4%EB%93%9C-%EC%9E%85%EB%A0%A5-%EC%9C%A0%ED%98%95-%EC%97%B4%EC%87%A0-%EC%9E%A5%EC%B9%98-%EB%A1%9C%EA%B7%B8%EC%9D%B8-%EA%B8%B0%ED%98%B8-%EC%95%84%EC%9D%B4%EC%BD%98-27797/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ko/%ED%82%A4%EB%B3%B4%EB%93%9C-%EC%9E%85%EB%A0%A5-%EC%9C%A0%ED%98%95-%EC%97%B4%EC%87%A0-%EC%9E%A5%EC%B9%98-%EB%A1%9C%EA%B7%B8%EC%9D%B8-%EA%B8%B0%ED%98%B8-%EC%95%84%EC%9D%B4%EC%BD%98-27797/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ko/%ED%82%A4%EB%B3%B4%EB%93%9C-%EC%9E%85%EB%A0%A5-%EC%9C%A0%ED%98%95-%EC%97%B4%EC%87%A0-%EC%9E%A5%EC%B9%98-%EB%A1%9C%EA%B7%B8%EC%9D%B8-%EA%B8%B0%ED%98%B8-%EC%95%84%EC%9D%B4%EC%BD%98-27797/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ko/%ED%82%A4%EB%B3%B4%EB%93%9C-%EC%9E%85%EB%A0%A5-%EC%9C%A0%ED%98%95-%EC%97%B4%EC%87%A0-%EC%9E%A5%EC%B9%98-%EB%A1%9C%EA%B7%B8%EC%9D%B8-%EA%B8%B0%ED%98%B8-%EC%95%84%EC%9D%B4%EC%BD%98-27797/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ko/%ED%82%A4%EB%B3%B4%EB%93%9C-%EC%9E%85%EB%A0%A5-%EC%9C%A0%ED%98%95-%EC%97%B4%EC%87%A0-%EC%9E%A5%EC%B9%98-%EB%A1%9C%EA%B7%B8%EC%9D%B8-%EA%B8%B0%ED%98%B8-%EC%95%84%EC%9D%B4%EC%BD%98-27797/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ko/%ED%82%A4%EB%B3%B4%EB%93%9C-%EC%9E%85%EB%A0%A5-%EC%9C%A0%ED%98%95-%EC%97%B4%EC%87%A0-%EC%9E%A5%EC%B9%98-%EB%A1%9C%EA%B7%B8%EC%9D%B8-%EA%B8%B0%ED%98%B8-%EC%95%84%EC%9D%B4%EC%BD%98-27797/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ko/%ED%82%A4%EB%B3%B4%EB%93%9C-%EC%9E%85%EB%A0%A5-%EC%9C%A0%ED%98%95-%EC%97%B4%EC%87%A0-%EC%9E%A5%EC%B9%98-%EB%A1%9C%EA%B7%B8%EC%9D%B8-%EA%B8%B0%ED%98%B8-%EC%95%84%EC%9D%B4%EC%BD%98-27797/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ko/%ED%82%A4%EB%B3%B4%EB%93%9C-%EC%9E%85%EB%A0%A5-%EC%9C%A0%ED%98%95-%EC%97%B4%EC%87%A0-%EC%9E%A5%EC%B9%98-%EB%A1%9C%EA%B7%B8%EC%9D%B8-%EA%B8%B0%ED%98%B8-%EC%95%84%EC%9D%B4%EC%BD%98-27797/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ko/%ED%82%A4%EB%B3%B4%EB%93%9C-%EC%9E%85%EB%A0%A5-%EC%9C%A0%ED%98%95-%EC%97%B4%EC%87%A0-%EC%9E%A5%EC%B9%98-%EB%A1%9C%EA%B7%B8%EC%9D%B8-%EA%B8%B0%ED%98%B8-%EC%95%84%EC%9D%B4%EC%BD%98-27797/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ko/%ED%82%A4%EB%B3%B4%EB%93%9C-%EC%9E%85%EB%A0%A5-%EC%9C%A0%ED%98%95-%EC%97%B4%EC%87%A0-%EC%9E%A5%EC%B9%98-%EB%A1%9C%EA%B7%B8%EC%9D%B8-%EA%B8%B0%ED%98%B8-%EC%95%84%EC%9D%B4%EC%BD%98-27797/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ko/%ED%82%A4%EB%B3%B4%EB%93%9C-%EC%9E%85%EB%A0%A5-%EC%9C%A0%ED%98%95-%EC%97%B4%EC%87%A0-%EC%9E%A5%EC%B9%98-%EB%A1%9C%EA%B7%B8%EC%9D%B8-%EA%B8%B0%ED%98%B8-%EC%95%84%EC%9D%B4%EC%BD%98-27797/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png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ko/%ED%82%A4%EB%B3%B4%EB%93%9C-%EC%9E%85%EB%A0%A5-%EC%9C%A0%ED%98%95-%EC%97%B4%EC%87%A0-%EC%9E%A5%EC%B9%98-%EB%A1%9C%EA%B7%B8%EC%9D%B8-%EA%B8%B0%ED%98%B8-%EC%95%84%EC%9D%B4%EC%BD%98-27797/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9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ko/%ED%82%A4%EB%B3%B4%EB%93%9C-%EC%9E%85%EB%A0%A5-%EC%9C%A0%ED%98%95-%EC%97%B4%EC%87%A0-%EC%9E%A5%EC%B9%98-%EB%A1%9C%EA%B7%B8%EC%9D%B8-%EA%B8%B0%ED%98%B8-%EC%95%84%EC%9D%B4%EC%BD%98-27797/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제목 1"/>
          <p:cNvSpPr>
            <a:spLocks noGrp="1"/>
          </p:cNvSpPr>
          <p:nvPr>
            <p:ph type="title"/>
          </p:nvPr>
        </p:nvSpPr>
        <p:spPr>
          <a:xfrm>
            <a:off x="500063" y="714375"/>
            <a:ext cx="8229600" cy="642938"/>
          </a:xfrm>
        </p:spPr>
        <p:txBody>
          <a:bodyPr/>
          <a:lstStyle/>
          <a:p>
            <a:pPr eaLnBrk="1" hangingPunct="1"/>
            <a:r>
              <a:rPr lang="ko-KR" altLang="en-US" sz="2800" dirty="0"/>
              <a:t>시작과 종료</a:t>
            </a:r>
            <a:endParaRPr lang="ko-KR" altLang="en-US" sz="2800" dirty="0">
              <a:solidFill>
                <a:srgbClr val="00B050"/>
              </a:solidFill>
            </a:endParaRPr>
          </a:p>
        </p:txBody>
      </p:sp>
      <p:sp>
        <p:nvSpPr>
          <p:cNvPr id="8" name="내용 개체 틀 2"/>
          <p:cNvSpPr>
            <a:spLocks noGrp="1"/>
          </p:cNvSpPr>
          <p:nvPr>
            <p:ph idx="1"/>
          </p:nvPr>
        </p:nvSpPr>
        <p:spPr>
          <a:xfrm>
            <a:off x="457200" y="1357313"/>
            <a:ext cx="8229600" cy="5095875"/>
          </a:xfrm>
        </p:spPr>
        <p:txBody>
          <a:bodyPr/>
          <a:lstStyle/>
          <a:p>
            <a:pPr eaLnBrk="1" hangingPunct="1">
              <a:defRPr/>
            </a:pPr>
            <a:r>
              <a:rPr lang="ko-KR" altLang="en-US" dirty="0"/>
              <a:t>종료하는 방법</a:t>
            </a:r>
            <a:endParaRPr lang="en-US" altLang="ko-KR" dirty="0"/>
          </a:p>
          <a:p>
            <a:pPr lvl="1" eaLnBrk="1" hangingPunct="1">
              <a:buNone/>
              <a:defRPr/>
            </a:pPr>
            <a:r>
              <a:rPr lang="ko-KR" altLang="en-US" sz="1800" dirty="0"/>
              <a:t>① 바탕 화면의 </a:t>
            </a:r>
            <a:r>
              <a:rPr lang="en-US" altLang="ko-KR" sz="1800" dirty="0"/>
              <a:t>[</a:t>
            </a:r>
            <a:r>
              <a:rPr lang="ko-KR" altLang="en-US" sz="1800" dirty="0"/>
              <a:t>       아이콘</a:t>
            </a:r>
            <a:r>
              <a:rPr lang="en-US" altLang="ko-KR" sz="1800" dirty="0"/>
              <a:t>] → [</a:t>
            </a:r>
            <a:r>
              <a:rPr lang="ko-KR" altLang="en-US" sz="1800" dirty="0"/>
              <a:t>컴퓨터 끄기</a:t>
            </a:r>
            <a:r>
              <a:rPr lang="en-US" altLang="ko-KR" sz="1800" dirty="0"/>
              <a:t>…] → &lt;</a:t>
            </a:r>
            <a:r>
              <a:rPr lang="ko-KR" altLang="en-US" sz="1800" dirty="0"/>
              <a:t>컴퓨터 끄기</a:t>
            </a:r>
            <a:r>
              <a:rPr lang="en-US" altLang="ko-KR" sz="1800" dirty="0"/>
              <a:t>&gt;</a:t>
            </a:r>
          </a:p>
          <a:p>
            <a:pPr lvl="1" eaLnBrk="1" hangingPunct="1">
              <a:buFont typeface="Georgia" panose="02040502050405020303" pitchFamily="18" charset="0"/>
              <a:buNone/>
              <a:defRPr/>
            </a:pPr>
            <a:r>
              <a:rPr lang="ko-KR" altLang="en-US" sz="1800" dirty="0"/>
              <a:t>② 터미널</a:t>
            </a:r>
            <a:r>
              <a:rPr lang="en-US" altLang="ko-KR" sz="1800" dirty="0"/>
              <a:t>/</a:t>
            </a:r>
            <a:r>
              <a:rPr lang="ko-KR" altLang="en-US" sz="1800" dirty="0"/>
              <a:t>콘솔에서 시스템 종료 명령 입력 </a:t>
            </a:r>
            <a:br>
              <a:rPr lang="en-US" altLang="ko-KR" sz="1800" dirty="0"/>
            </a:br>
            <a:r>
              <a:rPr lang="en-US" altLang="ko-KR" sz="1800" dirty="0"/>
              <a:t>   </a:t>
            </a:r>
            <a:r>
              <a:rPr lang="en-US" altLang="ko-KR" sz="1800" dirty="0" err="1"/>
              <a:t>poweroff</a:t>
            </a:r>
            <a:r>
              <a:rPr lang="en-US" altLang="ko-KR" sz="1800" dirty="0"/>
              <a:t>, shutdown –P now , halt –p</a:t>
            </a:r>
            <a:r>
              <a:rPr lang="ko-KR" altLang="en-US" sz="1800" dirty="0"/>
              <a:t> </a:t>
            </a:r>
            <a:r>
              <a:rPr lang="en-US" altLang="ko-KR" sz="1800" dirty="0"/>
              <a:t>, </a:t>
            </a:r>
            <a:r>
              <a:rPr lang="en-US" altLang="ko-KR" sz="1800" dirty="0" err="1"/>
              <a:t>init</a:t>
            </a:r>
            <a:r>
              <a:rPr lang="en-US" altLang="ko-KR" sz="1800" dirty="0"/>
              <a:t> 0</a:t>
            </a:r>
          </a:p>
          <a:p>
            <a:pPr lvl="1" eaLnBrk="1" hangingPunct="1">
              <a:defRPr/>
            </a:pPr>
            <a:endParaRPr lang="en-US" altLang="ko-KR" sz="2000" dirty="0"/>
          </a:p>
          <a:p>
            <a:pPr eaLnBrk="1" hangingPunct="1">
              <a:defRPr/>
            </a:pPr>
            <a:r>
              <a:rPr lang="ko-KR" altLang="en-US" dirty="0"/>
              <a:t>시스템 </a:t>
            </a:r>
            <a:r>
              <a:rPr lang="ko-KR" altLang="en-US" dirty="0" err="1"/>
              <a:t>재부팅</a:t>
            </a:r>
            <a:endParaRPr lang="en-US" altLang="ko-KR" dirty="0"/>
          </a:p>
          <a:p>
            <a:pPr lvl="1" eaLnBrk="1" hangingPunct="1">
              <a:buNone/>
              <a:defRPr/>
            </a:pPr>
            <a:r>
              <a:rPr lang="ko-KR" altLang="en-US" sz="1800" dirty="0"/>
              <a:t>① 바탕 화면의 </a:t>
            </a:r>
            <a:r>
              <a:rPr lang="en-US" altLang="ko-KR" sz="1800" dirty="0"/>
              <a:t>[</a:t>
            </a:r>
            <a:r>
              <a:rPr lang="ko-KR" altLang="en-US" sz="1800" dirty="0"/>
              <a:t>      아이콘</a:t>
            </a:r>
            <a:r>
              <a:rPr lang="en-US" altLang="ko-KR" sz="1800" dirty="0"/>
              <a:t>] → [</a:t>
            </a:r>
            <a:r>
              <a:rPr lang="ko-KR" altLang="en-US" sz="1800" dirty="0"/>
              <a:t>컴퓨터 끄기</a:t>
            </a:r>
            <a:r>
              <a:rPr lang="en-US" altLang="ko-KR" sz="1800" dirty="0"/>
              <a:t>…] → &lt;</a:t>
            </a:r>
            <a:r>
              <a:rPr lang="ko-KR" altLang="en-US" sz="1800" dirty="0"/>
              <a:t>다시 시작</a:t>
            </a:r>
            <a:r>
              <a:rPr lang="en-US" altLang="ko-KR" sz="1800" dirty="0"/>
              <a:t>&gt; </a:t>
            </a:r>
          </a:p>
          <a:p>
            <a:pPr lvl="1" eaLnBrk="1" hangingPunct="1">
              <a:buNone/>
              <a:defRPr/>
            </a:pPr>
            <a:r>
              <a:rPr lang="ko-KR" altLang="en-US" sz="1800" dirty="0"/>
              <a:t>② 터미널</a:t>
            </a:r>
            <a:r>
              <a:rPr lang="en-US" altLang="ko-KR" sz="1800" dirty="0"/>
              <a:t>/</a:t>
            </a:r>
            <a:r>
              <a:rPr lang="ko-KR" altLang="en-US" sz="1800" dirty="0"/>
              <a:t>콘솔에서 시스템 </a:t>
            </a:r>
            <a:r>
              <a:rPr lang="ko-KR" altLang="en-US" sz="1800" dirty="0" err="1"/>
              <a:t>재부팅</a:t>
            </a:r>
            <a:r>
              <a:rPr lang="ko-KR" altLang="en-US" sz="1800" dirty="0"/>
              <a:t> 명령 입력 </a:t>
            </a:r>
            <a:br>
              <a:rPr lang="en-US" altLang="ko-KR" sz="1800" dirty="0"/>
            </a:br>
            <a:r>
              <a:rPr lang="en-US" altLang="ko-KR" sz="1800" dirty="0"/>
              <a:t>   shutdown -r now , reboot , </a:t>
            </a:r>
            <a:r>
              <a:rPr lang="en-US" altLang="ko-KR" sz="1800" dirty="0" err="1"/>
              <a:t>init</a:t>
            </a:r>
            <a:r>
              <a:rPr lang="en-US" altLang="ko-KR" sz="1800" dirty="0"/>
              <a:t> 6</a:t>
            </a:r>
          </a:p>
          <a:p>
            <a:pPr lvl="1" eaLnBrk="1" hangingPunct="1">
              <a:defRPr/>
            </a:pPr>
            <a:endParaRPr lang="en-US" altLang="ko-KR" sz="1800" dirty="0"/>
          </a:p>
          <a:p>
            <a:pPr eaLnBrk="1" hangingPunct="1">
              <a:defRPr/>
            </a:pPr>
            <a:r>
              <a:rPr lang="ko-KR" altLang="en-US" dirty="0"/>
              <a:t>로그아웃</a:t>
            </a:r>
            <a:endParaRPr lang="en-US" altLang="ko-KR" dirty="0"/>
          </a:p>
          <a:p>
            <a:pPr lvl="1" eaLnBrk="1" hangingPunct="1">
              <a:buNone/>
              <a:defRPr/>
            </a:pPr>
            <a:r>
              <a:rPr lang="ko-KR" altLang="en-US" sz="1800" dirty="0"/>
              <a:t>① 바탕 화면의 </a:t>
            </a:r>
            <a:r>
              <a:rPr lang="en-US" altLang="ko-KR" sz="1800" dirty="0"/>
              <a:t>[       </a:t>
            </a:r>
            <a:r>
              <a:rPr lang="ko-KR" altLang="en-US" sz="1800" dirty="0"/>
              <a:t>아이콘</a:t>
            </a:r>
            <a:r>
              <a:rPr lang="en-US" altLang="ko-KR" sz="1800" dirty="0"/>
              <a:t>] → [</a:t>
            </a:r>
            <a:r>
              <a:rPr lang="ko-KR" altLang="en-US" sz="1800" dirty="0"/>
              <a:t>로그아웃</a:t>
            </a:r>
            <a:r>
              <a:rPr lang="en-US" altLang="ko-KR" sz="1800" dirty="0"/>
              <a:t>] </a:t>
            </a:r>
          </a:p>
          <a:p>
            <a:pPr lvl="1" eaLnBrk="1" hangingPunct="1">
              <a:buNone/>
              <a:defRPr/>
            </a:pPr>
            <a:r>
              <a:rPr lang="ko-KR" altLang="en-US" sz="1800" dirty="0"/>
              <a:t>② 텍스트 모드에서 시스템 종료 명령 입력 </a:t>
            </a:r>
            <a:r>
              <a:rPr lang="en-US" altLang="ko-KR" sz="1800" dirty="0"/>
              <a:t>:   logout </a:t>
            </a:r>
            <a:r>
              <a:rPr lang="ko-KR" altLang="en-US" sz="1800" dirty="0"/>
              <a:t>또는 </a:t>
            </a:r>
            <a:r>
              <a:rPr lang="en-US" altLang="ko-KR" sz="1800" dirty="0"/>
              <a:t>exit</a:t>
            </a:r>
            <a:endParaRPr lang="ko-KR" altLang="en-US" sz="2000" dirty="0"/>
          </a:p>
        </p:txBody>
      </p:sp>
      <p:sp>
        <p:nvSpPr>
          <p:cNvPr id="2" name="말풍선: 타원형 1">
            <a:extLst>
              <a:ext uri="{FF2B5EF4-FFF2-40B4-BE49-F238E27FC236}">
                <a16:creationId xmlns:a16="http://schemas.microsoft.com/office/drawing/2014/main" id="{7673A4F5-A929-4750-1055-B729DDCEBB7F}"/>
              </a:ext>
            </a:extLst>
          </p:cNvPr>
          <p:cNvSpPr/>
          <p:nvPr/>
        </p:nvSpPr>
        <p:spPr>
          <a:xfrm>
            <a:off x="2587450" y="656866"/>
            <a:ext cx="1049292" cy="410369"/>
          </a:xfrm>
          <a:prstGeom prst="wedgeEllipseCallout">
            <a:avLst>
              <a:gd name="adj1" fmla="val -49721"/>
              <a:gd name="adj2" fmla="val 61440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149</a:t>
            </a:r>
            <a:r>
              <a:rPr lang="ko-KR" altLang="en-US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  <p:sp>
        <p:nvSpPr>
          <p:cNvPr id="3" name="물결 2">
            <a:extLst>
              <a:ext uri="{FF2B5EF4-FFF2-40B4-BE49-F238E27FC236}">
                <a16:creationId xmlns:a16="http://schemas.microsoft.com/office/drawing/2014/main" id="{BA867A5E-2DC6-5247-8A0F-09CECED34A3A}"/>
              </a:ext>
            </a:extLst>
          </p:cNvPr>
          <p:cNvSpPr/>
          <p:nvPr/>
        </p:nvSpPr>
        <p:spPr>
          <a:xfrm>
            <a:off x="5724128" y="736955"/>
            <a:ext cx="2479100" cy="648072"/>
          </a:xfrm>
          <a:prstGeom prst="wave">
            <a:avLst>
              <a:gd name="adj1" fmla="val 6856"/>
              <a:gd name="adj2" fmla="val -605"/>
            </a:avLst>
          </a:prstGeom>
          <a:solidFill>
            <a:srgbClr val="FF7C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altLang="ko-KR" sz="1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# </a:t>
            </a:r>
            <a:r>
              <a:rPr lang="ko-KR" altLang="en-US" sz="1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프롬프트는 </a:t>
            </a:r>
            <a:r>
              <a:rPr lang="en-US" altLang="ko-KR" sz="1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root </a:t>
            </a:r>
            <a:r>
              <a:rPr lang="ko-KR" altLang="en-US" sz="1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사용자</a:t>
            </a:r>
          </a:p>
          <a:p>
            <a:pPr algn="ctr">
              <a:defRPr/>
            </a:pPr>
            <a:r>
              <a:rPr lang="en-US" altLang="ko-KR" sz="1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$ </a:t>
            </a:r>
            <a:r>
              <a:rPr lang="ko-KR" altLang="en-US" sz="1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프롬프트는 일반 사용자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E857BD92-F683-666B-89C5-7C341C2F8B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7111" y="1762164"/>
            <a:ext cx="314689" cy="329440"/>
          </a:xfrm>
          <a:prstGeom prst="rect">
            <a:avLst/>
          </a:prstGeom>
        </p:spPr>
      </p:pic>
      <p:sp>
        <p:nvSpPr>
          <p:cNvPr id="10" name="말풍선: 타원형 9">
            <a:extLst>
              <a:ext uri="{FF2B5EF4-FFF2-40B4-BE49-F238E27FC236}">
                <a16:creationId xmlns:a16="http://schemas.microsoft.com/office/drawing/2014/main" id="{C8921BB5-E483-6D37-32C7-C4422793B445}"/>
              </a:ext>
            </a:extLst>
          </p:cNvPr>
          <p:cNvSpPr/>
          <p:nvPr/>
        </p:nvSpPr>
        <p:spPr>
          <a:xfrm>
            <a:off x="2771800" y="2848899"/>
            <a:ext cx="1049292" cy="410369"/>
          </a:xfrm>
          <a:prstGeom prst="wedgeEllipseCallout">
            <a:avLst>
              <a:gd name="adj1" fmla="val -49721"/>
              <a:gd name="adj2" fmla="val 61440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151</a:t>
            </a:r>
            <a:r>
              <a:rPr lang="ko-KR" altLang="en-US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F2CCF9A4-BDE4-7674-EE51-8F6D363C12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3168" y="3406051"/>
            <a:ext cx="314689" cy="329440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CD13FF23-E4E1-BD02-BC95-7754DF5363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7110" y="5037396"/>
            <a:ext cx="314689" cy="329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90943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제목 1"/>
          <p:cNvSpPr>
            <a:spLocks noGrp="1"/>
          </p:cNvSpPr>
          <p:nvPr>
            <p:ph type="title"/>
          </p:nvPr>
        </p:nvSpPr>
        <p:spPr>
          <a:xfrm>
            <a:off x="500063" y="714375"/>
            <a:ext cx="8229600" cy="642938"/>
          </a:xfrm>
        </p:spPr>
        <p:txBody>
          <a:bodyPr/>
          <a:lstStyle/>
          <a:p>
            <a:pPr eaLnBrk="1" hangingPunct="1"/>
            <a:r>
              <a:rPr lang="ko-KR" altLang="en-US" sz="2800" dirty="0"/>
              <a:t>가상 콘솔</a:t>
            </a:r>
          </a:p>
        </p:txBody>
      </p:sp>
      <p:sp>
        <p:nvSpPr>
          <p:cNvPr id="8" name="내용 개체 틀 2"/>
          <p:cNvSpPr>
            <a:spLocks noGrp="1"/>
          </p:cNvSpPr>
          <p:nvPr>
            <p:ph idx="1"/>
          </p:nvPr>
        </p:nvSpPr>
        <p:spPr>
          <a:xfrm>
            <a:off x="457200" y="1357313"/>
            <a:ext cx="8229600" cy="5000625"/>
          </a:xfrm>
        </p:spPr>
        <p:txBody>
          <a:bodyPr/>
          <a:lstStyle/>
          <a:p>
            <a:pPr eaLnBrk="1" hangingPunct="1">
              <a:defRPr/>
            </a:pPr>
            <a:r>
              <a:rPr lang="ko-KR" altLang="en-US" dirty="0"/>
              <a:t>쉽게 ‘가상의 모니터’라 생각하면 됨</a:t>
            </a:r>
            <a:r>
              <a:rPr lang="en-US" altLang="ko-KR" dirty="0"/>
              <a:t>. </a:t>
            </a:r>
            <a:r>
              <a:rPr lang="ko-KR" altLang="en-US" dirty="0"/>
              <a:t>우분투는 총 </a:t>
            </a:r>
            <a:r>
              <a:rPr lang="en-US" altLang="ko-KR" dirty="0"/>
              <a:t>5</a:t>
            </a:r>
            <a:r>
              <a:rPr lang="ko-KR" altLang="en-US" dirty="0"/>
              <a:t>개의 가상 콘솔을 제공</a:t>
            </a:r>
            <a:r>
              <a:rPr lang="en-US" altLang="ko-KR" dirty="0"/>
              <a:t>.</a:t>
            </a:r>
          </a:p>
          <a:p>
            <a:pPr>
              <a:defRPr/>
            </a:pPr>
            <a:r>
              <a:rPr lang="ko-KR" altLang="en-US" dirty="0"/>
              <a:t>각각의 가상 콘솔로 이동하는 단축키는 </a:t>
            </a:r>
            <a:r>
              <a:rPr lang="en-US" altLang="ko-KR" dirty="0"/>
              <a:t>Ctrl+ Alt + F2 ~ F6 </a:t>
            </a:r>
            <a:r>
              <a:rPr lang="ko-KR" altLang="en-US" dirty="0"/>
              <a:t> </a:t>
            </a:r>
            <a:r>
              <a:rPr lang="en-US" altLang="ko-KR" dirty="0"/>
              <a:t>(Ctrl + Alt + F2</a:t>
            </a:r>
            <a:r>
              <a:rPr lang="ko-KR" altLang="en-US" dirty="0"/>
              <a:t>는 </a:t>
            </a:r>
            <a:r>
              <a:rPr lang="en-US" altLang="ko-KR" dirty="0"/>
              <a:t>X</a:t>
            </a:r>
            <a:r>
              <a:rPr lang="ko-KR" altLang="en-US" dirty="0"/>
              <a:t>윈도우 모드</a:t>
            </a:r>
            <a:r>
              <a:rPr lang="en-US" altLang="ko-KR" dirty="0"/>
              <a:t>)</a:t>
            </a:r>
          </a:p>
          <a:p>
            <a:pPr>
              <a:defRPr/>
            </a:pPr>
            <a:endParaRPr lang="en-US" altLang="ko-KR" dirty="0"/>
          </a:p>
        </p:txBody>
      </p:sp>
      <p:sp>
        <p:nvSpPr>
          <p:cNvPr id="4" name="내용 개체 틀 2"/>
          <p:cNvSpPr txBox="1">
            <a:spLocks/>
          </p:cNvSpPr>
          <p:nvPr/>
        </p:nvSpPr>
        <p:spPr bwMode="auto">
          <a:xfrm>
            <a:off x="357188" y="3929063"/>
            <a:ext cx="8229600" cy="2571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normAutofit/>
          </a:bodyPr>
          <a:lstStyle/>
          <a:p>
            <a:pPr marL="365125" indent="-255588">
              <a:spcBef>
                <a:spcPts val="300"/>
              </a:spcBef>
              <a:buClr>
                <a:srgbClr val="A04DA3"/>
              </a:buClr>
              <a:buFont typeface="Georgia" pitchFamily="18" charset="0"/>
              <a:buChar char="•"/>
              <a:defRPr/>
            </a:pPr>
            <a:r>
              <a:rPr kumimoji="0"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실습목표</a:t>
            </a:r>
            <a:endParaRPr kumimoji="0" lang="en-US" altLang="ko-KR" sz="24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657225" lvl="1" indent="-246063">
              <a:spcBef>
                <a:spcPts val="300"/>
              </a:spcBef>
              <a:buClr>
                <a:schemeClr val="accent2"/>
              </a:buClr>
              <a:buFont typeface="Georgia" pitchFamily="18" charset="0"/>
              <a:buChar char="▫"/>
              <a:defRPr/>
            </a:pPr>
            <a:r>
              <a:rPr kumimoji="0" lang="ko-KR" altLang="en-US" sz="2000" dirty="0">
                <a:solidFill>
                  <a:schemeClr val="accent2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멀티유저의 환경을 실습해 본다</a:t>
            </a:r>
            <a:r>
              <a:rPr kumimoji="0" lang="en-US" altLang="ko-KR" sz="2000" dirty="0">
                <a:solidFill>
                  <a:schemeClr val="accent2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  <a:p>
            <a:pPr marL="657225" lvl="1" indent="-246063">
              <a:spcBef>
                <a:spcPts val="300"/>
              </a:spcBef>
              <a:buClr>
                <a:schemeClr val="accent2"/>
              </a:buClr>
              <a:buFont typeface="Georgia" pitchFamily="18" charset="0"/>
              <a:buChar char="▫"/>
              <a:defRPr/>
            </a:pPr>
            <a:r>
              <a:rPr kumimoji="0" lang="ko-KR" altLang="en-US" sz="2000" dirty="0">
                <a:solidFill>
                  <a:schemeClr val="accent2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가상 콘솔 기능을 활용해 본다</a:t>
            </a:r>
            <a:r>
              <a:rPr kumimoji="0" lang="en-US" altLang="ko-KR" sz="2000" dirty="0">
                <a:solidFill>
                  <a:schemeClr val="accent2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  <a:p>
            <a:pPr marL="657225" lvl="1" indent="-246063">
              <a:spcBef>
                <a:spcPts val="300"/>
              </a:spcBef>
              <a:buClr>
                <a:schemeClr val="accent2"/>
              </a:buClr>
              <a:buFont typeface="Georgia" pitchFamily="18" charset="0"/>
              <a:buChar char="▫"/>
              <a:defRPr/>
            </a:pPr>
            <a:endParaRPr kumimoji="0" lang="en-US" altLang="ko-KR" sz="2400" dirty="0">
              <a:solidFill>
                <a:schemeClr val="accent2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365125" indent="-255588">
              <a:spcBef>
                <a:spcPts val="300"/>
              </a:spcBef>
              <a:buClr>
                <a:srgbClr val="A04DA3"/>
              </a:buClr>
              <a:buFont typeface="Georgia" pitchFamily="18" charset="0"/>
              <a:buChar char="•"/>
              <a:defRPr/>
            </a:pPr>
            <a:endParaRPr kumimoji="0" lang="ko-KR" altLang="en-US" sz="24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2" name="제목 1">
            <a:extLst>
              <a:ext uri="{FF2B5EF4-FFF2-40B4-BE49-F238E27FC236}">
                <a16:creationId xmlns:a16="http://schemas.microsoft.com/office/drawing/2014/main" id="{ADAC12C4-7A54-4F7C-9324-17F47ADDFD15}"/>
              </a:ext>
            </a:extLst>
          </p:cNvPr>
          <p:cNvSpPr txBox="1">
            <a:spLocks/>
          </p:cNvSpPr>
          <p:nvPr/>
        </p:nvSpPr>
        <p:spPr bwMode="auto">
          <a:xfrm>
            <a:off x="773341" y="3105532"/>
            <a:ext cx="8075240" cy="642937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50000"/>
                  <a:shade val="30000"/>
                  <a:satMod val="115000"/>
                </a:schemeClr>
              </a:gs>
              <a:gs pos="50000">
                <a:schemeClr val="bg2">
                  <a:lumMod val="50000"/>
                  <a:shade val="67500"/>
                  <a:satMod val="115000"/>
                </a:schemeClr>
              </a:gs>
              <a:gs pos="100000">
                <a:schemeClr val="bg2">
                  <a:lumMod val="50000"/>
                  <a:shade val="100000"/>
                  <a:satMod val="115000"/>
                </a:schemeClr>
              </a:gs>
            </a:gsLst>
            <a:lin ang="0" scaled="1"/>
            <a:tileRect/>
          </a:gradFill>
          <a:ln>
            <a:noFill/>
            <a:miter lim="800000"/>
            <a:headEnd/>
            <a:tailEnd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2"/>
                </a:solidFill>
                <a:latin typeface="HY견고딕" pitchFamily="18" charset="-127"/>
                <a:ea typeface="HY견고딕" pitchFamily="18" charset="-127"/>
                <a:cs typeface="+mj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9pPr>
          </a:lstStyle>
          <a:p>
            <a:pPr eaLnBrk="1" hangingPunct="1">
              <a:defRPr/>
            </a:pPr>
            <a:r>
              <a:rPr kumimoji="0" lang="en-US" altLang="ko-KR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&lt;</a:t>
            </a:r>
            <a:r>
              <a:rPr kumimoji="0" lang="ko-KR" altLang="en-US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실습</a:t>
            </a:r>
            <a:r>
              <a:rPr kumimoji="0" lang="en-US" altLang="ko-KR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1&gt; </a:t>
            </a:r>
            <a:r>
              <a:rPr kumimoji="0" lang="ko-KR" altLang="en-US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여러 명의 사용자가 동시 접속</a:t>
            </a:r>
          </a:p>
        </p:txBody>
      </p:sp>
      <p:pic>
        <p:nvPicPr>
          <p:cNvPr id="13" name="그림 12" descr="키보드, 컴퓨터이(가) 표시된 사진&#10;&#10;자동 생성된 설명">
            <a:extLst>
              <a:ext uri="{FF2B5EF4-FFF2-40B4-BE49-F238E27FC236}">
                <a16:creationId xmlns:a16="http://schemas.microsoft.com/office/drawing/2014/main" id="{F9627637-602D-4632-895A-16FAEE3C699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0" y="2934954"/>
            <a:ext cx="756709" cy="742276"/>
          </a:xfrm>
          <a:prstGeom prst="rect">
            <a:avLst/>
          </a:prstGeom>
        </p:spPr>
      </p:pic>
      <p:sp>
        <p:nvSpPr>
          <p:cNvPr id="2" name="말풍선: 타원형 1">
            <a:extLst>
              <a:ext uri="{FF2B5EF4-FFF2-40B4-BE49-F238E27FC236}">
                <a16:creationId xmlns:a16="http://schemas.microsoft.com/office/drawing/2014/main" id="{546A134C-C142-9C09-1D63-70835D40A87F}"/>
              </a:ext>
            </a:extLst>
          </p:cNvPr>
          <p:cNvSpPr/>
          <p:nvPr/>
        </p:nvSpPr>
        <p:spPr>
          <a:xfrm>
            <a:off x="2123728" y="642937"/>
            <a:ext cx="1049292" cy="410369"/>
          </a:xfrm>
          <a:prstGeom prst="wedgeEllipseCallout">
            <a:avLst>
              <a:gd name="adj1" fmla="val -49721"/>
              <a:gd name="adj2" fmla="val 61440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151</a:t>
            </a:r>
            <a:r>
              <a:rPr lang="ko-KR" altLang="en-US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  <p:sp>
        <p:nvSpPr>
          <p:cNvPr id="3" name="말풍선: 타원형 2">
            <a:extLst>
              <a:ext uri="{FF2B5EF4-FFF2-40B4-BE49-F238E27FC236}">
                <a16:creationId xmlns:a16="http://schemas.microsoft.com/office/drawing/2014/main" id="{739A9DA9-F1D8-23B2-8CF5-8B12A8A80985}"/>
              </a:ext>
            </a:extLst>
          </p:cNvPr>
          <p:cNvSpPr/>
          <p:nvPr/>
        </p:nvSpPr>
        <p:spPr>
          <a:xfrm>
            <a:off x="5940152" y="2987376"/>
            <a:ext cx="1049292" cy="410369"/>
          </a:xfrm>
          <a:prstGeom prst="wedgeEllipseCallout">
            <a:avLst>
              <a:gd name="adj1" fmla="val -49721"/>
              <a:gd name="adj2" fmla="val 61440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152</a:t>
            </a:r>
            <a:r>
              <a:rPr lang="ko-KR" altLang="en-US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  <p:sp>
        <p:nvSpPr>
          <p:cNvPr id="5" name="물결 4">
            <a:extLst>
              <a:ext uri="{FF2B5EF4-FFF2-40B4-BE49-F238E27FC236}">
                <a16:creationId xmlns:a16="http://schemas.microsoft.com/office/drawing/2014/main" id="{6B6EF0DE-F313-CF02-9FFD-2858AFEAA6FB}"/>
              </a:ext>
            </a:extLst>
          </p:cNvPr>
          <p:cNvSpPr/>
          <p:nvPr/>
        </p:nvSpPr>
        <p:spPr>
          <a:xfrm>
            <a:off x="922794" y="5446763"/>
            <a:ext cx="7298412" cy="648072"/>
          </a:xfrm>
          <a:prstGeom prst="wave">
            <a:avLst>
              <a:gd name="adj1" fmla="val 6856"/>
              <a:gd name="adj2" fmla="val -605"/>
            </a:avLst>
          </a:prstGeom>
          <a:solidFill>
            <a:srgbClr val="FF7C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ko-KR" altLang="en-US" sz="1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이번 실습은 </a:t>
            </a:r>
            <a:r>
              <a:rPr lang="en-US" altLang="ko-KR" sz="1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Windows </a:t>
            </a:r>
            <a:r>
              <a:rPr lang="ko-KR" altLang="en-US" sz="1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버전</a:t>
            </a:r>
            <a:r>
              <a:rPr lang="en-US" altLang="ko-KR" sz="1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/VMware </a:t>
            </a:r>
            <a:r>
              <a:rPr lang="ko-KR" altLang="en-US" sz="1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버전</a:t>
            </a:r>
            <a:r>
              <a:rPr lang="en-US" altLang="ko-KR" sz="1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/</a:t>
            </a:r>
            <a:r>
              <a:rPr lang="ko-KR" altLang="en-US" sz="1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키보드 종류에 따라서 잘 수행되지 않을 수 있음</a:t>
            </a:r>
            <a:r>
              <a:rPr lang="en-US" altLang="ko-KR" sz="1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ko-KR" altLang="en-US" sz="1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대신 </a:t>
            </a:r>
            <a:r>
              <a:rPr lang="en-US" altLang="ko-KR" sz="1400" dirty="0" err="1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chvt</a:t>
            </a:r>
            <a:r>
              <a:rPr lang="en-US" altLang="ko-KR" sz="1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1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가상콘솔번호 명령을 사용해도 됨</a:t>
            </a:r>
            <a:r>
              <a:rPr lang="en-US" altLang="ko-KR" sz="1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295469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제목 1"/>
          <p:cNvSpPr>
            <a:spLocks noGrp="1"/>
          </p:cNvSpPr>
          <p:nvPr>
            <p:ph type="title"/>
          </p:nvPr>
        </p:nvSpPr>
        <p:spPr>
          <a:xfrm>
            <a:off x="500063" y="714375"/>
            <a:ext cx="8229600" cy="642938"/>
          </a:xfrm>
        </p:spPr>
        <p:txBody>
          <a:bodyPr/>
          <a:lstStyle/>
          <a:p>
            <a:pPr eaLnBrk="1" hangingPunct="1"/>
            <a:r>
              <a:rPr lang="ko-KR" altLang="en-US" sz="2800" dirty="0"/>
              <a:t>리눅스 디렉터리 구조와 명령어</a:t>
            </a:r>
            <a:endParaRPr lang="ko-KR" altLang="en-US" sz="2800" dirty="0">
              <a:solidFill>
                <a:srgbClr val="00B050"/>
              </a:solidFill>
            </a:endParaRPr>
          </a:p>
        </p:txBody>
      </p:sp>
      <p:sp>
        <p:nvSpPr>
          <p:cNvPr id="8" name="내용 개체 틀 2"/>
          <p:cNvSpPr>
            <a:spLocks noGrp="1"/>
          </p:cNvSpPr>
          <p:nvPr>
            <p:ph idx="1"/>
          </p:nvPr>
        </p:nvSpPr>
        <p:spPr>
          <a:xfrm>
            <a:off x="457200" y="1357313"/>
            <a:ext cx="8229600" cy="5214937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altLang="ko-KR" dirty="0"/>
              <a:t>Windows/</a:t>
            </a:r>
            <a:r>
              <a:rPr lang="ko-KR" altLang="en-US" dirty="0"/>
              <a:t>리눅스의 디렉터리 구조 비교</a:t>
            </a:r>
            <a:endParaRPr lang="en-US" altLang="ko-KR" dirty="0"/>
          </a:p>
          <a:p>
            <a:pPr eaLnBrk="1" hangingPunct="1">
              <a:defRPr/>
            </a:pPr>
            <a:endParaRPr lang="en-US" altLang="ko-KR" dirty="0"/>
          </a:p>
          <a:p>
            <a:pPr eaLnBrk="1" hangingPunct="1">
              <a:defRPr/>
            </a:pPr>
            <a:endParaRPr lang="en-US" altLang="ko-KR" dirty="0"/>
          </a:p>
          <a:p>
            <a:pPr eaLnBrk="1" hangingPunct="1">
              <a:defRPr/>
            </a:pPr>
            <a:endParaRPr lang="en-US" altLang="ko-KR" dirty="0"/>
          </a:p>
          <a:p>
            <a:pPr eaLnBrk="1" hangingPunct="1">
              <a:defRPr/>
            </a:pPr>
            <a:endParaRPr lang="en-US" altLang="ko-KR" dirty="0"/>
          </a:p>
          <a:p>
            <a:pPr eaLnBrk="1" hangingPunct="1">
              <a:defRPr/>
            </a:pPr>
            <a:endParaRPr lang="en-US" altLang="ko-KR" dirty="0"/>
          </a:p>
          <a:p>
            <a:pPr eaLnBrk="1" hangingPunct="1">
              <a:defRPr/>
            </a:pPr>
            <a:endParaRPr lang="en-US" altLang="ko-KR" dirty="0"/>
          </a:p>
          <a:p>
            <a:pPr eaLnBrk="1" hangingPunct="1">
              <a:defRPr/>
            </a:pPr>
            <a:endParaRPr lang="en-US" altLang="ko-KR" dirty="0"/>
          </a:p>
          <a:p>
            <a:pPr eaLnBrk="1" hangingPunct="1">
              <a:defRPr/>
            </a:pPr>
            <a:endParaRPr lang="en-US" altLang="ko-KR" dirty="0"/>
          </a:p>
          <a:p>
            <a:pPr eaLnBrk="1" hangingPunct="1">
              <a:defRPr/>
            </a:pPr>
            <a:endParaRPr lang="en-US" altLang="ko-KR" dirty="0"/>
          </a:p>
          <a:p>
            <a:pPr eaLnBrk="1" hangingPunct="1">
              <a:defRPr/>
            </a:pPr>
            <a:endParaRPr lang="en-US" altLang="ko-KR" dirty="0"/>
          </a:p>
        </p:txBody>
      </p:sp>
      <p:sp>
        <p:nvSpPr>
          <p:cNvPr id="2" name="말풍선: 타원형 1">
            <a:extLst>
              <a:ext uri="{FF2B5EF4-FFF2-40B4-BE49-F238E27FC236}">
                <a16:creationId xmlns:a16="http://schemas.microsoft.com/office/drawing/2014/main" id="{C0AE5776-5B74-E00A-34DD-E83E5E5C318E}"/>
              </a:ext>
            </a:extLst>
          </p:cNvPr>
          <p:cNvSpPr/>
          <p:nvPr/>
        </p:nvSpPr>
        <p:spPr>
          <a:xfrm>
            <a:off x="5436096" y="600075"/>
            <a:ext cx="1872208" cy="410369"/>
          </a:xfrm>
          <a:prstGeom prst="wedgeEllipseCallout">
            <a:avLst>
              <a:gd name="adj1" fmla="val -49721"/>
              <a:gd name="adj2" fmla="val 61440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155~156</a:t>
            </a:r>
            <a:r>
              <a:rPr lang="ko-KR" altLang="en-US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  <p:pic>
        <p:nvPicPr>
          <p:cNvPr id="4" name="그림 3" descr="텍스트, 스크린샷, 소프트웨어, 번호이(가) 표시된 사진&#10;&#10;자동 생성된 설명">
            <a:extLst>
              <a:ext uri="{FF2B5EF4-FFF2-40B4-BE49-F238E27FC236}">
                <a16:creationId xmlns:a16="http://schemas.microsoft.com/office/drawing/2014/main" id="{36A7BFFD-EE9F-0D4B-A5E6-3C6B0E1749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337" y="2171234"/>
            <a:ext cx="4259878" cy="3216532"/>
          </a:xfrm>
          <a:prstGeom prst="rect">
            <a:avLst/>
          </a:prstGeom>
        </p:spPr>
      </p:pic>
      <p:pic>
        <p:nvPicPr>
          <p:cNvPr id="3" name="그림 2" descr="텍스트, 스크린샷, 소프트웨어이(가) 표시된 사진&#10;&#10;자동 생성된 설명">
            <a:extLst>
              <a:ext uri="{FF2B5EF4-FFF2-40B4-BE49-F238E27FC236}">
                <a16:creationId xmlns:a16="http://schemas.microsoft.com/office/drawing/2014/main" id="{51CD0677-4287-7CD7-BF86-F64D95B29F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4890" y="2171234"/>
            <a:ext cx="3925515" cy="333248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D49ABEC-35E1-8907-5B1B-3999B35DAF5B}"/>
              </a:ext>
            </a:extLst>
          </p:cNvPr>
          <p:cNvSpPr txBox="1"/>
          <p:nvPr/>
        </p:nvSpPr>
        <p:spPr>
          <a:xfrm>
            <a:off x="5548052" y="5888593"/>
            <a:ext cx="32542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altLang="ko-KR" sz="1800" b="1" i="0" dirty="0">
                <a:solidFill>
                  <a:srgbClr val="FF6600"/>
                </a:solidFill>
                <a:effectLst/>
                <a:latin typeface="+mj-lt"/>
              </a:rPr>
              <a:t>/boot/grub/i386-pc/afs.mod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78CAC70-0C8D-C088-5192-5D0B7E93E64E}"/>
              </a:ext>
            </a:extLst>
          </p:cNvPr>
          <p:cNvSpPr txBox="1"/>
          <p:nvPr/>
        </p:nvSpPr>
        <p:spPr>
          <a:xfrm>
            <a:off x="500063" y="5909361"/>
            <a:ext cx="43647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800" b="1" i="0" dirty="0">
                <a:solidFill>
                  <a:srgbClr val="FF6600"/>
                </a:solidFill>
                <a:effectLst/>
                <a:latin typeface="+mj-lt"/>
              </a:rPr>
              <a:t>C:\Windows\Boot\Fonts\kor_boot.ttf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890553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제목 1"/>
          <p:cNvSpPr>
            <a:spLocks noGrp="1"/>
          </p:cNvSpPr>
          <p:nvPr>
            <p:ph type="title"/>
          </p:nvPr>
        </p:nvSpPr>
        <p:spPr>
          <a:xfrm>
            <a:off x="500063" y="714375"/>
            <a:ext cx="8229600" cy="642938"/>
          </a:xfrm>
        </p:spPr>
        <p:txBody>
          <a:bodyPr/>
          <a:lstStyle/>
          <a:p>
            <a:pPr eaLnBrk="1" hangingPunct="1"/>
            <a:r>
              <a:rPr lang="ko-KR" altLang="en-US" sz="2800" dirty="0"/>
              <a:t>리눅스 기본 명령어 </a:t>
            </a:r>
            <a:r>
              <a:rPr lang="en-US" altLang="ko-KR" sz="2800" dirty="0"/>
              <a:t>(1)</a:t>
            </a:r>
            <a:endParaRPr lang="ko-KR" altLang="en-US" sz="2800" dirty="0">
              <a:solidFill>
                <a:srgbClr val="00B050"/>
              </a:solidFill>
            </a:endParaRPr>
          </a:p>
        </p:txBody>
      </p:sp>
      <p:sp>
        <p:nvSpPr>
          <p:cNvPr id="8" name="내용 개체 틀 2"/>
          <p:cNvSpPr>
            <a:spLocks noGrp="1"/>
          </p:cNvSpPr>
          <p:nvPr>
            <p:ph idx="1"/>
          </p:nvPr>
        </p:nvSpPr>
        <p:spPr>
          <a:xfrm>
            <a:off x="457200" y="1357313"/>
            <a:ext cx="8229600" cy="5214937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altLang="ko-KR" dirty="0" err="1"/>
              <a:t>ls</a:t>
            </a:r>
            <a:endParaRPr lang="en-US" altLang="ko-KR" dirty="0"/>
          </a:p>
          <a:p>
            <a:pPr lvl="1" eaLnBrk="1" hangingPunct="1">
              <a:buFont typeface="Georgia" panose="02040502050405020303" pitchFamily="18" charset="0"/>
              <a:buNone/>
              <a:defRPr/>
            </a:pPr>
            <a:r>
              <a:rPr lang="en-US" altLang="ko-KR" sz="1800" dirty="0"/>
              <a:t>Windows</a:t>
            </a:r>
            <a:r>
              <a:rPr lang="ko-KR" altLang="en-US" sz="1800" dirty="0"/>
              <a:t>의 </a:t>
            </a:r>
            <a:r>
              <a:rPr lang="en-US" altLang="ko-KR" sz="1800" dirty="0" err="1"/>
              <a:t>dir</a:t>
            </a:r>
            <a:r>
              <a:rPr lang="ko-KR" altLang="en-US" sz="1800" dirty="0"/>
              <a:t>과 같은 역할로</a:t>
            </a:r>
            <a:r>
              <a:rPr lang="en-US" altLang="ko-KR" sz="1800" dirty="0"/>
              <a:t>,</a:t>
            </a:r>
            <a:r>
              <a:rPr lang="ko-KR" altLang="en-US" sz="1800" dirty="0"/>
              <a:t>해당 디렉터리에 있는 파일의 목록을 나열</a:t>
            </a:r>
            <a:endParaRPr lang="en-US" altLang="ko-KR" sz="1800" dirty="0"/>
          </a:p>
          <a:p>
            <a:pPr lvl="1" eaLnBrk="1" hangingPunct="1">
              <a:buFont typeface="Georgia" panose="02040502050405020303" pitchFamily="18" charset="0"/>
              <a:buNone/>
              <a:defRPr/>
            </a:pPr>
            <a:r>
              <a:rPr lang="ko-KR" altLang="en-US" sz="2000" dirty="0"/>
              <a:t>예</a:t>
            </a:r>
            <a:r>
              <a:rPr lang="en-US" altLang="ko-KR" sz="2000" dirty="0"/>
              <a:t>) # ls /etc/systemd</a:t>
            </a:r>
          </a:p>
          <a:p>
            <a:pPr lvl="1" eaLnBrk="1" hangingPunct="1">
              <a:defRPr/>
            </a:pPr>
            <a:endParaRPr lang="en-US" altLang="ko-KR" sz="2000" dirty="0"/>
          </a:p>
          <a:p>
            <a:pPr eaLnBrk="1" hangingPunct="1">
              <a:defRPr/>
            </a:pPr>
            <a:r>
              <a:rPr lang="en-US" altLang="ko-KR" dirty="0" err="1"/>
              <a:t>cd</a:t>
            </a:r>
            <a:endParaRPr lang="en-US" altLang="ko-KR" dirty="0"/>
          </a:p>
          <a:p>
            <a:pPr lvl="1" eaLnBrk="1" hangingPunct="1">
              <a:buFont typeface="Georgia" panose="02040502050405020303" pitchFamily="18" charset="0"/>
              <a:buNone/>
              <a:defRPr/>
            </a:pPr>
            <a:r>
              <a:rPr lang="ko-KR" altLang="en-US" sz="1800" dirty="0"/>
              <a:t>디렉터리를 이동</a:t>
            </a:r>
            <a:endParaRPr lang="en-US" altLang="ko-KR" sz="1800" dirty="0"/>
          </a:p>
          <a:p>
            <a:pPr lvl="1" eaLnBrk="1" hangingPunct="1">
              <a:buNone/>
              <a:defRPr/>
            </a:pPr>
            <a:r>
              <a:rPr lang="ko-KR" altLang="en-US" sz="1800" dirty="0"/>
              <a:t>예</a:t>
            </a:r>
            <a:r>
              <a:rPr lang="en-US" altLang="ko-KR" sz="1800" dirty="0"/>
              <a:t>)  # cd ../etc/systemd</a:t>
            </a:r>
          </a:p>
          <a:p>
            <a:pPr lvl="1" eaLnBrk="1" hangingPunct="1">
              <a:buNone/>
              <a:defRPr/>
            </a:pPr>
            <a:endParaRPr lang="en-US" altLang="ko-KR" sz="1800" dirty="0"/>
          </a:p>
          <a:p>
            <a:pPr eaLnBrk="1" hangingPunct="1">
              <a:defRPr/>
            </a:pPr>
            <a:r>
              <a:rPr lang="en-US" altLang="ko-KR" dirty="0" err="1"/>
              <a:t>pwd</a:t>
            </a:r>
            <a:endParaRPr lang="en-US" altLang="ko-KR" dirty="0"/>
          </a:p>
          <a:p>
            <a:pPr lvl="1" eaLnBrk="1" hangingPunct="1">
              <a:buFont typeface="Georgia" panose="02040502050405020303" pitchFamily="18" charset="0"/>
              <a:buNone/>
              <a:defRPr/>
            </a:pPr>
            <a:r>
              <a:rPr lang="ko-KR" altLang="en-US" sz="1800" dirty="0"/>
              <a:t>현재 디렉터리의 전체 경로를 출력</a:t>
            </a:r>
            <a:endParaRPr lang="en-US" altLang="ko-KR" sz="1800" dirty="0"/>
          </a:p>
          <a:p>
            <a:pPr lvl="1" eaLnBrk="1" hangingPunct="1">
              <a:buFont typeface="Georgia" panose="02040502050405020303" pitchFamily="18" charset="0"/>
              <a:buNone/>
              <a:defRPr/>
            </a:pPr>
            <a:endParaRPr lang="en-US" altLang="ko-KR" sz="1800" dirty="0"/>
          </a:p>
          <a:p>
            <a:pPr eaLnBrk="1" hangingPunct="1">
              <a:defRPr/>
            </a:pPr>
            <a:r>
              <a:rPr lang="en-US" altLang="ko-KR" dirty="0"/>
              <a:t>touch</a:t>
            </a:r>
          </a:p>
          <a:p>
            <a:pPr lvl="1" eaLnBrk="1" hangingPunct="1">
              <a:buFont typeface="Georgia" panose="02040502050405020303" pitchFamily="18" charset="0"/>
              <a:buNone/>
              <a:defRPr/>
            </a:pPr>
            <a:r>
              <a:rPr lang="ko-KR" altLang="en-US" sz="1800" dirty="0"/>
              <a:t>크기가 </a:t>
            </a:r>
            <a:r>
              <a:rPr lang="en-US" altLang="ko-KR" sz="1800" dirty="0"/>
              <a:t>0</a:t>
            </a:r>
            <a:r>
              <a:rPr lang="ko-KR" altLang="en-US" sz="1800" dirty="0"/>
              <a:t>인 새 파일을 생성</a:t>
            </a:r>
            <a:r>
              <a:rPr lang="en-US" altLang="ko-KR" sz="1800" dirty="0"/>
              <a:t>,</a:t>
            </a:r>
            <a:r>
              <a:rPr lang="ko-KR" altLang="en-US" sz="1800" dirty="0"/>
              <a:t> 이미 존재하는 경우 수정 시간을 변경</a:t>
            </a:r>
            <a:endParaRPr lang="en-US" altLang="ko-KR" sz="1800" dirty="0"/>
          </a:p>
          <a:p>
            <a:pPr lvl="1" eaLnBrk="1" hangingPunct="1">
              <a:buFont typeface="Georgia" panose="02040502050405020303" pitchFamily="18" charset="0"/>
              <a:buNone/>
              <a:defRPr/>
            </a:pPr>
            <a:r>
              <a:rPr lang="ko-KR" altLang="en-US" sz="1800" dirty="0"/>
              <a:t>예</a:t>
            </a:r>
            <a:r>
              <a:rPr lang="en-US" altLang="ko-KR" sz="1800" dirty="0"/>
              <a:t>)  # touch abc.txt</a:t>
            </a:r>
          </a:p>
          <a:p>
            <a:pPr lvl="1" eaLnBrk="1" hangingPunct="1">
              <a:buFont typeface="Georgia" panose="02040502050405020303" pitchFamily="18" charset="0"/>
              <a:buNone/>
              <a:defRPr/>
            </a:pPr>
            <a:endParaRPr lang="ko-KR" altLang="en-US" sz="1800" dirty="0"/>
          </a:p>
        </p:txBody>
      </p:sp>
      <p:sp>
        <p:nvSpPr>
          <p:cNvPr id="2" name="말풍선: 타원형 1">
            <a:extLst>
              <a:ext uri="{FF2B5EF4-FFF2-40B4-BE49-F238E27FC236}">
                <a16:creationId xmlns:a16="http://schemas.microsoft.com/office/drawing/2014/main" id="{DC9ED106-6A86-3CF2-E17E-C5D9A89679FF}"/>
              </a:ext>
            </a:extLst>
          </p:cNvPr>
          <p:cNvSpPr/>
          <p:nvPr/>
        </p:nvSpPr>
        <p:spPr>
          <a:xfrm>
            <a:off x="4211960" y="600075"/>
            <a:ext cx="1049292" cy="410369"/>
          </a:xfrm>
          <a:prstGeom prst="wedgeEllipseCallout">
            <a:avLst>
              <a:gd name="adj1" fmla="val -49721"/>
              <a:gd name="adj2" fmla="val 61440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157</a:t>
            </a:r>
            <a:r>
              <a:rPr lang="ko-KR" altLang="en-US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  <p:sp>
        <p:nvSpPr>
          <p:cNvPr id="3" name="물결 2">
            <a:extLst>
              <a:ext uri="{FF2B5EF4-FFF2-40B4-BE49-F238E27FC236}">
                <a16:creationId xmlns:a16="http://schemas.microsoft.com/office/drawing/2014/main" id="{4BC48EA1-910A-4955-DD0F-9FE20FD90CBB}"/>
              </a:ext>
            </a:extLst>
          </p:cNvPr>
          <p:cNvSpPr/>
          <p:nvPr/>
        </p:nvSpPr>
        <p:spPr>
          <a:xfrm>
            <a:off x="4621699" y="2916561"/>
            <a:ext cx="2299084" cy="852066"/>
          </a:xfrm>
          <a:prstGeom prst="wave">
            <a:avLst>
              <a:gd name="adj1" fmla="val 6856"/>
              <a:gd name="adj2" fmla="val -605"/>
            </a:avLst>
          </a:prstGeom>
          <a:solidFill>
            <a:srgbClr val="FF7C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r>
              <a:rPr lang="en-US" altLang="ko-KR" sz="1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 (</a:t>
            </a:r>
            <a:r>
              <a:rPr lang="ko-KR" altLang="en-US" sz="1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현재 디렉터리</a:t>
            </a:r>
            <a:r>
              <a:rPr lang="en-US" altLang="ko-KR" sz="1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</a:p>
          <a:p>
            <a:pPr>
              <a:defRPr/>
            </a:pPr>
            <a:r>
              <a:rPr lang="en-US" altLang="ko-KR" sz="1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.. (</a:t>
            </a:r>
            <a:r>
              <a:rPr lang="ko-KR" altLang="en-US" sz="1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현재의 상위 디렉터리</a:t>
            </a:r>
            <a:r>
              <a:rPr lang="en-US" altLang="ko-KR" sz="1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</a:p>
        </p:txBody>
      </p:sp>
      <p:sp>
        <p:nvSpPr>
          <p:cNvPr id="4" name="물결 3">
            <a:extLst>
              <a:ext uri="{FF2B5EF4-FFF2-40B4-BE49-F238E27FC236}">
                <a16:creationId xmlns:a16="http://schemas.microsoft.com/office/drawing/2014/main" id="{68427B5A-DCBE-F6A6-DBD1-85308BC51D98}"/>
              </a:ext>
            </a:extLst>
          </p:cNvPr>
          <p:cNvSpPr/>
          <p:nvPr/>
        </p:nvSpPr>
        <p:spPr>
          <a:xfrm>
            <a:off x="4621699" y="4123879"/>
            <a:ext cx="4255250" cy="1241053"/>
          </a:xfrm>
          <a:prstGeom prst="wave">
            <a:avLst>
              <a:gd name="adj1" fmla="val 6856"/>
              <a:gd name="adj2" fmla="val -605"/>
            </a:avLst>
          </a:prstGeom>
          <a:solidFill>
            <a:srgbClr val="FF7C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r>
              <a:rPr lang="ko-KR" altLang="en-US" sz="1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리눅스는 별도의 숨김 파일</a:t>
            </a:r>
            <a:r>
              <a:rPr lang="en-US" altLang="ko-KR" sz="1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(Hidden File)</a:t>
            </a:r>
            <a:r>
              <a:rPr lang="ko-KR" altLang="en-US" sz="1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이라는 속성이 존재하지 않는다</a:t>
            </a:r>
            <a:r>
              <a:rPr lang="en-US" altLang="ko-KR" sz="1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 </a:t>
            </a:r>
            <a:r>
              <a:rPr lang="ko-KR" altLang="en-US" sz="1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파일명이나 디렉터리의 제일 앞 글자를 </a:t>
            </a:r>
            <a:r>
              <a:rPr lang="en-US" altLang="ko-KR" sz="1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 </a:t>
            </a:r>
            <a:r>
              <a:rPr lang="ko-KR" altLang="en-US" sz="1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으로 하면 자동으로 숨김 파일이 된다</a:t>
            </a:r>
            <a:r>
              <a:rPr lang="en-US" altLang="ko-KR" sz="1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020975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제목 1"/>
          <p:cNvSpPr>
            <a:spLocks noGrp="1"/>
          </p:cNvSpPr>
          <p:nvPr>
            <p:ph type="title"/>
          </p:nvPr>
        </p:nvSpPr>
        <p:spPr>
          <a:xfrm>
            <a:off x="500063" y="714375"/>
            <a:ext cx="8229600" cy="642938"/>
          </a:xfrm>
        </p:spPr>
        <p:txBody>
          <a:bodyPr/>
          <a:lstStyle/>
          <a:p>
            <a:pPr eaLnBrk="1" hangingPunct="1"/>
            <a:r>
              <a:rPr lang="ko-KR" altLang="en-US" sz="2800" dirty="0"/>
              <a:t>리눅스 기본 명령어 </a:t>
            </a:r>
            <a:r>
              <a:rPr lang="en-US" altLang="ko-KR" sz="2800" dirty="0"/>
              <a:t>(2)</a:t>
            </a:r>
            <a:endParaRPr lang="ko-KR" altLang="en-US" sz="2800" dirty="0">
              <a:solidFill>
                <a:srgbClr val="00B050"/>
              </a:solidFill>
            </a:endParaRPr>
          </a:p>
        </p:txBody>
      </p:sp>
      <p:sp>
        <p:nvSpPr>
          <p:cNvPr id="8" name="내용 개체 틀 2"/>
          <p:cNvSpPr>
            <a:spLocks noGrp="1"/>
          </p:cNvSpPr>
          <p:nvPr>
            <p:ph idx="1"/>
          </p:nvPr>
        </p:nvSpPr>
        <p:spPr>
          <a:xfrm>
            <a:off x="457200" y="1357313"/>
            <a:ext cx="8229600" cy="5214937"/>
          </a:xfrm>
        </p:spPr>
        <p:txBody>
          <a:bodyPr>
            <a:normAutofit lnSpcReduction="10000"/>
          </a:bodyPr>
          <a:lstStyle/>
          <a:p>
            <a:pPr eaLnBrk="1" hangingPunct="1">
              <a:defRPr/>
            </a:pPr>
            <a:r>
              <a:rPr lang="en-US" altLang="ko-KR" dirty="0"/>
              <a:t>rm</a:t>
            </a:r>
            <a:endParaRPr lang="en-US" altLang="ko-KR" sz="1800" dirty="0"/>
          </a:p>
          <a:p>
            <a:pPr lvl="1" eaLnBrk="1" hangingPunct="1">
              <a:buFont typeface="Georgia" panose="02040502050405020303" pitchFamily="18" charset="0"/>
              <a:buNone/>
              <a:defRPr/>
            </a:pPr>
            <a:r>
              <a:rPr lang="ko-KR" altLang="en-US" sz="1800" dirty="0"/>
              <a:t>파일이나 디렉터리를 삭제</a:t>
            </a:r>
            <a:endParaRPr lang="en-US" altLang="ko-KR" sz="1800" dirty="0"/>
          </a:p>
          <a:p>
            <a:pPr lvl="1" eaLnBrk="1" hangingPunct="1">
              <a:buFont typeface="Georgia" panose="02040502050405020303" pitchFamily="18" charset="0"/>
              <a:buNone/>
              <a:defRPr/>
            </a:pPr>
            <a:r>
              <a:rPr lang="ko-KR" altLang="en-US" sz="1800" dirty="0"/>
              <a:t>예</a:t>
            </a:r>
            <a:r>
              <a:rPr lang="en-US" altLang="ko-KR" sz="1800" dirty="0"/>
              <a:t>)  # rm -rf </a:t>
            </a:r>
            <a:r>
              <a:rPr lang="en-US" altLang="ko-KR" sz="1800" dirty="0" err="1"/>
              <a:t>abc</a:t>
            </a:r>
            <a:endParaRPr lang="en-US" altLang="ko-KR" sz="1800" dirty="0"/>
          </a:p>
          <a:p>
            <a:pPr lvl="1" eaLnBrk="1" hangingPunct="1">
              <a:buFont typeface="Georgia" panose="02040502050405020303" pitchFamily="18" charset="0"/>
              <a:buNone/>
              <a:defRPr/>
            </a:pPr>
            <a:endParaRPr lang="en-US" altLang="ko-KR" dirty="0"/>
          </a:p>
          <a:p>
            <a:pPr eaLnBrk="1" hangingPunct="1">
              <a:defRPr/>
            </a:pPr>
            <a:r>
              <a:rPr lang="en-US" altLang="ko-KR" dirty="0"/>
              <a:t>cp</a:t>
            </a:r>
          </a:p>
          <a:p>
            <a:pPr lvl="1" eaLnBrk="1" hangingPunct="1">
              <a:buFont typeface="Georgia" panose="02040502050405020303" pitchFamily="18" charset="0"/>
              <a:buNone/>
              <a:defRPr/>
            </a:pPr>
            <a:r>
              <a:rPr lang="ko-KR" altLang="en-US" sz="1800" dirty="0"/>
              <a:t>파일이나 디렉터리를 복사</a:t>
            </a:r>
            <a:endParaRPr lang="en-US" altLang="ko-KR" sz="1800" dirty="0"/>
          </a:p>
          <a:p>
            <a:pPr lvl="1" eaLnBrk="1" hangingPunct="1">
              <a:buFont typeface="Georgia" panose="02040502050405020303" pitchFamily="18" charset="0"/>
              <a:buNone/>
              <a:defRPr/>
            </a:pPr>
            <a:r>
              <a:rPr lang="ko-KR" altLang="en-US" sz="2000" dirty="0"/>
              <a:t>예</a:t>
            </a:r>
            <a:r>
              <a:rPr lang="en-US" altLang="ko-KR" sz="2000" dirty="0"/>
              <a:t>) # cp abc.txt cba.txt</a:t>
            </a:r>
          </a:p>
          <a:p>
            <a:pPr lvl="1" eaLnBrk="1" hangingPunct="1">
              <a:defRPr/>
            </a:pPr>
            <a:endParaRPr lang="en-US" altLang="ko-KR" sz="1800" dirty="0"/>
          </a:p>
          <a:p>
            <a:pPr eaLnBrk="1" hangingPunct="1">
              <a:defRPr/>
            </a:pPr>
            <a:r>
              <a:rPr lang="en-US" altLang="ko-KR" dirty="0" err="1"/>
              <a:t>mv</a:t>
            </a:r>
            <a:endParaRPr lang="en-US" altLang="ko-KR" dirty="0"/>
          </a:p>
          <a:p>
            <a:pPr lvl="1" eaLnBrk="1" hangingPunct="1">
              <a:buFont typeface="Georgia" panose="02040502050405020303" pitchFamily="18" charset="0"/>
              <a:buNone/>
              <a:defRPr/>
            </a:pPr>
            <a:r>
              <a:rPr lang="ko-KR" altLang="en-US" sz="1800" dirty="0"/>
              <a:t>파일과 디렉터리의 이름을 변경하거나 위치 이동 시 사용</a:t>
            </a:r>
            <a:endParaRPr lang="en-US" altLang="ko-KR" sz="1800" dirty="0"/>
          </a:p>
          <a:p>
            <a:pPr lvl="1" eaLnBrk="1" hangingPunct="1">
              <a:buFont typeface="Georgia" panose="02040502050405020303" pitchFamily="18" charset="0"/>
              <a:buNone/>
              <a:defRPr/>
            </a:pPr>
            <a:r>
              <a:rPr lang="ko-KR" altLang="en-US" sz="1800" dirty="0"/>
              <a:t>예</a:t>
            </a:r>
            <a:r>
              <a:rPr lang="en-US" altLang="ko-KR" sz="1800" dirty="0"/>
              <a:t>) </a:t>
            </a:r>
            <a:r>
              <a:rPr lang="en-US" altLang="ko-KR" sz="1800" dirty="0" err="1"/>
              <a:t>mv</a:t>
            </a:r>
            <a:r>
              <a:rPr lang="en-US" altLang="ko-KR" sz="1800" dirty="0"/>
              <a:t>  abc.txt  www.txt</a:t>
            </a:r>
          </a:p>
          <a:p>
            <a:pPr lvl="1" eaLnBrk="1" hangingPunct="1">
              <a:buFont typeface="Georgia" panose="02040502050405020303" pitchFamily="18" charset="0"/>
              <a:buNone/>
              <a:defRPr/>
            </a:pPr>
            <a:endParaRPr lang="en-US" altLang="ko-KR" sz="1800" dirty="0"/>
          </a:p>
          <a:p>
            <a:pPr eaLnBrk="1" hangingPunct="1">
              <a:defRPr/>
            </a:pPr>
            <a:r>
              <a:rPr lang="en-US" altLang="ko-KR" dirty="0" err="1"/>
              <a:t>mkdir</a:t>
            </a:r>
            <a:endParaRPr lang="en-US" altLang="ko-KR" sz="1800" dirty="0"/>
          </a:p>
          <a:p>
            <a:pPr lvl="1" eaLnBrk="1" hangingPunct="1">
              <a:buFont typeface="Georgia" panose="02040502050405020303" pitchFamily="18" charset="0"/>
              <a:buNone/>
              <a:defRPr/>
            </a:pPr>
            <a:r>
              <a:rPr lang="ko-KR" altLang="en-US" sz="1800" dirty="0"/>
              <a:t>새로운 디렉터리를 생성</a:t>
            </a:r>
            <a:endParaRPr lang="en-US" altLang="ko-KR" sz="1800" dirty="0"/>
          </a:p>
          <a:p>
            <a:pPr lvl="1" eaLnBrk="1" hangingPunct="1">
              <a:buFont typeface="Georgia" panose="02040502050405020303" pitchFamily="18" charset="0"/>
              <a:buNone/>
              <a:defRPr/>
            </a:pPr>
            <a:r>
              <a:rPr lang="ko-KR" altLang="en-US" sz="1800" dirty="0"/>
              <a:t>예</a:t>
            </a:r>
            <a:r>
              <a:rPr lang="en-US" altLang="ko-KR" sz="1800" dirty="0"/>
              <a:t>)  # </a:t>
            </a:r>
            <a:r>
              <a:rPr lang="en-US" altLang="ko-KR" sz="1800" dirty="0" err="1"/>
              <a:t>mkdir</a:t>
            </a:r>
            <a:r>
              <a:rPr lang="en-US" altLang="ko-KR" sz="1800" dirty="0"/>
              <a:t> </a:t>
            </a:r>
            <a:r>
              <a:rPr lang="en-US" altLang="ko-KR" sz="1800" dirty="0" err="1"/>
              <a:t>abc</a:t>
            </a:r>
            <a:endParaRPr lang="ko-KR" altLang="en-US" sz="1800" dirty="0"/>
          </a:p>
        </p:txBody>
      </p:sp>
      <p:sp>
        <p:nvSpPr>
          <p:cNvPr id="2" name="말풍선: 타원형 1">
            <a:extLst>
              <a:ext uri="{FF2B5EF4-FFF2-40B4-BE49-F238E27FC236}">
                <a16:creationId xmlns:a16="http://schemas.microsoft.com/office/drawing/2014/main" id="{49524291-F663-463B-5A6F-919177B568A1}"/>
              </a:ext>
            </a:extLst>
          </p:cNvPr>
          <p:cNvSpPr/>
          <p:nvPr/>
        </p:nvSpPr>
        <p:spPr>
          <a:xfrm>
            <a:off x="4211960" y="600075"/>
            <a:ext cx="1049292" cy="410369"/>
          </a:xfrm>
          <a:prstGeom prst="wedgeEllipseCallout">
            <a:avLst>
              <a:gd name="adj1" fmla="val -49721"/>
              <a:gd name="adj2" fmla="val 61440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159</a:t>
            </a:r>
            <a:r>
              <a:rPr lang="ko-KR" altLang="en-US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</p:spTree>
    <p:extLst>
      <p:ext uri="{BB962C8B-B14F-4D97-AF65-F5344CB8AC3E}">
        <p14:creationId xmlns:p14="http://schemas.microsoft.com/office/powerpoint/2010/main" val="40838273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제목 1"/>
          <p:cNvSpPr>
            <a:spLocks noGrp="1"/>
          </p:cNvSpPr>
          <p:nvPr>
            <p:ph type="title"/>
          </p:nvPr>
        </p:nvSpPr>
        <p:spPr>
          <a:xfrm>
            <a:off x="500063" y="714375"/>
            <a:ext cx="8229600" cy="642938"/>
          </a:xfrm>
        </p:spPr>
        <p:txBody>
          <a:bodyPr/>
          <a:lstStyle/>
          <a:p>
            <a:pPr eaLnBrk="1" hangingPunct="1"/>
            <a:r>
              <a:rPr lang="ko-KR" altLang="en-US" sz="2800" dirty="0"/>
              <a:t>리눅스 기본 명령어 </a:t>
            </a:r>
            <a:r>
              <a:rPr lang="en-US" altLang="ko-KR" sz="2800" dirty="0"/>
              <a:t>(3)</a:t>
            </a:r>
            <a:endParaRPr lang="ko-KR" altLang="en-US" sz="2800" dirty="0">
              <a:solidFill>
                <a:srgbClr val="00B050"/>
              </a:solidFill>
            </a:endParaRPr>
          </a:p>
        </p:txBody>
      </p:sp>
      <p:sp>
        <p:nvSpPr>
          <p:cNvPr id="8" name="내용 개체 틀 2"/>
          <p:cNvSpPr>
            <a:spLocks noGrp="1"/>
          </p:cNvSpPr>
          <p:nvPr>
            <p:ph idx="1"/>
          </p:nvPr>
        </p:nvSpPr>
        <p:spPr>
          <a:xfrm>
            <a:off x="457200" y="1357313"/>
            <a:ext cx="8229600" cy="5214937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ko-KR" dirty="0" err="1"/>
              <a:t>rmdir</a:t>
            </a:r>
            <a:endParaRPr lang="en-US" altLang="ko-KR" dirty="0"/>
          </a:p>
          <a:p>
            <a:pPr lvl="1" eaLnBrk="1" hangingPunct="1">
              <a:buFont typeface="Georgia" panose="02040502050405020303" pitchFamily="18" charset="0"/>
              <a:buNone/>
              <a:defRPr/>
            </a:pPr>
            <a:r>
              <a:rPr lang="ko-KR" altLang="en-US" sz="1800" dirty="0"/>
              <a:t>디렉터리를 삭제</a:t>
            </a:r>
            <a:r>
              <a:rPr lang="en-US" altLang="ko-KR" sz="1800" dirty="0"/>
              <a:t>. (</a:t>
            </a:r>
            <a:r>
              <a:rPr lang="ko-KR" altLang="en-US" sz="1800" dirty="0"/>
              <a:t>단</a:t>
            </a:r>
            <a:r>
              <a:rPr lang="en-US" altLang="ko-KR" sz="1800" dirty="0"/>
              <a:t>, </a:t>
            </a:r>
            <a:r>
              <a:rPr lang="ko-KR" altLang="en-US" sz="1800" dirty="0"/>
              <a:t>비어 있어야 함</a:t>
            </a:r>
            <a:r>
              <a:rPr lang="en-US" altLang="ko-KR" sz="1800" dirty="0"/>
              <a:t>)</a:t>
            </a:r>
          </a:p>
          <a:p>
            <a:pPr lvl="1" eaLnBrk="1" hangingPunct="1">
              <a:buFont typeface="Georgia" panose="02040502050405020303" pitchFamily="18" charset="0"/>
              <a:buNone/>
              <a:defRPr/>
            </a:pPr>
            <a:r>
              <a:rPr lang="ko-KR" altLang="en-US" sz="2000" dirty="0"/>
              <a:t>예</a:t>
            </a:r>
            <a:r>
              <a:rPr lang="en-US" altLang="ko-KR" sz="2000" dirty="0"/>
              <a:t>) # </a:t>
            </a:r>
            <a:r>
              <a:rPr lang="en-US" altLang="ko-KR" sz="2000" dirty="0" err="1"/>
              <a:t>rmdir</a:t>
            </a:r>
            <a:r>
              <a:rPr lang="en-US" altLang="ko-KR" sz="2000" dirty="0"/>
              <a:t> </a:t>
            </a:r>
            <a:r>
              <a:rPr lang="en-US" altLang="ko-KR" sz="2000" dirty="0" err="1"/>
              <a:t>abc</a:t>
            </a:r>
            <a:endParaRPr lang="en-US" altLang="ko-KR" sz="2000" dirty="0"/>
          </a:p>
          <a:p>
            <a:pPr lvl="1" eaLnBrk="1" hangingPunct="1">
              <a:defRPr/>
            </a:pPr>
            <a:endParaRPr lang="en-US" altLang="ko-KR" sz="2000" dirty="0"/>
          </a:p>
          <a:p>
            <a:pPr eaLnBrk="1" hangingPunct="1">
              <a:defRPr/>
            </a:pPr>
            <a:r>
              <a:rPr lang="en-US" altLang="ko-KR" dirty="0"/>
              <a:t>cat</a:t>
            </a:r>
          </a:p>
          <a:p>
            <a:pPr lvl="1" eaLnBrk="1" hangingPunct="1">
              <a:buFont typeface="Georgia" panose="02040502050405020303" pitchFamily="18" charset="0"/>
              <a:buNone/>
              <a:defRPr/>
            </a:pPr>
            <a:r>
              <a:rPr lang="ko-KR" altLang="en-US" sz="1800" dirty="0"/>
              <a:t>텍스트로 작성된 파일을 화면에 출력</a:t>
            </a:r>
            <a:endParaRPr lang="en-US" altLang="ko-KR" sz="1800" dirty="0"/>
          </a:p>
          <a:p>
            <a:pPr lvl="1" eaLnBrk="1" hangingPunct="1">
              <a:buFont typeface="Georgia" panose="02040502050405020303" pitchFamily="18" charset="0"/>
              <a:buNone/>
              <a:defRPr/>
            </a:pPr>
            <a:r>
              <a:rPr lang="ko-KR" altLang="en-US" sz="1800" dirty="0"/>
              <a:t>예</a:t>
            </a:r>
            <a:r>
              <a:rPr lang="en-US" altLang="ko-KR" sz="1800" dirty="0"/>
              <a:t>)  # cat a.txt b.txt</a:t>
            </a:r>
          </a:p>
          <a:p>
            <a:pPr lvl="1" eaLnBrk="1" hangingPunct="1">
              <a:defRPr/>
            </a:pPr>
            <a:endParaRPr lang="en-US" altLang="ko-KR" sz="1800" dirty="0"/>
          </a:p>
          <a:p>
            <a:pPr>
              <a:defRPr/>
            </a:pPr>
            <a:r>
              <a:rPr lang="en-US" altLang="ko-KR" dirty="0"/>
              <a:t>head, tail</a:t>
            </a:r>
          </a:p>
          <a:p>
            <a:pPr lvl="1" eaLnBrk="1" hangingPunct="1">
              <a:buFont typeface="Georgia" panose="02040502050405020303" pitchFamily="18" charset="0"/>
              <a:buNone/>
              <a:defRPr/>
            </a:pPr>
            <a:r>
              <a:rPr lang="ko-KR" altLang="en-US" sz="1800" dirty="0"/>
              <a:t>텍스트로 작성된 파일의 앞 </a:t>
            </a:r>
            <a:r>
              <a:rPr lang="en-US" altLang="ko-KR" sz="1800" dirty="0"/>
              <a:t>10</a:t>
            </a:r>
            <a:r>
              <a:rPr lang="ko-KR" altLang="en-US" sz="1800" dirty="0"/>
              <a:t>행 또는 마지막 </a:t>
            </a:r>
            <a:r>
              <a:rPr lang="en-US" altLang="ko-KR" sz="1800" dirty="0"/>
              <a:t>10</a:t>
            </a:r>
            <a:r>
              <a:rPr lang="ko-KR" altLang="en-US" sz="1800" dirty="0"/>
              <a:t>행만 출력</a:t>
            </a:r>
            <a:endParaRPr lang="en-US" altLang="ko-KR" sz="1800" dirty="0"/>
          </a:p>
          <a:p>
            <a:pPr lvl="1" eaLnBrk="1" hangingPunct="1">
              <a:buNone/>
              <a:defRPr/>
            </a:pPr>
            <a:r>
              <a:rPr lang="ko-KR" altLang="en-US" sz="1800" dirty="0"/>
              <a:t>예</a:t>
            </a:r>
            <a:r>
              <a:rPr lang="en-US" altLang="ko-KR" sz="1800" dirty="0"/>
              <a:t>) # head  /etc/systemd/</a:t>
            </a:r>
            <a:r>
              <a:rPr lang="en-US" altLang="ko-KR" sz="1800" dirty="0" err="1"/>
              <a:t>user.conf</a:t>
            </a:r>
            <a:endParaRPr lang="en-US" altLang="ko-KR" sz="1800" dirty="0"/>
          </a:p>
          <a:p>
            <a:pPr lvl="1" eaLnBrk="1" hangingPunct="1">
              <a:buNone/>
              <a:defRPr/>
            </a:pPr>
            <a:endParaRPr lang="en-US" altLang="ko-KR" sz="1800" dirty="0"/>
          </a:p>
          <a:p>
            <a:pPr eaLnBrk="1" hangingPunct="1">
              <a:defRPr/>
            </a:pPr>
            <a:r>
              <a:rPr lang="en-US" altLang="ko-KR" dirty="0"/>
              <a:t>more</a:t>
            </a:r>
            <a:endParaRPr lang="en-US" altLang="ko-KR" sz="1800" dirty="0"/>
          </a:p>
          <a:p>
            <a:pPr lvl="1" eaLnBrk="1" hangingPunct="1">
              <a:buFont typeface="Georgia" panose="02040502050405020303" pitchFamily="18" charset="0"/>
              <a:buNone/>
              <a:defRPr/>
            </a:pPr>
            <a:r>
              <a:rPr lang="ko-KR" altLang="en-US" sz="1800" dirty="0"/>
              <a:t>텍스트로 작성된 파일을 화면에 페이지 단위로 출력</a:t>
            </a:r>
            <a:endParaRPr lang="en-US" altLang="ko-KR" sz="1800" dirty="0"/>
          </a:p>
          <a:p>
            <a:pPr lvl="1" eaLnBrk="1" hangingPunct="1">
              <a:buNone/>
              <a:defRPr/>
            </a:pPr>
            <a:r>
              <a:rPr lang="ko-KR" altLang="en-US" sz="1800" dirty="0"/>
              <a:t>예</a:t>
            </a:r>
            <a:r>
              <a:rPr lang="en-US" altLang="ko-KR" sz="1800" dirty="0"/>
              <a:t>)  # more  /etc/systemd/</a:t>
            </a:r>
            <a:r>
              <a:rPr lang="en-US" altLang="ko-KR" sz="1800" dirty="0" err="1"/>
              <a:t>system.conf</a:t>
            </a:r>
            <a:endParaRPr lang="en-US" altLang="ko-KR" sz="1800" dirty="0"/>
          </a:p>
        </p:txBody>
      </p:sp>
      <p:sp>
        <p:nvSpPr>
          <p:cNvPr id="3" name="말풍선: 타원형 2">
            <a:extLst>
              <a:ext uri="{FF2B5EF4-FFF2-40B4-BE49-F238E27FC236}">
                <a16:creationId xmlns:a16="http://schemas.microsoft.com/office/drawing/2014/main" id="{ACE09A8B-D428-4008-D4D0-2A4E599E343D}"/>
              </a:ext>
            </a:extLst>
          </p:cNvPr>
          <p:cNvSpPr/>
          <p:nvPr/>
        </p:nvSpPr>
        <p:spPr>
          <a:xfrm>
            <a:off x="4211960" y="600075"/>
            <a:ext cx="1049292" cy="410369"/>
          </a:xfrm>
          <a:prstGeom prst="wedgeEllipseCallout">
            <a:avLst>
              <a:gd name="adj1" fmla="val -49721"/>
              <a:gd name="adj2" fmla="val 61440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160</a:t>
            </a:r>
            <a:r>
              <a:rPr lang="ko-KR" altLang="en-US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</p:spTree>
    <p:extLst>
      <p:ext uri="{BB962C8B-B14F-4D97-AF65-F5344CB8AC3E}">
        <p14:creationId xmlns:p14="http://schemas.microsoft.com/office/powerpoint/2010/main" val="38478099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제목 1"/>
          <p:cNvSpPr>
            <a:spLocks noGrp="1"/>
          </p:cNvSpPr>
          <p:nvPr>
            <p:ph type="title"/>
          </p:nvPr>
        </p:nvSpPr>
        <p:spPr>
          <a:xfrm>
            <a:off x="500063" y="714375"/>
            <a:ext cx="8229600" cy="642938"/>
          </a:xfrm>
        </p:spPr>
        <p:txBody>
          <a:bodyPr/>
          <a:lstStyle/>
          <a:p>
            <a:pPr eaLnBrk="1" hangingPunct="1"/>
            <a:r>
              <a:rPr lang="ko-KR" altLang="en-US" sz="2800" dirty="0"/>
              <a:t>리눅스 기본 명령어 </a:t>
            </a:r>
            <a:r>
              <a:rPr lang="en-US" altLang="ko-KR" sz="2800" dirty="0"/>
              <a:t>(4)</a:t>
            </a:r>
            <a:endParaRPr lang="ko-KR" altLang="en-US" sz="2800" dirty="0">
              <a:solidFill>
                <a:srgbClr val="00B050"/>
              </a:solidFill>
            </a:endParaRPr>
          </a:p>
        </p:txBody>
      </p:sp>
      <p:sp>
        <p:nvSpPr>
          <p:cNvPr id="8" name="내용 개체 틀 2"/>
          <p:cNvSpPr>
            <a:spLocks noGrp="1"/>
          </p:cNvSpPr>
          <p:nvPr>
            <p:ph idx="1"/>
          </p:nvPr>
        </p:nvSpPr>
        <p:spPr>
          <a:xfrm>
            <a:off x="457200" y="1357313"/>
            <a:ext cx="8229600" cy="5214937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ko-KR" dirty="0"/>
              <a:t>less</a:t>
            </a:r>
          </a:p>
          <a:p>
            <a:pPr lvl="1" eaLnBrk="1" hangingPunct="1">
              <a:buFont typeface="Georgia" panose="02040502050405020303" pitchFamily="18" charset="0"/>
              <a:buNone/>
              <a:defRPr/>
            </a:pPr>
            <a:r>
              <a:rPr lang="en-US" altLang="ko-KR" sz="1800" dirty="0"/>
              <a:t>more</a:t>
            </a:r>
            <a:r>
              <a:rPr lang="ko-KR" altLang="en-US" sz="1800" dirty="0"/>
              <a:t>와 용도가 비슷하지만 기능이 더 확장된 명령</a:t>
            </a:r>
            <a:endParaRPr lang="en-US" altLang="ko-KR" sz="1800" dirty="0"/>
          </a:p>
          <a:p>
            <a:pPr lvl="1" eaLnBrk="1" hangingPunct="1">
              <a:buNone/>
              <a:defRPr/>
            </a:pPr>
            <a:r>
              <a:rPr lang="ko-KR" altLang="en-US" sz="2000" dirty="0"/>
              <a:t>예</a:t>
            </a:r>
            <a:r>
              <a:rPr lang="en-US" altLang="ko-KR" sz="2000" dirty="0"/>
              <a:t>) # less /etc/systemd/</a:t>
            </a:r>
            <a:r>
              <a:rPr lang="en-US" altLang="ko-KR" sz="2000" dirty="0" err="1"/>
              <a:t>system.conf</a:t>
            </a:r>
            <a:endParaRPr lang="en-US" altLang="ko-KR" sz="2000" dirty="0"/>
          </a:p>
          <a:p>
            <a:pPr lvl="1" eaLnBrk="1" hangingPunct="1">
              <a:defRPr/>
            </a:pPr>
            <a:endParaRPr lang="en-US" altLang="ko-KR" sz="2000" dirty="0"/>
          </a:p>
          <a:p>
            <a:pPr eaLnBrk="1" hangingPunct="1">
              <a:defRPr/>
            </a:pPr>
            <a:r>
              <a:rPr lang="en-US" altLang="ko-KR" dirty="0"/>
              <a:t>file</a:t>
            </a:r>
          </a:p>
          <a:p>
            <a:pPr lvl="1" eaLnBrk="1" hangingPunct="1">
              <a:buFont typeface="Georgia" panose="02040502050405020303" pitchFamily="18" charset="0"/>
              <a:buNone/>
              <a:defRPr/>
            </a:pPr>
            <a:r>
              <a:rPr lang="en-US" altLang="ko-KR" sz="1800" dirty="0"/>
              <a:t>File</a:t>
            </a:r>
            <a:r>
              <a:rPr lang="ko-KR" altLang="en-US" sz="1800" dirty="0"/>
              <a:t>이 어떤 종류의 파일인지를 표시</a:t>
            </a:r>
            <a:endParaRPr lang="en-US" altLang="ko-KR" sz="1800" dirty="0"/>
          </a:p>
          <a:p>
            <a:pPr lvl="1" eaLnBrk="1" hangingPunct="1">
              <a:buNone/>
              <a:defRPr/>
            </a:pPr>
            <a:r>
              <a:rPr lang="ko-KR" altLang="en-US" sz="1800" dirty="0"/>
              <a:t>예</a:t>
            </a:r>
            <a:r>
              <a:rPr lang="en-US" altLang="ko-KR" sz="1800" dirty="0"/>
              <a:t>)  # file /etc/systemd/</a:t>
            </a:r>
            <a:r>
              <a:rPr lang="en-US" altLang="ko-KR" sz="1800" dirty="0" err="1"/>
              <a:t>system.conf</a:t>
            </a:r>
            <a:endParaRPr lang="en-US" altLang="ko-KR" sz="1800" dirty="0"/>
          </a:p>
          <a:p>
            <a:pPr lvl="1" eaLnBrk="1" hangingPunct="1">
              <a:buNone/>
              <a:defRPr/>
            </a:pPr>
            <a:endParaRPr lang="en-US" altLang="ko-KR" sz="1800" dirty="0"/>
          </a:p>
          <a:p>
            <a:pPr>
              <a:defRPr/>
            </a:pPr>
            <a:r>
              <a:rPr lang="en-US" altLang="ko-KR" dirty="0"/>
              <a:t>clear</a:t>
            </a:r>
          </a:p>
          <a:p>
            <a:pPr lvl="1" eaLnBrk="1" hangingPunct="1">
              <a:buFont typeface="Georgia" panose="02040502050405020303" pitchFamily="18" charset="0"/>
              <a:buNone/>
              <a:defRPr/>
            </a:pPr>
            <a:r>
              <a:rPr lang="ko-KR" altLang="en-US" sz="1800" dirty="0"/>
              <a:t>터미널 화면을 깨끗하게 지워줌</a:t>
            </a:r>
            <a:endParaRPr lang="en-US" altLang="ko-KR" sz="1800" dirty="0"/>
          </a:p>
          <a:p>
            <a:pPr lvl="1" eaLnBrk="1" hangingPunct="1">
              <a:buFont typeface="Georgia" panose="02040502050405020303" pitchFamily="18" charset="0"/>
              <a:buNone/>
              <a:defRPr/>
            </a:pPr>
            <a:r>
              <a:rPr lang="ko-KR" altLang="en-US" sz="1800" dirty="0"/>
              <a:t>예</a:t>
            </a:r>
            <a:r>
              <a:rPr lang="en-US" altLang="ko-KR" sz="1800" dirty="0"/>
              <a:t>) # clear</a:t>
            </a:r>
          </a:p>
        </p:txBody>
      </p:sp>
      <p:sp>
        <p:nvSpPr>
          <p:cNvPr id="2" name="말풍선: 타원형 1">
            <a:extLst>
              <a:ext uri="{FF2B5EF4-FFF2-40B4-BE49-F238E27FC236}">
                <a16:creationId xmlns:a16="http://schemas.microsoft.com/office/drawing/2014/main" id="{AB50305D-FC80-2FCE-25D6-5F3BBB9FCBE6}"/>
              </a:ext>
            </a:extLst>
          </p:cNvPr>
          <p:cNvSpPr/>
          <p:nvPr/>
        </p:nvSpPr>
        <p:spPr>
          <a:xfrm>
            <a:off x="4211960" y="600075"/>
            <a:ext cx="1049292" cy="410369"/>
          </a:xfrm>
          <a:prstGeom prst="wedgeEllipseCallout">
            <a:avLst>
              <a:gd name="adj1" fmla="val -49721"/>
              <a:gd name="adj2" fmla="val 61440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161</a:t>
            </a:r>
            <a:r>
              <a:rPr lang="ko-KR" altLang="en-US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</p:spTree>
    <p:extLst>
      <p:ext uri="{BB962C8B-B14F-4D97-AF65-F5344CB8AC3E}">
        <p14:creationId xmlns:p14="http://schemas.microsoft.com/office/powerpoint/2010/main" val="36561836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제목 1"/>
          <p:cNvSpPr>
            <a:spLocks noGrp="1"/>
          </p:cNvSpPr>
          <p:nvPr>
            <p:ph type="title"/>
          </p:nvPr>
        </p:nvSpPr>
        <p:spPr>
          <a:xfrm>
            <a:off x="500063" y="714375"/>
            <a:ext cx="8229600" cy="642938"/>
          </a:xfrm>
        </p:spPr>
        <p:txBody>
          <a:bodyPr/>
          <a:lstStyle/>
          <a:p>
            <a:pPr eaLnBrk="1" hangingPunct="1"/>
            <a:r>
              <a:rPr lang="ko-KR" altLang="en-US" sz="2800" dirty="0">
                <a:solidFill>
                  <a:schemeClr val="tx1"/>
                </a:solidFill>
              </a:rPr>
              <a:t>런레벨</a:t>
            </a:r>
            <a:r>
              <a:rPr lang="en-US" altLang="ko-KR" sz="2800" dirty="0">
                <a:solidFill>
                  <a:schemeClr val="tx1"/>
                </a:solidFill>
              </a:rPr>
              <a:t>(</a:t>
            </a:r>
            <a:r>
              <a:rPr lang="en-US" altLang="ko-KR" sz="2800" dirty="0" err="1">
                <a:solidFill>
                  <a:schemeClr val="tx1"/>
                </a:solidFill>
              </a:rPr>
              <a:t>Runlevel</a:t>
            </a:r>
            <a:r>
              <a:rPr lang="en-US" altLang="ko-KR" sz="2800" dirty="0">
                <a:solidFill>
                  <a:schemeClr val="tx1"/>
                </a:solidFill>
              </a:rPr>
              <a:t>)</a:t>
            </a:r>
            <a:endParaRPr lang="ko-KR" altLang="en-US" sz="2800" dirty="0"/>
          </a:p>
        </p:txBody>
      </p:sp>
      <p:sp>
        <p:nvSpPr>
          <p:cNvPr id="8" name="내용 개체 틀 2"/>
          <p:cNvSpPr>
            <a:spLocks noGrp="1"/>
          </p:cNvSpPr>
          <p:nvPr>
            <p:ph idx="1"/>
          </p:nvPr>
        </p:nvSpPr>
        <p:spPr>
          <a:xfrm>
            <a:off x="457200" y="1357313"/>
            <a:ext cx="8229600" cy="5000625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ko-KR" dirty="0" err="1"/>
              <a:t>init</a:t>
            </a:r>
            <a:r>
              <a:rPr lang="en-US" altLang="ko-KR" dirty="0"/>
              <a:t> </a:t>
            </a:r>
            <a:r>
              <a:rPr lang="ko-KR" altLang="en-US" dirty="0"/>
              <a:t>명령어 뒤에 붙는 숫자를 런레벨</a:t>
            </a:r>
            <a:r>
              <a:rPr lang="en-US" altLang="ko-KR" dirty="0"/>
              <a:t>(RunLevel)</a:t>
            </a:r>
            <a:r>
              <a:rPr lang="ko-KR" altLang="en-US" dirty="0"/>
              <a:t>이라고 부른다</a:t>
            </a:r>
            <a:r>
              <a:rPr lang="en-US" altLang="ko-KR" dirty="0"/>
              <a:t>.</a:t>
            </a:r>
          </a:p>
          <a:p>
            <a:pPr eaLnBrk="1" hangingPunct="1">
              <a:defRPr/>
            </a:pPr>
            <a:endParaRPr lang="en-US" altLang="ko-KR" dirty="0"/>
          </a:p>
          <a:p>
            <a:pPr eaLnBrk="1" hangingPunct="1">
              <a:defRPr/>
            </a:pPr>
            <a:endParaRPr lang="en-US" altLang="ko-KR" dirty="0"/>
          </a:p>
          <a:p>
            <a:pPr eaLnBrk="1" hangingPunct="1">
              <a:defRPr/>
            </a:pPr>
            <a:endParaRPr lang="en-US" altLang="ko-KR" dirty="0"/>
          </a:p>
          <a:p>
            <a:pPr eaLnBrk="1" hangingPunct="1">
              <a:defRPr/>
            </a:pPr>
            <a:endParaRPr lang="en-US" altLang="ko-KR" dirty="0"/>
          </a:p>
          <a:p>
            <a:pPr eaLnBrk="1" hangingPunct="1">
              <a:defRPr/>
            </a:pPr>
            <a:endParaRPr lang="en-US" altLang="ko-KR" dirty="0"/>
          </a:p>
          <a:p>
            <a:pPr eaLnBrk="1" hangingPunct="1">
              <a:defRPr/>
            </a:pPr>
            <a:endParaRPr lang="en-US" altLang="ko-KR" dirty="0"/>
          </a:p>
          <a:p>
            <a:pPr eaLnBrk="1" hangingPunct="1">
              <a:defRPr/>
            </a:pPr>
            <a:endParaRPr lang="en-US" altLang="ko-KR" dirty="0"/>
          </a:p>
          <a:p>
            <a:pPr eaLnBrk="1" hangingPunct="1">
              <a:defRPr/>
            </a:pPr>
            <a:endParaRPr lang="en-US" altLang="ko-KR" dirty="0"/>
          </a:p>
          <a:p>
            <a:pPr eaLnBrk="1" hangingPunct="1">
              <a:defRPr/>
            </a:pPr>
            <a:r>
              <a:rPr lang="ko-KR" altLang="en-US" dirty="0"/>
              <a:t>런레벨 모드를 확인하려면 </a:t>
            </a:r>
            <a:r>
              <a:rPr lang="en-US" altLang="ko-KR" dirty="0"/>
              <a:t>/lib/systemd/system </a:t>
            </a:r>
            <a:r>
              <a:rPr lang="ko-KR" altLang="en-US" dirty="0"/>
              <a:t>디렉터리의 </a:t>
            </a:r>
            <a:r>
              <a:rPr lang="en-US" altLang="ko-KR" dirty="0" err="1"/>
              <a:t>runlevel</a:t>
            </a:r>
            <a:r>
              <a:rPr lang="en-US" altLang="ko-KR" dirty="0"/>
              <a:t>?.target </a:t>
            </a:r>
            <a:r>
              <a:rPr lang="ko-KR" altLang="en-US" dirty="0"/>
              <a:t>파일을 확인</a:t>
            </a:r>
            <a:endParaRPr lang="en-US" altLang="ko-KR" dirty="0"/>
          </a:p>
          <a:p>
            <a:pPr eaLnBrk="1" hangingPunct="1">
              <a:defRPr/>
            </a:pPr>
            <a:endParaRPr lang="en-US" altLang="ko-KR" dirty="0"/>
          </a:p>
        </p:txBody>
      </p:sp>
      <p:sp>
        <p:nvSpPr>
          <p:cNvPr id="3" name="말풍선: 타원형 2">
            <a:extLst>
              <a:ext uri="{FF2B5EF4-FFF2-40B4-BE49-F238E27FC236}">
                <a16:creationId xmlns:a16="http://schemas.microsoft.com/office/drawing/2014/main" id="{1686E5F1-FBBB-4469-656D-3C55B7709536}"/>
              </a:ext>
            </a:extLst>
          </p:cNvPr>
          <p:cNvSpPr/>
          <p:nvPr/>
        </p:nvSpPr>
        <p:spPr>
          <a:xfrm>
            <a:off x="3522707" y="600075"/>
            <a:ext cx="1049292" cy="410369"/>
          </a:xfrm>
          <a:prstGeom prst="wedgeEllipseCallout">
            <a:avLst>
              <a:gd name="adj1" fmla="val -49721"/>
              <a:gd name="adj2" fmla="val 61440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162</a:t>
            </a:r>
            <a:r>
              <a:rPr lang="ko-KR" altLang="en-US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80D4511-5651-AA24-9658-EFBD689F1C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0287" y="1916832"/>
            <a:ext cx="7403424" cy="2763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14772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9A9EB7-F1CC-4548-A8C6-662A3092BBD3}"/>
              </a:ext>
            </a:extLst>
          </p:cNvPr>
          <p:cNvSpPr txBox="1">
            <a:spLocks/>
          </p:cNvSpPr>
          <p:nvPr/>
        </p:nvSpPr>
        <p:spPr bwMode="auto">
          <a:xfrm>
            <a:off x="773341" y="662073"/>
            <a:ext cx="8075240" cy="642937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50000"/>
                  <a:shade val="30000"/>
                  <a:satMod val="115000"/>
                </a:schemeClr>
              </a:gs>
              <a:gs pos="50000">
                <a:schemeClr val="bg2">
                  <a:lumMod val="50000"/>
                  <a:shade val="67500"/>
                  <a:satMod val="115000"/>
                </a:schemeClr>
              </a:gs>
              <a:gs pos="100000">
                <a:schemeClr val="bg2">
                  <a:lumMod val="50000"/>
                  <a:shade val="100000"/>
                  <a:satMod val="115000"/>
                </a:schemeClr>
              </a:gs>
            </a:gsLst>
            <a:lin ang="0" scaled="1"/>
            <a:tileRect/>
          </a:gradFill>
          <a:ln>
            <a:noFill/>
            <a:miter lim="800000"/>
            <a:headEnd/>
            <a:tailEnd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2"/>
                </a:solidFill>
                <a:latin typeface="HY견고딕" pitchFamily="18" charset="-127"/>
                <a:ea typeface="HY견고딕" pitchFamily="18" charset="-127"/>
                <a:cs typeface="+mj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9pPr>
          </a:lstStyle>
          <a:p>
            <a:pPr eaLnBrk="1" hangingPunct="1">
              <a:defRPr/>
            </a:pPr>
            <a:r>
              <a:rPr kumimoji="0" lang="en-US" altLang="ko-KR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&lt;</a:t>
            </a:r>
            <a:r>
              <a:rPr kumimoji="0" lang="ko-KR" altLang="en-US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실습</a:t>
            </a:r>
            <a:r>
              <a:rPr kumimoji="0" lang="en-US" altLang="ko-KR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2&gt; </a:t>
            </a:r>
            <a:r>
              <a:rPr kumimoji="0" lang="ko-KR" altLang="en-US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시스템에 설정된 </a:t>
            </a:r>
            <a:r>
              <a:rPr kumimoji="0" lang="ko-KR" altLang="en-US" sz="2400" dirty="0" err="1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런레벨을</a:t>
            </a:r>
            <a:r>
              <a:rPr kumimoji="0" lang="ko-KR" altLang="en-US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변경</a:t>
            </a:r>
          </a:p>
        </p:txBody>
      </p:sp>
      <p:pic>
        <p:nvPicPr>
          <p:cNvPr id="3" name="그림 2" descr="키보드, 컴퓨터이(가) 표시된 사진&#10;&#10;자동 생성된 설명">
            <a:extLst>
              <a:ext uri="{FF2B5EF4-FFF2-40B4-BE49-F238E27FC236}">
                <a16:creationId xmlns:a16="http://schemas.microsoft.com/office/drawing/2014/main" id="{F774B33A-5DBC-4CF1-8E6F-5F56F66F509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0" y="491495"/>
            <a:ext cx="756709" cy="742276"/>
          </a:xfrm>
          <a:prstGeom prst="rect">
            <a:avLst/>
          </a:prstGeom>
        </p:spPr>
      </p:pic>
      <p:sp>
        <p:nvSpPr>
          <p:cNvPr id="4" name="내용 개체 틀 2"/>
          <p:cNvSpPr txBox="1">
            <a:spLocks/>
          </p:cNvSpPr>
          <p:nvPr/>
        </p:nvSpPr>
        <p:spPr bwMode="auto">
          <a:xfrm>
            <a:off x="357188" y="1478508"/>
            <a:ext cx="8229600" cy="2571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normAutofit/>
          </a:bodyPr>
          <a:lstStyle/>
          <a:p>
            <a:pPr marL="365125" indent="-255588">
              <a:spcBef>
                <a:spcPts val="300"/>
              </a:spcBef>
              <a:buClr>
                <a:srgbClr val="A04DA3"/>
              </a:buClr>
              <a:buFont typeface="Georgia" pitchFamily="18" charset="0"/>
              <a:buChar char="•"/>
              <a:defRPr/>
            </a:pPr>
            <a:r>
              <a:rPr kumimoji="0"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실습목표</a:t>
            </a:r>
            <a:endParaRPr kumimoji="0" lang="en-US" altLang="ko-KR" sz="24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657225" lvl="1" indent="-246063">
              <a:spcBef>
                <a:spcPts val="300"/>
              </a:spcBef>
              <a:buClr>
                <a:schemeClr val="accent2"/>
              </a:buClr>
              <a:buFont typeface="Georgia" pitchFamily="18" charset="0"/>
              <a:buChar char="▫"/>
              <a:defRPr/>
            </a:pPr>
            <a:r>
              <a:rPr kumimoji="0" lang="ko-KR" altLang="en-US" sz="2000" dirty="0">
                <a:solidFill>
                  <a:schemeClr val="accent2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런레벨의</a:t>
            </a:r>
            <a:r>
              <a:rPr kumimoji="0" lang="en-US" altLang="ko-KR" sz="2000" dirty="0">
                <a:solidFill>
                  <a:schemeClr val="accent2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kumimoji="0" lang="ko-KR" altLang="en-US" sz="2000" dirty="0">
                <a:solidFill>
                  <a:schemeClr val="accent2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개념을 파악한다</a:t>
            </a:r>
            <a:r>
              <a:rPr kumimoji="0" lang="en-US" altLang="ko-KR" sz="2000" dirty="0">
                <a:solidFill>
                  <a:schemeClr val="accent2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  <a:p>
            <a:pPr marL="657225" lvl="1" indent="-246063">
              <a:spcBef>
                <a:spcPts val="300"/>
              </a:spcBef>
              <a:buClr>
                <a:schemeClr val="accent2"/>
              </a:buClr>
              <a:buFont typeface="Georgia" pitchFamily="18" charset="0"/>
              <a:buChar char="▫"/>
              <a:defRPr/>
            </a:pPr>
            <a:r>
              <a:rPr kumimoji="0" lang="ko-KR" altLang="en-US" sz="2000" dirty="0">
                <a:solidFill>
                  <a:schemeClr val="accent2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런레벨을 변경하는 방법을 파악한다</a:t>
            </a:r>
            <a:r>
              <a:rPr kumimoji="0" lang="en-US" altLang="ko-KR" sz="2000" dirty="0">
                <a:solidFill>
                  <a:schemeClr val="accent2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  <a:p>
            <a:pPr marL="657225" lvl="1" indent="-246063">
              <a:spcBef>
                <a:spcPts val="300"/>
              </a:spcBef>
              <a:buClr>
                <a:schemeClr val="accent2"/>
              </a:buClr>
              <a:buFont typeface="Georgia" pitchFamily="18" charset="0"/>
              <a:buChar char="▫"/>
              <a:defRPr/>
            </a:pPr>
            <a:endParaRPr kumimoji="0" lang="en-US" altLang="ko-KR" sz="2400" dirty="0">
              <a:solidFill>
                <a:schemeClr val="accent2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365125" indent="-255588">
              <a:spcBef>
                <a:spcPts val="300"/>
              </a:spcBef>
              <a:buClr>
                <a:srgbClr val="A04DA3"/>
              </a:buClr>
              <a:buFont typeface="Georgia" pitchFamily="18" charset="0"/>
              <a:buChar char="•"/>
              <a:defRPr/>
            </a:pPr>
            <a:r>
              <a:rPr kumimoji="0"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실습화면</a:t>
            </a:r>
            <a:r>
              <a:rPr kumimoji="0"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kumimoji="0"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런레벨 </a:t>
            </a:r>
            <a:r>
              <a:rPr kumimoji="0"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3</a:t>
            </a:r>
            <a:r>
              <a:rPr kumimoji="0"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로 변경</a:t>
            </a:r>
            <a:r>
              <a:rPr kumimoji="0"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</a:p>
        </p:txBody>
      </p:sp>
      <p:sp>
        <p:nvSpPr>
          <p:cNvPr id="5" name="말풍선: 타원형 4">
            <a:extLst>
              <a:ext uri="{FF2B5EF4-FFF2-40B4-BE49-F238E27FC236}">
                <a16:creationId xmlns:a16="http://schemas.microsoft.com/office/drawing/2014/main" id="{82D2BD51-D09C-BA55-4D5D-CD4F6FF17897}"/>
              </a:ext>
            </a:extLst>
          </p:cNvPr>
          <p:cNvSpPr/>
          <p:nvPr/>
        </p:nvSpPr>
        <p:spPr>
          <a:xfrm>
            <a:off x="6228184" y="600075"/>
            <a:ext cx="1049292" cy="410369"/>
          </a:xfrm>
          <a:prstGeom prst="wedgeEllipseCallout">
            <a:avLst>
              <a:gd name="adj1" fmla="val -49721"/>
              <a:gd name="adj2" fmla="val 61440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163</a:t>
            </a:r>
            <a:r>
              <a:rPr lang="ko-KR" altLang="en-US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  <p:pic>
        <p:nvPicPr>
          <p:cNvPr id="8" name="그림 7" descr="텍스트, 스크린샷, 폰트이(가) 표시된 사진&#10;&#10;자동 생성된 설명">
            <a:extLst>
              <a:ext uri="{FF2B5EF4-FFF2-40B4-BE49-F238E27FC236}">
                <a16:creationId xmlns:a16="http://schemas.microsoft.com/office/drawing/2014/main" id="{EFACA9B7-6B2B-6B98-2473-A859B6644E1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149" y="3861048"/>
            <a:ext cx="8460432" cy="1858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88457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제목 1"/>
          <p:cNvSpPr>
            <a:spLocks noGrp="1"/>
          </p:cNvSpPr>
          <p:nvPr>
            <p:ph type="title"/>
          </p:nvPr>
        </p:nvSpPr>
        <p:spPr>
          <a:xfrm>
            <a:off x="500063" y="714375"/>
            <a:ext cx="8229600" cy="642938"/>
          </a:xfrm>
        </p:spPr>
        <p:txBody>
          <a:bodyPr/>
          <a:lstStyle/>
          <a:p>
            <a:pPr eaLnBrk="1" hangingPunct="1"/>
            <a:r>
              <a:rPr lang="ko-KR" altLang="en-US" sz="2800" dirty="0">
                <a:solidFill>
                  <a:schemeClr val="tx1"/>
                </a:solidFill>
              </a:rPr>
              <a:t>자동 완성과 히스토리</a:t>
            </a:r>
            <a:endParaRPr lang="ko-KR" altLang="en-US" sz="2800" dirty="0"/>
          </a:p>
        </p:txBody>
      </p:sp>
      <p:sp>
        <p:nvSpPr>
          <p:cNvPr id="8" name="내용 개체 틀 2"/>
          <p:cNvSpPr>
            <a:spLocks noGrp="1"/>
          </p:cNvSpPr>
          <p:nvPr>
            <p:ph idx="1"/>
          </p:nvPr>
        </p:nvSpPr>
        <p:spPr>
          <a:xfrm>
            <a:off x="457200" y="1357313"/>
            <a:ext cx="8229600" cy="5000625"/>
          </a:xfrm>
        </p:spPr>
        <p:txBody>
          <a:bodyPr/>
          <a:lstStyle/>
          <a:p>
            <a:pPr eaLnBrk="1" hangingPunct="1">
              <a:defRPr/>
            </a:pPr>
            <a:endParaRPr lang="en-US" altLang="ko-KR" dirty="0"/>
          </a:p>
          <a:p>
            <a:pPr eaLnBrk="1" hangingPunct="1">
              <a:defRPr/>
            </a:pPr>
            <a:r>
              <a:rPr lang="ko-KR" altLang="en-US" dirty="0"/>
              <a:t>자동 완성이란 파일명의 일부만 입력한 후에 </a:t>
            </a:r>
            <a:r>
              <a:rPr lang="en-US" altLang="ko-KR" dirty="0"/>
              <a:t>Tab</a:t>
            </a:r>
            <a:r>
              <a:rPr lang="ko-KR" altLang="en-US" dirty="0"/>
              <a:t>키를 눌러 나머지 파일명을 자동으로 완성하는 기능을 말함</a:t>
            </a:r>
            <a:r>
              <a:rPr lang="en-US" altLang="ko-KR" dirty="0"/>
              <a:t>.</a:t>
            </a:r>
          </a:p>
          <a:p>
            <a:pPr eaLnBrk="1" hangingPunct="1">
              <a:defRPr/>
            </a:pPr>
            <a:endParaRPr lang="en-US" altLang="ko-KR" dirty="0"/>
          </a:p>
          <a:p>
            <a:pPr lvl="1" eaLnBrk="1" hangingPunct="1">
              <a:buNone/>
              <a:defRPr/>
            </a:pPr>
            <a:r>
              <a:rPr lang="ko-KR" altLang="en-US" sz="2000" dirty="0"/>
              <a:t>예</a:t>
            </a:r>
            <a:r>
              <a:rPr lang="en-US" altLang="ko-KR" sz="2000" dirty="0"/>
              <a:t>) cd /</a:t>
            </a:r>
            <a:r>
              <a:rPr lang="en-US" altLang="ko-KR" sz="2000" dirty="0" err="1"/>
              <a:t>etc</a:t>
            </a:r>
            <a:r>
              <a:rPr lang="en-US" altLang="ko-KR" sz="2000" dirty="0"/>
              <a:t>/</a:t>
            </a:r>
            <a:r>
              <a:rPr lang="en-US" altLang="ko-KR" sz="2000" dirty="0" err="1"/>
              <a:t>NetworkManager</a:t>
            </a:r>
            <a:r>
              <a:rPr lang="en-US" altLang="ko-KR" sz="2000" dirty="0"/>
              <a:t>/</a:t>
            </a:r>
            <a:r>
              <a:rPr lang="en-US" altLang="ko-KR" sz="2000" dirty="0" err="1"/>
              <a:t>dispatcher.d</a:t>
            </a:r>
            <a:r>
              <a:rPr lang="en-US" altLang="ko-KR" sz="2000" dirty="0"/>
              <a:t>/ </a:t>
            </a:r>
            <a:r>
              <a:rPr lang="ko-KR" altLang="en-US" sz="2000" dirty="0"/>
              <a:t>를 입력하려면</a:t>
            </a:r>
            <a:endParaRPr lang="en-US" altLang="ko-KR" sz="2000" dirty="0"/>
          </a:p>
          <a:p>
            <a:pPr lvl="1">
              <a:buFont typeface="Georgia" panose="02040502050405020303" pitchFamily="18" charset="0"/>
              <a:buNone/>
              <a:defRPr/>
            </a:pPr>
            <a:r>
              <a:rPr lang="en-US" altLang="ko-KR" sz="2000" dirty="0"/>
              <a:t>    </a:t>
            </a:r>
            <a:r>
              <a:rPr lang="en-US" altLang="ko-KR" sz="2000" dirty="0" err="1"/>
              <a:t>cd</a:t>
            </a:r>
            <a:r>
              <a:rPr lang="en-US" altLang="ko-KR" sz="2000" dirty="0"/>
              <a:t> /et[Tab</a:t>
            </a:r>
            <a:r>
              <a:rPr lang="ko-KR" altLang="en-US" sz="2000" dirty="0"/>
              <a:t>키</a:t>
            </a:r>
            <a:r>
              <a:rPr lang="en-US" altLang="ko-KR" sz="2000" dirty="0"/>
              <a:t>]Ne[Tab</a:t>
            </a:r>
            <a:r>
              <a:rPr lang="ko-KR" altLang="en-US" sz="2000" dirty="0"/>
              <a:t>키</a:t>
            </a:r>
            <a:r>
              <a:rPr lang="en-US" altLang="ko-KR" sz="2000" dirty="0"/>
              <a:t>]dis[Tab</a:t>
            </a:r>
            <a:r>
              <a:rPr lang="ko-KR" altLang="en-US" sz="2000" dirty="0"/>
              <a:t>키</a:t>
            </a:r>
            <a:r>
              <a:rPr lang="en-US" altLang="ko-KR" sz="2000" dirty="0"/>
              <a:t>]</a:t>
            </a:r>
          </a:p>
          <a:p>
            <a:pPr eaLnBrk="1" hangingPunct="1">
              <a:defRPr/>
            </a:pPr>
            <a:endParaRPr lang="en-US" altLang="ko-KR" dirty="0"/>
          </a:p>
          <a:p>
            <a:pPr eaLnBrk="1" hangingPunct="1">
              <a:defRPr/>
            </a:pPr>
            <a:endParaRPr lang="en-US" altLang="ko-KR" dirty="0"/>
          </a:p>
          <a:p>
            <a:pPr eaLnBrk="1" hangingPunct="1">
              <a:defRPr/>
            </a:pPr>
            <a:endParaRPr lang="en-US" altLang="ko-KR" dirty="0"/>
          </a:p>
          <a:p>
            <a:pPr>
              <a:defRPr/>
            </a:pPr>
            <a:r>
              <a:rPr lang="ko-KR" altLang="en-US" dirty="0"/>
              <a:t>도스 키란 상</a:t>
            </a:r>
            <a:r>
              <a:rPr lang="en-US" altLang="ko-KR" dirty="0"/>
              <a:t>/</a:t>
            </a:r>
            <a:r>
              <a:rPr lang="ko-KR" altLang="en-US" dirty="0"/>
              <a:t>하</a:t>
            </a:r>
            <a:r>
              <a:rPr lang="en-US" altLang="ko-KR" dirty="0"/>
              <a:t> </a:t>
            </a:r>
            <a:r>
              <a:rPr lang="ko-KR" altLang="en-US" dirty="0"/>
              <a:t>화살표 키를 이용해서 이전에 입력한 명령을 다시 나타내는 기능을 말함</a:t>
            </a:r>
            <a:r>
              <a:rPr lang="en-US" altLang="ko-KR" dirty="0"/>
              <a:t>.</a:t>
            </a:r>
          </a:p>
        </p:txBody>
      </p:sp>
      <p:sp>
        <p:nvSpPr>
          <p:cNvPr id="2" name="말풍선: 타원형 1">
            <a:extLst>
              <a:ext uri="{FF2B5EF4-FFF2-40B4-BE49-F238E27FC236}">
                <a16:creationId xmlns:a16="http://schemas.microsoft.com/office/drawing/2014/main" id="{A02F9840-EB9C-36F6-DC57-55DF301FF8DA}"/>
              </a:ext>
            </a:extLst>
          </p:cNvPr>
          <p:cNvSpPr/>
          <p:nvPr/>
        </p:nvSpPr>
        <p:spPr>
          <a:xfrm>
            <a:off x="3995936" y="600075"/>
            <a:ext cx="1049292" cy="410369"/>
          </a:xfrm>
          <a:prstGeom prst="wedgeEllipseCallout">
            <a:avLst>
              <a:gd name="adj1" fmla="val -49721"/>
              <a:gd name="adj2" fmla="val 61440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165</a:t>
            </a:r>
            <a:r>
              <a:rPr lang="ko-KR" altLang="en-US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  <p:sp>
        <p:nvSpPr>
          <p:cNvPr id="3" name="물결 2">
            <a:extLst>
              <a:ext uri="{FF2B5EF4-FFF2-40B4-BE49-F238E27FC236}">
                <a16:creationId xmlns:a16="http://schemas.microsoft.com/office/drawing/2014/main" id="{56413DC1-8CE1-11FD-6F35-AD956FD6A43F}"/>
              </a:ext>
            </a:extLst>
          </p:cNvPr>
          <p:cNvSpPr/>
          <p:nvPr/>
        </p:nvSpPr>
        <p:spPr>
          <a:xfrm>
            <a:off x="942455" y="3857625"/>
            <a:ext cx="7344816" cy="852066"/>
          </a:xfrm>
          <a:prstGeom prst="wave">
            <a:avLst>
              <a:gd name="adj1" fmla="val 6856"/>
              <a:gd name="adj2" fmla="val -605"/>
            </a:avLst>
          </a:prstGeom>
          <a:solidFill>
            <a:srgbClr val="FF7C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r>
              <a:rPr lang="ko-KR" altLang="en-US" sz="1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자동 완성기능은 빠른 입력효과도 있지만</a:t>
            </a:r>
            <a:r>
              <a:rPr lang="en-US" altLang="ko-KR" sz="1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 </a:t>
            </a:r>
            <a:r>
              <a:rPr lang="ko-KR" altLang="en-US" sz="1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파일명이나 디렉터리가 틀리지 않고 정확하게 입력되는 효과도 있으므로 자주 활용된다</a:t>
            </a:r>
            <a:r>
              <a:rPr lang="en-US" altLang="ko-KR" sz="1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866565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CFF30A-0801-48BF-B754-0FC851F120BD}"/>
              </a:ext>
            </a:extLst>
          </p:cNvPr>
          <p:cNvSpPr txBox="1">
            <a:spLocks/>
          </p:cNvSpPr>
          <p:nvPr/>
        </p:nvSpPr>
        <p:spPr bwMode="auto">
          <a:xfrm>
            <a:off x="773341" y="662073"/>
            <a:ext cx="8075240" cy="642937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50000"/>
                  <a:shade val="30000"/>
                  <a:satMod val="115000"/>
                </a:schemeClr>
              </a:gs>
              <a:gs pos="50000">
                <a:schemeClr val="bg2">
                  <a:lumMod val="50000"/>
                  <a:shade val="67500"/>
                  <a:satMod val="115000"/>
                </a:schemeClr>
              </a:gs>
              <a:gs pos="100000">
                <a:schemeClr val="bg2">
                  <a:lumMod val="50000"/>
                  <a:shade val="100000"/>
                  <a:satMod val="115000"/>
                </a:schemeClr>
              </a:gs>
            </a:gsLst>
            <a:lin ang="0" scaled="1"/>
            <a:tileRect/>
          </a:gradFill>
          <a:ln>
            <a:noFill/>
            <a:miter lim="800000"/>
            <a:headEnd/>
            <a:tailEnd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2"/>
                </a:solidFill>
                <a:latin typeface="HY견고딕" pitchFamily="18" charset="-127"/>
                <a:ea typeface="HY견고딕" pitchFamily="18" charset="-127"/>
                <a:cs typeface="+mj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9pPr>
          </a:lstStyle>
          <a:p>
            <a:pPr eaLnBrk="1" hangingPunct="1">
              <a:defRPr/>
            </a:pPr>
            <a:r>
              <a:rPr kumimoji="0" lang="en-US" altLang="ko-KR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&lt;</a:t>
            </a:r>
            <a:r>
              <a:rPr kumimoji="0" lang="ko-KR" altLang="en-US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실습</a:t>
            </a:r>
            <a:r>
              <a:rPr kumimoji="0" lang="en-US" altLang="ko-KR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3&gt; </a:t>
            </a:r>
            <a:r>
              <a:rPr kumimoji="0" lang="ko-KR" altLang="en-US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자동 완성 기능과 도스 키</a:t>
            </a:r>
          </a:p>
        </p:txBody>
      </p:sp>
      <p:sp>
        <p:nvSpPr>
          <p:cNvPr id="4" name="내용 개체 틀 2"/>
          <p:cNvSpPr txBox="1">
            <a:spLocks/>
          </p:cNvSpPr>
          <p:nvPr/>
        </p:nvSpPr>
        <p:spPr bwMode="auto">
          <a:xfrm>
            <a:off x="357188" y="1478508"/>
            <a:ext cx="8229600" cy="2571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normAutofit/>
          </a:bodyPr>
          <a:lstStyle/>
          <a:p>
            <a:pPr marL="365125" indent="-255588">
              <a:spcBef>
                <a:spcPts val="300"/>
              </a:spcBef>
              <a:buClr>
                <a:srgbClr val="A04DA3"/>
              </a:buClr>
              <a:buFont typeface="Georgia" pitchFamily="18" charset="0"/>
              <a:buChar char="•"/>
              <a:defRPr/>
            </a:pPr>
            <a:r>
              <a:rPr kumimoji="0"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실습목표</a:t>
            </a:r>
            <a:endParaRPr kumimoji="0" lang="en-US" altLang="ko-KR" sz="24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657225" lvl="1" indent="-246063">
              <a:spcBef>
                <a:spcPts val="300"/>
              </a:spcBef>
              <a:buClr>
                <a:schemeClr val="accent2"/>
              </a:buClr>
              <a:buFont typeface="Georgia" pitchFamily="18" charset="0"/>
              <a:buChar char="▫"/>
              <a:defRPr/>
            </a:pPr>
            <a:r>
              <a:rPr kumimoji="0" lang="ko-KR" altLang="en-US" sz="2000" dirty="0">
                <a:solidFill>
                  <a:schemeClr val="accent2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자동 완성 기능과 도스 키 기능을</a:t>
            </a:r>
            <a:r>
              <a:rPr kumimoji="0" lang="en-US" altLang="ko-KR" sz="2000" dirty="0">
                <a:solidFill>
                  <a:schemeClr val="accent2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kumimoji="0" lang="ko-KR" altLang="en-US" sz="2000" dirty="0">
                <a:solidFill>
                  <a:schemeClr val="accent2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익힌다</a:t>
            </a:r>
            <a:r>
              <a:rPr kumimoji="0" lang="en-US" altLang="ko-KR" sz="2000" dirty="0">
                <a:solidFill>
                  <a:schemeClr val="accent2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  <a:p>
            <a:pPr marL="657225" lvl="1" indent="-246063">
              <a:spcBef>
                <a:spcPts val="300"/>
              </a:spcBef>
              <a:buClr>
                <a:schemeClr val="accent2"/>
              </a:buClr>
              <a:buFont typeface="Georgia" pitchFamily="18" charset="0"/>
              <a:buChar char="▫"/>
              <a:defRPr/>
            </a:pPr>
            <a:r>
              <a:rPr kumimoji="0" lang="en-US" altLang="ko-KR" sz="2000" dirty="0">
                <a:solidFill>
                  <a:schemeClr val="accent2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history</a:t>
            </a:r>
            <a:r>
              <a:rPr kumimoji="0" lang="ko-KR" altLang="en-US" sz="2000" dirty="0">
                <a:solidFill>
                  <a:schemeClr val="accent2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명령어의 기능을 확인한다</a:t>
            </a:r>
            <a:r>
              <a:rPr kumimoji="0" lang="en-US" altLang="ko-KR" sz="2000" dirty="0">
                <a:solidFill>
                  <a:schemeClr val="accent2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  <a:endParaRPr kumimoji="0" lang="en-US" altLang="ko-KR" sz="2400" dirty="0">
              <a:solidFill>
                <a:schemeClr val="accent2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657225" lvl="1" indent="-246063">
              <a:spcBef>
                <a:spcPts val="300"/>
              </a:spcBef>
              <a:buClr>
                <a:schemeClr val="accent2"/>
              </a:buClr>
              <a:buFont typeface="Georgia" pitchFamily="18" charset="0"/>
              <a:buChar char="▫"/>
              <a:defRPr/>
            </a:pPr>
            <a:endParaRPr kumimoji="0" lang="en-US" altLang="ko-KR" sz="2400" dirty="0">
              <a:solidFill>
                <a:schemeClr val="accent2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365125" indent="-255588">
              <a:spcBef>
                <a:spcPts val="300"/>
              </a:spcBef>
              <a:buClr>
                <a:srgbClr val="A04DA3"/>
              </a:buClr>
              <a:buFont typeface="Georgia" pitchFamily="18" charset="0"/>
              <a:buChar char="•"/>
              <a:defRPr/>
            </a:pPr>
            <a:r>
              <a:rPr kumimoji="0"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실습화면</a:t>
            </a:r>
            <a:r>
              <a:rPr kumimoji="0"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(history </a:t>
            </a:r>
            <a:r>
              <a:rPr kumimoji="0"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명령어</a:t>
            </a:r>
            <a:r>
              <a:rPr kumimoji="0"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</a:p>
        </p:txBody>
      </p:sp>
      <p:pic>
        <p:nvPicPr>
          <p:cNvPr id="3" name="그림 2" descr="키보드, 컴퓨터이(가) 표시된 사진&#10;&#10;자동 생성된 설명">
            <a:extLst>
              <a:ext uri="{FF2B5EF4-FFF2-40B4-BE49-F238E27FC236}">
                <a16:creationId xmlns:a16="http://schemas.microsoft.com/office/drawing/2014/main" id="{E11F8A98-5359-4084-8FA2-704FB9AEA89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0" y="491495"/>
            <a:ext cx="756709" cy="742276"/>
          </a:xfrm>
          <a:prstGeom prst="rect">
            <a:avLst/>
          </a:prstGeom>
        </p:spPr>
      </p:pic>
      <p:sp>
        <p:nvSpPr>
          <p:cNvPr id="5" name="말풍선: 타원형 4">
            <a:extLst>
              <a:ext uri="{FF2B5EF4-FFF2-40B4-BE49-F238E27FC236}">
                <a16:creationId xmlns:a16="http://schemas.microsoft.com/office/drawing/2014/main" id="{18916123-E858-1D20-8A8C-9DD9EE422575}"/>
              </a:ext>
            </a:extLst>
          </p:cNvPr>
          <p:cNvSpPr/>
          <p:nvPr/>
        </p:nvSpPr>
        <p:spPr>
          <a:xfrm>
            <a:off x="5436096" y="600075"/>
            <a:ext cx="1049292" cy="410369"/>
          </a:xfrm>
          <a:prstGeom prst="wedgeEllipseCallout">
            <a:avLst>
              <a:gd name="adj1" fmla="val -49721"/>
              <a:gd name="adj2" fmla="val 61440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166</a:t>
            </a:r>
            <a:r>
              <a:rPr lang="ko-KR" altLang="en-US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  <p:pic>
        <p:nvPicPr>
          <p:cNvPr id="8" name="그림 7" descr="텍스트, 스크린샷, 폰트이(가) 표시된 사진&#10;&#10;자동 생성된 설명">
            <a:extLst>
              <a:ext uri="{FF2B5EF4-FFF2-40B4-BE49-F238E27FC236}">
                <a16:creationId xmlns:a16="http://schemas.microsoft.com/office/drawing/2014/main" id="{B73F5BF1-1A0D-D5D4-8A86-79B6994ED79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7624" y="3641699"/>
            <a:ext cx="7069008" cy="2616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96735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제목 1"/>
          <p:cNvSpPr>
            <a:spLocks noGrp="1"/>
          </p:cNvSpPr>
          <p:nvPr>
            <p:ph type="title"/>
          </p:nvPr>
        </p:nvSpPr>
        <p:spPr>
          <a:xfrm>
            <a:off x="500063" y="714375"/>
            <a:ext cx="8229600" cy="642938"/>
          </a:xfrm>
        </p:spPr>
        <p:txBody>
          <a:bodyPr/>
          <a:lstStyle/>
          <a:p>
            <a:pPr eaLnBrk="1" hangingPunct="1"/>
            <a:r>
              <a:rPr lang="ko-KR" altLang="en-US" sz="2800" dirty="0"/>
              <a:t>에디터 사용 </a:t>
            </a:r>
          </a:p>
        </p:txBody>
      </p:sp>
      <p:sp>
        <p:nvSpPr>
          <p:cNvPr id="4" name="내용 개체 틀 2"/>
          <p:cNvSpPr txBox="1">
            <a:spLocks/>
          </p:cNvSpPr>
          <p:nvPr/>
        </p:nvSpPr>
        <p:spPr bwMode="auto">
          <a:xfrm>
            <a:off x="357188" y="2270596"/>
            <a:ext cx="8229600" cy="36066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normAutofit/>
          </a:bodyPr>
          <a:lstStyle/>
          <a:p>
            <a:pPr marL="365125" indent="-255588">
              <a:spcBef>
                <a:spcPts val="300"/>
              </a:spcBef>
              <a:buClr>
                <a:srgbClr val="A04DA3"/>
              </a:buClr>
              <a:buFont typeface="Georgia" pitchFamily="18" charset="0"/>
              <a:buChar char="•"/>
              <a:defRPr/>
            </a:pPr>
            <a:r>
              <a:rPr kumimoji="0"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실습목표</a:t>
            </a:r>
            <a:endParaRPr kumimoji="0" lang="en-US" altLang="ko-KR" sz="24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657225" lvl="1" indent="-246063">
              <a:spcBef>
                <a:spcPts val="300"/>
              </a:spcBef>
              <a:buClr>
                <a:schemeClr val="accent2"/>
              </a:buClr>
              <a:buFont typeface="Georgia" pitchFamily="18" charset="0"/>
              <a:buChar char="▫"/>
              <a:defRPr/>
            </a:pPr>
            <a:r>
              <a:rPr kumimoji="0" lang="en-US" altLang="ko-KR" sz="2000" dirty="0">
                <a:solidFill>
                  <a:schemeClr val="accent2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gedit</a:t>
            </a:r>
            <a:r>
              <a:rPr kumimoji="0" lang="ko-KR" altLang="en-US" sz="2000" dirty="0">
                <a:solidFill>
                  <a:schemeClr val="accent2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의 기본적인 사용법을 확인한다</a:t>
            </a:r>
            <a:r>
              <a:rPr kumimoji="0" lang="en-US" altLang="ko-KR" sz="2000" dirty="0">
                <a:solidFill>
                  <a:schemeClr val="accent2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  <a:p>
            <a:pPr marL="657225" lvl="1" indent="-246063">
              <a:spcBef>
                <a:spcPts val="300"/>
              </a:spcBef>
              <a:buClr>
                <a:schemeClr val="accent2"/>
              </a:buClr>
              <a:buFont typeface="Georgia" pitchFamily="18" charset="0"/>
              <a:buChar char="▫"/>
              <a:defRPr/>
            </a:pPr>
            <a:r>
              <a:rPr kumimoji="0" lang="en-US" altLang="ko-KR" sz="2000" dirty="0">
                <a:solidFill>
                  <a:schemeClr val="accent2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nano</a:t>
            </a:r>
            <a:r>
              <a:rPr kumimoji="0" lang="ko-KR" altLang="en-US" sz="2000" dirty="0">
                <a:solidFill>
                  <a:schemeClr val="accent2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에디터의 사용법을 익힌다</a:t>
            </a:r>
            <a:r>
              <a:rPr kumimoji="0" lang="en-US" altLang="ko-KR" sz="2000" dirty="0">
                <a:solidFill>
                  <a:schemeClr val="accent2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  <a:p>
            <a:pPr marL="657225" lvl="1" indent="-246063">
              <a:spcBef>
                <a:spcPts val="300"/>
              </a:spcBef>
              <a:buClr>
                <a:schemeClr val="accent2"/>
              </a:buClr>
              <a:buFont typeface="Georgia" pitchFamily="18" charset="0"/>
              <a:buChar char="▫"/>
              <a:defRPr/>
            </a:pPr>
            <a:r>
              <a:rPr kumimoji="0" lang="en-US" altLang="ko-KR" sz="2000" dirty="0">
                <a:solidFill>
                  <a:schemeClr val="accent2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vi</a:t>
            </a:r>
            <a:r>
              <a:rPr kumimoji="0" lang="ko-KR" altLang="en-US" sz="2000" dirty="0">
                <a:solidFill>
                  <a:schemeClr val="accent2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의 사용법을 연습한다</a:t>
            </a:r>
            <a:r>
              <a:rPr kumimoji="0" lang="en-US" altLang="ko-KR" sz="2000" dirty="0">
                <a:solidFill>
                  <a:schemeClr val="accent2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  <a:p>
            <a:pPr marL="365125" indent="-255588">
              <a:spcBef>
                <a:spcPts val="300"/>
              </a:spcBef>
              <a:buClr>
                <a:srgbClr val="A04DA3"/>
              </a:buClr>
              <a:buFont typeface="Georgia" pitchFamily="18" charset="0"/>
              <a:buChar char="•"/>
              <a:defRPr/>
            </a:pPr>
            <a:r>
              <a:rPr kumimoji="0"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vi </a:t>
            </a:r>
            <a:r>
              <a:rPr kumimoji="0"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에디터 사용법 개요도</a:t>
            </a:r>
            <a:endParaRPr kumimoji="0" lang="en-US" altLang="ko-KR" sz="2000" dirty="0">
              <a:solidFill>
                <a:schemeClr val="accent2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657225" lvl="1" indent="-246063">
              <a:spcBef>
                <a:spcPts val="300"/>
              </a:spcBef>
              <a:buClr>
                <a:schemeClr val="accent2"/>
              </a:buClr>
              <a:buFont typeface="Georgia" pitchFamily="18" charset="0"/>
              <a:buChar char="▫"/>
              <a:defRPr/>
            </a:pPr>
            <a:endParaRPr kumimoji="0" lang="en-US" altLang="ko-KR" sz="2400" dirty="0">
              <a:solidFill>
                <a:schemeClr val="accent2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365125" indent="-255588">
              <a:spcBef>
                <a:spcPts val="300"/>
              </a:spcBef>
              <a:buClr>
                <a:srgbClr val="A04DA3"/>
              </a:buClr>
              <a:buFont typeface="Georgia" pitchFamily="18" charset="0"/>
              <a:buChar char="•"/>
              <a:defRPr/>
            </a:pPr>
            <a:endParaRPr kumimoji="0" lang="ko-KR" altLang="en-US" sz="24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41CE3EA9-08CE-4F91-80C0-414F04BAFCD2}"/>
              </a:ext>
            </a:extLst>
          </p:cNvPr>
          <p:cNvSpPr txBox="1">
            <a:spLocks/>
          </p:cNvSpPr>
          <p:nvPr/>
        </p:nvSpPr>
        <p:spPr bwMode="auto">
          <a:xfrm>
            <a:off x="773341" y="1428732"/>
            <a:ext cx="8075240" cy="642937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50000"/>
                  <a:shade val="30000"/>
                  <a:satMod val="115000"/>
                </a:schemeClr>
              </a:gs>
              <a:gs pos="50000">
                <a:schemeClr val="bg2">
                  <a:lumMod val="50000"/>
                  <a:shade val="67500"/>
                  <a:satMod val="115000"/>
                </a:schemeClr>
              </a:gs>
              <a:gs pos="100000">
                <a:schemeClr val="bg2">
                  <a:lumMod val="50000"/>
                  <a:shade val="100000"/>
                  <a:satMod val="115000"/>
                </a:schemeClr>
              </a:gs>
            </a:gsLst>
            <a:lin ang="0" scaled="1"/>
            <a:tileRect/>
          </a:gradFill>
          <a:ln>
            <a:noFill/>
            <a:miter lim="800000"/>
            <a:headEnd/>
            <a:tailEnd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2"/>
                </a:solidFill>
                <a:latin typeface="HY견고딕" pitchFamily="18" charset="-127"/>
                <a:ea typeface="HY견고딕" pitchFamily="18" charset="-127"/>
                <a:cs typeface="+mj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9pPr>
          </a:lstStyle>
          <a:p>
            <a:pPr eaLnBrk="1" hangingPunct="1">
              <a:defRPr/>
            </a:pPr>
            <a:r>
              <a:rPr kumimoji="0" lang="en-US" altLang="ko-KR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&lt;</a:t>
            </a:r>
            <a:r>
              <a:rPr kumimoji="0" lang="ko-KR" altLang="en-US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실습</a:t>
            </a:r>
            <a:r>
              <a:rPr kumimoji="0" lang="en-US" altLang="ko-KR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4&gt; </a:t>
            </a:r>
            <a:r>
              <a:rPr kumimoji="0" lang="ko-KR" altLang="en-US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에디터를 사용하자</a:t>
            </a:r>
          </a:p>
        </p:txBody>
      </p:sp>
      <p:pic>
        <p:nvPicPr>
          <p:cNvPr id="5" name="그림 4" descr="키보드, 컴퓨터이(가) 표시된 사진&#10;&#10;자동 생성된 설명">
            <a:extLst>
              <a:ext uri="{FF2B5EF4-FFF2-40B4-BE49-F238E27FC236}">
                <a16:creationId xmlns:a16="http://schemas.microsoft.com/office/drawing/2014/main" id="{F5988722-6F5D-4065-8999-836440542DD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0" y="1258154"/>
            <a:ext cx="756709" cy="742276"/>
          </a:xfrm>
          <a:prstGeom prst="rect">
            <a:avLst/>
          </a:prstGeom>
        </p:spPr>
      </p:pic>
      <p:sp>
        <p:nvSpPr>
          <p:cNvPr id="6" name="말풍선: 타원형 5">
            <a:extLst>
              <a:ext uri="{FF2B5EF4-FFF2-40B4-BE49-F238E27FC236}">
                <a16:creationId xmlns:a16="http://schemas.microsoft.com/office/drawing/2014/main" id="{5A809440-B3F1-CFBD-E507-95B436C6B614}"/>
              </a:ext>
            </a:extLst>
          </p:cNvPr>
          <p:cNvSpPr/>
          <p:nvPr/>
        </p:nvSpPr>
        <p:spPr>
          <a:xfrm>
            <a:off x="2555776" y="600075"/>
            <a:ext cx="1049292" cy="410369"/>
          </a:xfrm>
          <a:prstGeom prst="wedgeEllipseCallout">
            <a:avLst>
              <a:gd name="adj1" fmla="val -49721"/>
              <a:gd name="adj2" fmla="val 61440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170</a:t>
            </a:r>
            <a:r>
              <a:rPr lang="ko-KR" altLang="en-US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  <p:sp>
        <p:nvSpPr>
          <p:cNvPr id="7" name="말풍선: 타원형 6">
            <a:extLst>
              <a:ext uri="{FF2B5EF4-FFF2-40B4-BE49-F238E27FC236}">
                <a16:creationId xmlns:a16="http://schemas.microsoft.com/office/drawing/2014/main" id="{C15157E4-1E1A-AC89-5807-23DE639B2BC1}"/>
              </a:ext>
            </a:extLst>
          </p:cNvPr>
          <p:cNvSpPr/>
          <p:nvPr/>
        </p:nvSpPr>
        <p:spPr>
          <a:xfrm>
            <a:off x="4614863" y="1306683"/>
            <a:ext cx="1049292" cy="410369"/>
          </a:xfrm>
          <a:prstGeom prst="wedgeEllipseCallout">
            <a:avLst>
              <a:gd name="adj1" fmla="val -49721"/>
              <a:gd name="adj2" fmla="val 61440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171</a:t>
            </a:r>
            <a:r>
              <a:rPr lang="ko-KR" altLang="en-US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130D049A-13A0-F010-9D78-29A5294ADA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19672" y="4149080"/>
            <a:ext cx="5648846" cy="2298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6617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00501C-93A0-464E-86C6-49C191584ADB}"/>
              </a:ext>
            </a:extLst>
          </p:cNvPr>
          <p:cNvSpPr txBox="1">
            <a:spLocks/>
          </p:cNvSpPr>
          <p:nvPr/>
        </p:nvSpPr>
        <p:spPr bwMode="auto">
          <a:xfrm>
            <a:off x="790109" y="682723"/>
            <a:ext cx="8075240" cy="642937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50000"/>
                  <a:shade val="30000"/>
                  <a:satMod val="115000"/>
                </a:schemeClr>
              </a:gs>
              <a:gs pos="50000">
                <a:schemeClr val="bg2">
                  <a:lumMod val="50000"/>
                  <a:shade val="67500"/>
                  <a:satMod val="115000"/>
                </a:schemeClr>
              </a:gs>
              <a:gs pos="100000">
                <a:schemeClr val="bg2">
                  <a:lumMod val="50000"/>
                  <a:shade val="100000"/>
                  <a:satMod val="115000"/>
                </a:schemeClr>
              </a:gs>
            </a:gsLst>
            <a:lin ang="0" scaled="1"/>
            <a:tileRect/>
          </a:gradFill>
          <a:ln>
            <a:noFill/>
            <a:miter lim="800000"/>
            <a:headEnd/>
            <a:tailEnd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2"/>
                </a:solidFill>
                <a:latin typeface="HY견고딕" pitchFamily="18" charset="-127"/>
                <a:ea typeface="HY견고딕" pitchFamily="18" charset="-127"/>
                <a:cs typeface="+mj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9pPr>
          </a:lstStyle>
          <a:p>
            <a:pPr eaLnBrk="1" hangingPunct="1">
              <a:defRPr/>
            </a:pPr>
            <a:r>
              <a:rPr kumimoji="0" lang="en-US" altLang="ko-KR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&lt;</a:t>
            </a:r>
            <a:r>
              <a:rPr kumimoji="0" lang="ko-KR" altLang="en-US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실습</a:t>
            </a:r>
            <a:r>
              <a:rPr kumimoji="0" lang="en-US" altLang="ko-KR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5&gt; vi</a:t>
            </a:r>
            <a:r>
              <a:rPr kumimoji="0" lang="ko-KR" altLang="en-US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의 비정상 </a:t>
            </a:r>
            <a:r>
              <a:rPr kumimoji="0" lang="ko-KR" altLang="en-US" sz="2400" dirty="0" err="1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종료시</a:t>
            </a:r>
            <a:r>
              <a:rPr kumimoji="0" lang="ko-KR" altLang="en-US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조치법</a:t>
            </a:r>
          </a:p>
        </p:txBody>
      </p:sp>
      <p:pic>
        <p:nvPicPr>
          <p:cNvPr id="3" name="그림 2" descr="키보드, 컴퓨터이(가) 표시된 사진&#10;&#10;자동 생성된 설명">
            <a:extLst>
              <a:ext uri="{FF2B5EF4-FFF2-40B4-BE49-F238E27FC236}">
                <a16:creationId xmlns:a16="http://schemas.microsoft.com/office/drawing/2014/main" id="{A54C3103-D403-4934-977A-CD042A520BC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6768" y="512145"/>
            <a:ext cx="756709" cy="742276"/>
          </a:xfrm>
          <a:prstGeom prst="rect">
            <a:avLst/>
          </a:prstGeom>
        </p:spPr>
      </p:pic>
      <p:sp>
        <p:nvSpPr>
          <p:cNvPr id="19459" name="내용 개체 틀 2"/>
          <p:cNvSpPr>
            <a:spLocks noGrp="1"/>
          </p:cNvSpPr>
          <p:nvPr>
            <p:ph idx="1"/>
          </p:nvPr>
        </p:nvSpPr>
        <p:spPr>
          <a:xfrm>
            <a:off x="457200" y="1357313"/>
            <a:ext cx="8229600" cy="5143500"/>
          </a:xfrm>
        </p:spPr>
        <p:txBody>
          <a:bodyPr/>
          <a:lstStyle/>
          <a:p>
            <a:pPr eaLnBrk="1" hangingPunct="1">
              <a:defRPr/>
            </a:pPr>
            <a:r>
              <a:rPr lang="ko-KR" altLang="en-US" dirty="0"/>
              <a:t>실습목표</a:t>
            </a:r>
            <a:endParaRPr lang="en-US" altLang="ko-KR" dirty="0"/>
          </a:p>
          <a:p>
            <a:pPr lvl="1" eaLnBrk="1" hangingPunct="1">
              <a:defRPr/>
            </a:pPr>
            <a:r>
              <a:rPr lang="en-US" sz="2000" dirty="0"/>
              <a:t>vi </a:t>
            </a:r>
            <a:r>
              <a:rPr lang="ko-KR" altLang="en-US" sz="2000" dirty="0"/>
              <a:t>에디터가 비정상적으로 종료 시에 조치법을 익힌다</a:t>
            </a:r>
            <a:r>
              <a:rPr lang="en-US" altLang="ko-KR" sz="2000" dirty="0"/>
              <a:t>.</a:t>
            </a:r>
          </a:p>
          <a:p>
            <a:pPr lvl="1" eaLnBrk="1" hangingPunct="1">
              <a:defRPr/>
            </a:pPr>
            <a:endParaRPr lang="en-US" altLang="ko-KR" dirty="0"/>
          </a:p>
          <a:p>
            <a:pPr eaLnBrk="1" hangingPunct="1">
              <a:defRPr/>
            </a:pPr>
            <a:r>
              <a:rPr lang="ko-KR" altLang="en-US" dirty="0"/>
              <a:t>실습 화면 </a:t>
            </a:r>
            <a:r>
              <a:rPr lang="en-US" altLang="ko-KR" dirty="0"/>
              <a:t>(vi</a:t>
            </a:r>
            <a:r>
              <a:rPr lang="ko-KR" altLang="en-US" dirty="0"/>
              <a:t>의 비정상 종료 후 다시 열었을 때</a:t>
            </a:r>
            <a:r>
              <a:rPr lang="en-US" altLang="ko-KR" dirty="0"/>
              <a:t>)</a:t>
            </a:r>
          </a:p>
          <a:p>
            <a:pPr lvl="2" eaLnBrk="1" hangingPunct="1">
              <a:defRPr/>
            </a:pPr>
            <a:endParaRPr lang="en-US" altLang="ko-KR" dirty="0"/>
          </a:p>
          <a:p>
            <a:pPr eaLnBrk="1" hangingPunct="1">
              <a:defRPr/>
            </a:pPr>
            <a:endParaRPr lang="ko-KR" altLang="en-US" dirty="0"/>
          </a:p>
        </p:txBody>
      </p:sp>
      <p:sp>
        <p:nvSpPr>
          <p:cNvPr id="4" name="말풍선: 타원형 3">
            <a:extLst>
              <a:ext uri="{FF2B5EF4-FFF2-40B4-BE49-F238E27FC236}">
                <a16:creationId xmlns:a16="http://schemas.microsoft.com/office/drawing/2014/main" id="{F00C4A91-3B7A-B1AA-DD1B-E053ADB020EB}"/>
              </a:ext>
            </a:extLst>
          </p:cNvPr>
          <p:cNvSpPr/>
          <p:nvPr/>
        </p:nvSpPr>
        <p:spPr>
          <a:xfrm>
            <a:off x="5580112" y="621408"/>
            <a:ext cx="1049292" cy="410369"/>
          </a:xfrm>
          <a:prstGeom prst="wedgeEllipseCallout">
            <a:avLst>
              <a:gd name="adj1" fmla="val -49721"/>
              <a:gd name="adj2" fmla="val 61440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177</a:t>
            </a:r>
            <a:r>
              <a:rPr lang="ko-KR" altLang="en-US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  <p:pic>
        <p:nvPicPr>
          <p:cNvPr id="7" name="그림 6" descr="텍스트, 스크린샷, 멀티미디어 소프트웨어, 소프트웨어이(가) 표시된 사진&#10;&#10;자동 생성된 설명">
            <a:extLst>
              <a:ext uri="{FF2B5EF4-FFF2-40B4-BE49-F238E27FC236}">
                <a16:creationId xmlns:a16="http://schemas.microsoft.com/office/drawing/2014/main" id="{EA787713-6655-C86F-4363-9F95E5DBBA4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7664" y="3212976"/>
            <a:ext cx="5834692" cy="2728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41576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제목 1"/>
          <p:cNvSpPr>
            <a:spLocks noGrp="1"/>
          </p:cNvSpPr>
          <p:nvPr>
            <p:ph type="title"/>
          </p:nvPr>
        </p:nvSpPr>
        <p:spPr>
          <a:xfrm>
            <a:off x="500063" y="714375"/>
            <a:ext cx="8229600" cy="642938"/>
          </a:xfrm>
        </p:spPr>
        <p:txBody>
          <a:bodyPr/>
          <a:lstStyle/>
          <a:p>
            <a:pPr eaLnBrk="1" hangingPunct="1"/>
            <a:r>
              <a:rPr lang="en-US" altLang="ko-KR" sz="2800" dirty="0"/>
              <a:t>vi </a:t>
            </a:r>
            <a:r>
              <a:rPr lang="ko-KR" altLang="en-US" sz="2800" dirty="0"/>
              <a:t>기능 요약</a:t>
            </a:r>
            <a:endParaRPr lang="ko-KR" altLang="en-US" sz="2800" dirty="0">
              <a:solidFill>
                <a:srgbClr val="00B050"/>
              </a:solidFill>
            </a:endParaRPr>
          </a:p>
        </p:txBody>
      </p:sp>
      <p:sp>
        <p:nvSpPr>
          <p:cNvPr id="8" name="내용 개체 틀 2"/>
          <p:cNvSpPr>
            <a:spLocks noGrp="1"/>
          </p:cNvSpPr>
          <p:nvPr>
            <p:ph idx="1"/>
          </p:nvPr>
        </p:nvSpPr>
        <p:spPr>
          <a:xfrm>
            <a:off x="457200" y="1357313"/>
            <a:ext cx="8229600" cy="5214937"/>
          </a:xfrm>
        </p:spPr>
        <p:txBody>
          <a:bodyPr/>
          <a:lstStyle/>
          <a:p>
            <a:pPr eaLnBrk="1" hangingPunct="1">
              <a:defRPr/>
            </a:pPr>
            <a:r>
              <a:rPr lang="ko-KR" altLang="en-US" dirty="0"/>
              <a:t>명령모드 </a:t>
            </a:r>
            <a:r>
              <a:rPr lang="en-US" altLang="ko-KR" dirty="0">
                <a:sym typeface="Wingdings" pitchFamily="2" charset="2"/>
              </a:rPr>
              <a:t> </a:t>
            </a:r>
            <a:r>
              <a:rPr lang="ko-KR" altLang="en-US" dirty="0">
                <a:sym typeface="Wingdings" pitchFamily="2" charset="2"/>
              </a:rPr>
              <a:t>입력모드</a:t>
            </a:r>
            <a:endParaRPr lang="en-US" altLang="ko-KR" dirty="0">
              <a:sym typeface="Wingdings" pitchFamily="2" charset="2"/>
            </a:endParaRPr>
          </a:p>
          <a:p>
            <a:pPr eaLnBrk="1" hangingPunct="1">
              <a:defRPr/>
            </a:pPr>
            <a:endParaRPr lang="en-US" altLang="ko-KR" dirty="0">
              <a:sym typeface="Wingdings" pitchFamily="2" charset="2"/>
            </a:endParaRPr>
          </a:p>
          <a:p>
            <a:pPr eaLnBrk="1" hangingPunct="1">
              <a:defRPr/>
            </a:pPr>
            <a:endParaRPr lang="en-US" altLang="ko-KR" dirty="0">
              <a:sym typeface="Wingdings" pitchFamily="2" charset="2"/>
            </a:endParaRPr>
          </a:p>
          <a:p>
            <a:pPr eaLnBrk="1" hangingPunct="1">
              <a:defRPr/>
            </a:pPr>
            <a:r>
              <a:rPr lang="ko-KR" altLang="en-US" dirty="0"/>
              <a:t>명령 모드에서 커서를 이동</a:t>
            </a:r>
            <a:endParaRPr lang="en-US" altLang="ko-KR" dirty="0"/>
          </a:p>
          <a:p>
            <a:pPr eaLnBrk="1" hangingPunct="1">
              <a:defRPr/>
            </a:pPr>
            <a:endParaRPr lang="en-US" altLang="ko-KR" dirty="0"/>
          </a:p>
          <a:p>
            <a:pPr eaLnBrk="1" hangingPunct="1">
              <a:defRPr/>
            </a:pPr>
            <a:endParaRPr lang="en-US" altLang="ko-KR" dirty="0"/>
          </a:p>
          <a:p>
            <a:pPr eaLnBrk="1" hangingPunct="1">
              <a:defRPr/>
            </a:pPr>
            <a:r>
              <a:rPr lang="ko-KR" altLang="en-US" dirty="0"/>
              <a:t>명령 모드에서 삭제</a:t>
            </a:r>
            <a:r>
              <a:rPr lang="en-US" altLang="ko-KR" dirty="0"/>
              <a:t>, </a:t>
            </a:r>
            <a:r>
              <a:rPr lang="ko-KR" altLang="en-US" dirty="0"/>
              <a:t>복사</a:t>
            </a:r>
            <a:r>
              <a:rPr lang="en-US" altLang="ko-KR" dirty="0"/>
              <a:t>, </a:t>
            </a:r>
            <a:r>
              <a:rPr lang="ko-KR" altLang="en-US" dirty="0" err="1"/>
              <a:t>붙여넣기</a:t>
            </a:r>
            <a:endParaRPr lang="en-US" altLang="ko-KR" dirty="0"/>
          </a:p>
          <a:p>
            <a:pPr eaLnBrk="1" hangingPunct="1">
              <a:defRPr/>
            </a:pPr>
            <a:endParaRPr lang="en-US" altLang="ko-KR" dirty="0"/>
          </a:p>
          <a:p>
            <a:pPr eaLnBrk="1" hangingPunct="1">
              <a:defRPr/>
            </a:pPr>
            <a:endParaRPr lang="en-US" altLang="ko-KR" dirty="0"/>
          </a:p>
          <a:p>
            <a:pPr eaLnBrk="1" hangingPunct="1">
              <a:defRPr/>
            </a:pPr>
            <a:endParaRPr lang="en-US" altLang="ko-KR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4450" y="1800131"/>
            <a:ext cx="7498732" cy="730510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9179" y="3045533"/>
            <a:ext cx="7481129" cy="712908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8227" y="4391097"/>
            <a:ext cx="7463526" cy="2147524"/>
          </a:xfrm>
          <a:prstGeom prst="rect">
            <a:avLst/>
          </a:prstGeom>
        </p:spPr>
      </p:pic>
      <p:sp>
        <p:nvSpPr>
          <p:cNvPr id="5" name="말풍선: 타원형 4">
            <a:extLst>
              <a:ext uri="{FF2B5EF4-FFF2-40B4-BE49-F238E27FC236}">
                <a16:creationId xmlns:a16="http://schemas.microsoft.com/office/drawing/2014/main" id="{79D1CDDE-887B-EDEB-06ED-72C1E2C93FD8}"/>
              </a:ext>
            </a:extLst>
          </p:cNvPr>
          <p:cNvSpPr/>
          <p:nvPr/>
        </p:nvSpPr>
        <p:spPr>
          <a:xfrm>
            <a:off x="2627784" y="621408"/>
            <a:ext cx="1049292" cy="410369"/>
          </a:xfrm>
          <a:prstGeom prst="wedgeEllipseCallout">
            <a:avLst>
              <a:gd name="adj1" fmla="val -49721"/>
              <a:gd name="adj2" fmla="val 61440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179</a:t>
            </a:r>
            <a:r>
              <a:rPr lang="ko-KR" altLang="en-US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  <p:sp>
        <p:nvSpPr>
          <p:cNvPr id="6" name="물결 5">
            <a:extLst>
              <a:ext uri="{FF2B5EF4-FFF2-40B4-BE49-F238E27FC236}">
                <a16:creationId xmlns:a16="http://schemas.microsoft.com/office/drawing/2014/main" id="{4198F4AF-1D8F-6955-9F9F-06C7DF136A30}"/>
              </a:ext>
            </a:extLst>
          </p:cNvPr>
          <p:cNvSpPr/>
          <p:nvPr/>
        </p:nvSpPr>
        <p:spPr>
          <a:xfrm>
            <a:off x="4283968" y="725331"/>
            <a:ext cx="4205609" cy="852066"/>
          </a:xfrm>
          <a:prstGeom prst="wave">
            <a:avLst>
              <a:gd name="adj1" fmla="val 6856"/>
              <a:gd name="adj2" fmla="val -605"/>
            </a:avLst>
          </a:prstGeom>
          <a:solidFill>
            <a:srgbClr val="FF7C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ko-KR" altLang="en-US" sz="1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문자열을 치환은 “</a:t>
            </a:r>
            <a:r>
              <a:rPr lang="en-US" altLang="ko-KR" sz="1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:%s/</a:t>
            </a:r>
            <a:r>
              <a:rPr lang="ko-KR" altLang="en-US" sz="1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기존문자열</a:t>
            </a:r>
            <a:r>
              <a:rPr lang="en-US" altLang="ko-KR" sz="1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/</a:t>
            </a:r>
            <a:r>
              <a:rPr lang="ko-KR" altLang="en-US" sz="1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새문자열”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ko-KR" altLang="en-US" sz="1400" dirty="0" err="1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행번호</a:t>
            </a:r>
            <a:r>
              <a:rPr lang="ko-KR" altLang="en-US" sz="1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표시는 “</a:t>
            </a:r>
            <a:r>
              <a:rPr lang="en-US" altLang="ko-KR" sz="1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:set number”</a:t>
            </a:r>
          </a:p>
        </p:txBody>
      </p:sp>
    </p:spTree>
    <p:extLst>
      <p:ext uri="{BB962C8B-B14F-4D97-AF65-F5344CB8AC3E}">
        <p14:creationId xmlns:p14="http://schemas.microsoft.com/office/powerpoint/2010/main" val="5337145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>
          <a:xfrm>
            <a:off x="500063" y="714375"/>
            <a:ext cx="8229600" cy="642938"/>
          </a:xfrm>
        </p:spPr>
        <p:txBody>
          <a:bodyPr/>
          <a:lstStyle/>
          <a:p>
            <a:pPr eaLnBrk="1" hangingPunct="1"/>
            <a:r>
              <a:rPr lang="ko-KR" altLang="en-US" sz="2800" dirty="0"/>
              <a:t>도움말 사용법</a:t>
            </a:r>
          </a:p>
        </p:txBody>
      </p:sp>
      <p:sp>
        <p:nvSpPr>
          <p:cNvPr id="8" name="내용 개체 틀 2"/>
          <p:cNvSpPr>
            <a:spLocks noGrp="1"/>
          </p:cNvSpPr>
          <p:nvPr>
            <p:ph idx="1"/>
          </p:nvPr>
        </p:nvSpPr>
        <p:spPr>
          <a:xfrm>
            <a:off x="457200" y="1357313"/>
            <a:ext cx="8229600" cy="642937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ko-KR" dirty="0"/>
              <a:t>“man </a:t>
            </a:r>
            <a:r>
              <a:rPr lang="ko-KR" altLang="en-US" dirty="0"/>
              <a:t>명령어</a:t>
            </a:r>
            <a:r>
              <a:rPr lang="en-US" altLang="ko-KR" dirty="0"/>
              <a:t>”</a:t>
            </a:r>
            <a:r>
              <a:rPr lang="ko-KR" altLang="en-US" dirty="0"/>
              <a:t>를 사용하면 도움말 출력</a:t>
            </a:r>
            <a:endParaRPr lang="en-US" altLang="ko-KR" dirty="0"/>
          </a:p>
          <a:p>
            <a:pPr eaLnBrk="1" hangingPunct="1">
              <a:defRPr/>
            </a:pPr>
            <a:endParaRPr lang="en-US" altLang="ko-KR" dirty="0"/>
          </a:p>
          <a:p>
            <a:pPr eaLnBrk="1" hangingPunct="1">
              <a:defRPr/>
            </a:pPr>
            <a:endParaRPr lang="en-US" altLang="ko-KR" dirty="0"/>
          </a:p>
          <a:p>
            <a:pPr eaLnBrk="1" hangingPunct="1">
              <a:defRPr/>
            </a:pPr>
            <a:endParaRPr lang="en-US" altLang="ko-KR" dirty="0"/>
          </a:p>
        </p:txBody>
      </p:sp>
      <p:sp>
        <p:nvSpPr>
          <p:cNvPr id="5" name="제목 1"/>
          <p:cNvSpPr txBox="1">
            <a:spLocks/>
          </p:cNvSpPr>
          <p:nvPr/>
        </p:nvSpPr>
        <p:spPr bwMode="auto">
          <a:xfrm>
            <a:off x="485775" y="4786313"/>
            <a:ext cx="8229600" cy="642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normAutofit/>
          </a:bodyPr>
          <a:lstStyle/>
          <a:p>
            <a:pPr>
              <a:defRPr/>
            </a:pPr>
            <a:r>
              <a:rPr kumimoji="0" lang="ko-KR" altLang="en-US" sz="2800" dirty="0" err="1">
                <a:solidFill>
                  <a:schemeClr val="tx2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+mj-cs"/>
              </a:rPr>
              <a:t>마운트와</a:t>
            </a:r>
            <a:r>
              <a:rPr kumimoji="0" lang="ko-KR" altLang="en-US" sz="2800" dirty="0">
                <a:solidFill>
                  <a:schemeClr val="tx2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+mj-cs"/>
              </a:rPr>
              <a:t> </a:t>
            </a:r>
            <a:r>
              <a:rPr kumimoji="0" lang="en-US" altLang="ko-KR" sz="2800" dirty="0">
                <a:solidFill>
                  <a:schemeClr val="tx2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+mj-cs"/>
              </a:rPr>
              <a:t>CD/DVD, USB</a:t>
            </a:r>
            <a:r>
              <a:rPr kumimoji="0" lang="ko-KR" altLang="en-US" sz="2800" dirty="0">
                <a:solidFill>
                  <a:schemeClr val="tx2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+mj-cs"/>
              </a:rPr>
              <a:t>의 활용</a:t>
            </a:r>
          </a:p>
        </p:txBody>
      </p:sp>
      <p:sp>
        <p:nvSpPr>
          <p:cNvPr id="6" name="내용 개체 틀 2"/>
          <p:cNvSpPr txBox="1">
            <a:spLocks/>
          </p:cNvSpPr>
          <p:nvPr/>
        </p:nvSpPr>
        <p:spPr bwMode="auto">
          <a:xfrm>
            <a:off x="442913" y="5429250"/>
            <a:ext cx="8229600" cy="1214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normAutofit/>
          </a:bodyPr>
          <a:lstStyle/>
          <a:p>
            <a:pPr marL="365125" indent="-255588">
              <a:spcBef>
                <a:spcPts val="300"/>
              </a:spcBef>
              <a:buClr>
                <a:srgbClr val="A04DA3"/>
              </a:buClr>
              <a:buFont typeface="Georgia" pitchFamily="18" charset="0"/>
              <a:buChar char="•"/>
              <a:defRPr/>
            </a:pPr>
            <a:r>
              <a:rPr kumimoji="0"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물리적인 장치를 특정한 위치</a:t>
            </a:r>
            <a:r>
              <a:rPr kumimoji="0"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kumimoji="0"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대개는 폴더</a:t>
            </a:r>
            <a:r>
              <a:rPr kumimoji="0"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  <a:r>
              <a:rPr kumimoji="0"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에 연결시켜 주는 과정</a:t>
            </a:r>
            <a:endParaRPr kumimoji="0" lang="en-US" altLang="ko-KR" sz="24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" name="말풍선: 타원형 1">
            <a:extLst>
              <a:ext uri="{FF2B5EF4-FFF2-40B4-BE49-F238E27FC236}">
                <a16:creationId xmlns:a16="http://schemas.microsoft.com/office/drawing/2014/main" id="{7F5D03CC-256A-D9EF-FB0B-A5248C9EED18}"/>
              </a:ext>
            </a:extLst>
          </p:cNvPr>
          <p:cNvSpPr/>
          <p:nvPr/>
        </p:nvSpPr>
        <p:spPr>
          <a:xfrm>
            <a:off x="2915816" y="621408"/>
            <a:ext cx="1049292" cy="410369"/>
          </a:xfrm>
          <a:prstGeom prst="wedgeEllipseCallout">
            <a:avLst>
              <a:gd name="adj1" fmla="val -49721"/>
              <a:gd name="adj2" fmla="val 61440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181</a:t>
            </a:r>
            <a:r>
              <a:rPr lang="ko-KR" altLang="en-US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  <p:sp>
        <p:nvSpPr>
          <p:cNvPr id="3" name="물결 2">
            <a:extLst>
              <a:ext uri="{FF2B5EF4-FFF2-40B4-BE49-F238E27FC236}">
                <a16:creationId xmlns:a16="http://schemas.microsoft.com/office/drawing/2014/main" id="{0506D6DD-7A13-6779-1978-E336627F1955}"/>
              </a:ext>
            </a:extLst>
          </p:cNvPr>
          <p:cNvSpPr/>
          <p:nvPr/>
        </p:nvSpPr>
        <p:spPr>
          <a:xfrm>
            <a:off x="4932040" y="704448"/>
            <a:ext cx="3534304" cy="514638"/>
          </a:xfrm>
          <a:prstGeom prst="wave">
            <a:avLst>
              <a:gd name="adj1" fmla="val 6856"/>
              <a:gd name="adj2" fmla="val -605"/>
            </a:avLst>
          </a:prstGeom>
          <a:solidFill>
            <a:srgbClr val="FF7C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r>
              <a:rPr lang="en-US" altLang="ko-KR" sz="1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man </a:t>
            </a:r>
            <a:r>
              <a:rPr lang="ko-KR" altLang="en-US" sz="1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페이지는 섹션 </a:t>
            </a:r>
            <a:r>
              <a:rPr lang="en-US" altLang="ko-KR" sz="1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1~9</a:t>
            </a:r>
            <a:r>
              <a:rPr lang="ko-KR" altLang="en-US" sz="1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까지로 나뉨</a:t>
            </a:r>
            <a:endParaRPr lang="en-US" altLang="ko-KR" sz="1400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pic>
        <p:nvPicPr>
          <p:cNvPr id="7" name="그림 6" descr="텍스트, 스크린샷, 폰트, 소프트웨어이(가) 표시된 사진&#10;&#10;자동 생성된 설명">
            <a:extLst>
              <a:ext uri="{FF2B5EF4-FFF2-40B4-BE49-F238E27FC236}">
                <a16:creationId xmlns:a16="http://schemas.microsoft.com/office/drawing/2014/main" id="{6029DD38-553A-12A2-9D29-00C5778DF3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3636" y="1891339"/>
            <a:ext cx="5005272" cy="2741859"/>
          </a:xfrm>
          <a:prstGeom prst="rect">
            <a:avLst/>
          </a:prstGeom>
        </p:spPr>
      </p:pic>
      <p:sp>
        <p:nvSpPr>
          <p:cNvPr id="9" name="말풍선: 타원형 8">
            <a:extLst>
              <a:ext uri="{FF2B5EF4-FFF2-40B4-BE49-F238E27FC236}">
                <a16:creationId xmlns:a16="http://schemas.microsoft.com/office/drawing/2014/main" id="{135D258E-C0DC-6A98-D55B-46E96015226B}"/>
              </a:ext>
            </a:extLst>
          </p:cNvPr>
          <p:cNvSpPr/>
          <p:nvPr/>
        </p:nvSpPr>
        <p:spPr>
          <a:xfrm>
            <a:off x="5508104" y="4701357"/>
            <a:ext cx="1049292" cy="410369"/>
          </a:xfrm>
          <a:prstGeom prst="wedgeEllipseCallout">
            <a:avLst>
              <a:gd name="adj1" fmla="val -49721"/>
              <a:gd name="adj2" fmla="val 61440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182</a:t>
            </a:r>
            <a:r>
              <a:rPr lang="ko-KR" altLang="en-US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</p:spTree>
    <p:extLst>
      <p:ext uri="{BB962C8B-B14F-4D97-AF65-F5344CB8AC3E}">
        <p14:creationId xmlns:p14="http://schemas.microsoft.com/office/powerpoint/2010/main" val="38447460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5479A8-F3E8-4AAB-BB79-36419E5DA920}"/>
              </a:ext>
            </a:extLst>
          </p:cNvPr>
          <p:cNvSpPr txBox="1">
            <a:spLocks/>
          </p:cNvSpPr>
          <p:nvPr/>
        </p:nvSpPr>
        <p:spPr bwMode="auto">
          <a:xfrm>
            <a:off x="790109" y="593425"/>
            <a:ext cx="8075240" cy="642937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50000"/>
                  <a:shade val="30000"/>
                  <a:satMod val="115000"/>
                </a:schemeClr>
              </a:gs>
              <a:gs pos="50000">
                <a:schemeClr val="bg2">
                  <a:lumMod val="50000"/>
                  <a:shade val="67500"/>
                  <a:satMod val="115000"/>
                </a:schemeClr>
              </a:gs>
              <a:gs pos="100000">
                <a:schemeClr val="bg2">
                  <a:lumMod val="50000"/>
                  <a:shade val="100000"/>
                  <a:satMod val="115000"/>
                </a:schemeClr>
              </a:gs>
            </a:gsLst>
            <a:lin ang="0" scaled="1"/>
            <a:tileRect/>
          </a:gradFill>
          <a:ln>
            <a:noFill/>
            <a:miter lim="800000"/>
            <a:headEnd/>
            <a:tailEnd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2"/>
                </a:solidFill>
                <a:latin typeface="HY견고딕" pitchFamily="18" charset="-127"/>
                <a:ea typeface="HY견고딕" pitchFamily="18" charset="-127"/>
                <a:cs typeface="+mj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9pPr>
          </a:lstStyle>
          <a:p>
            <a:pPr eaLnBrk="1" hangingPunct="1">
              <a:defRPr/>
            </a:pPr>
            <a:r>
              <a:rPr kumimoji="0" lang="en-US" altLang="ko-KR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&lt;</a:t>
            </a:r>
            <a:r>
              <a:rPr kumimoji="0" lang="ko-KR" altLang="en-US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실습</a:t>
            </a:r>
            <a:r>
              <a:rPr kumimoji="0" lang="en-US" altLang="ko-KR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6&gt; CD/DVD </a:t>
            </a:r>
            <a:r>
              <a:rPr kumimoji="0" lang="ko-KR" altLang="en-US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마운트</a:t>
            </a:r>
          </a:p>
        </p:txBody>
      </p:sp>
      <p:sp>
        <p:nvSpPr>
          <p:cNvPr id="19459" name="내용 개체 틀 2"/>
          <p:cNvSpPr>
            <a:spLocks noGrp="1"/>
          </p:cNvSpPr>
          <p:nvPr>
            <p:ph idx="1"/>
          </p:nvPr>
        </p:nvSpPr>
        <p:spPr>
          <a:xfrm>
            <a:off x="457200" y="1357313"/>
            <a:ext cx="8229600" cy="5143500"/>
          </a:xfrm>
        </p:spPr>
        <p:txBody>
          <a:bodyPr/>
          <a:lstStyle/>
          <a:p>
            <a:pPr eaLnBrk="1" hangingPunct="1">
              <a:defRPr/>
            </a:pPr>
            <a:r>
              <a:rPr lang="ko-KR" altLang="en-US" dirty="0"/>
              <a:t>실습목표</a:t>
            </a:r>
            <a:endParaRPr lang="en-US" altLang="ko-KR" dirty="0"/>
          </a:p>
          <a:p>
            <a:pPr lvl="1" eaLnBrk="1" hangingPunct="1">
              <a:defRPr/>
            </a:pPr>
            <a:r>
              <a:rPr lang="en-US" sz="2000" dirty="0"/>
              <a:t>X </a:t>
            </a:r>
            <a:r>
              <a:rPr lang="ko-KR" altLang="en-US" sz="2000" dirty="0"/>
              <a:t>윈도우에서 </a:t>
            </a:r>
            <a:r>
              <a:rPr lang="en-US" altLang="ko-KR" sz="2000" dirty="0"/>
              <a:t>CD/DVD </a:t>
            </a:r>
            <a:r>
              <a:rPr lang="ko-KR" altLang="en-US" sz="2000" dirty="0"/>
              <a:t>와 </a:t>
            </a:r>
            <a:r>
              <a:rPr lang="en-US" altLang="ko-KR" sz="2000" dirty="0"/>
              <a:t>USB </a:t>
            </a:r>
            <a:r>
              <a:rPr lang="ko-KR" altLang="en-US" sz="2000" dirty="0"/>
              <a:t>사용법을 익힌다</a:t>
            </a:r>
            <a:r>
              <a:rPr lang="en-US" altLang="ko-KR" sz="2000" dirty="0"/>
              <a:t>.</a:t>
            </a:r>
          </a:p>
          <a:p>
            <a:pPr lvl="1" eaLnBrk="1" hangingPunct="1">
              <a:defRPr/>
            </a:pPr>
            <a:r>
              <a:rPr lang="ko-KR" altLang="en-US" sz="2000" dirty="0"/>
              <a:t>텍스트모드에서 </a:t>
            </a:r>
            <a:r>
              <a:rPr lang="en-US" altLang="ko-KR" sz="2000" dirty="0"/>
              <a:t>CD/DVD </a:t>
            </a:r>
            <a:r>
              <a:rPr lang="ko-KR" altLang="en-US" sz="2000" dirty="0"/>
              <a:t>와 </a:t>
            </a:r>
            <a:r>
              <a:rPr lang="en-US" altLang="ko-KR" sz="2000" dirty="0"/>
              <a:t>USB </a:t>
            </a:r>
            <a:r>
              <a:rPr lang="ko-KR" altLang="en-US" sz="2000" dirty="0"/>
              <a:t>사용법을 익힌다</a:t>
            </a:r>
            <a:r>
              <a:rPr lang="en-US" altLang="ko-KR" sz="2000" dirty="0"/>
              <a:t>.</a:t>
            </a:r>
            <a:endParaRPr lang="en-US" altLang="ko-KR" dirty="0"/>
          </a:p>
          <a:p>
            <a:pPr eaLnBrk="1" hangingPunct="1">
              <a:defRPr/>
            </a:pPr>
            <a:r>
              <a:rPr lang="ko-KR" altLang="en-US" dirty="0"/>
              <a:t>실습 화면 </a:t>
            </a:r>
            <a:r>
              <a:rPr lang="en-US" altLang="ko-KR" dirty="0"/>
              <a:t>(DVD </a:t>
            </a:r>
            <a:r>
              <a:rPr lang="ko-KR" altLang="en-US" dirty="0"/>
              <a:t>마운트와 </a:t>
            </a:r>
            <a:r>
              <a:rPr lang="en-US" altLang="ko-KR" dirty="0"/>
              <a:t>USB </a:t>
            </a:r>
            <a:r>
              <a:rPr lang="ko-KR" altLang="en-US" dirty="0"/>
              <a:t>마운트</a:t>
            </a:r>
            <a:r>
              <a:rPr lang="en-US" altLang="ko-KR" dirty="0"/>
              <a:t>)</a:t>
            </a:r>
          </a:p>
          <a:p>
            <a:pPr lvl="2" eaLnBrk="1" hangingPunct="1">
              <a:defRPr/>
            </a:pPr>
            <a:endParaRPr lang="en-US" altLang="ko-KR" dirty="0"/>
          </a:p>
          <a:p>
            <a:pPr eaLnBrk="1" hangingPunct="1">
              <a:defRPr/>
            </a:pPr>
            <a:endParaRPr lang="ko-KR" altLang="en-US" dirty="0"/>
          </a:p>
        </p:txBody>
      </p:sp>
      <p:pic>
        <p:nvPicPr>
          <p:cNvPr id="3" name="그림 2" descr="키보드, 컴퓨터이(가) 표시된 사진&#10;&#10;자동 생성된 설명">
            <a:extLst>
              <a:ext uri="{FF2B5EF4-FFF2-40B4-BE49-F238E27FC236}">
                <a16:creationId xmlns:a16="http://schemas.microsoft.com/office/drawing/2014/main" id="{6365D720-AE29-43EA-98A8-3E8C57F1366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6768" y="422847"/>
            <a:ext cx="756709" cy="742276"/>
          </a:xfrm>
          <a:prstGeom prst="rect">
            <a:avLst/>
          </a:prstGeom>
        </p:spPr>
      </p:pic>
      <p:sp>
        <p:nvSpPr>
          <p:cNvPr id="4" name="말풍선: 타원형 3">
            <a:extLst>
              <a:ext uri="{FF2B5EF4-FFF2-40B4-BE49-F238E27FC236}">
                <a16:creationId xmlns:a16="http://schemas.microsoft.com/office/drawing/2014/main" id="{02B8A9A7-D911-9F83-8651-668ACFD3104D}"/>
              </a:ext>
            </a:extLst>
          </p:cNvPr>
          <p:cNvSpPr/>
          <p:nvPr/>
        </p:nvSpPr>
        <p:spPr>
          <a:xfrm>
            <a:off x="4355976" y="511360"/>
            <a:ext cx="1049292" cy="410369"/>
          </a:xfrm>
          <a:prstGeom prst="wedgeEllipseCallout">
            <a:avLst>
              <a:gd name="adj1" fmla="val -49721"/>
              <a:gd name="adj2" fmla="val 61440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182</a:t>
            </a:r>
            <a:r>
              <a:rPr lang="ko-KR" altLang="en-US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  <p:pic>
        <p:nvPicPr>
          <p:cNvPr id="6" name="그림 5" descr="텍스트, 스크린샷, 폰트이(가) 표시된 사진&#10;&#10;자동 생성된 설명">
            <a:extLst>
              <a:ext uri="{FF2B5EF4-FFF2-40B4-BE49-F238E27FC236}">
                <a16:creationId xmlns:a16="http://schemas.microsoft.com/office/drawing/2014/main" id="{3BE08A9D-7FB6-C8F2-FA42-DFEA98932F0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2922" y="2876062"/>
            <a:ext cx="5726107" cy="1410475"/>
          </a:xfrm>
          <a:prstGeom prst="rect">
            <a:avLst/>
          </a:prstGeom>
        </p:spPr>
      </p:pic>
      <p:pic>
        <p:nvPicPr>
          <p:cNvPr id="9" name="그림 8" descr="텍스트, 스크린샷, 폰트, 그래픽이(가) 표시된 사진&#10;&#10;자동 생성된 설명">
            <a:extLst>
              <a:ext uri="{FF2B5EF4-FFF2-40B4-BE49-F238E27FC236}">
                <a16:creationId xmlns:a16="http://schemas.microsoft.com/office/drawing/2014/main" id="{41F5A87D-16B9-EF0A-5FF2-B91E1F4BCFB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2233" y="4365104"/>
            <a:ext cx="2947485" cy="2071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50698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542A26-0B24-43FF-84FA-8A2EB723C37F}"/>
              </a:ext>
            </a:extLst>
          </p:cNvPr>
          <p:cNvSpPr txBox="1">
            <a:spLocks/>
          </p:cNvSpPr>
          <p:nvPr/>
        </p:nvSpPr>
        <p:spPr bwMode="auto">
          <a:xfrm>
            <a:off x="790109" y="647250"/>
            <a:ext cx="8075240" cy="642937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50000"/>
                  <a:shade val="30000"/>
                  <a:satMod val="115000"/>
                </a:schemeClr>
              </a:gs>
              <a:gs pos="50000">
                <a:schemeClr val="bg2">
                  <a:lumMod val="50000"/>
                  <a:shade val="67500"/>
                  <a:satMod val="115000"/>
                </a:schemeClr>
              </a:gs>
              <a:gs pos="100000">
                <a:schemeClr val="bg2">
                  <a:lumMod val="50000"/>
                  <a:shade val="100000"/>
                  <a:satMod val="115000"/>
                </a:schemeClr>
              </a:gs>
            </a:gsLst>
            <a:lin ang="0" scaled="1"/>
            <a:tileRect/>
          </a:gradFill>
          <a:ln>
            <a:noFill/>
            <a:miter lim="800000"/>
            <a:headEnd/>
            <a:tailEnd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2"/>
                </a:solidFill>
                <a:latin typeface="HY견고딕" pitchFamily="18" charset="-127"/>
                <a:ea typeface="HY견고딕" pitchFamily="18" charset="-127"/>
                <a:cs typeface="+mj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9pPr>
          </a:lstStyle>
          <a:p>
            <a:pPr eaLnBrk="1" hangingPunct="1">
              <a:defRPr/>
            </a:pPr>
            <a:r>
              <a:rPr kumimoji="0" lang="en-US" altLang="ko-KR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&lt;</a:t>
            </a:r>
            <a:r>
              <a:rPr kumimoji="0" lang="ko-KR" altLang="en-US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실습</a:t>
            </a:r>
            <a:r>
              <a:rPr kumimoji="0" lang="en-US" altLang="ko-KR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7&gt; </a:t>
            </a:r>
            <a:r>
              <a:rPr kumimoji="0" lang="ko-KR" altLang="en-US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리눅스에서 </a:t>
            </a:r>
            <a:r>
              <a:rPr kumimoji="0" lang="en-US" altLang="ko-KR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ISO </a:t>
            </a:r>
            <a:r>
              <a:rPr kumimoji="0" lang="ko-KR" altLang="en-US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파일을 제작</a:t>
            </a:r>
          </a:p>
        </p:txBody>
      </p:sp>
      <p:pic>
        <p:nvPicPr>
          <p:cNvPr id="3" name="그림 2" descr="키보드, 컴퓨터이(가) 표시된 사진&#10;&#10;자동 생성된 설명">
            <a:extLst>
              <a:ext uri="{FF2B5EF4-FFF2-40B4-BE49-F238E27FC236}">
                <a16:creationId xmlns:a16="http://schemas.microsoft.com/office/drawing/2014/main" id="{56359C47-3BEC-4F41-9273-C6F214D8361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6768" y="476672"/>
            <a:ext cx="756709" cy="742276"/>
          </a:xfrm>
          <a:prstGeom prst="rect">
            <a:avLst/>
          </a:prstGeom>
        </p:spPr>
      </p:pic>
      <p:sp>
        <p:nvSpPr>
          <p:cNvPr id="19459" name="내용 개체 틀 2"/>
          <p:cNvSpPr>
            <a:spLocks noGrp="1"/>
          </p:cNvSpPr>
          <p:nvPr>
            <p:ph idx="1"/>
          </p:nvPr>
        </p:nvSpPr>
        <p:spPr>
          <a:xfrm>
            <a:off x="457200" y="1357313"/>
            <a:ext cx="8229600" cy="5143500"/>
          </a:xfrm>
        </p:spPr>
        <p:txBody>
          <a:bodyPr/>
          <a:lstStyle/>
          <a:p>
            <a:pPr eaLnBrk="1" hangingPunct="1">
              <a:defRPr/>
            </a:pPr>
            <a:r>
              <a:rPr lang="ko-KR" altLang="en-US" dirty="0"/>
              <a:t>실습목표</a:t>
            </a:r>
            <a:endParaRPr lang="en-US" altLang="ko-KR" dirty="0"/>
          </a:p>
          <a:p>
            <a:pPr lvl="1" eaLnBrk="1" hangingPunct="1">
              <a:defRPr/>
            </a:pPr>
            <a:r>
              <a:rPr lang="en-US" sz="2000" dirty="0"/>
              <a:t>CD </a:t>
            </a:r>
            <a:r>
              <a:rPr lang="ko-KR" altLang="en-US" sz="2000" dirty="0" err="1"/>
              <a:t>레코딩</a:t>
            </a:r>
            <a:r>
              <a:rPr lang="ko-KR" altLang="en-US" sz="2000" dirty="0"/>
              <a:t> 명령어 </a:t>
            </a:r>
            <a:r>
              <a:rPr lang="en-US" altLang="ko-KR" sz="2000" dirty="0" err="1"/>
              <a:t>genisoimage</a:t>
            </a:r>
            <a:r>
              <a:rPr lang="ko-KR" altLang="en-US" sz="2000" dirty="0"/>
              <a:t>사용법을 익힌다</a:t>
            </a:r>
            <a:r>
              <a:rPr lang="en-US" altLang="ko-KR" sz="2000" dirty="0"/>
              <a:t>.</a:t>
            </a:r>
          </a:p>
          <a:p>
            <a:pPr lvl="1" eaLnBrk="1" hangingPunct="1">
              <a:defRPr/>
            </a:pPr>
            <a:r>
              <a:rPr lang="en-US" altLang="ko-KR" sz="2000" dirty="0"/>
              <a:t>ISO </a:t>
            </a:r>
            <a:r>
              <a:rPr lang="ko-KR" altLang="en-US" sz="2000" dirty="0"/>
              <a:t>파일을 리눅스에서 마운트 해서 사용하는 방법을 익힌다</a:t>
            </a:r>
            <a:r>
              <a:rPr lang="en-US" altLang="ko-KR" sz="2000" dirty="0"/>
              <a:t>.</a:t>
            </a:r>
          </a:p>
          <a:p>
            <a:pPr lvl="1" eaLnBrk="1" hangingPunct="1">
              <a:defRPr/>
            </a:pPr>
            <a:endParaRPr lang="en-US" altLang="ko-KR" dirty="0"/>
          </a:p>
          <a:p>
            <a:pPr eaLnBrk="1" hangingPunct="1">
              <a:defRPr/>
            </a:pPr>
            <a:r>
              <a:rPr lang="ko-KR" altLang="en-US" dirty="0"/>
              <a:t>실습 화면 </a:t>
            </a:r>
            <a:r>
              <a:rPr lang="en-US" altLang="ko-KR" dirty="0"/>
              <a:t>(ISO </a:t>
            </a:r>
            <a:r>
              <a:rPr lang="ko-KR" altLang="en-US" dirty="0"/>
              <a:t>파일 생성</a:t>
            </a:r>
            <a:r>
              <a:rPr lang="en-US" altLang="ko-KR" dirty="0"/>
              <a:t>)</a:t>
            </a:r>
          </a:p>
          <a:p>
            <a:pPr lvl="2" eaLnBrk="1" hangingPunct="1">
              <a:defRPr/>
            </a:pPr>
            <a:endParaRPr lang="en-US" altLang="ko-KR" dirty="0"/>
          </a:p>
          <a:p>
            <a:pPr eaLnBrk="1" hangingPunct="1">
              <a:defRPr/>
            </a:pPr>
            <a:endParaRPr lang="ko-KR" altLang="en-US" dirty="0"/>
          </a:p>
        </p:txBody>
      </p:sp>
      <p:sp>
        <p:nvSpPr>
          <p:cNvPr id="4" name="말풍선: 타원형 3">
            <a:extLst>
              <a:ext uri="{FF2B5EF4-FFF2-40B4-BE49-F238E27FC236}">
                <a16:creationId xmlns:a16="http://schemas.microsoft.com/office/drawing/2014/main" id="{A8A0541B-BB0B-4688-541D-0169B645D632}"/>
              </a:ext>
            </a:extLst>
          </p:cNvPr>
          <p:cNvSpPr/>
          <p:nvPr/>
        </p:nvSpPr>
        <p:spPr>
          <a:xfrm>
            <a:off x="5940152" y="511360"/>
            <a:ext cx="1049292" cy="410369"/>
          </a:xfrm>
          <a:prstGeom prst="wedgeEllipseCallout">
            <a:avLst>
              <a:gd name="adj1" fmla="val -49721"/>
              <a:gd name="adj2" fmla="val 61440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196</a:t>
            </a:r>
            <a:r>
              <a:rPr lang="ko-KR" altLang="en-US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  <p:pic>
        <p:nvPicPr>
          <p:cNvPr id="7" name="그림 6" descr="텍스트, 스크린샷, 폰트이(가) 표시된 사진&#10;&#10;자동 생성된 설명">
            <a:extLst>
              <a:ext uri="{FF2B5EF4-FFF2-40B4-BE49-F238E27FC236}">
                <a16:creationId xmlns:a16="http://schemas.microsoft.com/office/drawing/2014/main" id="{46229145-CBD2-BCC0-A0DD-8BF4839B2E5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813" y="3573016"/>
            <a:ext cx="7663831" cy="2386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66711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제목 1"/>
          <p:cNvSpPr>
            <a:spLocks noGrp="1"/>
          </p:cNvSpPr>
          <p:nvPr>
            <p:ph type="title"/>
          </p:nvPr>
        </p:nvSpPr>
        <p:spPr>
          <a:xfrm>
            <a:off x="500063" y="714375"/>
            <a:ext cx="8229600" cy="642938"/>
          </a:xfrm>
        </p:spPr>
        <p:txBody>
          <a:bodyPr/>
          <a:lstStyle/>
          <a:p>
            <a:pPr eaLnBrk="1" hangingPunct="1"/>
            <a:r>
              <a:rPr lang="ko-KR" altLang="en-US" sz="2800" dirty="0"/>
              <a:t>사용자와 그룹 관리 </a:t>
            </a:r>
            <a:r>
              <a:rPr lang="en-US" altLang="ko-KR" sz="2800" dirty="0"/>
              <a:t>(1)</a:t>
            </a:r>
            <a:endParaRPr lang="ko-KR" altLang="en-US" sz="2800" dirty="0">
              <a:solidFill>
                <a:srgbClr val="00B050"/>
              </a:solidFill>
            </a:endParaRPr>
          </a:p>
        </p:txBody>
      </p:sp>
      <p:sp>
        <p:nvSpPr>
          <p:cNvPr id="8" name="내용 개체 틀 2"/>
          <p:cNvSpPr>
            <a:spLocks noGrp="1"/>
          </p:cNvSpPr>
          <p:nvPr>
            <p:ph idx="1"/>
          </p:nvPr>
        </p:nvSpPr>
        <p:spPr>
          <a:xfrm>
            <a:off x="457200" y="1357313"/>
            <a:ext cx="8229600" cy="5214937"/>
          </a:xfrm>
        </p:spPr>
        <p:txBody>
          <a:bodyPr/>
          <a:lstStyle/>
          <a:p>
            <a:pPr eaLnBrk="1" hangingPunct="1">
              <a:defRPr/>
            </a:pPr>
            <a:r>
              <a:rPr lang="ko-KR" altLang="en-US" dirty="0"/>
              <a:t>리눅스는 다중 사용자 시스템</a:t>
            </a:r>
            <a:r>
              <a:rPr lang="en-US" altLang="ko-KR" dirty="0"/>
              <a:t>(Multi-User System)</a:t>
            </a:r>
            <a:r>
              <a:rPr lang="ko-KR" altLang="en-US" dirty="0"/>
              <a:t>임</a:t>
            </a:r>
            <a:endParaRPr lang="en-US" altLang="ko-KR" dirty="0"/>
          </a:p>
          <a:p>
            <a:pPr>
              <a:defRPr/>
            </a:pPr>
            <a:r>
              <a:rPr lang="ko-KR" altLang="en-US" dirty="0"/>
              <a:t>기본적으로 </a:t>
            </a:r>
            <a:r>
              <a:rPr lang="en-US" altLang="ko-KR" dirty="0"/>
              <a:t>root</a:t>
            </a:r>
            <a:r>
              <a:rPr lang="ko-KR" altLang="en-US" dirty="0"/>
              <a:t>라는 이름을 가진 수퍼유저</a:t>
            </a:r>
            <a:r>
              <a:rPr lang="en-US" altLang="ko-KR" dirty="0"/>
              <a:t>(Super user)</a:t>
            </a:r>
            <a:r>
              <a:rPr lang="ko-KR" altLang="en-US" dirty="0"/>
              <a:t>가 있으며</a:t>
            </a:r>
            <a:r>
              <a:rPr lang="en-US" altLang="ko-KR" dirty="0"/>
              <a:t>,</a:t>
            </a:r>
            <a:r>
              <a:rPr lang="ko-KR" altLang="en-US" dirty="0"/>
              <a:t> 모든 작업을 할 수 있는 권한이 있음</a:t>
            </a:r>
            <a:endParaRPr lang="en-US" altLang="ko-KR" dirty="0"/>
          </a:p>
          <a:p>
            <a:pPr>
              <a:defRPr/>
            </a:pPr>
            <a:r>
              <a:rPr lang="ko-KR" altLang="en-US" dirty="0"/>
              <a:t>모든 사용자를 하나 이상의 그룹에 소속되어 있음</a:t>
            </a:r>
            <a:endParaRPr lang="en-US" altLang="ko-KR" dirty="0"/>
          </a:p>
          <a:p>
            <a:pPr>
              <a:defRPr/>
            </a:pPr>
            <a:r>
              <a:rPr lang="ko-KR" altLang="en-US" dirty="0"/>
              <a:t>사용자는 </a:t>
            </a:r>
            <a:r>
              <a:rPr lang="en-US" altLang="ko-KR" dirty="0"/>
              <a:t>/etc/</a:t>
            </a:r>
            <a:r>
              <a:rPr lang="en-US" altLang="ko-KR" dirty="0" err="1"/>
              <a:t>passwd</a:t>
            </a:r>
            <a:r>
              <a:rPr lang="en-US" altLang="ko-KR" dirty="0"/>
              <a:t> </a:t>
            </a:r>
            <a:r>
              <a:rPr lang="ko-KR" altLang="en-US" dirty="0"/>
              <a:t>파일에 정의되어 있음</a:t>
            </a: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r>
              <a:rPr lang="ko-KR" altLang="en-US" dirty="0"/>
              <a:t>각 행의 의미는 다음과 같음</a:t>
            </a:r>
            <a:endParaRPr lang="en-US" altLang="ko-KR" dirty="0"/>
          </a:p>
          <a:p>
            <a:pPr lvl="1">
              <a:buFont typeface="Georgia" panose="02040502050405020303" pitchFamily="18" charset="0"/>
              <a:buNone/>
              <a:defRPr/>
            </a:pPr>
            <a:r>
              <a:rPr lang="ko-KR" altLang="en-US" sz="1600" b="1" u="sng" dirty="0"/>
              <a:t>사용자 이름</a:t>
            </a:r>
            <a:r>
              <a:rPr lang="en-US" altLang="ko-KR" sz="1600" b="1" u="sng" dirty="0"/>
              <a:t>:</a:t>
            </a:r>
            <a:r>
              <a:rPr lang="ko-KR" altLang="en-US" sz="1600" b="1" u="sng" dirty="0"/>
              <a:t>암호</a:t>
            </a:r>
            <a:r>
              <a:rPr lang="en-US" altLang="ko-KR" sz="1600" b="1" u="sng" dirty="0"/>
              <a:t>:</a:t>
            </a:r>
            <a:r>
              <a:rPr lang="ko-KR" altLang="en-US" sz="1600" b="1" u="sng" dirty="0"/>
              <a:t>사용자 </a:t>
            </a:r>
            <a:r>
              <a:rPr lang="en-US" altLang="ko-KR" sz="1600" b="1" u="sng" dirty="0"/>
              <a:t>ID:</a:t>
            </a:r>
            <a:r>
              <a:rPr lang="ko-KR" altLang="en-US" sz="1600" b="1" u="sng" dirty="0"/>
              <a:t>사용자가 소속된 그룹 </a:t>
            </a:r>
            <a:r>
              <a:rPr lang="en-US" altLang="ko-KR" sz="1600" b="1" u="sng" dirty="0"/>
              <a:t>ID:</a:t>
            </a:r>
            <a:r>
              <a:rPr lang="ko-KR" altLang="en-US" sz="1600" b="1" u="sng" dirty="0"/>
              <a:t>추가</a:t>
            </a:r>
            <a:r>
              <a:rPr lang="en-US" altLang="ko-KR" sz="1600" b="1" u="sng" dirty="0"/>
              <a:t> </a:t>
            </a:r>
            <a:r>
              <a:rPr lang="ko-KR" altLang="en-US" sz="1600" b="1" u="sng" dirty="0"/>
              <a:t>정보</a:t>
            </a:r>
            <a:r>
              <a:rPr lang="en-US" altLang="ko-KR" sz="1600" b="1" u="sng" dirty="0"/>
              <a:t>:</a:t>
            </a:r>
            <a:r>
              <a:rPr lang="ko-KR" altLang="en-US" sz="1600" b="1" u="sng" dirty="0"/>
              <a:t>홈 디렉터리</a:t>
            </a:r>
            <a:r>
              <a:rPr lang="en-US" altLang="ko-KR" sz="1600" b="1" u="sng" dirty="0"/>
              <a:t>:</a:t>
            </a:r>
            <a:r>
              <a:rPr lang="ko-KR" altLang="en-US" sz="1600" b="1" u="sng" dirty="0"/>
              <a:t>기본 </a:t>
            </a:r>
            <a:r>
              <a:rPr lang="ko-KR" altLang="en-US" sz="1600" b="1" u="sng" dirty="0" err="1"/>
              <a:t>셸</a:t>
            </a:r>
            <a:endParaRPr lang="en-US" altLang="ko-KR" dirty="0"/>
          </a:p>
        </p:txBody>
      </p:sp>
      <p:sp>
        <p:nvSpPr>
          <p:cNvPr id="2" name="말풍선: 타원형 1">
            <a:extLst>
              <a:ext uri="{FF2B5EF4-FFF2-40B4-BE49-F238E27FC236}">
                <a16:creationId xmlns:a16="http://schemas.microsoft.com/office/drawing/2014/main" id="{B567DE62-6803-D3D7-AF5C-7173C55C97D5}"/>
              </a:ext>
            </a:extLst>
          </p:cNvPr>
          <p:cNvSpPr/>
          <p:nvPr/>
        </p:nvSpPr>
        <p:spPr>
          <a:xfrm>
            <a:off x="4283968" y="625475"/>
            <a:ext cx="1049292" cy="410369"/>
          </a:xfrm>
          <a:prstGeom prst="wedgeEllipseCallout">
            <a:avLst>
              <a:gd name="adj1" fmla="val -49721"/>
              <a:gd name="adj2" fmla="val 61440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200</a:t>
            </a:r>
            <a:r>
              <a:rPr lang="ko-KR" altLang="en-US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  <p:pic>
        <p:nvPicPr>
          <p:cNvPr id="4" name="그림 3" descr="텍스트, 폰트, 번호, 소프트웨어이(가) 표시된 사진&#10;&#10;자동 생성된 설명">
            <a:extLst>
              <a:ext uri="{FF2B5EF4-FFF2-40B4-BE49-F238E27FC236}">
                <a16:creationId xmlns:a16="http://schemas.microsoft.com/office/drawing/2014/main" id="{225302FC-DB01-8DCE-6C86-F50F3876C7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7644" y="3414876"/>
            <a:ext cx="6408712" cy="2281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07085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제목 1"/>
          <p:cNvSpPr>
            <a:spLocks noGrp="1"/>
          </p:cNvSpPr>
          <p:nvPr>
            <p:ph type="title"/>
          </p:nvPr>
        </p:nvSpPr>
        <p:spPr>
          <a:xfrm>
            <a:off x="500063" y="714375"/>
            <a:ext cx="8229600" cy="642938"/>
          </a:xfrm>
        </p:spPr>
        <p:txBody>
          <a:bodyPr/>
          <a:lstStyle/>
          <a:p>
            <a:pPr eaLnBrk="1" hangingPunct="1"/>
            <a:r>
              <a:rPr lang="ko-KR" altLang="en-US" sz="2800" dirty="0"/>
              <a:t>사용자와 그룹 관리 </a:t>
            </a:r>
            <a:r>
              <a:rPr lang="en-US" altLang="ko-KR" sz="2800" dirty="0"/>
              <a:t>(2)</a:t>
            </a:r>
            <a:endParaRPr lang="ko-KR" altLang="en-US" sz="2800" dirty="0">
              <a:solidFill>
                <a:srgbClr val="00B050"/>
              </a:solidFill>
            </a:endParaRPr>
          </a:p>
        </p:txBody>
      </p:sp>
      <p:sp>
        <p:nvSpPr>
          <p:cNvPr id="8" name="내용 개체 틀 2"/>
          <p:cNvSpPr>
            <a:spLocks noGrp="1"/>
          </p:cNvSpPr>
          <p:nvPr>
            <p:ph idx="1"/>
          </p:nvPr>
        </p:nvSpPr>
        <p:spPr>
          <a:xfrm>
            <a:off x="457200" y="1357313"/>
            <a:ext cx="8229600" cy="5214937"/>
          </a:xfrm>
        </p:spPr>
        <p:txBody>
          <a:bodyPr/>
          <a:lstStyle/>
          <a:p>
            <a:pPr>
              <a:defRPr/>
            </a:pPr>
            <a:r>
              <a:rPr lang="ko-KR" altLang="en-US" dirty="0"/>
              <a:t>사용자의 비밀번호는 </a:t>
            </a:r>
            <a:r>
              <a:rPr lang="en-US" altLang="ko-KR" dirty="0"/>
              <a:t>/etc/shadow </a:t>
            </a:r>
            <a:r>
              <a:rPr lang="ko-KR" altLang="en-US" dirty="0"/>
              <a:t>파일에 정의되어 있음</a:t>
            </a: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r>
              <a:rPr lang="ko-KR" altLang="en-US" dirty="0"/>
              <a:t>그룹은 </a:t>
            </a:r>
            <a:r>
              <a:rPr lang="en-US" altLang="ko-KR" dirty="0"/>
              <a:t>/etc/group </a:t>
            </a:r>
            <a:r>
              <a:rPr lang="ko-KR" altLang="en-US" dirty="0"/>
              <a:t>파일에 정의되어 있음</a:t>
            </a: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r>
              <a:rPr lang="ko-KR" altLang="en-US" dirty="0"/>
              <a:t>각 행의 의미는 다음과 같음</a:t>
            </a:r>
            <a:endParaRPr lang="en-US" altLang="ko-KR" dirty="0"/>
          </a:p>
          <a:p>
            <a:pPr lvl="1">
              <a:buFont typeface="Georgia" panose="02040502050405020303" pitchFamily="18" charset="0"/>
              <a:buNone/>
              <a:defRPr/>
            </a:pPr>
            <a:r>
              <a:rPr lang="ko-KR" altLang="ko-KR" sz="1600" b="1" u="sng" dirty="0" err="1"/>
              <a:t>그룹명</a:t>
            </a:r>
            <a:r>
              <a:rPr lang="en-US" altLang="ko-KR" sz="1600" b="1" u="sng" dirty="0"/>
              <a:t>:</a:t>
            </a:r>
            <a:r>
              <a:rPr lang="ko-KR" altLang="ko-KR" sz="1600" b="1" u="sng" dirty="0"/>
              <a:t>비밀번호</a:t>
            </a:r>
            <a:r>
              <a:rPr lang="en-US" altLang="ko-KR" sz="1600" b="1" u="sng" dirty="0"/>
              <a:t>:</a:t>
            </a:r>
            <a:r>
              <a:rPr lang="ko-KR" altLang="ko-KR" sz="1600" b="1" u="sng" dirty="0"/>
              <a:t>그룹</a:t>
            </a:r>
            <a:r>
              <a:rPr lang="en-US" altLang="ko-KR" sz="1600" b="1" u="sng" dirty="0"/>
              <a:t> id:</a:t>
            </a:r>
            <a:r>
              <a:rPr lang="ko-KR" altLang="en-US" sz="1600" b="1" u="sng" dirty="0"/>
              <a:t>보조 그룹 사용자</a:t>
            </a:r>
            <a:endParaRPr lang="en-US" altLang="ko-KR" dirty="0"/>
          </a:p>
        </p:txBody>
      </p:sp>
      <p:sp>
        <p:nvSpPr>
          <p:cNvPr id="2" name="말풍선: 타원형 1">
            <a:extLst>
              <a:ext uri="{FF2B5EF4-FFF2-40B4-BE49-F238E27FC236}">
                <a16:creationId xmlns:a16="http://schemas.microsoft.com/office/drawing/2014/main" id="{98D55EF9-1786-5946-1F3D-DC575F46C6C6}"/>
              </a:ext>
            </a:extLst>
          </p:cNvPr>
          <p:cNvSpPr/>
          <p:nvPr/>
        </p:nvSpPr>
        <p:spPr>
          <a:xfrm>
            <a:off x="4239372" y="625475"/>
            <a:ext cx="1049292" cy="410369"/>
          </a:xfrm>
          <a:prstGeom prst="wedgeEllipseCallout">
            <a:avLst>
              <a:gd name="adj1" fmla="val -49721"/>
              <a:gd name="adj2" fmla="val 61440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201</a:t>
            </a:r>
            <a:r>
              <a:rPr lang="ko-KR" altLang="en-US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  <p:pic>
        <p:nvPicPr>
          <p:cNvPr id="4" name="그림 3" descr="텍스트, 소프트웨어, 번호, 스크린샷이(가) 표시된 사진&#10;&#10;자동 생성된 설명">
            <a:extLst>
              <a:ext uri="{FF2B5EF4-FFF2-40B4-BE49-F238E27FC236}">
                <a16:creationId xmlns:a16="http://schemas.microsoft.com/office/drawing/2014/main" id="{DF1C5B67-A4B6-3133-7FF4-0C94418E82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0788" y="2636912"/>
            <a:ext cx="6102424" cy="2205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904524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제목 1"/>
          <p:cNvSpPr>
            <a:spLocks noGrp="1"/>
          </p:cNvSpPr>
          <p:nvPr>
            <p:ph type="title"/>
          </p:nvPr>
        </p:nvSpPr>
        <p:spPr>
          <a:xfrm>
            <a:off x="500063" y="714375"/>
            <a:ext cx="8229600" cy="642938"/>
          </a:xfrm>
        </p:spPr>
        <p:txBody>
          <a:bodyPr/>
          <a:lstStyle/>
          <a:p>
            <a:pPr eaLnBrk="1" hangingPunct="1"/>
            <a:r>
              <a:rPr lang="ko-KR" altLang="en-US" sz="2800" dirty="0"/>
              <a:t>사용자와 그룹 관련 명령어</a:t>
            </a:r>
            <a:r>
              <a:rPr lang="en-US" altLang="ko-KR" sz="2800" dirty="0"/>
              <a:t>(1)</a:t>
            </a:r>
            <a:endParaRPr lang="ko-KR" altLang="en-US" sz="2800" dirty="0">
              <a:solidFill>
                <a:srgbClr val="00B050"/>
              </a:solidFill>
            </a:endParaRPr>
          </a:p>
        </p:txBody>
      </p:sp>
      <p:sp>
        <p:nvSpPr>
          <p:cNvPr id="6" name="내용 개체 틀 2"/>
          <p:cNvSpPr>
            <a:spLocks noGrp="1"/>
          </p:cNvSpPr>
          <p:nvPr>
            <p:ph idx="1"/>
          </p:nvPr>
        </p:nvSpPr>
        <p:spPr>
          <a:xfrm>
            <a:off x="457200" y="1357313"/>
            <a:ext cx="8229600" cy="5214937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ko-KR" dirty="0" err="1"/>
              <a:t>adduser</a:t>
            </a:r>
            <a:endParaRPr lang="en-US" altLang="ko-KR" dirty="0"/>
          </a:p>
          <a:p>
            <a:pPr lvl="1" eaLnBrk="1" hangingPunct="1">
              <a:buFont typeface="Georgia" panose="02040502050405020303" pitchFamily="18" charset="0"/>
              <a:buNone/>
              <a:defRPr/>
            </a:pPr>
            <a:r>
              <a:rPr lang="ko-KR" altLang="en-US" sz="1800" dirty="0"/>
              <a:t>새로운 사용자를 추가</a:t>
            </a:r>
            <a:endParaRPr lang="en-US" altLang="ko-KR" sz="1800" dirty="0"/>
          </a:p>
          <a:p>
            <a:pPr lvl="1" eaLnBrk="1" hangingPunct="1">
              <a:buFont typeface="Georgia" panose="02040502050405020303" pitchFamily="18" charset="0"/>
              <a:buNone/>
              <a:defRPr/>
            </a:pPr>
            <a:r>
              <a:rPr lang="ko-KR" altLang="en-US" sz="2000" dirty="0"/>
              <a:t>예</a:t>
            </a:r>
            <a:r>
              <a:rPr lang="en-US" altLang="ko-KR" sz="2000" dirty="0"/>
              <a:t>) # </a:t>
            </a:r>
            <a:r>
              <a:rPr lang="en-US" altLang="ko-KR" sz="2000" dirty="0" err="1"/>
              <a:t>adduser</a:t>
            </a:r>
            <a:r>
              <a:rPr lang="en-US" altLang="ko-KR" sz="2000" dirty="0"/>
              <a:t> newuser1</a:t>
            </a:r>
          </a:p>
          <a:p>
            <a:pPr lvl="1" eaLnBrk="1" hangingPunct="1">
              <a:defRPr/>
            </a:pPr>
            <a:endParaRPr lang="en-US" altLang="ko-KR" sz="2000" dirty="0"/>
          </a:p>
          <a:p>
            <a:pPr eaLnBrk="1" hangingPunct="1">
              <a:defRPr/>
            </a:pPr>
            <a:r>
              <a:rPr lang="en-US" altLang="ko-KR" dirty="0" err="1"/>
              <a:t>passwd</a:t>
            </a:r>
            <a:endParaRPr lang="en-US" altLang="ko-KR" dirty="0"/>
          </a:p>
          <a:p>
            <a:pPr lvl="1" eaLnBrk="1" hangingPunct="1">
              <a:buFont typeface="Georgia" panose="02040502050405020303" pitchFamily="18" charset="0"/>
              <a:buNone/>
              <a:defRPr/>
            </a:pPr>
            <a:r>
              <a:rPr lang="ko-KR" altLang="en-US" sz="1800" dirty="0"/>
              <a:t>사용자의 비밀번호를 지정하거나</a:t>
            </a:r>
            <a:r>
              <a:rPr lang="en-US" altLang="ko-KR" sz="1800" dirty="0"/>
              <a:t> </a:t>
            </a:r>
            <a:r>
              <a:rPr lang="ko-KR" altLang="en-US" sz="1800" dirty="0"/>
              <a:t>변경</a:t>
            </a:r>
            <a:endParaRPr lang="en-US" altLang="ko-KR" sz="1800" dirty="0"/>
          </a:p>
          <a:p>
            <a:pPr lvl="1" eaLnBrk="1" hangingPunct="1">
              <a:buFont typeface="Georgia" panose="02040502050405020303" pitchFamily="18" charset="0"/>
              <a:buNone/>
              <a:defRPr/>
            </a:pPr>
            <a:r>
              <a:rPr lang="ko-KR" altLang="en-US" sz="1800" dirty="0"/>
              <a:t>예</a:t>
            </a:r>
            <a:r>
              <a:rPr lang="en-US" altLang="ko-KR" sz="1800" dirty="0"/>
              <a:t>)  # passwd newuser1</a:t>
            </a:r>
          </a:p>
          <a:p>
            <a:pPr lvl="1" eaLnBrk="1" hangingPunct="1">
              <a:defRPr/>
            </a:pPr>
            <a:endParaRPr lang="en-US" altLang="ko-KR" sz="1800" dirty="0"/>
          </a:p>
          <a:p>
            <a:pPr eaLnBrk="1" hangingPunct="1">
              <a:defRPr/>
            </a:pPr>
            <a:r>
              <a:rPr lang="en-US" altLang="ko-KR" dirty="0" err="1"/>
              <a:t>usermod</a:t>
            </a:r>
            <a:endParaRPr lang="en-US" altLang="ko-KR" dirty="0"/>
          </a:p>
          <a:p>
            <a:pPr lvl="1" eaLnBrk="1" hangingPunct="1">
              <a:buFont typeface="Georgia" panose="02040502050405020303" pitchFamily="18" charset="0"/>
              <a:buNone/>
              <a:defRPr/>
            </a:pPr>
            <a:r>
              <a:rPr lang="ko-KR" altLang="en-US" sz="1800" dirty="0"/>
              <a:t>사용자의 속성을 변경</a:t>
            </a:r>
            <a:endParaRPr lang="en-US" altLang="ko-KR" sz="1800" dirty="0"/>
          </a:p>
          <a:p>
            <a:pPr lvl="1" eaLnBrk="1" hangingPunct="1">
              <a:buNone/>
              <a:defRPr/>
            </a:pPr>
            <a:r>
              <a:rPr lang="ko-KR" altLang="en-US" sz="1800" dirty="0"/>
              <a:t>예</a:t>
            </a:r>
            <a:r>
              <a:rPr lang="en-US" altLang="ko-KR" sz="1800" dirty="0"/>
              <a:t>) # </a:t>
            </a:r>
            <a:r>
              <a:rPr lang="en-US" altLang="ko-KR" sz="1800" dirty="0" err="1"/>
              <a:t>usermod</a:t>
            </a:r>
            <a:r>
              <a:rPr lang="en-US" altLang="ko-KR" sz="1800" dirty="0"/>
              <a:t> --groups </a:t>
            </a:r>
            <a:r>
              <a:rPr lang="en-US" altLang="ko-KR" sz="1800" dirty="0" err="1"/>
              <a:t>ubuntu</a:t>
            </a:r>
            <a:r>
              <a:rPr lang="en-US" altLang="ko-KR" sz="1800" dirty="0"/>
              <a:t> newuser1</a:t>
            </a:r>
          </a:p>
          <a:p>
            <a:pPr lvl="1" eaLnBrk="1" hangingPunct="1">
              <a:buFont typeface="Georgia" panose="02040502050405020303" pitchFamily="18" charset="0"/>
              <a:buNone/>
              <a:defRPr/>
            </a:pPr>
            <a:endParaRPr lang="en-US" altLang="ko-KR" sz="1800" dirty="0"/>
          </a:p>
          <a:p>
            <a:pPr eaLnBrk="1" hangingPunct="1">
              <a:defRPr/>
            </a:pPr>
            <a:r>
              <a:rPr lang="en-US" altLang="ko-KR" dirty="0" err="1"/>
              <a:t>userdel</a:t>
            </a:r>
            <a:endParaRPr lang="en-US" altLang="ko-KR" sz="1800" dirty="0"/>
          </a:p>
          <a:p>
            <a:pPr lvl="1" eaLnBrk="1" hangingPunct="1">
              <a:buFont typeface="Georgia" panose="02040502050405020303" pitchFamily="18" charset="0"/>
              <a:buNone/>
              <a:defRPr/>
            </a:pPr>
            <a:r>
              <a:rPr lang="ko-KR" altLang="en-US" sz="1800" dirty="0"/>
              <a:t>사용자를 삭제</a:t>
            </a:r>
            <a:endParaRPr lang="en-US" altLang="ko-KR" sz="1800" dirty="0"/>
          </a:p>
          <a:p>
            <a:pPr lvl="1" eaLnBrk="1" hangingPunct="1">
              <a:buFont typeface="Georgia" panose="02040502050405020303" pitchFamily="18" charset="0"/>
              <a:buNone/>
              <a:defRPr/>
            </a:pPr>
            <a:r>
              <a:rPr lang="ko-KR" altLang="en-US" sz="1800" dirty="0"/>
              <a:t>예</a:t>
            </a:r>
            <a:r>
              <a:rPr lang="en-US" altLang="ko-KR" sz="1800" dirty="0"/>
              <a:t>)  # </a:t>
            </a:r>
            <a:r>
              <a:rPr lang="en-US" altLang="ko-KR" sz="1800" dirty="0" err="1"/>
              <a:t>userdel</a:t>
            </a:r>
            <a:r>
              <a:rPr lang="en-US" altLang="ko-KR" sz="1800" dirty="0"/>
              <a:t> newuser2</a:t>
            </a:r>
            <a:endParaRPr lang="ko-KR" altLang="en-US" sz="1800" dirty="0"/>
          </a:p>
        </p:txBody>
      </p:sp>
      <p:sp>
        <p:nvSpPr>
          <p:cNvPr id="2" name="말풍선: 타원형 1">
            <a:extLst>
              <a:ext uri="{FF2B5EF4-FFF2-40B4-BE49-F238E27FC236}">
                <a16:creationId xmlns:a16="http://schemas.microsoft.com/office/drawing/2014/main" id="{C070FD75-24A6-2A79-058D-51DEF6B1A676}"/>
              </a:ext>
            </a:extLst>
          </p:cNvPr>
          <p:cNvSpPr/>
          <p:nvPr/>
        </p:nvSpPr>
        <p:spPr>
          <a:xfrm>
            <a:off x="5364088" y="625475"/>
            <a:ext cx="1049292" cy="410369"/>
          </a:xfrm>
          <a:prstGeom prst="wedgeEllipseCallout">
            <a:avLst>
              <a:gd name="adj1" fmla="val -49721"/>
              <a:gd name="adj2" fmla="val 61440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202</a:t>
            </a:r>
            <a:r>
              <a:rPr lang="ko-KR" altLang="en-US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  <p:sp>
        <p:nvSpPr>
          <p:cNvPr id="3" name="물결 2">
            <a:extLst>
              <a:ext uri="{FF2B5EF4-FFF2-40B4-BE49-F238E27FC236}">
                <a16:creationId xmlns:a16="http://schemas.microsoft.com/office/drawing/2014/main" id="{47F73CDC-7BF6-455E-4F64-911F11101B46}"/>
              </a:ext>
            </a:extLst>
          </p:cNvPr>
          <p:cNvSpPr/>
          <p:nvPr/>
        </p:nvSpPr>
        <p:spPr>
          <a:xfrm>
            <a:off x="5580112" y="1446213"/>
            <a:ext cx="2880138" cy="1505785"/>
          </a:xfrm>
          <a:prstGeom prst="wave">
            <a:avLst>
              <a:gd name="adj1" fmla="val 6856"/>
              <a:gd name="adj2" fmla="val -605"/>
            </a:avLst>
          </a:prstGeom>
          <a:solidFill>
            <a:srgbClr val="FF7C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r>
              <a:rPr lang="ko-KR" altLang="en-US" sz="1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사용자 생성시 옵션</a:t>
            </a:r>
          </a:p>
          <a:p>
            <a:pPr>
              <a:defRPr/>
            </a:pPr>
            <a:r>
              <a:rPr lang="ko-KR" altLang="en-US" sz="1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</a:t>
            </a:r>
            <a:r>
              <a:rPr lang="en-US" altLang="ko-KR" sz="1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--</a:t>
            </a:r>
            <a:r>
              <a:rPr lang="en-US" altLang="ko-KR" sz="1400" dirty="0" err="1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uid</a:t>
            </a:r>
            <a:r>
              <a:rPr lang="en-US" altLang="ko-KR" sz="1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: ID </a:t>
            </a:r>
            <a:r>
              <a:rPr lang="ko-KR" altLang="en-US" sz="1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지정</a:t>
            </a:r>
          </a:p>
          <a:p>
            <a:pPr>
              <a:defRPr/>
            </a:pPr>
            <a:r>
              <a:rPr lang="ko-KR" altLang="en-US" sz="1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</a:t>
            </a:r>
            <a:r>
              <a:rPr lang="en-US" altLang="ko-KR" sz="1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--gid : </a:t>
            </a:r>
            <a:r>
              <a:rPr lang="ko-KR" altLang="en-US" sz="1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그룹 지정</a:t>
            </a:r>
          </a:p>
          <a:p>
            <a:pPr>
              <a:defRPr/>
            </a:pPr>
            <a:r>
              <a:rPr lang="ko-KR" altLang="en-US" sz="1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</a:t>
            </a:r>
            <a:r>
              <a:rPr lang="en-US" altLang="ko-KR" sz="1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--home : </a:t>
            </a:r>
            <a:r>
              <a:rPr lang="ko-KR" altLang="en-US" sz="1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홈 디렉터리 지정</a:t>
            </a:r>
          </a:p>
          <a:p>
            <a:pPr>
              <a:defRPr/>
            </a:pPr>
            <a:r>
              <a:rPr lang="ko-KR" altLang="en-US" sz="1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</a:t>
            </a:r>
            <a:r>
              <a:rPr lang="en-US" altLang="ko-KR" sz="1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--shell : </a:t>
            </a:r>
            <a:r>
              <a:rPr lang="ko-KR" altLang="en-US" sz="1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셸 지정</a:t>
            </a:r>
          </a:p>
        </p:txBody>
      </p:sp>
    </p:spTree>
    <p:extLst>
      <p:ext uri="{BB962C8B-B14F-4D97-AF65-F5344CB8AC3E}">
        <p14:creationId xmlns:p14="http://schemas.microsoft.com/office/powerpoint/2010/main" val="226885954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제목 1"/>
          <p:cNvSpPr>
            <a:spLocks noGrp="1"/>
          </p:cNvSpPr>
          <p:nvPr>
            <p:ph type="title"/>
          </p:nvPr>
        </p:nvSpPr>
        <p:spPr>
          <a:xfrm>
            <a:off x="500063" y="714375"/>
            <a:ext cx="8229600" cy="642938"/>
          </a:xfrm>
        </p:spPr>
        <p:txBody>
          <a:bodyPr/>
          <a:lstStyle/>
          <a:p>
            <a:pPr eaLnBrk="1" hangingPunct="1"/>
            <a:r>
              <a:rPr lang="ko-KR" altLang="en-US" sz="2800" dirty="0"/>
              <a:t>사용자와 그룹 관련 명령어</a:t>
            </a:r>
            <a:r>
              <a:rPr lang="en-US" altLang="ko-KR" sz="2800" dirty="0"/>
              <a:t>(2)</a:t>
            </a:r>
            <a:endParaRPr lang="ko-KR" altLang="en-US" sz="2800" dirty="0">
              <a:solidFill>
                <a:srgbClr val="00B050"/>
              </a:solidFill>
            </a:endParaRPr>
          </a:p>
        </p:txBody>
      </p:sp>
      <p:sp>
        <p:nvSpPr>
          <p:cNvPr id="6" name="내용 개체 틀 2"/>
          <p:cNvSpPr>
            <a:spLocks noGrp="1"/>
          </p:cNvSpPr>
          <p:nvPr>
            <p:ph idx="1"/>
          </p:nvPr>
        </p:nvSpPr>
        <p:spPr>
          <a:xfrm>
            <a:off x="457200" y="1357313"/>
            <a:ext cx="8229600" cy="5214937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ko-KR" dirty="0" err="1"/>
              <a:t>chage</a:t>
            </a:r>
            <a:endParaRPr lang="en-US" altLang="ko-KR" dirty="0"/>
          </a:p>
          <a:p>
            <a:pPr lvl="1" eaLnBrk="1" hangingPunct="1">
              <a:buFont typeface="Georgia" panose="02040502050405020303" pitchFamily="18" charset="0"/>
              <a:buNone/>
              <a:defRPr/>
            </a:pPr>
            <a:r>
              <a:rPr lang="ko-KR" altLang="en-US" sz="1800" dirty="0"/>
              <a:t>사용자의 암호를 주기적으로 변경하도록 설정</a:t>
            </a:r>
            <a:endParaRPr lang="en-US" altLang="ko-KR" sz="1800" dirty="0"/>
          </a:p>
          <a:p>
            <a:pPr lvl="1" eaLnBrk="1" hangingPunct="1">
              <a:buFont typeface="Georgia" panose="02040502050405020303" pitchFamily="18" charset="0"/>
              <a:buNone/>
              <a:defRPr/>
            </a:pPr>
            <a:r>
              <a:rPr lang="ko-KR" altLang="en-US" sz="2000" dirty="0"/>
              <a:t>예</a:t>
            </a:r>
            <a:r>
              <a:rPr lang="en-US" altLang="ko-KR" sz="2000" dirty="0"/>
              <a:t>) # </a:t>
            </a:r>
            <a:r>
              <a:rPr lang="en-US" altLang="ko-KR" sz="2000" dirty="0" err="1"/>
              <a:t>chage</a:t>
            </a:r>
            <a:r>
              <a:rPr lang="en-US" altLang="ko-KR" sz="2000" dirty="0"/>
              <a:t> -m 2 newuser1</a:t>
            </a:r>
          </a:p>
          <a:p>
            <a:pPr lvl="1" eaLnBrk="1" hangingPunct="1">
              <a:defRPr/>
            </a:pPr>
            <a:endParaRPr lang="en-US" altLang="ko-KR" sz="2000" dirty="0"/>
          </a:p>
          <a:p>
            <a:pPr eaLnBrk="1" hangingPunct="1">
              <a:defRPr/>
            </a:pPr>
            <a:r>
              <a:rPr lang="en-US" altLang="ko-KR" dirty="0"/>
              <a:t>groups</a:t>
            </a:r>
          </a:p>
          <a:p>
            <a:pPr lvl="1" eaLnBrk="1" hangingPunct="1">
              <a:buFont typeface="Georgia" panose="02040502050405020303" pitchFamily="18" charset="0"/>
              <a:buNone/>
              <a:defRPr/>
            </a:pPr>
            <a:r>
              <a:rPr lang="ko-KR" altLang="en-US" sz="1800" dirty="0"/>
              <a:t>현재 사용자가 속한 그룹을 보여줌</a:t>
            </a:r>
            <a:endParaRPr lang="en-US" altLang="ko-KR" sz="1800" dirty="0"/>
          </a:p>
          <a:p>
            <a:pPr lvl="1" eaLnBrk="1" hangingPunct="1">
              <a:buFont typeface="Georgia" panose="02040502050405020303" pitchFamily="18" charset="0"/>
              <a:buNone/>
              <a:defRPr/>
            </a:pPr>
            <a:r>
              <a:rPr lang="ko-KR" altLang="en-US" sz="1800" dirty="0"/>
              <a:t>예</a:t>
            </a:r>
            <a:r>
              <a:rPr lang="en-US" altLang="ko-KR" sz="1800" dirty="0"/>
              <a:t>)  # groups</a:t>
            </a:r>
          </a:p>
          <a:p>
            <a:pPr lvl="1" eaLnBrk="1" hangingPunct="1">
              <a:defRPr/>
            </a:pPr>
            <a:endParaRPr lang="en-US" altLang="ko-KR" sz="1800" dirty="0"/>
          </a:p>
          <a:p>
            <a:pPr eaLnBrk="1" hangingPunct="1">
              <a:defRPr/>
            </a:pPr>
            <a:r>
              <a:rPr lang="en-US" altLang="ko-KR" dirty="0" err="1"/>
              <a:t>groupadd</a:t>
            </a:r>
            <a:endParaRPr lang="en-US" altLang="ko-KR" dirty="0"/>
          </a:p>
          <a:p>
            <a:pPr lvl="1" eaLnBrk="1" hangingPunct="1">
              <a:buFont typeface="Georgia" panose="02040502050405020303" pitchFamily="18" charset="0"/>
              <a:buNone/>
              <a:defRPr/>
            </a:pPr>
            <a:r>
              <a:rPr lang="ko-KR" altLang="en-US" sz="1800" dirty="0"/>
              <a:t>새로운 그룹을 생성</a:t>
            </a:r>
            <a:endParaRPr lang="en-US" altLang="ko-KR" sz="1800" dirty="0"/>
          </a:p>
          <a:p>
            <a:pPr lvl="1" eaLnBrk="1" hangingPunct="1">
              <a:buFont typeface="Georgia" panose="02040502050405020303" pitchFamily="18" charset="0"/>
              <a:buNone/>
              <a:defRPr/>
            </a:pPr>
            <a:r>
              <a:rPr lang="ko-KR" altLang="en-US" sz="1800" dirty="0"/>
              <a:t>예</a:t>
            </a:r>
            <a:r>
              <a:rPr lang="en-US" altLang="ko-KR" sz="1800" dirty="0"/>
              <a:t>) # </a:t>
            </a:r>
            <a:r>
              <a:rPr lang="en-US" altLang="ko-KR" sz="1800" dirty="0" err="1"/>
              <a:t>groupadd</a:t>
            </a:r>
            <a:r>
              <a:rPr lang="en-US" altLang="ko-KR" sz="1800" dirty="0"/>
              <a:t> newgroup1</a:t>
            </a:r>
          </a:p>
          <a:p>
            <a:pPr lvl="1" eaLnBrk="1" hangingPunct="1">
              <a:buFont typeface="Georgia" panose="02040502050405020303" pitchFamily="18" charset="0"/>
              <a:buNone/>
              <a:defRPr/>
            </a:pPr>
            <a:endParaRPr lang="en-US" altLang="ko-KR" sz="1800" dirty="0"/>
          </a:p>
          <a:p>
            <a:pPr eaLnBrk="1" hangingPunct="1">
              <a:defRPr/>
            </a:pPr>
            <a:r>
              <a:rPr lang="en-US" altLang="ko-KR" dirty="0" err="1"/>
              <a:t>groupmod</a:t>
            </a:r>
            <a:endParaRPr lang="en-US" altLang="ko-KR" sz="1800" dirty="0"/>
          </a:p>
          <a:p>
            <a:pPr lvl="1" eaLnBrk="1" hangingPunct="1">
              <a:buFont typeface="Georgia" panose="02040502050405020303" pitchFamily="18" charset="0"/>
              <a:buNone/>
              <a:defRPr/>
            </a:pPr>
            <a:r>
              <a:rPr lang="ko-KR" altLang="en-US" sz="1800" dirty="0"/>
              <a:t>그룹의 속성을 변경</a:t>
            </a:r>
            <a:endParaRPr lang="en-US" altLang="ko-KR" sz="1800" dirty="0"/>
          </a:p>
          <a:p>
            <a:pPr lvl="1" eaLnBrk="1" hangingPunct="1">
              <a:buNone/>
              <a:defRPr/>
            </a:pPr>
            <a:r>
              <a:rPr lang="ko-KR" altLang="en-US" sz="1800" dirty="0"/>
              <a:t>예</a:t>
            </a:r>
            <a:r>
              <a:rPr lang="en-US" altLang="ko-KR" sz="1800" dirty="0"/>
              <a:t>)  # </a:t>
            </a:r>
            <a:r>
              <a:rPr lang="en-US" altLang="ko-KR" sz="1800" dirty="0" err="1"/>
              <a:t>groupmod</a:t>
            </a:r>
            <a:r>
              <a:rPr lang="en-US" altLang="ko-KR" sz="1800" dirty="0"/>
              <a:t> --new-name mygroup1 newgroup1</a:t>
            </a:r>
            <a:endParaRPr lang="ko-KR" altLang="en-US" sz="1800" dirty="0"/>
          </a:p>
        </p:txBody>
      </p:sp>
      <p:sp>
        <p:nvSpPr>
          <p:cNvPr id="2" name="말풍선: 타원형 1">
            <a:extLst>
              <a:ext uri="{FF2B5EF4-FFF2-40B4-BE49-F238E27FC236}">
                <a16:creationId xmlns:a16="http://schemas.microsoft.com/office/drawing/2014/main" id="{9647A946-B8D4-0D7E-9624-9BA6FE2647E9}"/>
              </a:ext>
            </a:extLst>
          </p:cNvPr>
          <p:cNvSpPr/>
          <p:nvPr/>
        </p:nvSpPr>
        <p:spPr>
          <a:xfrm>
            <a:off x="5364088" y="625475"/>
            <a:ext cx="1049292" cy="410369"/>
          </a:xfrm>
          <a:prstGeom prst="wedgeEllipseCallout">
            <a:avLst>
              <a:gd name="adj1" fmla="val -49721"/>
              <a:gd name="adj2" fmla="val 61440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203</a:t>
            </a:r>
            <a:r>
              <a:rPr lang="ko-KR" altLang="en-US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</p:spTree>
    <p:extLst>
      <p:ext uri="{BB962C8B-B14F-4D97-AF65-F5344CB8AC3E}">
        <p14:creationId xmlns:p14="http://schemas.microsoft.com/office/powerpoint/2010/main" val="208793103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제목 1"/>
          <p:cNvSpPr>
            <a:spLocks noGrp="1"/>
          </p:cNvSpPr>
          <p:nvPr>
            <p:ph type="title"/>
          </p:nvPr>
        </p:nvSpPr>
        <p:spPr>
          <a:xfrm>
            <a:off x="500063" y="714375"/>
            <a:ext cx="8229600" cy="642938"/>
          </a:xfrm>
        </p:spPr>
        <p:txBody>
          <a:bodyPr/>
          <a:lstStyle/>
          <a:p>
            <a:pPr eaLnBrk="1" hangingPunct="1"/>
            <a:r>
              <a:rPr lang="ko-KR" altLang="en-US" sz="2800" dirty="0"/>
              <a:t>사용자와 그룹 관련 명령어</a:t>
            </a:r>
            <a:r>
              <a:rPr lang="en-US" altLang="ko-KR" sz="2800" dirty="0"/>
              <a:t>(3)</a:t>
            </a:r>
            <a:endParaRPr lang="ko-KR" altLang="en-US" sz="2800" dirty="0">
              <a:solidFill>
                <a:srgbClr val="00B050"/>
              </a:solidFill>
            </a:endParaRPr>
          </a:p>
        </p:txBody>
      </p:sp>
      <p:sp>
        <p:nvSpPr>
          <p:cNvPr id="6" name="내용 개체 틀 2"/>
          <p:cNvSpPr>
            <a:spLocks noGrp="1"/>
          </p:cNvSpPr>
          <p:nvPr>
            <p:ph idx="1"/>
          </p:nvPr>
        </p:nvSpPr>
        <p:spPr>
          <a:xfrm>
            <a:off x="457200" y="1357313"/>
            <a:ext cx="8229600" cy="5214937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ko-KR" dirty="0" err="1"/>
              <a:t>groupdel</a:t>
            </a:r>
            <a:endParaRPr lang="en-US" altLang="ko-KR" dirty="0"/>
          </a:p>
          <a:p>
            <a:pPr lvl="1" eaLnBrk="1" hangingPunct="1">
              <a:buFont typeface="Georgia" panose="02040502050405020303" pitchFamily="18" charset="0"/>
              <a:buNone/>
              <a:defRPr/>
            </a:pPr>
            <a:r>
              <a:rPr lang="ko-KR" altLang="en-US" sz="1800" dirty="0"/>
              <a:t>그룹을 삭제</a:t>
            </a:r>
            <a:endParaRPr lang="en-US" altLang="ko-KR" sz="1800" dirty="0"/>
          </a:p>
          <a:p>
            <a:pPr lvl="1" eaLnBrk="1" hangingPunct="1">
              <a:buFont typeface="Georgia" panose="02040502050405020303" pitchFamily="18" charset="0"/>
              <a:buNone/>
              <a:defRPr/>
            </a:pPr>
            <a:r>
              <a:rPr lang="ko-KR" altLang="en-US" sz="2000" dirty="0"/>
              <a:t>예</a:t>
            </a:r>
            <a:r>
              <a:rPr lang="en-US" altLang="ko-KR" sz="2000" dirty="0"/>
              <a:t>) # </a:t>
            </a:r>
            <a:r>
              <a:rPr lang="en-US" altLang="ko-KR" sz="2000" dirty="0" err="1"/>
              <a:t>groupdel</a:t>
            </a:r>
            <a:r>
              <a:rPr lang="en-US" altLang="ko-KR" sz="2000" dirty="0"/>
              <a:t> newgroup2</a:t>
            </a:r>
          </a:p>
          <a:p>
            <a:pPr lvl="1" eaLnBrk="1" hangingPunct="1">
              <a:defRPr/>
            </a:pPr>
            <a:endParaRPr lang="en-US" altLang="ko-KR" sz="2000" dirty="0"/>
          </a:p>
          <a:p>
            <a:pPr eaLnBrk="1" hangingPunct="1">
              <a:defRPr/>
            </a:pPr>
            <a:r>
              <a:rPr lang="en-US" altLang="ko-KR" dirty="0" err="1"/>
              <a:t>gpasswd</a:t>
            </a:r>
            <a:endParaRPr lang="en-US" altLang="ko-KR" dirty="0"/>
          </a:p>
          <a:p>
            <a:pPr lvl="1" eaLnBrk="1" hangingPunct="1">
              <a:buFont typeface="Georgia" panose="02040502050405020303" pitchFamily="18" charset="0"/>
              <a:buNone/>
              <a:defRPr/>
            </a:pPr>
            <a:r>
              <a:rPr lang="ko-KR" altLang="en-US" sz="1800" dirty="0"/>
              <a:t>그룹의 암호를 설정하거나</a:t>
            </a:r>
            <a:r>
              <a:rPr lang="en-US" altLang="ko-KR" sz="1800" dirty="0"/>
              <a:t>, </a:t>
            </a:r>
            <a:r>
              <a:rPr lang="ko-KR" altLang="en-US" sz="1800" dirty="0"/>
              <a:t>그룹의 관리를 수행</a:t>
            </a:r>
            <a:endParaRPr lang="en-US" altLang="ko-KR" sz="1800" dirty="0"/>
          </a:p>
          <a:p>
            <a:pPr lvl="1" eaLnBrk="1" hangingPunct="1">
              <a:buFont typeface="Georgia" panose="02040502050405020303" pitchFamily="18" charset="0"/>
              <a:buNone/>
              <a:defRPr/>
            </a:pPr>
            <a:r>
              <a:rPr lang="ko-KR" altLang="en-US" sz="1800" dirty="0"/>
              <a:t>예</a:t>
            </a:r>
            <a:r>
              <a:rPr lang="en-US" altLang="ko-KR" sz="1800" dirty="0"/>
              <a:t>)  # </a:t>
            </a:r>
            <a:r>
              <a:rPr lang="en-US" altLang="ko-KR" sz="1800" dirty="0" err="1"/>
              <a:t>gpasswd</a:t>
            </a:r>
            <a:r>
              <a:rPr lang="en-US" altLang="ko-KR" sz="1800" dirty="0"/>
              <a:t> mygroup1</a:t>
            </a:r>
          </a:p>
          <a:p>
            <a:pPr lvl="1" eaLnBrk="1" hangingPunct="1">
              <a:defRPr/>
            </a:pPr>
            <a:endParaRPr lang="en-US" altLang="ko-KR" sz="1800" dirty="0"/>
          </a:p>
        </p:txBody>
      </p:sp>
      <p:sp>
        <p:nvSpPr>
          <p:cNvPr id="2" name="말풍선: 타원형 1">
            <a:extLst>
              <a:ext uri="{FF2B5EF4-FFF2-40B4-BE49-F238E27FC236}">
                <a16:creationId xmlns:a16="http://schemas.microsoft.com/office/drawing/2014/main" id="{A1BB8D5B-2DF6-7550-1E42-76A1F61BDFDA}"/>
              </a:ext>
            </a:extLst>
          </p:cNvPr>
          <p:cNvSpPr/>
          <p:nvPr/>
        </p:nvSpPr>
        <p:spPr>
          <a:xfrm>
            <a:off x="5364088" y="625475"/>
            <a:ext cx="1049292" cy="410369"/>
          </a:xfrm>
          <a:prstGeom prst="wedgeEllipseCallout">
            <a:avLst>
              <a:gd name="adj1" fmla="val -49721"/>
              <a:gd name="adj2" fmla="val 61440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204</a:t>
            </a:r>
            <a:r>
              <a:rPr lang="ko-KR" altLang="en-US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</p:spTree>
    <p:extLst>
      <p:ext uri="{BB962C8B-B14F-4D97-AF65-F5344CB8AC3E}">
        <p14:creationId xmlns:p14="http://schemas.microsoft.com/office/powerpoint/2010/main" val="137902205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490173-6B7D-4D29-B58F-1146268DA87C}"/>
              </a:ext>
            </a:extLst>
          </p:cNvPr>
          <p:cNvSpPr txBox="1">
            <a:spLocks/>
          </p:cNvSpPr>
          <p:nvPr/>
        </p:nvSpPr>
        <p:spPr bwMode="auto">
          <a:xfrm>
            <a:off x="790109" y="681164"/>
            <a:ext cx="8075240" cy="642937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50000"/>
                  <a:shade val="30000"/>
                  <a:satMod val="115000"/>
                </a:schemeClr>
              </a:gs>
              <a:gs pos="50000">
                <a:schemeClr val="bg2">
                  <a:lumMod val="50000"/>
                  <a:shade val="67500"/>
                  <a:satMod val="115000"/>
                </a:schemeClr>
              </a:gs>
              <a:gs pos="100000">
                <a:schemeClr val="bg2">
                  <a:lumMod val="50000"/>
                  <a:shade val="100000"/>
                  <a:satMod val="115000"/>
                </a:schemeClr>
              </a:gs>
            </a:gsLst>
            <a:lin ang="0" scaled="1"/>
            <a:tileRect/>
          </a:gradFill>
          <a:ln>
            <a:noFill/>
            <a:miter lim="800000"/>
            <a:headEnd/>
            <a:tailEnd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2"/>
                </a:solidFill>
                <a:latin typeface="HY견고딕" pitchFamily="18" charset="-127"/>
                <a:ea typeface="HY견고딕" pitchFamily="18" charset="-127"/>
                <a:cs typeface="+mj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9pPr>
          </a:lstStyle>
          <a:p>
            <a:pPr eaLnBrk="1" hangingPunct="1">
              <a:defRPr/>
            </a:pPr>
            <a:r>
              <a:rPr kumimoji="0" lang="en-US" altLang="ko-KR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&lt;</a:t>
            </a:r>
            <a:r>
              <a:rPr kumimoji="0" lang="ko-KR" altLang="en-US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실습</a:t>
            </a:r>
            <a:r>
              <a:rPr kumimoji="0" lang="en-US" altLang="ko-KR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8&gt; </a:t>
            </a:r>
            <a:r>
              <a:rPr kumimoji="0" lang="ko-KR" altLang="en-US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사용자와 그룹 관리 연습</a:t>
            </a:r>
          </a:p>
        </p:txBody>
      </p:sp>
      <p:pic>
        <p:nvPicPr>
          <p:cNvPr id="3" name="그림 2" descr="키보드, 컴퓨터이(가) 표시된 사진&#10;&#10;자동 생성된 설명">
            <a:extLst>
              <a:ext uri="{FF2B5EF4-FFF2-40B4-BE49-F238E27FC236}">
                <a16:creationId xmlns:a16="http://schemas.microsoft.com/office/drawing/2014/main" id="{1038F0E8-0D44-42C7-B850-5D6C82CF01F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6768" y="510586"/>
            <a:ext cx="756709" cy="742276"/>
          </a:xfrm>
          <a:prstGeom prst="rect">
            <a:avLst/>
          </a:prstGeom>
        </p:spPr>
      </p:pic>
      <p:sp>
        <p:nvSpPr>
          <p:cNvPr id="19459" name="내용 개체 틀 2"/>
          <p:cNvSpPr>
            <a:spLocks noGrp="1"/>
          </p:cNvSpPr>
          <p:nvPr>
            <p:ph idx="1"/>
          </p:nvPr>
        </p:nvSpPr>
        <p:spPr>
          <a:xfrm>
            <a:off x="457200" y="1357313"/>
            <a:ext cx="8229600" cy="5143500"/>
          </a:xfrm>
        </p:spPr>
        <p:txBody>
          <a:bodyPr/>
          <a:lstStyle/>
          <a:p>
            <a:pPr eaLnBrk="1" hangingPunct="1">
              <a:defRPr/>
            </a:pPr>
            <a:r>
              <a:rPr lang="ko-KR" altLang="en-US" dirty="0"/>
              <a:t>실습목표</a:t>
            </a:r>
            <a:endParaRPr lang="en-US" altLang="ko-KR" dirty="0"/>
          </a:p>
          <a:p>
            <a:pPr lvl="1" eaLnBrk="1" hangingPunct="1">
              <a:defRPr/>
            </a:pPr>
            <a:r>
              <a:rPr lang="ko-KR" altLang="en-US" sz="2000" dirty="0"/>
              <a:t>사용자와 그룹의 생성</a:t>
            </a:r>
            <a:r>
              <a:rPr lang="en-US" altLang="ko-KR" sz="2000" dirty="0"/>
              <a:t>/</a:t>
            </a:r>
            <a:r>
              <a:rPr lang="ko-KR" altLang="en-US" sz="2000" dirty="0"/>
              <a:t>삭제</a:t>
            </a:r>
            <a:r>
              <a:rPr lang="en-US" altLang="ko-KR" sz="2000" dirty="0"/>
              <a:t>/</a:t>
            </a:r>
            <a:r>
              <a:rPr lang="ko-KR" altLang="en-US" sz="2000" dirty="0"/>
              <a:t>변경 명령어를 연습한다</a:t>
            </a:r>
            <a:r>
              <a:rPr lang="en-US" altLang="ko-KR" sz="2000" dirty="0"/>
              <a:t>.</a:t>
            </a:r>
          </a:p>
          <a:p>
            <a:pPr lvl="1" eaLnBrk="1" hangingPunct="1">
              <a:defRPr/>
            </a:pPr>
            <a:r>
              <a:rPr lang="ko-KR" altLang="en-US" sz="2000" dirty="0"/>
              <a:t>사용자와 그룹의 관련 파일을 파악한다</a:t>
            </a:r>
            <a:r>
              <a:rPr lang="en-US" altLang="ko-KR" sz="2000" dirty="0"/>
              <a:t>.</a:t>
            </a:r>
          </a:p>
          <a:p>
            <a:pPr lvl="1" eaLnBrk="1" hangingPunct="1">
              <a:defRPr/>
            </a:pPr>
            <a:r>
              <a:rPr lang="en-US" altLang="ko-KR" sz="2000" dirty="0"/>
              <a:t>X</a:t>
            </a:r>
            <a:r>
              <a:rPr lang="ko-KR" altLang="en-US" sz="2000" dirty="0"/>
              <a:t>윈도우에서 사용자 관리 툴을 확인한다</a:t>
            </a:r>
            <a:r>
              <a:rPr lang="en-US" altLang="ko-KR" sz="2000" dirty="0"/>
              <a:t>.</a:t>
            </a:r>
            <a:endParaRPr lang="en-US" altLang="ko-KR" dirty="0"/>
          </a:p>
          <a:p>
            <a:pPr eaLnBrk="1" hangingPunct="1">
              <a:defRPr/>
            </a:pPr>
            <a:r>
              <a:rPr lang="ko-KR" altLang="en-US" dirty="0"/>
              <a:t>실습 화면 </a:t>
            </a:r>
            <a:r>
              <a:rPr lang="en-US" altLang="ko-KR" dirty="0"/>
              <a:t>(X </a:t>
            </a:r>
            <a:r>
              <a:rPr lang="ko-KR" altLang="en-US" dirty="0"/>
              <a:t>윈도에서 사용자 추가</a:t>
            </a:r>
            <a:r>
              <a:rPr lang="en-US" altLang="ko-KR" dirty="0"/>
              <a:t>)</a:t>
            </a:r>
          </a:p>
          <a:p>
            <a:pPr lvl="2" eaLnBrk="1" hangingPunct="1">
              <a:defRPr/>
            </a:pPr>
            <a:endParaRPr lang="en-US" altLang="ko-KR" dirty="0"/>
          </a:p>
          <a:p>
            <a:pPr eaLnBrk="1" hangingPunct="1">
              <a:defRPr/>
            </a:pPr>
            <a:endParaRPr lang="ko-KR" altLang="en-US" dirty="0"/>
          </a:p>
        </p:txBody>
      </p:sp>
      <p:sp>
        <p:nvSpPr>
          <p:cNvPr id="4" name="말풍선: 타원형 3">
            <a:extLst>
              <a:ext uri="{FF2B5EF4-FFF2-40B4-BE49-F238E27FC236}">
                <a16:creationId xmlns:a16="http://schemas.microsoft.com/office/drawing/2014/main" id="{E29115A7-722B-265E-483B-3F6B03A1D378}"/>
              </a:ext>
            </a:extLst>
          </p:cNvPr>
          <p:cNvSpPr/>
          <p:nvPr/>
        </p:nvSpPr>
        <p:spPr>
          <a:xfrm>
            <a:off x="5364088" y="625475"/>
            <a:ext cx="1049292" cy="410369"/>
          </a:xfrm>
          <a:prstGeom prst="wedgeEllipseCallout">
            <a:avLst>
              <a:gd name="adj1" fmla="val -49721"/>
              <a:gd name="adj2" fmla="val 61440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205</a:t>
            </a:r>
            <a:r>
              <a:rPr lang="ko-KR" altLang="en-US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  <p:pic>
        <p:nvPicPr>
          <p:cNvPr id="7" name="그림 6" descr="텍스트, 스크린샷, 번호, 도표이(가) 표시된 사진&#10;&#10;자동 생성된 설명">
            <a:extLst>
              <a:ext uri="{FF2B5EF4-FFF2-40B4-BE49-F238E27FC236}">
                <a16:creationId xmlns:a16="http://schemas.microsoft.com/office/drawing/2014/main" id="{9AAB3E9B-E77B-D0C5-503D-4B131576DF2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7744" y="3274850"/>
            <a:ext cx="4398228" cy="3225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444013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제목 1"/>
          <p:cNvSpPr>
            <a:spLocks noGrp="1"/>
          </p:cNvSpPr>
          <p:nvPr>
            <p:ph type="title"/>
          </p:nvPr>
        </p:nvSpPr>
        <p:spPr>
          <a:xfrm>
            <a:off x="500063" y="714375"/>
            <a:ext cx="8229600" cy="642938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ko-KR" altLang="en-US" sz="2800" dirty="0"/>
              <a:t>파일과 디렉터리의 소유와 허가권 </a:t>
            </a:r>
            <a:r>
              <a:rPr lang="en-US" altLang="ko-KR" sz="2800" dirty="0"/>
              <a:t>(1) </a:t>
            </a:r>
            <a:endParaRPr lang="ko-KR" altLang="en-US" sz="2800" dirty="0">
              <a:solidFill>
                <a:srgbClr val="00B050"/>
              </a:solidFill>
            </a:endParaRPr>
          </a:p>
        </p:txBody>
      </p:sp>
      <p:sp>
        <p:nvSpPr>
          <p:cNvPr id="6" name="내용 개체 틀 2"/>
          <p:cNvSpPr>
            <a:spLocks noGrp="1"/>
          </p:cNvSpPr>
          <p:nvPr>
            <p:ph idx="1"/>
          </p:nvPr>
        </p:nvSpPr>
        <p:spPr>
          <a:xfrm>
            <a:off x="457200" y="1357313"/>
            <a:ext cx="8229600" cy="5214937"/>
          </a:xfrm>
        </p:spPr>
        <p:txBody>
          <a:bodyPr/>
          <a:lstStyle/>
          <a:p>
            <a:pPr eaLnBrk="1" hangingPunct="1">
              <a:defRPr/>
            </a:pPr>
            <a:r>
              <a:rPr lang="ko-KR" altLang="en-US" dirty="0"/>
              <a:t>파일의 리스트와 파일 속성</a:t>
            </a:r>
            <a:endParaRPr lang="en-US" altLang="ko-KR" dirty="0"/>
          </a:p>
          <a:p>
            <a:pPr lvl="1" eaLnBrk="1" hangingPunct="1">
              <a:defRPr/>
            </a:pPr>
            <a:endParaRPr lang="en-US" altLang="ko-KR" sz="1800" dirty="0"/>
          </a:p>
        </p:txBody>
      </p:sp>
      <p:sp>
        <p:nvSpPr>
          <p:cNvPr id="2" name="말풍선: 타원형 1">
            <a:extLst>
              <a:ext uri="{FF2B5EF4-FFF2-40B4-BE49-F238E27FC236}">
                <a16:creationId xmlns:a16="http://schemas.microsoft.com/office/drawing/2014/main" id="{6D33E3C7-0949-73DB-6A5C-1549C30DF764}"/>
              </a:ext>
            </a:extLst>
          </p:cNvPr>
          <p:cNvSpPr/>
          <p:nvPr/>
        </p:nvSpPr>
        <p:spPr>
          <a:xfrm>
            <a:off x="6372200" y="625475"/>
            <a:ext cx="1049292" cy="410369"/>
          </a:xfrm>
          <a:prstGeom prst="wedgeEllipseCallout">
            <a:avLst>
              <a:gd name="adj1" fmla="val -49721"/>
              <a:gd name="adj2" fmla="val 61440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212</a:t>
            </a:r>
            <a:r>
              <a:rPr lang="ko-KR" altLang="en-US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  <p:pic>
        <p:nvPicPr>
          <p:cNvPr id="5" name="그림 4" descr="텍스트, 스크린샷, 폰트이(가) 표시된 사진&#10;&#10;자동 생성된 설명">
            <a:extLst>
              <a:ext uri="{FF2B5EF4-FFF2-40B4-BE49-F238E27FC236}">
                <a16:creationId xmlns:a16="http://schemas.microsoft.com/office/drawing/2014/main" id="{6903A9A2-7B9E-460D-1C33-4024B82EE6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5656" y="1795335"/>
            <a:ext cx="5623430" cy="1395545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DAEEEBEB-13C1-964B-4179-53B3A338BC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3035" y="3324220"/>
            <a:ext cx="6048672" cy="3119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946146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제목 1"/>
          <p:cNvSpPr>
            <a:spLocks noGrp="1"/>
          </p:cNvSpPr>
          <p:nvPr>
            <p:ph type="title"/>
          </p:nvPr>
        </p:nvSpPr>
        <p:spPr>
          <a:xfrm>
            <a:off x="500063" y="714375"/>
            <a:ext cx="8229600" cy="642938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ko-KR" altLang="en-US" sz="2800" dirty="0"/>
              <a:t>파일과 디렉터리의 소유와 허가권 </a:t>
            </a:r>
            <a:r>
              <a:rPr lang="en-US" altLang="ko-KR" sz="2800" dirty="0"/>
              <a:t>(2)</a:t>
            </a:r>
            <a:endParaRPr lang="ko-KR" altLang="en-US" sz="2800" dirty="0">
              <a:solidFill>
                <a:srgbClr val="00B050"/>
              </a:solidFill>
            </a:endParaRPr>
          </a:p>
        </p:txBody>
      </p:sp>
      <p:sp>
        <p:nvSpPr>
          <p:cNvPr id="6" name="내용 개체 틀 2"/>
          <p:cNvSpPr>
            <a:spLocks noGrp="1"/>
          </p:cNvSpPr>
          <p:nvPr>
            <p:ph idx="1"/>
          </p:nvPr>
        </p:nvSpPr>
        <p:spPr>
          <a:xfrm>
            <a:off x="457200" y="1357313"/>
            <a:ext cx="8229600" cy="5214937"/>
          </a:xfrm>
        </p:spPr>
        <p:txBody>
          <a:bodyPr/>
          <a:lstStyle/>
          <a:p>
            <a:pPr eaLnBrk="1" hangingPunct="1">
              <a:defRPr/>
            </a:pPr>
            <a:r>
              <a:rPr lang="ko-KR" altLang="en-US" dirty="0"/>
              <a:t>파일 유형</a:t>
            </a:r>
            <a:endParaRPr lang="en-US" altLang="ko-KR" dirty="0"/>
          </a:p>
          <a:p>
            <a:pPr lvl="1" eaLnBrk="1" hangingPunct="1">
              <a:defRPr/>
            </a:pPr>
            <a:r>
              <a:rPr lang="ko-KR" altLang="en-US" sz="1800" dirty="0"/>
              <a:t>디렉터리일 경우에는 </a:t>
            </a:r>
            <a:r>
              <a:rPr lang="en-US" altLang="ko-KR" sz="1800" dirty="0"/>
              <a:t>d, </a:t>
            </a:r>
            <a:r>
              <a:rPr lang="ko-KR" altLang="en-US" sz="1800" dirty="0"/>
              <a:t>일반적인 파일일 경우에는 </a:t>
            </a:r>
            <a:r>
              <a:rPr lang="en-US" altLang="ko-KR" sz="1800" dirty="0"/>
              <a:t>-</a:t>
            </a:r>
            <a:r>
              <a:rPr lang="ko-KR" altLang="en-US" sz="1800" dirty="0"/>
              <a:t>가 표시</a:t>
            </a:r>
            <a:endParaRPr lang="en-US" altLang="ko-KR" sz="1800" dirty="0"/>
          </a:p>
          <a:p>
            <a:pPr lvl="1" eaLnBrk="1" hangingPunct="1">
              <a:defRPr/>
            </a:pPr>
            <a:endParaRPr lang="en-US" altLang="ko-KR" sz="1800" dirty="0"/>
          </a:p>
          <a:p>
            <a:pPr eaLnBrk="1" hangingPunct="1">
              <a:defRPr/>
            </a:pPr>
            <a:r>
              <a:rPr lang="ko-KR" altLang="en-US" dirty="0"/>
              <a:t>파일 허가권</a:t>
            </a:r>
            <a:r>
              <a:rPr lang="en-US" altLang="ko-KR" dirty="0"/>
              <a:t>(Permission)</a:t>
            </a:r>
          </a:p>
          <a:p>
            <a:pPr lvl="1" eaLnBrk="1" hangingPunct="1">
              <a:defRPr/>
            </a:pPr>
            <a:r>
              <a:rPr lang="ko-KR" altLang="en-US" sz="1800" dirty="0"/>
              <a:t>“</a:t>
            </a:r>
            <a:r>
              <a:rPr lang="en-US" altLang="ko-KR" sz="1800" dirty="0" err="1"/>
              <a:t>rw</a:t>
            </a:r>
            <a:r>
              <a:rPr lang="en-US" altLang="ko-KR" sz="1800" dirty="0"/>
              <a:t>-” , “ r--” , “ r--” 3</a:t>
            </a:r>
            <a:r>
              <a:rPr lang="ko-KR" altLang="en-US" sz="1800" dirty="0"/>
              <a:t>개씩 끊어서 읽음 </a:t>
            </a:r>
            <a:r>
              <a:rPr lang="en-US" altLang="ko-KR" sz="1800" dirty="0"/>
              <a:t>(r</a:t>
            </a:r>
            <a:r>
              <a:rPr lang="ko-KR" altLang="en-US" sz="1800" dirty="0"/>
              <a:t>은 </a:t>
            </a:r>
            <a:r>
              <a:rPr lang="en-US" altLang="ko-KR" sz="1800" dirty="0"/>
              <a:t>read, w</a:t>
            </a:r>
            <a:r>
              <a:rPr lang="ko-KR" altLang="en-US" sz="1800" dirty="0"/>
              <a:t>는 </a:t>
            </a:r>
            <a:r>
              <a:rPr lang="en-US" altLang="ko-KR" sz="1800" dirty="0"/>
              <a:t>write, x</a:t>
            </a:r>
            <a:r>
              <a:rPr lang="ko-KR" altLang="en-US" sz="1800" dirty="0"/>
              <a:t>는 </a:t>
            </a:r>
            <a:r>
              <a:rPr lang="en-US" altLang="ko-KR" sz="1800" dirty="0"/>
              <a:t>execute</a:t>
            </a:r>
            <a:r>
              <a:rPr lang="ko-KR" altLang="en-US" sz="1800" dirty="0"/>
              <a:t>의 약자</a:t>
            </a:r>
            <a:r>
              <a:rPr lang="en-US" altLang="ko-KR" sz="1800" dirty="0"/>
              <a:t>)</a:t>
            </a:r>
          </a:p>
          <a:p>
            <a:pPr lvl="1" eaLnBrk="1" hangingPunct="1">
              <a:defRPr/>
            </a:pPr>
            <a:r>
              <a:rPr lang="ko-KR" altLang="en-US" sz="1800" dirty="0"/>
              <a:t>첫 번째 “</a:t>
            </a:r>
            <a:r>
              <a:rPr lang="en-US" altLang="ko-KR" sz="1800" dirty="0" err="1"/>
              <a:t>rw</a:t>
            </a:r>
            <a:r>
              <a:rPr lang="en-US" altLang="ko-KR" sz="1800" dirty="0"/>
              <a:t>-”</a:t>
            </a:r>
            <a:r>
              <a:rPr lang="ko-KR" altLang="en-US" sz="1800" dirty="0"/>
              <a:t>는 소유자</a:t>
            </a:r>
            <a:r>
              <a:rPr lang="en-US" altLang="ko-KR" sz="1800" dirty="0"/>
              <a:t>(User)</a:t>
            </a:r>
            <a:r>
              <a:rPr lang="ko-KR" altLang="en-US" sz="1800" dirty="0"/>
              <a:t>의 파일접근 권한</a:t>
            </a:r>
            <a:endParaRPr lang="en-US" altLang="ko-KR" sz="1800" dirty="0"/>
          </a:p>
          <a:p>
            <a:pPr lvl="1" eaLnBrk="1" hangingPunct="1">
              <a:defRPr/>
            </a:pPr>
            <a:r>
              <a:rPr lang="ko-KR" altLang="en-US" sz="1800" dirty="0"/>
              <a:t>두 번째의 “</a:t>
            </a:r>
            <a:r>
              <a:rPr lang="en-US" altLang="ko-KR" sz="1800" dirty="0"/>
              <a:t>r--”</a:t>
            </a:r>
            <a:r>
              <a:rPr lang="ko-KR" altLang="en-US" sz="1800" dirty="0"/>
              <a:t>는 그룹</a:t>
            </a:r>
            <a:r>
              <a:rPr lang="en-US" altLang="ko-KR" sz="1800" dirty="0"/>
              <a:t>(Group)</a:t>
            </a:r>
            <a:r>
              <a:rPr lang="ko-KR" altLang="en-US" sz="1800" dirty="0"/>
              <a:t>의 파일접근 권한</a:t>
            </a:r>
          </a:p>
          <a:p>
            <a:pPr lvl="1" eaLnBrk="1" hangingPunct="1">
              <a:defRPr/>
            </a:pPr>
            <a:r>
              <a:rPr lang="ko-KR" altLang="en-US" sz="1800" dirty="0"/>
              <a:t>세 번째의 “</a:t>
            </a:r>
            <a:r>
              <a:rPr lang="en-US" altLang="ko-KR" sz="1800" dirty="0"/>
              <a:t>r--”</a:t>
            </a:r>
            <a:r>
              <a:rPr lang="ko-KR" altLang="en-US" sz="1800" dirty="0"/>
              <a:t>는 그 외의 사용자</a:t>
            </a:r>
            <a:r>
              <a:rPr lang="en-US" altLang="ko-KR" sz="1800" dirty="0"/>
              <a:t>(Other)</a:t>
            </a:r>
            <a:r>
              <a:rPr lang="ko-KR" altLang="en-US" sz="1800" dirty="0"/>
              <a:t>의 파일접근 권한</a:t>
            </a:r>
            <a:endParaRPr lang="en-US" altLang="ko-KR" sz="1800" dirty="0"/>
          </a:p>
          <a:p>
            <a:pPr lvl="1" eaLnBrk="1" hangingPunct="1">
              <a:defRPr/>
            </a:pPr>
            <a:r>
              <a:rPr lang="ko-KR" altLang="en-US" sz="1800" dirty="0"/>
              <a:t>숫자로도 표시 가능</a:t>
            </a:r>
            <a:endParaRPr lang="en-US" altLang="ko-KR" sz="1800" dirty="0"/>
          </a:p>
        </p:txBody>
      </p:sp>
      <p:sp>
        <p:nvSpPr>
          <p:cNvPr id="3" name="말풍선: 타원형 2">
            <a:extLst>
              <a:ext uri="{FF2B5EF4-FFF2-40B4-BE49-F238E27FC236}">
                <a16:creationId xmlns:a16="http://schemas.microsoft.com/office/drawing/2014/main" id="{94B3D34D-09BA-C312-E1FF-976FEC13AEAD}"/>
              </a:ext>
            </a:extLst>
          </p:cNvPr>
          <p:cNvSpPr/>
          <p:nvPr/>
        </p:nvSpPr>
        <p:spPr>
          <a:xfrm>
            <a:off x="6372200" y="625475"/>
            <a:ext cx="1049292" cy="410369"/>
          </a:xfrm>
          <a:prstGeom prst="wedgeEllipseCallout">
            <a:avLst>
              <a:gd name="adj1" fmla="val -49721"/>
              <a:gd name="adj2" fmla="val 61440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213</a:t>
            </a:r>
            <a:r>
              <a:rPr lang="ko-KR" altLang="en-US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A4C6A5A6-6547-DE19-1FCC-3ECF94520D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705" y="4797152"/>
            <a:ext cx="8038095" cy="1533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121817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제목 1"/>
          <p:cNvSpPr>
            <a:spLocks noGrp="1"/>
          </p:cNvSpPr>
          <p:nvPr>
            <p:ph type="title"/>
          </p:nvPr>
        </p:nvSpPr>
        <p:spPr>
          <a:xfrm>
            <a:off x="500063" y="714375"/>
            <a:ext cx="8229600" cy="642938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ko-KR" altLang="en-US" sz="2800" dirty="0"/>
              <a:t>파일과 디렉터리의 소유와 허가권 </a:t>
            </a:r>
            <a:r>
              <a:rPr lang="en-US" altLang="ko-KR" sz="2800" dirty="0"/>
              <a:t>(3)</a:t>
            </a:r>
            <a:endParaRPr lang="ko-KR" altLang="en-US" sz="2800" dirty="0">
              <a:solidFill>
                <a:srgbClr val="00B050"/>
              </a:solidFill>
            </a:endParaRPr>
          </a:p>
        </p:txBody>
      </p:sp>
      <p:sp>
        <p:nvSpPr>
          <p:cNvPr id="6" name="내용 개체 틀 2"/>
          <p:cNvSpPr>
            <a:spLocks noGrp="1"/>
          </p:cNvSpPr>
          <p:nvPr>
            <p:ph idx="1"/>
          </p:nvPr>
        </p:nvSpPr>
        <p:spPr>
          <a:xfrm>
            <a:off x="457200" y="1357313"/>
            <a:ext cx="8229600" cy="5214937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ko-KR" dirty="0"/>
              <a:t>chmod </a:t>
            </a:r>
            <a:r>
              <a:rPr lang="ko-KR" altLang="en-US" dirty="0"/>
              <a:t>명령</a:t>
            </a:r>
            <a:endParaRPr lang="en-US" altLang="ko-KR" dirty="0"/>
          </a:p>
          <a:p>
            <a:pPr lvl="1" eaLnBrk="1" hangingPunct="1">
              <a:defRPr/>
            </a:pPr>
            <a:r>
              <a:rPr lang="ko-KR" altLang="en-US" sz="1800" dirty="0"/>
              <a:t>파일 허가권 변경 명령어</a:t>
            </a:r>
            <a:endParaRPr lang="en-US" altLang="ko-KR" sz="1800" dirty="0"/>
          </a:p>
          <a:p>
            <a:pPr lvl="1" eaLnBrk="1" hangingPunct="1">
              <a:defRPr/>
            </a:pPr>
            <a:r>
              <a:rPr lang="ko-KR" altLang="en-US" sz="1800" dirty="0"/>
              <a:t>예</a:t>
            </a:r>
            <a:r>
              <a:rPr lang="en-US" altLang="ko-KR" sz="1800" dirty="0"/>
              <a:t>) # chmod 777 sample.txt</a:t>
            </a:r>
          </a:p>
          <a:p>
            <a:pPr lvl="1" eaLnBrk="1" hangingPunct="1">
              <a:defRPr/>
            </a:pPr>
            <a:endParaRPr lang="en-US" altLang="ko-KR" sz="1800" dirty="0"/>
          </a:p>
          <a:p>
            <a:pPr eaLnBrk="1" hangingPunct="1">
              <a:defRPr/>
            </a:pPr>
            <a:r>
              <a:rPr lang="ko-KR" altLang="en-US" dirty="0"/>
              <a:t>파일 소유권</a:t>
            </a:r>
            <a:r>
              <a:rPr lang="en-US" altLang="ko-KR" dirty="0"/>
              <a:t>(Ownership)</a:t>
            </a:r>
          </a:p>
          <a:p>
            <a:pPr lvl="1" eaLnBrk="1" hangingPunct="1">
              <a:defRPr/>
            </a:pPr>
            <a:r>
              <a:rPr lang="ko-KR" altLang="en-US" sz="1800" dirty="0"/>
              <a:t>파일을 소유한 사용자와 그룹을 의미</a:t>
            </a:r>
            <a:endParaRPr lang="en-US" altLang="ko-KR" sz="1800" dirty="0"/>
          </a:p>
          <a:p>
            <a:pPr lvl="1" eaLnBrk="1" hangingPunct="1">
              <a:defRPr/>
            </a:pPr>
            <a:endParaRPr lang="en-US" altLang="ko-KR" sz="1800" dirty="0"/>
          </a:p>
          <a:p>
            <a:pPr eaLnBrk="1" hangingPunct="1">
              <a:defRPr/>
            </a:pPr>
            <a:r>
              <a:rPr lang="en-US" altLang="ko-KR" dirty="0"/>
              <a:t>chown/</a:t>
            </a:r>
            <a:r>
              <a:rPr lang="en-US" altLang="ko-KR" dirty="0" err="1"/>
              <a:t>chgrp</a:t>
            </a:r>
            <a:r>
              <a:rPr lang="en-US" altLang="ko-KR" dirty="0"/>
              <a:t> </a:t>
            </a:r>
            <a:r>
              <a:rPr lang="ko-KR" altLang="en-US" dirty="0"/>
              <a:t>명령</a:t>
            </a:r>
            <a:endParaRPr lang="en-US" altLang="ko-KR" dirty="0"/>
          </a:p>
          <a:p>
            <a:pPr lvl="1" eaLnBrk="1" hangingPunct="1">
              <a:defRPr/>
            </a:pPr>
            <a:r>
              <a:rPr lang="ko-KR" altLang="en-US" sz="1800" dirty="0"/>
              <a:t>파일의 소유권을 바꾸는 명령어</a:t>
            </a:r>
            <a:endParaRPr lang="en-US" altLang="ko-KR" sz="1800" dirty="0"/>
          </a:p>
          <a:p>
            <a:pPr lvl="1" eaLnBrk="1" hangingPunct="1">
              <a:defRPr/>
            </a:pPr>
            <a:r>
              <a:rPr lang="ko-KR" altLang="en-US" sz="1800" dirty="0"/>
              <a:t>예</a:t>
            </a:r>
            <a:r>
              <a:rPr lang="en-US" altLang="ko-KR" sz="1800" dirty="0"/>
              <a:t>) # chown </a:t>
            </a:r>
            <a:r>
              <a:rPr lang="en-US" altLang="ko-KR" sz="1800" dirty="0" err="1"/>
              <a:t>ubuntu:ubuntu</a:t>
            </a:r>
            <a:r>
              <a:rPr lang="en-US" altLang="ko-KR" sz="1800" dirty="0"/>
              <a:t> sample.txt  </a:t>
            </a:r>
            <a:r>
              <a:rPr lang="ko-KR" altLang="en-US" sz="1800" dirty="0"/>
              <a:t>또는</a:t>
            </a:r>
            <a:endParaRPr lang="en-US" altLang="ko-KR" sz="1800" dirty="0"/>
          </a:p>
          <a:p>
            <a:pPr lvl="1" eaLnBrk="1" hangingPunct="1">
              <a:buNone/>
              <a:defRPr/>
            </a:pPr>
            <a:r>
              <a:rPr lang="en-US" altLang="ko-KR" sz="1800" dirty="0"/>
              <a:t>        # chown </a:t>
            </a:r>
            <a:r>
              <a:rPr lang="en-US" altLang="ko-KR" sz="1800" dirty="0" err="1"/>
              <a:t>ubuntu</a:t>
            </a:r>
            <a:r>
              <a:rPr lang="en-US" altLang="ko-KR" sz="1800" dirty="0"/>
              <a:t> sample.txt  </a:t>
            </a:r>
            <a:r>
              <a:rPr lang="ko-KR" altLang="en-US" sz="1800" dirty="0"/>
              <a:t>및  </a:t>
            </a:r>
            <a:r>
              <a:rPr lang="en-US" altLang="ko-KR" sz="1800" dirty="0"/>
              <a:t># </a:t>
            </a:r>
            <a:r>
              <a:rPr lang="en-US" altLang="ko-KR" sz="1800" dirty="0" err="1"/>
              <a:t>chgrp</a:t>
            </a:r>
            <a:r>
              <a:rPr lang="en-US" altLang="ko-KR" sz="1800" dirty="0"/>
              <a:t> </a:t>
            </a:r>
            <a:r>
              <a:rPr lang="en-US" altLang="ko-KR" sz="1800" dirty="0" err="1"/>
              <a:t>ubuntu</a:t>
            </a:r>
            <a:r>
              <a:rPr lang="en-US" altLang="ko-KR" sz="1800" dirty="0"/>
              <a:t> sample.txt</a:t>
            </a:r>
          </a:p>
        </p:txBody>
      </p:sp>
      <p:sp>
        <p:nvSpPr>
          <p:cNvPr id="2" name="말풍선: 타원형 1">
            <a:extLst>
              <a:ext uri="{FF2B5EF4-FFF2-40B4-BE49-F238E27FC236}">
                <a16:creationId xmlns:a16="http://schemas.microsoft.com/office/drawing/2014/main" id="{0360F810-8D91-9D5B-1671-10AD8CDC7FBA}"/>
              </a:ext>
            </a:extLst>
          </p:cNvPr>
          <p:cNvSpPr/>
          <p:nvPr/>
        </p:nvSpPr>
        <p:spPr>
          <a:xfrm>
            <a:off x="6372200" y="625475"/>
            <a:ext cx="1049292" cy="410369"/>
          </a:xfrm>
          <a:prstGeom prst="wedgeEllipseCallout">
            <a:avLst>
              <a:gd name="adj1" fmla="val -49721"/>
              <a:gd name="adj2" fmla="val 61440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215</a:t>
            </a:r>
            <a:r>
              <a:rPr lang="ko-KR" altLang="en-US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</p:spTree>
    <p:extLst>
      <p:ext uri="{BB962C8B-B14F-4D97-AF65-F5344CB8AC3E}">
        <p14:creationId xmlns:p14="http://schemas.microsoft.com/office/powerpoint/2010/main" val="46548724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CB1CC3-A8C4-4E41-8859-C8A7F5C7CEA5}"/>
              </a:ext>
            </a:extLst>
          </p:cNvPr>
          <p:cNvSpPr txBox="1">
            <a:spLocks/>
          </p:cNvSpPr>
          <p:nvPr/>
        </p:nvSpPr>
        <p:spPr bwMode="auto">
          <a:xfrm>
            <a:off x="790109" y="637242"/>
            <a:ext cx="8075240" cy="642937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50000"/>
                  <a:shade val="30000"/>
                  <a:satMod val="115000"/>
                </a:schemeClr>
              </a:gs>
              <a:gs pos="50000">
                <a:schemeClr val="bg2">
                  <a:lumMod val="50000"/>
                  <a:shade val="67500"/>
                  <a:satMod val="115000"/>
                </a:schemeClr>
              </a:gs>
              <a:gs pos="100000">
                <a:schemeClr val="bg2">
                  <a:lumMod val="50000"/>
                  <a:shade val="100000"/>
                  <a:satMod val="115000"/>
                </a:schemeClr>
              </a:gs>
            </a:gsLst>
            <a:lin ang="0" scaled="1"/>
            <a:tileRect/>
          </a:gradFill>
          <a:ln>
            <a:noFill/>
            <a:miter lim="800000"/>
            <a:headEnd/>
            <a:tailEnd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2"/>
                </a:solidFill>
                <a:latin typeface="HY견고딕" pitchFamily="18" charset="-127"/>
                <a:ea typeface="HY견고딕" pitchFamily="18" charset="-127"/>
                <a:cs typeface="+mj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9pPr>
          </a:lstStyle>
          <a:p>
            <a:pPr eaLnBrk="1" hangingPunct="1">
              <a:defRPr/>
            </a:pPr>
            <a:r>
              <a:rPr kumimoji="0" lang="en-US" altLang="ko-KR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&lt;</a:t>
            </a:r>
            <a:r>
              <a:rPr kumimoji="0" lang="ko-KR" altLang="en-US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실습</a:t>
            </a:r>
            <a:r>
              <a:rPr kumimoji="0" lang="en-US" altLang="ko-KR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9&gt; </a:t>
            </a:r>
            <a:r>
              <a:rPr kumimoji="0" lang="ko-KR" altLang="en-US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파일의 허가권 및 소유권</a:t>
            </a:r>
          </a:p>
        </p:txBody>
      </p:sp>
      <p:pic>
        <p:nvPicPr>
          <p:cNvPr id="3" name="그림 2" descr="키보드, 컴퓨터이(가) 표시된 사진&#10;&#10;자동 생성된 설명">
            <a:extLst>
              <a:ext uri="{FF2B5EF4-FFF2-40B4-BE49-F238E27FC236}">
                <a16:creationId xmlns:a16="http://schemas.microsoft.com/office/drawing/2014/main" id="{7F60C411-6DF1-4CCC-BCF8-20EF4587E48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6768" y="466664"/>
            <a:ext cx="756709" cy="742276"/>
          </a:xfrm>
          <a:prstGeom prst="rect">
            <a:avLst/>
          </a:prstGeom>
        </p:spPr>
      </p:pic>
      <p:sp>
        <p:nvSpPr>
          <p:cNvPr id="19459" name="내용 개체 틀 2"/>
          <p:cNvSpPr>
            <a:spLocks noGrp="1"/>
          </p:cNvSpPr>
          <p:nvPr>
            <p:ph idx="1"/>
          </p:nvPr>
        </p:nvSpPr>
        <p:spPr>
          <a:xfrm>
            <a:off x="457200" y="1357313"/>
            <a:ext cx="8229600" cy="5143500"/>
          </a:xfrm>
        </p:spPr>
        <p:txBody>
          <a:bodyPr/>
          <a:lstStyle/>
          <a:p>
            <a:pPr eaLnBrk="1" hangingPunct="1">
              <a:defRPr/>
            </a:pPr>
            <a:r>
              <a:rPr lang="ko-KR" altLang="en-US" dirty="0"/>
              <a:t>실습목표</a:t>
            </a:r>
            <a:endParaRPr lang="en-US" altLang="ko-KR" dirty="0"/>
          </a:p>
          <a:p>
            <a:pPr lvl="1" eaLnBrk="1" hangingPunct="1">
              <a:defRPr/>
            </a:pPr>
            <a:r>
              <a:rPr lang="ko-KR" altLang="en-US" sz="2000" dirty="0"/>
              <a:t>파일의 허가권에 대한 개념과 명령어를 익힌다</a:t>
            </a:r>
            <a:r>
              <a:rPr lang="en-US" altLang="ko-KR" sz="2000" dirty="0"/>
              <a:t>.</a:t>
            </a:r>
          </a:p>
          <a:p>
            <a:pPr lvl="1" eaLnBrk="1" hangingPunct="1">
              <a:defRPr/>
            </a:pPr>
            <a:r>
              <a:rPr lang="ko-KR" altLang="en-US" sz="2000" dirty="0"/>
              <a:t>파일의 소유권에 대한 개념과 명령어를 익히고</a:t>
            </a:r>
            <a:r>
              <a:rPr lang="en-US" altLang="ko-KR" sz="2000" dirty="0"/>
              <a:t>, </a:t>
            </a:r>
            <a:r>
              <a:rPr lang="ko-KR" altLang="en-US" sz="2000" dirty="0"/>
              <a:t>보안에 관련된 내용도 확인해 본다</a:t>
            </a:r>
            <a:r>
              <a:rPr lang="en-US" altLang="ko-KR" sz="2000" dirty="0"/>
              <a:t>.</a:t>
            </a:r>
          </a:p>
          <a:p>
            <a:pPr lvl="1" eaLnBrk="1" hangingPunct="1">
              <a:defRPr/>
            </a:pPr>
            <a:endParaRPr lang="en-US" altLang="ko-KR" dirty="0"/>
          </a:p>
          <a:p>
            <a:pPr eaLnBrk="1" hangingPunct="1">
              <a:defRPr/>
            </a:pPr>
            <a:r>
              <a:rPr lang="ko-KR" altLang="en-US" dirty="0"/>
              <a:t>실습 화면 </a:t>
            </a:r>
            <a:r>
              <a:rPr lang="en-US" altLang="ko-KR" dirty="0"/>
              <a:t>(</a:t>
            </a:r>
            <a:r>
              <a:rPr lang="ko-KR" altLang="en-US" dirty="0"/>
              <a:t>소유권 변경 실패</a:t>
            </a:r>
            <a:r>
              <a:rPr lang="en-US" altLang="ko-KR" dirty="0"/>
              <a:t>)</a:t>
            </a:r>
          </a:p>
          <a:p>
            <a:pPr lvl="2" eaLnBrk="1" hangingPunct="1">
              <a:defRPr/>
            </a:pPr>
            <a:endParaRPr lang="en-US" altLang="ko-KR" dirty="0"/>
          </a:p>
          <a:p>
            <a:pPr eaLnBrk="1" hangingPunct="1">
              <a:defRPr/>
            </a:pPr>
            <a:endParaRPr lang="ko-KR" altLang="en-US" dirty="0"/>
          </a:p>
        </p:txBody>
      </p:sp>
      <p:sp>
        <p:nvSpPr>
          <p:cNvPr id="4" name="말풍선: 타원형 3">
            <a:extLst>
              <a:ext uri="{FF2B5EF4-FFF2-40B4-BE49-F238E27FC236}">
                <a16:creationId xmlns:a16="http://schemas.microsoft.com/office/drawing/2014/main" id="{C9BAA4CA-029E-B5CA-DB6E-1D4D31C9C2D0}"/>
              </a:ext>
            </a:extLst>
          </p:cNvPr>
          <p:cNvSpPr/>
          <p:nvPr/>
        </p:nvSpPr>
        <p:spPr>
          <a:xfrm>
            <a:off x="5364088" y="560108"/>
            <a:ext cx="1049292" cy="410369"/>
          </a:xfrm>
          <a:prstGeom prst="wedgeEllipseCallout">
            <a:avLst>
              <a:gd name="adj1" fmla="val -49721"/>
              <a:gd name="adj2" fmla="val 61440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215</a:t>
            </a:r>
            <a:r>
              <a:rPr lang="ko-KR" altLang="en-US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  <p:pic>
        <p:nvPicPr>
          <p:cNvPr id="7" name="그림 6" descr="텍스트, 스크린샷, 폰트, 멀티미디어이(가) 표시된 사진&#10;&#10;자동 생성된 설명">
            <a:extLst>
              <a:ext uri="{FF2B5EF4-FFF2-40B4-BE49-F238E27FC236}">
                <a16:creationId xmlns:a16="http://schemas.microsoft.com/office/drawing/2014/main" id="{3E561994-5494-C9D4-1CE3-D20DA4D1FB4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0109" y="3935155"/>
            <a:ext cx="7771428" cy="1838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445221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제목 1"/>
          <p:cNvSpPr>
            <a:spLocks noGrp="1"/>
          </p:cNvSpPr>
          <p:nvPr>
            <p:ph type="title"/>
          </p:nvPr>
        </p:nvSpPr>
        <p:spPr>
          <a:xfrm>
            <a:off x="500063" y="714375"/>
            <a:ext cx="8229600" cy="642938"/>
          </a:xfrm>
        </p:spPr>
        <p:txBody>
          <a:bodyPr/>
          <a:lstStyle/>
          <a:p>
            <a:pPr eaLnBrk="1" hangingPunct="1"/>
            <a:r>
              <a:rPr lang="ko-KR" altLang="en-US" sz="2800" dirty="0"/>
              <a:t>링크</a:t>
            </a:r>
            <a:endParaRPr lang="ko-KR" altLang="en-US" sz="2800" dirty="0">
              <a:solidFill>
                <a:srgbClr val="00B050"/>
              </a:solidFill>
            </a:endParaRPr>
          </a:p>
        </p:txBody>
      </p:sp>
      <p:sp>
        <p:nvSpPr>
          <p:cNvPr id="6" name="내용 개체 틀 2"/>
          <p:cNvSpPr>
            <a:spLocks noGrp="1"/>
          </p:cNvSpPr>
          <p:nvPr>
            <p:ph idx="1"/>
          </p:nvPr>
        </p:nvSpPr>
        <p:spPr>
          <a:xfrm>
            <a:off x="457200" y="1357313"/>
            <a:ext cx="8229600" cy="5214937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ko-KR" altLang="en-US" sz="2000" dirty="0"/>
              <a:t>파일의 링크</a:t>
            </a:r>
            <a:r>
              <a:rPr lang="en-US" altLang="ko-KR" sz="2000" dirty="0"/>
              <a:t>(Link)</a:t>
            </a:r>
            <a:r>
              <a:rPr lang="ko-KR" altLang="en-US" sz="2000" dirty="0"/>
              <a:t>에는 하드 링크</a:t>
            </a:r>
            <a:r>
              <a:rPr lang="en-US" altLang="ko-KR" sz="2000" dirty="0"/>
              <a:t>(Hard Link)</a:t>
            </a:r>
            <a:r>
              <a:rPr lang="ko-KR" altLang="en-US" sz="2000" dirty="0"/>
              <a:t>와 심볼릭 링크</a:t>
            </a:r>
            <a:r>
              <a:rPr lang="en-US" altLang="ko-KR" sz="2000" dirty="0"/>
              <a:t>(Symbolic Link </a:t>
            </a:r>
            <a:r>
              <a:rPr lang="ko-KR" altLang="en-US" sz="2000" dirty="0"/>
              <a:t>또는 </a:t>
            </a:r>
            <a:r>
              <a:rPr lang="en-US" altLang="ko-KR" sz="2000" dirty="0"/>
              <a:t>Soft Link) </a:t>
            </a:r>
            <a:r>
              <a:rPr lang="ko-KR" altLang="en-US" sz="2000" dirty="0"/>
              <a:t>두 가지가 있음</a:t>
            </a:r>
            <a:endParaRPr lang="en-US" altLang="ko-KR" sz="2000" dirty="0"/>
          </a:p>
          <a:p>
            <a:pPr>
              <a:defRPr/>
            </a:pPr>
            <a:endParaRPr lang="en-US" altLang="ko-KR" sz="2000" dirty="0"/>
          </a:p>
          <a:p>
            <a:pPr>
              <a:defRPr/>
            </a:pPr>
            <a:endParaRPr lang="en-US" altLang="ko-KR" sz="2000" dirty="0"/>
          </a:p>
          <a:p>
            <a:pPr>
              <a:defRPr/>
            </a:pPr>
            <a:endParaRPr lang="en-US" altLang="ko-KR" sz="2000" dirty="0"/>
          </a:p>
          <a:p>
            <a:pPr>
              <a:defRPr/>
            </a:pPr>
            <a:endParaRPr lang="en-US" altLang="ko-KR" sz="2000" dirty="0"/>
          </a:p>
          <a:p>
            <a:pPr>
              <a:defRPr/>
            </a:pPr>
            <a:endParaRPr lang="en-US" altLang="ko-KR" sz="2000" dirty="0"/>
          </a:p>
          <a:p>
            <a:pPr>
              <a:defRPr/>
            </a:pPr>
            <a:endParaRPr lang="en-US" altLang="ko-KR" sz="2000" dirty="0"/>
          </a:p>
          <a:p>
            <a:pPr>
              <a:defRPr/>
            </a:pPr>
            <a:endParaRPr lang="en-US" altLang="ko-KR" sz="2000" dirty="0"/>
          </a:p>
          <a:p>
            <a:pPr>
              <a:defRPr/>
            </a:pPr>
            <a:endParaRPr lang="en-US" altLang="ko-KR" sz="2000" dirty="0"/>
          </a:p>
          <a:p>
            <a:pPr>
              <a:defRPr/>
            </a:pPr>
            <a:r>
              <a:rPr lang="ko-KR" altLang="en-US" sz="2000" dirty="0"/>
              <a:t>하드 링크를 생성하면 “하드링크파일”만 하나 생성되며 같은 </a:t>
            </a:r>
            <a:r>
              <a:rPr lang="en-US" altLang="ko-KR" sz="2000" dirty="0"/>
              <a:t>inode1</a:t>
            </a:r>
            <a:r>
              <a:rPr lang="ko-KR" altLang="en-US" sz="2000" dirty="0"/>
              <a:t>을 사용 </a:t>
            </a:r>
            <a:r>
              <a:rPr lang="en-US" altLang="ko-KR" sz="2000" dirty="0"/>
              <a:t>(</a:t>
            </a:r>
            <a:r>
              <a:rPr lang="ko-KR" altLang="en-US" sz="2000" dirty="0"/>
              <a:t>명령 </a:t>
            </a:r>
            <a:r>
              <a:rPr lang="en-US" altLang="ko-KR" sz="2000" dirty="0"/>
              <a:t>: # </a:t>
            </a:r>
            <a:r>
              <a:rPr lang="en-US" altLang="ko-KR" sz="2000" dirty="0" err="1"/>
              <a:t>ln</a:t>
            </a:r>
            <a:r>
              <a:rPr lang="en-US" altLang="ko-KR" sz="2000" dirty="0"/>
              <a:t> </a:t>
            </a:r>
            <a:r>
              <a:rPr lang="ko-KR" altLang="en-US" sz="2000" dirty="0"/>
              <a:t>링크대상파일이름 링크파일이름</a:t>
            </a:r>
            <a:r>
              <a:rPr lang="en-US" altLang="ko-KR" sz="2000" dirty="0"/>
              <a:t>)</a:t>
            </a:r>
          </a:p>
          <a:p>
            <a:pPr>
              <a:defRPr/>
            </a:pPr>
            <a:r>
              <a:rPr lang="ko-KR" altLang="en-US" sz="2000" dirty="0" err="1"/>
              <a:t>심볼릭</a:t>
            </a:r>
            <a:r>
              <a:rPr lang="ko-KR" altLang="en-US" sz="2000" dirty="0"/>
              <a:t> 링크를 생성하면 새로운 </a:t>
            </a:r>
            <a:r>
              <a:rPr lang="en-US" altLang="ko-KR" sz="2000" dirty="0"/>
              <a:t>inode2</a:t>
            </a:r>
            <a:r>
              <a:rPr lang="ko-KR" altLang="en-US" sz="2000" dirty="0"/>
              <a:t>를 만들고</a:t>
            </a:r>
            <a:r>
              <a:rPr lang="en-US" altLang="ko-KR" sz="2000" dirty="0"/>
              <a:t>, </a:t>
            </a:r>
            <a:r>
              <a:rPr lang="ko-KR" altLang="en-US" sz="2000" dirty="0"/>
              <a:t>데이터는 원본 파일을 연결하는 효과 </a:t>
            </a:r>
            <a:br>
              <a:rPr lang="en-US" altLang="ko-KR" sz="2000" dirty="0"/>
            </a:br>
            <a:r>
              <a:rPr lang="en-US" altLang="ko-KR" sz="2000" dirty="0"/>
              <a:t> (</a:t>
            </a:r>
            <a:r>
              <a:rPr lang="ko-KR" altLang="en-US" sz="2000" dirty="0"/>
              <a:t>명령 </a:t>
            </a:r>
            <a:r>
              <a:rPr lang="en-US" altLang="ko-KR" sz="2000" dirty="0"/>
              <a:t>: # </a:t>
            </a:r>
            <a:r>
              <a:rPr lang="en-US" altLang="ko-KR" sz="2000" dirty="0" err="1"/>
              <a:t>ln</a:t>
            </a:r>
            <a:r>
              <a:rPr lang="en-US" altLang="ko-KR" sz="2000" dirty="0"/>
              <a:t> -s </a:t>
            </a:r>
            <a:r>
              <a:rPr lang="ko-KR" altLang="en-US" sz="2000" dirty="0"/>
              <a:t>링크대상파일이름 링크파일이름</a:t>
            </a:r>
            <a:r>
              <a:rPr lang="en-US" altLang="ko-KR" sz="2000" dirty="0"/>
              <a:t>)</a:t>
            </a:r>
          </a:p>
        </p:txBody>
      </p:sp>
      <p:sp>
        <p:nvSpPr>
          <p:cNvPr id="3" name="말풍선: 타원형 2">
            <a:extLst>
              <a:ext uri="{FF2B5EF4-FFF2-40B4-BE49-F238E27FC236}">
                <a16:creationId xmlns:a16="http://schemas.microsoft.com/office/drawing/2014/main" id="{2DCA478F-66F1-602F-F1DF-20BD4288B980}"/>
              </a:ext>
            </a:extLst>
          </p:cNvPr>
          <p:cNvSpPr/>
          <p:nvPr/>
        </p:nvSpPr>
        <p:spPr>
          <a:xfrm>
            <a:off x="1619672" y="560108"/>
            <a:ext cx="1049292" cy="410369"/>
          </a:xfrm>
          <a:prstGeom prst="wedgeEllipseCallout">
            <a:avLst>
              <a:gd name="adj1" fmla="val -49721"/>
              <a:gd name="adj2" fmla="val 61440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221</a:t>
            </a:r>
            <a:r>
              <a:rPr lang="ko-KR" altLang="en-US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  <p:sp>
        <p:nvSpPr>
          <p:cNvPr id="4" name="물결 3">
            <a:extLst>
              <a:ext uri="{FF2B5EF4-FFF2-40B4-BE49-F238E27FC236}">
                <a16:creationId xmlns:a16="http://schemas.microsoft.com/office/drawing/2014/main" id="{C10FEA66-9B1E-1D77-DB63-F0AE5AEE0A21}"/>
              </a:ext>
            </a:extLst>
          </p:cNvPr>
          <p:cNvSpPr/>
          <p:nvPr/>
        </p:nvSpPr>
        <p:spPr>
          <a:xfrm>
            <a:off x="6216452" y="2745237"/>
            <a:ext cx="2592288" cy="1219544"/>
          </a:xfrm>
          <a:prstGeom prst="wave">
            <a:avLst>
              <a:gd name="adj1" fmla="val 6856"/>
              <a:gd name="adj2" fmla="val -605"/>
            </a:avLst>
          </a:prstGeom>
          <a:solidFill>
            <a:srgbClr val="FF7C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r>
              <a:rPr lang="ko-KR" altLang="en-US" sz="1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심볼릭 링크는 </a:t>
            </a:r>
            <a:r>
              <a:rPr lang="en-US" altLang="ko-KR" sz="1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Windows</a:t>
            </a:r>
            <a:r>
              <a:rPr lang="ko-KR" altLang="en-US" sz="1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의 바로가기 아이콘과 개념이 비슷하다</a:t>
            </a:r>
            <a:r>
              <a:rPr lang="en-US" altLang="ko-KR" sz="1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428DFC20-67F8-F823-632D-47E3C82E44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2198944"/>
            <a:ext cx="5267446" cy="2460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668500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712429D-9F19-4415-8A64-F91C51D7F358}"/>
              </a:ext>
            </a:extLst>
          </p:cNvPr>
          <p:cNvSpPr txBox="1">
            <a:spLocks/>
          </p:cNvSpPr>
          <p:nvPr/>
        </p:nvSpPr>
        <p:spPr bwMode="auto">
          <a:xfrm>
            <a:off x="790109" y="680973"/>
            <a:ext cx="8075240" cy="642937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50000"/>
                  <a:shade val="30000"/>
                  <a:satMod val="115000"/>
                </a:schemeClr>
              </a:gs>
              <a:gs pos="50000">
                <a:schemeClr val="bg2">
                  <a:lumMod val="50000"/>
                  <a:shade val="67500"/>
                  <a:satMod val="115000"/>
                </a:schemeClr>
              </a:gs>
              <a:gs pos="100000">
                <a:schemeClr val="bg2">
                  <a:lumMod val="50000"/>
                  <a:shade val="100000"/>
                  <a:satMod val="115000"/>
                </a:schemeClr>
              </a:gs>
            </a:gsLst>
            <a:lin ang="0" scaled="1"/>
            <a:tileRect/>
          </a:gradFill>
          <a:ln>
            <a:noFill/>
            <a:miter lim="800000"/>
            <a:headEnd/>
            <a:tailEnd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2"/>
                </a:solidFill>
                <a:latin typeface="HY견고딕" pitchFamily="18" charset="-127"/>
                <a:ea typeface="HY견고딕" pitchFamily="18" charset="-127"/>
                <a:cs typeface="+mj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9pPr>
          </a:lstStyle>
          <a:p>
            <a:pPr eaLnBrk="1" hangingPunct="1">
              <a:defRPr/>
            </a:pPr>
            <a:r>
              <a:rPr kumimoji="0" lang="en-US" altLang="ko-KR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&lt;</a:t>
            </a:r>
            <a:r>
              <a:rPr kumimoji="0" lang="ko-KR" altLang="en-US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실습</a:t>
            </a:r>
            <a:r>
              <a:rPr kumimoji="0" lang="en-US" altLang="ko-KR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10&gt; </a:t>
            </a:r>
            <a:r>
              <a:rPr kumimoji="0" lang="ko-KR" altLang="en-US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하드 링크</a:t>
            </a:r>
            <a:r>
              <a:rPr kumimoji="0" lang="en-US" altLang="ko-KR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, </a:t>
            </a:r>
            <a:r>
              <a:rPr kumimoji="0" lang="ko-KR" altLang="en-US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심볼릭 링크</a:t>
            </a:r>
          </a:p>
        </p:txBody>
      </p:sp>
      <p:pic>
        <p:nvPicPr>
          <p:cNvPr id="3" name="그림 2" descr="키보드, 컴퓨터이(가) 표시된 사진&#10;&#10;자동 생성된 설명">
            <a:extLst>
              <a:ext uri="{FF2B5EF4-FFF2-40B4-BE49-F238E27FC236}">
                <a16:creationId xmlns:a16="http://schemas.microsoft.com/office/drawing/2014/main" id="{D7E7C313-7B09-45F4-AB19-C52B32B215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6768" y="510395"/>
            <a:ext cx="756709" cy="742276"/>
          </a:xfrm>
          <a:prstGeom prst="rect">
            <a:avLst/>
          </a:prstGeom>
        </p:spPr>
      </p:pic>
      <p:sp>
        <p:nvSpPr>
          <p:cNvPr id="19459" name="내용 개체 틀 2"/>
          <p:cNvSpPr>
            <a:spLocks noGrp="1"/>
          </p:cNvSpPr>
          <p:nvPr>
            <p:ph idx="1"/>
          </p:nvPr>
        </p:nvSpPr>
        <p:spPr>
          <a:xfrm>
            <a:off x="500063" y="1357313"/>
            <a:ext cx="8229600" cy="5143500"/>
          </a:xfrm>
        </p:spPr>
        <p:txBody>
          <a:bodyPr/>
          <a:lstStyle/>
          <a:p>
            <a:pPr eaLnBrk="1" hangingPunct="1">
              <a:defRPr/>
            </a:pPr>
            <a:r>
              <a:rPr lang="ko-KR" altLang="en-US" dirty="0"/>
              <a:t>실습목표</a:t>
            </a:r>
            <a:endParaRPr lang="en-US" altLang="ko-KR" dirty="0"/>
          </a:p>
          <a:p>
            <a:pPr lvl="1" eaLnBrk="1" hangingPunct="1">
              <a:defRPr/>
            </a:pPr>
            <a:r>
              <a:rPr lang="en-US" altLang="ko-KR" sz="2000" dirty="0"/>
              <a:t>[</a:t>
            </a:r>
            <a:r>
              <a:rPr lang="ko-KR" altLang="en-US" sz="2000" dirty="0"/>
              <a:t>그림 </a:t>
            </a:r>
            <a:r>
              <a:rPr lang="en-US" altLang="ko-KR" sz="2000" dirty="0"/>
              <a:t>4-96]</a:t>
            </a:r>
            <a:r>
              <a:rPr lang="ko-KR" altLang="en-US" sz="2000" dirty="0"/>
              <a:t>의 개념을 실습을 통해 익힌다</a:t>
            </a:r>
            <a:r>
              <a:rPr lang="en-US" altLang="ko-KR" sz="2000" dirty="0"/>
              <a:t>.</a:t>
            </a:r>
          </a:p>
          <a:p>
            <a:pPr lvl="1" eaLnBrk="1" hangingPunct="1">
              <a:defRPr/>
            </a:pPr>
            <a:endParaRPr lang="en-US" altLang="ko-KR" dirty="0"/>
          </a:p>
          <a:p>
            <a:pPr eaLnBrk="1" hangingPunct="1">
              <a:defRPr/>
            </a:pPr>
            <a:r>
              <a:rPr lang="ko-KR" altLang="en-US" dirty="0"/>
              <a:t>실습 화면 </a:t>
            </a:r>
            <a:r>
              <a:rPr lang="en-US" altLang="ko-KR" dirty="0"/>
              <a:t>(</a:t>
            </a:r>
            <a:r>
              <a:rPr lang="ko-KR" altLang="en-US" dirty="0"/>
              <a:t>링크 실습 화면</a:t>
            </a:r>
            <a:r>
              <a:rPr lang="en-US" altLang="ko-KR" dirty="0"/>
              <a:t>)</a:t>
            </a:r>
          </a:p>
          <a:p>
            <a:pPr lvl="2" eaLnBrk="1" hangingPunct="1">
              <a:defRPr/>
            </a:pPr>
            <a:endParaRPr lang="en-US" altLang="ko-KR" dirty="0"/>
          </a:p>
          <a:p>
            <a:pPr eaLnBrk="1" hangingPunct="1">
              <a:defRPr/>
            </a:pPr>
            <a:endParaRPr lang="ko-KR" altLang="en-US" dirty="0"/>
          </a:p>
        </p:txBody>
      </p:sp>
      <p:sp>
        <p:nvSpPr>
          <p:cNvPr id="4" name="말풍선: 타원형 3">
            <a:extLst>
              <a:ext uri="{FF2B5EF4-FFF2-40B4-BE49-F238E27FC236}">
                <a16:creationId xmlns:a16="http://schemas.microsoft.com/office/drawing/2014/main" id="{BF1A64A6-7021-3341-7928-9FF94D5BC97E}"/>
              </a:ext>
            </a:extLst>
          </p:cNvPr>
          <p:cNvSpPr/>
          <p:nvPr/>
        </p:nvSpPr>
        <p:spPr>
          <a:xfrm>
            <a:off x="5364088" y="560108"/>
            <a:ext cx="1049292" cy="410369"/>
          </a:xfrm>
          <a:prstGeom prst="wedgeEllipseCallout">
            <a:avLst>
              <a:gd name="adj1" fmla="val -49721"/>
              <a:gd name="adj2" fmla="val 61440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222</a:t>
            </a:r>
            <a:r>
              <a:rPr lang="ko-KR" altLang="en-US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  <p:pic>
        <p:nvPicPr>
          <p:cNvPr id="7" name="그림 6" descr="텍스트, 전자제품, 스크린샷, 소프트웨어이(가) 표시된 사진&#10;&#10;자동 생성된 설명">
            <a:extLst>
              <a:ext uri="{FF2B5EF4-FFF2-40B4-BE49-F238E27FC236}">
                <a16:creationId xmlns:a16="http://schemas.microsoft.com/office/drawing/2014/main" id="{AF0A1C86-BAC8-0F71-991F-271D4B4FBBC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616" y="3068960"/>
            <a:ext cx="6626084" cy="3384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625843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제목 1"/>
          <p:cNvSpPr>
            <a:spLocks noGrp="1"/>
          </p:cNvSpPr>
          <p:nvPr>
            <p:ph type="title"/>
          </p:nvPr>
        </p:nvSpPr>
        <p:spPr>
          <a:xfrm>
            <a:off x="500063" y="714375"/>
            <a:ext cx="8229600" cy="642938"/>
          </a:xfrm>
        </p:spPr>
        <p:txBody>
          <a:bodyPr>
            <a:normAutofit/>
          </a:bodyPr>
          <a:lstStyle/>
          <a:p>
            <a:pPr eaLnBrk="1" hangingPunct="1"/>
            <a:r>
              <a:rPr lang="ko-KR" altLang="en-US" sz="2800" dirty="0"/>
              <a:t>프로그램 설치를 위한 </a:t>
            </a:r>
            <a:r>
              <a:rPr lang="en-US" altLang="ko-KR" sz="2800" dirty="0"/>
              <a:t>dpkg (1)</a:t>
            </a:r>
            <a:endParaRPr lang="ko-KR" altLang="en-US" sz="2800" dirty="0">
              <a:solidFill>
                <a:srgbClr val="00B050"/>
              </a:solidFill>
            </a:endParaRPr>
          </a:p>
        </p:txBody>
      </p:sp>
      <p:sp>
        <p:nvSpPr>
          <p:cNvPr id="6" name="내용 개체 틀 2"/>
          <p:cNvSpPr>
            <a:spLocks noGrp="1"/>
          </p:cNvSpPr>
          <p:nvPr>
            <p:ph idx="1"/>
          </p:nvPr>
        </p:nvSpPr>
        <p:spPr>
          <a:xfrm>
            <a:off x="457200" y="1357313"/>
            <a:ext cx="8229600" cy="5214937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en-US" altLang="ko-KR" dirty="0"/>
              <a:t>dpkg(Debian Package)</a:t>
            </a:r>
          </a:p>
          <a:p>
            <a:pPr lvl="1">
              <a:defRPr/>
            </a:pPr>
            <a:r>
              <a:rPr lang="en-US" altLang="ko-KR" sz="2000" dirty="0"/>
              <a:t>Windows</a:t>
            </a:r>
            <a:r>
              <a:rPr lang="ko-KR" altLang="en-US" sz="2000" dirty="0"/>
              <a:t>의 “</a:t>
            </a:r>
            <a:r>
              <a:rPr lang="en-US" altLang="ko-KR" sz="2000" dirty="0"/>
              <a:t>setup.exe</a:t>
            </a:r>
            <a:r>
              <a:rPr lang="ko-KR" altLang="en-US" sz="2000" dirty="0"/>
              <a:t>”와 비슷한 설치 파일</a:t>
            </a:r>
            <a:endParaRPr lang="en-US" altLang="ko-KR" sz="2000" dirty="0"/>
          </a:p>
          <a:p>
            <a:pPr lvl="1">
              <a:defRPr/>
            </a:pPr>
            <a:r>
              <a:rPr lang="ko-KR" altLang="en-US" sz="2000" dirty="0"/>
              <a:t>확장명은 *</a:t>
            </a:r>
            <a:r>
              <a:rPr lang="en-US" altLang="ko-KR" sz="2000" dirty="0"/>
              <a:t>.deb</a:t>
            </a:r>
            <a:r>
              <a:rPr lang="ko-KR" altLang="en-US" sz="2000" dirty="0"/>
              <a:t>이며</a:t>
            </a:r>
            <a:r>
              <a:rPr lang="en-US" altLang="ko-KR" sz="2000" dirty="0"/>
              <a:t>, </a:t>
            </a:r>
            <a:r>
              <a:rPr lang="ko-KR" altLang="en-US" sz="2000" dirty="0"/>
              <a:t>이를 패키지</a:t>
            </a:r>
            <a:r>
              <a:rPr lang="en-US" altLang="ko-KR" sz="2000" dirty="0"/>
              <a:t>(Package)</a:t>
            </a:r>
            <a:r>
              <a:rPr lang="ko-KR" altLang="en-US" sz="2000" dirty="0"/>
              <a:t>라고 부름</a:t>
            </a:r>
            <a:r>
              <a:rPr lang="en-US" altLang="ko-KR" sz="2000" dirty="0"/>
              <a:t>.</a:t>
            </a:r>
            <a:endParaRPr lang="en-US" altLang="ko-KR" dirty="0"/>
          </a:p>
          <a:p>
            <a:pPr>
              <a:defRPr/>
            </a:pPr>
            <a:r>
              <a:rPr lang="ko-KR" altLang="en-US" dirty="0"/>
              <a:t>파일의 의미</a:t>
            </a: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 lvl="1" eaLnBrk="1" hangingPunct="1">
              <a:defRPr/>
            </a:pPr>
            <a:endParaRPr lang="en-US" altLang="ko-KR" sz="2000" u="sng" dirty="0"/>
          </a:p>
          <a:p>
            <a:pPr lvl="1" eaLnBrk="1" hangingPunct="1">
              <a:buFont typeface="Georgia" panose="02040502050405020303" pitchFamily="18" charset="0"/>
              <a:buNone/>
              <a:defRPr/>
            </a:pPr>
            <a:r>
              <a:rPr lang="ko-KR" altLang="en-US" sz="2000" u="sng" dirty="0"/>
              <a:t>패키지이름</a:t>
            </a:r>
            <a:r>
              <a:rPr lang="en-US" altLang="ko-KR" sz="2000" u="sng" dirty="0"/>
              <a:t>_</a:t>
            </a:r>
            <a:r>
              <a:rPr lang="ko-KR" altLang="en-US" sz="2000" u="sng" dirty="0"/>
              <a:t>버전</a:t>
            </a:r>
            <a:r>
              <a:rPr lang="en-US" altLang="ko-KR" sz="2000" u="sng" dirty="0"/>
              <a:t>-</a:t>
            </a:r>
            <a:r>
              <a:rPr lang="ko-KR" altLang="en-US" sz="2000" u="sng" dirty="0"/>
              <a:t>개정번호</a:t>
            </a:r>
            <a:r>
              <a:rPr lang="en-US" altLang="ko-KR" sz="2000" u="sng" dirty="0"/>
              <a:t>_</a:t>
            </a:r>
            <a:r>
              <a:rPr lang="ko-KR" altLang="en-US" sz="2000" u="sng" dirty="0"/>
              <a:t>아키텍처</a:t>
            </a:r>
            <a:r>
              <a:rPr lang="en-US" altLang="ko-KR" sz="2000" u="sng" dirty="0"/>
              <a:t>.deb</a:t>
            </a:r>
          </a:p>
          <a:p>
            <a:pPr lvl="2" eaLnBrk="1" hangingPunct="1">
              <a:buFont typeface="Wingdings 2" panose="05020102010507070707" pitchFamily="18" charset="2"/>
              <a:buNone/>
              <a:defRPr/>
            </a:pPr>
            <a:r>
              <a:rPr lang="en-US" altLang="ko-KR" sz="1600" dirty="0">
                <a:solidFill>
                  <a:srgbClr val="0070C0"/>
                </a:solidFill>
              </a:rPr>
              <a:t>•</a:t>
            </a:r>
            <a:r>
              <a:rPr lang="ko-KR" altLang="en-US" sz="1600" dirty="0">
                <a:solidFill>
                  <a:srgbClr val="0070C0"/>
                </a:solidFill>
              </a:rPr>
              <a:t>패키지이름 </a:t>
            </a:r>
            <a:r>
              <a:rPr lang="en-US" altLang="ko-KR" sz="1600" dirty="0">
                <a:solidFill>
                  <a:srgbClr val="0070C0"/>
                </a:solidFill>
              </a:rPr>
              <a:t>: galculator → </a:t>
            </a:r>
            <a:r>
              <a:rPr lang="ko-KR" altLang="en-US" sz="1600" dirty="0">
                <a:solidFill>
                  <a:srgbClr val="0070C0"/>
                </a:solidFill>
              </a:rPr>
              <a:t>패키지</a:t>
            </a:r>
            <a:r>
              <a:rPr lang="en-US" altLang="ko-KR" sz="1600" dirty="0">
                <a:solidFill>
                  <a:srgbClr val="0070C0"/>
                </a:solidFill>
              </a:rPr>
              <a:t>(</a:t>
            </a:r>
            <a:r>
              <a:rPr lang="ko-KR" altLang="en-US" sz="1600" dirty="0">
                <a:solidFill>
                  <a:srgbClr val="0070C0"/>
                </a:solidFill>
              </a:rPr>
              <a:t>프로그램</a:t>
            </a:r>
            <a:r>
              <a:rPr lang="en-US" altLang="ko-KR" sz="1600" dirty="0">
                <a:solidFill>
                  <a:srgbClr val="0070C0"/>
                </a:solidFill>
              </a:rPr>
              <a:t>)</a:t>
            </a:r>
            <a:r>
              <a:rPr lang="ko-KR" altLang="en-US" sz="1600" dirty="0">
                <a:solidFill>
                  <a:srgbClr val="0070C0"/>
                </a:solidFill>
              </a:rPr>
              <a:t>의 이름</a:t>
            </a:r>
          </a:p>
          <a:p>
            <a:pPr lvl="2" eaLnBrk="1" hangingPunct="1">
              <a:buFont typeface="Wingdings 2" panose="05020102010507070707" pitchFamily="18" charset="2"/>
              <a:buNone/>
              <a:defRPr/>
            </a:pPr>
            <a:r>
              <a:rPr lang="en-US" altLang="ko-KR" sz="1600" dirty="0">
                <a:solidFill>
                  <a:srgbClr val="0070C0"/>
                </a:solidFill>
              </a:rPr>
              <a:t>•</a:t>
            </a:r>
            <a:r>
              <a:rPr lang="ko-KR" altLang="en-US" sz="1600" dirty="0">
                <a:solidFill>
                  <a:srgbClr val="0070C0"/>
                </a:solidFill>
              </a:rPr>
              <a:t>버전 </a:t>
            </a:r>
            <a:r>
              <a:rPr lang="en-US" altLang="ko-KR" sz="1600" dirty="0">
                <a:solidFill>
                  <a:srgbClr val="0070C0"/>
                </a:solidFill>
              </a:rPr>
              <a:t>: 2.1.4 </a:t>
            </a:r>
            <a:br>
              <a:rPr lang="en-US" altLang="ko-KR" sz="1600" dirty="0">
                <a:solidFill>
                  <a:srgbClr val="0070C0"/>
                </a:solidFill>
              </a:rPr>
            </a:br>
            <a:r>
              <a:rPr lang="en-US" altLang="ko-KR" sz="1600" dirty="0">
                <a:solidFill>
                  <a:srgbClr val="0070C0"/>
                </a:solidFill>
              </a:rPr>
              <a:t>   → </a:t>
            </a:r>
            <a:r>
              <a:rPr lang="ko-KR" altLang="en-US" sz="1600" dirty="0">
                <a:solidFill>
                  <a:srgbClr val="0070C0"/>
                </a:solidFill>
              </a:rPr>
              <a:t>대개 </a:t>
            </a:r>
            <a:r>
              <a:rPr lang="en-US" altLang="ko-KR" sz="1600" dirty="0">
                <a:solidFill>
                  <a:srgbClr val="0070C0"/>
                </a:solidFill>
              </a:rPr>
              <a:t>3</a:t>
            </a:r>
            <a:r>
              <a:rPr lang="ko-KR" altLang="en-US" sz="1600" dirty="0">
                <a:solidFill>
                  <a:srgbClr val="0070C0"/>
                </a:solidFill>
              </a:rPr>
              <a:t>자리수로 구성</a:t>
            </a:r>
            <a:r>
              <a:rPr lang="en-US" altLang="ko-KR" sz="1600" dirty="0">
                <a:solidFill>
                  <a:srgbClr val="0070C0"/>
                </a:solidFill>
              </a:rPr>
              <a:t>. </a:t>
            </a:r>
            <a:r>
              <a:rPr lang="ko-KR" altLang="en-US" sz="1600" dirty="0" err="1">
                <a:solidFill>
                  <a:srgbClr val="0070C0"/>
                </a:solidFill>
              </a:rPr>
              <a:t>주버전</a:t>
            </a:r>
            <a:r>
              <a:rPr lang="en-US" altLang="ko-KR" sz="1600" dirty="0">
                <a:solidFill>
                  <a:srgbClr val="0070C0"/>
                </a:solidFill>
              </a:rPr>
              <a:t>, </a:t>
            </a:r>
            <a:r>
              <a:rPr lang="ko-KR" altLang="en-US" sz="1600" dirty="0" err="1">
                <a:solidFill>
                  <a:srgbClr val="0070C0"/>
                </a:solidFill>
              </a:rPr>
              <a:t>부버전</a:t>
            </a:r>
            <a:r>
              <a:rPr lang="en-US" altLang="ko-KR" sz="1600" dirty="0">
                <a:solidFill>
                  <a:srgbClr val="0070C0"/>
                </a:solidFill>
              </a:rPr>
              <a:t>, </a:t>
            </a:r>
            <a:r>
              <a:rPr lang="ko-KR" altLang="en-US" sz="1600" dirty="0">
                <a:solidFill>
                  <a:srgbClr val="0070C0"/>
                </a:solidFill>
              </a:rPr>
              <a:t>패치버전</a:t>
            </a:r>
          </a:p>
          <a:p>
            <a:pPr lvl="2" eaLnBrk="1" hangingPunct="1">
              <a:buFont typeface="Wingdings 2" panose="05020102010507070707" pitchFamily="18" charset="2"/>
              <a:buNone/>
              <a:defRPr/>
            </a:pPr>
            <a:r>
              <a:rPr lang="en-US" altLang="ko-KR" sz="1600" dirty="0">
                <a:solidFill>
                  <a:srgbClr val="0070C0"/>
                </a:solidFill>
              </a:rPr>
              <a:t>•</a:t>
            </a:r>
            <a:r>
              <a:rPr lang="ko-KR" altLang="en-US" sz="1600" dirty="0">
                <a:solidFill>
                  <a:srgbClr val="0070C0"/>
                </a:solidFill>
              </a:rPr>
              <a:t>개정번호 </a:t>
            </a:r>
            <a:r>
              <a:rPr lang="en-US" altLang="ko-KR" sz="1600" dirty="0">
                <a:solidFill>
                  <a:srgbClr val="0070C0"/>
                </a:solidFill>
              </a:rPr>
              <a:t>: 1.2 → </a:t>
            </a:r>
            <a:r>
              <a:rPr lang="ko-KR" altLang="en-US" sz="1600" dirty="0">
                <a:solidFill>
                  <a:srgbClr val="0070C0"/>
                </a:solidFill>
              </a:rPr>
              <a:t>문제점을 개선할 때마다 붙여지는 번호</a:t>
            </a:r>
          </a:p>
          <a:p>
            <a:pPr lvl="2" eaLnBrk="1" hangingPunct="1">
              <a:buFont typeface="Wingdings 2" panose="05020102010507070707" pitchFamily="18" charset="2"/>
              <a:buNone/>
              <a:defRPr/>
            </a:pPr>
            <a:r>
              <a:rPr lang="en-US" altLang="ko-KR" sz="1600" dirty="0">
                <a:solidFill>
                  <a:srgbClr val="0070C0"/>
                </a:solidFill>
              </a:rPr>
              <a:t>•</a:t>
            </a:r>
            <a:r>
              <a:rPr lang="ko-KR" altLang="en-US" sz="1600" dirty="0">
                <a:solidFill>
                  <a:srgbClr val="0070C0"/>
                </a:solidFill>
              </a:rPr>
              <a:t>아키텍처 </a:t>
            </a:r>
            <a:r>
              <a:rPr lang="en-US" altLang="ko-KR" sz="1600" dirty="0">
                <a:solidFill>
                  <a:srgbClr val="0070C0"/>
                </a:solidFill>
              </a:rPr>
              <a:t>: amd64 </a:t>
            </a:r>
            <a:r>
              <a:rPr lang="ko-KR" altLang="en-US" sz="1600" dirty="0">
                <a:solidFill>
                  <a:srgbClr val="0070C0"/>
                </a:solidFill>
              </a:rPr>
              <a:t>→ 인텔</a:t>
            </a:r>
            <a:r>
              <a:rPr lang="en-US" altLang="ko-KR" sz="1600" dirty="0">
                <a:solidFill>
                  <a:srgbClr val="0070C0"/>
                </a:solidFill>
              </a:rPr>
              <a:t>/AMD 64</a:t>
            </a:r>
            <a:r>
              <a:rPr lang="ko-KR" altLang="en-US" sz="1600" dirty="0">
                <a:solidFill>
                  <a:srgbClr val="0070C0"/>
                </a:solidFill>
              </a:rPr>
              <a:t>비트 </a:t>
            </a:r>
            <a:r>
              <a:rPr lang="en-US" altLang="ko-KR" sz="1600" dirty="0">
                <a:solidFill>
                  <a:srgbClr val="0070C0"/>
                </a:solidFill>
              </a:rPr>
              <a:t>CPU</a:t>
            </a:r>
            <a:r>
              <a:rPr lang="ko-KR" altLang="en-US" sz="1600" dirty="0">
                <a:solidFill>
                  <a:srgbClr val="0070C0"/>
                </a:solidFill>
              </a:rPr>
              <a:t>를 의미</a:t>
            </a:r>
            <a:endParaRPr lang="en-US" altLang="ko-KR" sz="1600" dirty="0">
              <a:solidFill>
                <a:srgbClr val="0070C0"/>
              </a:solidFill>
            </a:endParaRPr>
          </a:p>
        </p:txBody>
      </p:sp>
      <p:sp>
        <p:nvSpPr>
          <p:cNvPr id="2" name="말풍선: 타원형 1">
            <a:extLst>
              <a:ext uri="{FF2B5EF4-FFF2-40B4-BE49-F238E27FC236}">
                <a16:creationId xmlns:a16="http://schemas.microsoft.com/office/drawing/2014/main" id="{71353848-630C-A75B-85ED-FFA1BAB4DA95}"/>
              </a:ext>
            </a:extLst>
          </p:cNvPr>
          <p:cNvSpPr/>
          <p:nvPr/>
        </p:nvSpPr>
        <p:spPr>
          <a:xfrm>
            <a:off x="5580112" y="560108"/>
            <a:ext cx="1049292" cy="410369"/>
          </a:xfrm>
          <a:prstGeom prst="wedgeEllipseCallout">
            <a:avLst>
              <a:gd name="adj1" fmla="val -49721"/>
              <a:gd name="adj2" fmla="val 61440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225</a:t>
            </a:r>
            <a:r>
              <a:rPr lang="ko-KR" altLang="en-US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  <p:pic>
        <p:nvPicPr>
          <p:cNvPr id="4" name="그림 3" descr="텍스트, 스크린샷, 폰트이(가) 표시된 사진&#10;&#10;자동 생성된 설명">
            <a:extLst>
              <a:ext uri="{FF2B5EF4-FFF2-40B4-BE49-F238E27FC236}">
                <a16:creationId xmlns:a16="http://schemas.microsoft.com/office/drawing/2014/main" id="{9F0E881E-0814-EC13-3078-0588D6D4CF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592" y="2963335"/>
            <a:ext cx="5900255" cy="1229220"/>
          </a:xfrm>
          <a:prstGeom prst="rect">
            <a:avLst/>
          </a:prstGeom>
        </p:spPr>
      </p:pic>
      <p:sp>
        <p:nvSpPr>
          <p:cNvPr id="9" name="물결 8">
            <a:extLst>
              <a:ext uri="{FF2B5EF4-FFF2-40B4-BE49-F238E27FC236}">
                <a16:creationId xmlns:a16="http://schemas.microsoft.com/office/drawing/2014/main" id="{0669A262-4C1C-2CAE-3697-16CBB29EF77D}"/>
              </a:ext>
            </a:extLst>
          </p:cNvPr>
          <p:cNvSpPr/>
          <p:nvPr/>
        </p:nvSpPr>
        <p:spPr>
          <a:xfrm>
            <a:off x="6228184" y="4563739"/>
            <a:ext cx="2736304" cy="1493693"/>
          </a:xfrm>
          <a:prstGeom prst="wave">
            <a:avLst>
              <a:gd name="adj1" fmla="val 6856"/>
              <a:gd name="adj2" fmla="val -605"/>
            </a:avLst>
          </a:prstGeom>
          <a:solidFill>
            <a:srgbClr val="FF7C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ko-KR" altLang="en-US" sz="1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아키텍처</a:t>
            </a:r>
          </a:p>
          <a:p>
            <a:pPr>
              <a:defRPr/>
            </a:pPr>
            <a:r>
              <a:rPr lang="en-US" altLang="ko-KR" sz="1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i386 : </a:t>
            </a:r>
            <a:r>
              <a:rPr lang="ko-KR" altLang="en-US" sz="1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인텔</a:t>
            </a:r>
            <a:r>
              <a:rPr lang="en-US" altLang="ko-KR" sz="1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/AMD 32</a:t>
            </a:r>
            <a:r>
              <a:rPr lang="ko-KR" altLang="en-US" sz="1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비트 </a:t>
            </a:r>
            <a:r>
              <a:rPr lang="en-US" altLang="ko-KR" sz="1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CPU</a:t>
            </a:r>
          </a:p>
          <a:p>
            <a:pPr>
              <a:defRPr/>
            </a:pPr>
            <a:r>
              <a:rPr lang="en-US" altLang="ko-KR" sz="1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amd64 : </a:t>
            </a:r>
            <a:r>
              <a:rPr lang="ko-KR" altLang="en-US" sz="1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인텔</a:t>
            </a:r>
            <a:r>
              <a:rPr lang="en-US" altLang="ko-KR" sz="1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/AMD 64</a:t>
            </a:r>
            <a:r>
              <a:rPr lang="ko-KR" altLang="en-US" sz="1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비트 </a:t>
            </a:r>
            <a:r>
              <a:rPr lang="en-US" altLang="ko-KR" sz="1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CPU</a:t>
            </a:r>
          </a:p>
          <a:p>
            <a:pPr>
              <a:defRPr/>
            </a:pPr>
            <a:r>
              <a:rPr lang="en-US" altLang="ko-KR" sz="1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arm64 : ARM </a:t>
            </a:r>
            <a:r>
              <a:rPr lang="ko-KR" altLang="en-US" sz="1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계열 </a:t>
            </a:r>
            <a:r>
              <a:rPr lang="en-US" altLang="ko-KR" sz="1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64</a:t>
            </a:r>
            <a:r>
              <a:rPr lang="ko-KR" altLang="en-US" sz="1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비트 </a:t>
            </a:r>
            <a:r>
              <a:rPr lang="en-US" altLang="ko-KR" sz="1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CPU</a:t>
            </a:r>
          </a:p>
          <a:p>
            <a:pPr>
              <a:defRPr/>
            </a:pPr>
            <a:r>
              <a:rPr lang="en-US" altLang="ko-KR" sz="1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all : </a:t>
            </a:r>
            <a:r>
              <a:rPr lang="ko-KR" altLang="en-US" sz="1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모든 </a:t>
            </a:r>
            <a:r>
              <a:rPr lang="en-US" altLang="ko-KR" sz="1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CPU</a:t>
            </a:r>
          </a:p>
        </p:txBody>
      </p:sp>
    </p:spTree>
    <p:extLst>
      <p:ext uri="{BB962C8B-B14F-4D97-AF65-F5344CB8AC3E}">
        <p14:creationId xmlns:p14="http://schemas.microsoft.com/office/powerpoint/2010/main" val="322661825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제목 1"/>
          <p:cNvSpPr>
            <a:spLocks noGrp="1"/>
          </p:cNvSpPr>
          <p:nvPr>
            <p:ph type="title"/>
          </p:nvPr>
        </p:nvSpPr>
        <p:spPr>
          <a:xfrm>
            <a:off x="500063" y="714375"/>
            <a:ext cx="8229600" cy="642938"/>
          </a:xfrm>
        </p:spPr>
        <p:txBody>
          <a:bodyPr>
            <a:normAutofit/>
          </a:bodyPr>
          <a:lstStyle/>
          <a:p>
            <a:pPr eaLnBrk="1" hangingPunct="1"/>
            <a:r>
              <a:rPr lang="ko-KR" altLang="en-US" sz="2800" dirty="0"/>
              <a:t>프로그램 설치를 위한 </a:t>
            </a:r>
            <a:r>
              <a:rPr lang="en-US" altLang="ko-KR" sz="2800" dirty="0"/>
              <a:t>dpkg (2) </a:t>
            </a:r>
            <a:endParaRPr lang="ko-KR" altLang="en-US" sz="2800" dirty="0">
              <a:solidFill>
                <a:srgbClr val="00B050"/>
              </a:solidFill>
            </a:endParaRPr>
          </a:p>
        </p:txBody>
      </p:sp>
      <p:sp>
        <p:nvSpPr>
          <p:cNvPr id="6" name="내용 개체 틀 2"/>
          <p:cNvSpPr>
            <a:spLocks noGrp="1"/>
          </p:cNvSpPr>
          <p:nvPr>
            <p:ph idx="1"/>
          </p:nvPr>
        </p:nvSpPr>
        <p:spPr>
          <a:xfrm>
            <a:off x="457200" y="1357313"/>
            <a:ext cx="8229600" cy="5214937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ko-KR" altLang="en-US" dirty="0"/>
              <a:t>자주 사용하는 </a:t>
            </a:r>
            <a:r>
              <a:rPr lang="en-US" altLang="ko-KR" dirty="0"/>
              <a:t>dpkg </a:t>
            </a:r>
            <a:r>
              <a:rPr lang="ko-KR" altLang="en-US" dirty="0"/>
              <a:t>명령어 옵션</a:t>
            </a:r>
            <a:endParaRPr lang="en-US" altLang="ko-KR" dirty="0"/>
          </a:p>
          <a:p>
            <a:pPr lvl="1">
              <a:defRPr/>
            </a:pPr>
            <a:r>
              <a:rPr lang="ko-KR" altLang="en-US" dirty="0"/>
              <a:t>설치 </a:t>
            </a:r>
            <a:endParaRPr lang="en-US" altLang="ko-KR" dirty="0"/>
          </a:p>
          <a:p>
            <a:pPr lvl="2">
              <a:defRPr/>
            </a:pPr>
            <a:r>
              <a:rPr lang="en-US" altLang="ko-KR" dirty="0"/>
              <a:t>dpkg -i </a:t>
            </a:r>
            <a:r>
              <a:rPr lang="ko-KR" altLang="en-US" dirty="0"/>
              <a:t>패키지파일이름</a:t>
            </a:r>
            <a:r>
              <a:rPr lang="en-US" altLang="ko-KR" dirty="0"/>
              <a:t>.deb</a:t>
            </a:r>
          </a:p>
          <a:p>
            <a:pPr lvl="1">
              <a:defRPr/>
            </a:pPr>
            <a:r>
              <a:rPr lang="ko-KR" altLang="en-US" dirty="0"/>
              <a:t>삭제 </a:t>
            </a:r>
            <a:endParaRPr lang="en-US" altLang="ko-KR" dirty="0"/>
          </a:p>
          <a:p>
            <a:pPr lvl="2">
              <a:defRPr/>
            </a:pPr>
            <a:r>
              <a:rPr lang="en-US" altLang="ko-KR" dirty="0"/>
              <a:t>dpkg -r </a:t>
            </a:r>
            <a:r>
              <a:rPr lang="ko-KR" altLang="en-US" dirty="0"/>
              <a:t>패키지이름</a:t>
            </a:r>
            <a:endParaRPr lang="en-US" altLang="ko-KR" dirty="0"/>
          </a:p>
          <a:p>
            <a:pPr lvl="2">
              <a:defRPr/>
            </a:pPr>
            <a:r>
              <a:rPr lang="en-US" altLang="ko-KR" dirty="0"/>
              <a:t>dpkg -P </a:t>
            </a:r>
            <a:r>
              <a:rPr lang="ko-KR" altLang="en-US" dirty="0"/>
              <a:t>패키지이름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설정파일까지 삭제</a:t>
            </a:r>
            <a:endParaRPr lang="en-US" altLang="ko-KR" dirty="0"/>
          </a:p>
          <a:p>
            <a:pPr lvl="1">
              <a:defRPr/>
            </a:pPr>
            <a:r>
              <a:rPr lang="ko-KR" altLang="en-US" dirty="0"/>
              <a:t>패키지 조회</a:t>
            </a:r>
            <a:endParaRPr lang="en-US" altLang="ko-KR" dirty="0"/>
          </a:p>
          <a:p>
            <a:pPr lvl="2">
              <a:defRPr/>
            </a:pPr>
            <a:r>
              <a:rPr lang="en-US" altLang="ko-KR" dirty="0"/>
              <a:t>dpkg -l </a:t>
            </a:r>
            <a:r>
              <a:rPr lang="ko-KR" altLang="en-US" dirty="0"/>
              <a:t>패키지이름 → 설치된 패키지에 대한 정보를 보여줌</a:t>
            </a:r>
          </a:p>
          <a:p>
            <a:pPr lvl="2">
              <a:defRPr/>
            </a:pPr>
            <a:r>
              <a:rPr lang="en-US" altLang="ko-KR" dirty="0"/>
              <a:t>dpkg -L </a:t>
            </a:r>
            <a:r>
              <a:rPr lang="ko-KR" altLang="en-US" dirty="0"/>
              <a:t>패키지이름 → 패키지가 설치한 파일 목록을 보여줌</a:t>
            </a:r>
          </a:p>
          <a:p>
            <a:pPr lvl="1">
              <a:defRPr/>
            </a:pPr>
            <a:r>
              <a:rPr lang="ko-KR" altLang="en-US" dirty="0"/>
              <a:t>아직 설치되지 않은 </a:t>
            </a:r>
            <a:r>
              <a:rPr lang="en-US" altLang="ko-KR" dirty="0"/>
              <a:t>deb </a:t>
            </a:r>
            <a:r>
              <a:rPr lang="ko-KR" altLang="en-US" dirty="0"/>
              <a:t>파일 조회</a:t>
            </a:r>
            <a:endParaRPr lang="en-US" altLang="ko-KR" dirty="0"/>
          </a:p>
          <a:p>
            <a:pPr lvl="2">
              <a:defRPr/>
            </a:pPr>
            <a:r>
              <a:rPr lang="en-US" altLang="ko-KR" dirty="0"/>
              <a:t>dpkg --info </a:t>
            </a:r>
            <a:r>
              <a:rPr lang="ko-KR" altLang="en-US" dirty="0"/>
              <a:t>패키지파일이름</a:t>
            </a:r>
            <a:r>
              <a:rPr lang="en-US" altLang="ko-KR" dirty="0"/>
              <a:t>.deb </a:t>
            </a:r>
            <a:br>
              <a:rPr lang="en-US" altLang="ko-KR" dirty="0"/>
            </a:br>
            <a:r>
              <a:rPr lang="en-US" altLang="ko-KR" dirty="0"/>
              <a:t>             → </a:t>
            </a:r>
            <a:r>
              <a:rPr lang="ko-KR" altLang="en-US" dirty="0"/>
              <a:t>패키지 파일에 대한 정보를 보여줌</a:t>
            </a:r>
            <a:endParaRPr lang="en-US" altLang="ko-KR" dirty="0"/>
          </a:p>
        </p:txBody>
      </p:sp>
      <p:sp>
        <p:nvSpPr>
          <p:cNvPr id="2" name="말풍선: 타원형 1">
            <a:extLst>
              <a:ext uri="{FF2B5EF4-FFF2-40B4-BE49-F238E27FC236}">
                <a16:creationId xmlns:a16="http://schemas.microsoft.com/office/drawing/2014/main" id="{2D66881A-357A-4D74-2D46-E8C3FCBDE4AA}"/>
              </a:ext>
            </a:extLst>
          </p:cNvPr>
          <p:cNvSpPr/>
          <p:nvPr/>
        </p:nvSpPr>
        <p:spPr>
          <a:xfrm>
            <a:off x="5580112" y="560108"/>
            <a:ext cx="1049292" cy="410369"/>
          </a:xfrm>
          <a:prstGeom prst="wedgeEllipseCallout">
            <a:avLst>
              <a:gd name="adj1" fmla="val -49721"/>
              <a:gd name="adj2" fmla="val 61440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226</a:t>
            </a:r>
            <a:r>
              <a:rPr lang="ko-KR" altLang="en-US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</p:spTree>
    <p:extLst>
      <p:ext uri="{BB962C8B-B14F-4D97-AF65-F5344CB8AC3E}">
        <p14:creationId xmlns:p14="http://schemas.microsoft.com/office/powerpoint/2010/main" val="326951455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제목 1"/>
          <p:cNvSpPr>
            <a:spLocks noGrp="1"/>
          </p:cNvSpPr>
          <p:nvPr>
            <p:ph type="title"/>
          </p:nvPr>
        </p:nvSpPr>
        <p:spPr>
          <a:xfrm>
            <a:off x="500063" y="714375"/>
            <a:ext cx="8229600" cy="642938"/>
          </a:xfrm>
        </p:spPr>
        <p:txBody>
          <a:bodyPr>
            <a:normAutofit/>
          </a:bodyPr>
          <a:lstStyle/>
          <a:p>
            <a:pPr eaLnBrk="1" hangingPunct="1"/>
            <a:r>
              <a:rPr lang="ko-KR" altLang="en-US" sz="2800" dirty="0"/>
              <a:t>프로그램 설치를 위한 </a:t>
            </a:r>
            <a:r>
              <a:rPr lang="en-US" altLang="ko-KR" sz="2800" dirty="0"/>
              <a:t>dpkg (3) </a:t>
            </a:r>
            <a:endParaRPr lang="ko-KR" altLang="en-US" sz="2800" dirty="0">
              <a:solidFill>
                <a:srgbClr val="00B050"/>
              </a:solidFill>
            </a:endParaRPr>
          </a:p>
        </p:txBody>
      </p:sp>
      <p:sp>
        <p:nvSpPr>
          <p:cNvPr id="6" name="내용 개체 틀 2"/>
          <p:cNvSpPr>
            <a:spLocks noGrp="1"/>
          </p:cNvSpPr>
          <p:nvPr>
            <p:ph idx="1"/>
          </p:nvPr>
        </p:nvSpPr>
        <p:spPr>
          <a:xfrm>
            <a:off x="457200" y="1357313"/>
            <a:ext cx="8229600" cy="5214937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en-US" altLang="ko-KR" dirty="0"/>
              <a:t>dpkg </a:t>
            </a:r>
            <a:r>
              <a:rPr lang="ko-KR" altLang="en-US" dirty="0"/>
              <a:t>명령의 단점</a:t>
            </a:r>
            <a:endParaRPr lang="en-US" altLang="ko-KR" dirty="0"/>
          </a:p>
          <a:p>
            <a:pPr lvl="1">
              <a:defRPr/>
            </a:pPr>
            <a:r>
              <a:rPr lang="ko-KR" altLang="en-US" dirty="0"/>
              <a:t>‘의존성’ 문제</a:t>
            </a:r>
            <a:r>
              <a:rPr lang="en-US" altLang="ko-KR" dirty="0"/>
              <a:t> </a:t>
            </a:r>
          </a:p>
          <a:p>
            <a:pPr lvl="2">
              <a:defRPr/>
            </a:pPr>
            <a:r>
              <a:rPr lang="en-US" altLang="ko-KR" dirty="0">
                <a:solidFill>
                  <a:srgbClr val="0070C0"/>
                </a:solidFill>
              </a:rPr>
              <a:t>A</a:t>
            </a:r>
            <a:r>
              <a:rPr lang="ko-KR" altLang="en-US" dirty="0">
                <a:solidFill>
                  <a:srgbClr val="0070C0"/>
                </a:solidFill>
              </a:rPr>
              <a:t>패키지가 설치되기 위해서 </a:t>
            </a:r>
            <a:r>
              <a:rPr lang="en-US" altLang="ko-KR" dirty="0">
                <a:solidFill>
                  <a:srgbClr val="0070C0"/>
                </a:solidFill>
              </a:rPr>
              <a:t>B</a:t>
            </a:r>
            <a:r>
              <a:rPr lang="ko-KR" altLang="en-US" dirty="0">
                <a:solidFill>
                  <a:srgbClr val="0070C0"/>
                </a:solidFill>
              </a:rPr>
              <a:t>패키지가 필요할 경우</a:t>
            </a:r>
            <a:r>
              <a:rPr lang="en-US" altLang="ko-KR" dirty="0">
                <a:solidFill>
                  <a:srgbClr val="0070C0"/>
                </a:solidFill>
              </a:rPr>
              <a:t>, dpkg</a:t>
            </a:r>
            <a:r>
              <a:rPr lang="ko-KR" altLang="en-US" dirty="0">
                <a:solidFill>
                  <a:srgbClr val="0070C0"/>
                </a:solidFill>
              </a:rPr>
              <a:t> 명령으로는 해결이 까다로움</a:t>
            </a:r>
            <a:r>
              <a:rPr lang="en-US" altLang="ko-KR" dirty="0">
                <a:solidFill>
                  <a:srgbClr val="0070C0"/>
                </a:solidFill>
              </a:rPr>
              <a:t>.</a:t>
            </a:r>
          </a:p>
          <a:p>
            <a:pPr lvl="1">
              <a:defRPr/>
            </a:pPr>
            <a:r>
              <a:rPr lang="ko-KR" altLang="en-US" dirty="0"/>
              <a:t>이를 해결하기 위해 </a:t>
            </a:r>
            <a:r>
              <a:rPr lang="en-US" altLang="ko-KR" dirty="0"/>
              <a:t>apt</a:t>
            </a:r>
            <a:r>
              <a:rPr lang="ko-KR" altLang="en-US" dirty="0"/>
              <a:t>가 등장함</a:t>
            </a:r>
            <a:endParaRPr lang="en-US" altLang="ko-KR" dirty="0"/>
          </a:p>
        </p:txBody>
      </p:sp>
      <p:sp>
        <p:nvSpPr>
          <p:cNvPr id="2" name="말풍선: 타원형 1">
            <a:extLst>
              <a:ext uri="{FF2B5EF4-FFF2-40B4-BE49-F238E27FC236}">
                <a16:creationId xmlns:a16="http://schemas.microsoft.com/office/drawing/2014/main" id="{2198566E-288C-BE03-ED30-C10309F5ED1E}"/>
              </a:ext>
            </a:extLst>
          </p:cNvPr>
          <p:cNvSpPr/>
          <p:nvPr/>
        </p:nvSpPr>
        <p:spPr>
          <a:xfrm>
            <a:off x="5580112" y="560108"/>
            <a:ext cx="1049292" cy="410369"/>
          </a:xfrm>
          <a:prstGeom prst="wedgeEllipseCallout">
            <a:avLst>
              <a:gd name="adj1" fmla="val -49721"/>
              <a:gd name="adj2" fmla="val 61440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228</a:t>
            </a:r>
            <a:r>
              <a:rPr lang="ko-KR" altLang="en-US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</p:spTree>
    <p:extLst>
      <p:ext uri="{BB962C8B-B14F-4D97-AF65-F5344CB8AC3E}">
        <p14:creationId xmlns:p14="http://schemas.microsoft.com/office/powerpoint/2010/main" val="189804081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EF51B2-93E4-4E04-AA28-36CAC5F94A04}"/>
              </a:ext>
            </a:extLst>
          </p:cNvPr>
          <p:cNvSpPr txBox="1">
            <a:spLocks/>
          </p:cNvSpPr>
          <p:nvPr/>
        </p:nvSpPr>
        <p:spPr bwMode="auto">
          <a:xfrm>
            <a:off x="790109" y="683440"/>
            <a:ext cx="8075240" cy="642937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50000"/>
                  <a:shade val="30000"/>
                  <a:satMod val="115000"/>
                </a:schemeClr>
              </a:gs>
              <a:gs pos="50000">
                <a:schemeClr val="bg2">
                  <a:lumMod val="50000"/>
                  <a:shade val="67500"/>
                  <a:satMod val="115000"/>
                </a:schemeClr>
              </a:gs>
              <a:gs pos="100000">
                <a:schemeClr val="bg2">
                  <a:lumMod val="50000"/>
                  <a:shade val="100000"/>
                  <a:satMod val="115000"/>
                </a:schemeClr>
              </a:gs>
            </a:gsLst>
            <a:lin ang="0" scaled="1"/>
            <a:tileRect/>
          </a:gradFill>
          <a:ln>
            <a:noFill/>
            <a:miter lim="800000"/>
            <a:headEnd/>
            <a:tailEnd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2"/>
                </a:solidFill>
                <a:latin typeface="HY견고딕" pitchFamily="18" charset="-127"/>
                <a:ea typeface="HY견고딕" pitchFamily="18" charset="-127"/>
                <a:cs typeface="+mj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9pPr>
          </a:lstStyle>
          <a:p>
            <a:pPr eaLnBrk="1" hangingPunct="1">
              <a:defRPr/>
            </a:pPr>
            <a:r>
              <a:rPr kumimoji="0" lang="en-US" altLang="ko-KR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&lt;</a:t>
            </a:r>
            <a:r>
              <a:rPr kumimoji="0" lang="ko-KR" altLang="en-US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실습</a:t>
            </a:r>
            <a:r>
              <a:rPr kumimoji="0" lang="en-US" altLang="ko-KR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11&gt; dpkg </a:t>
            </a:r>
            <a:r>
              <a:rPr kumimoji="0" lang="ko-KR" altLang="en-US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명령</a:t>
            </a:r>
          </a:p>
        </p:txBody>
      </p:sp>
      <p:sp>
        <p:nvSpPr>
          <p:cNvPr id="4" name="내용 개체 틀 2"/>
          <p:cNvSpPr txBox="1">
            <a:spLocks/>
          </p:cNvSpPr>
          <p:nvPr/>
        </p:nvSpPr>
        <p:spPr bwMode="auto">
          <a:xfrm>
            <a:off x="357188" y="1626298"/>
            <a:ext cx="8229600" cy="42267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normAutofit/>
          </a:bodyPr>
          <a:lstStyle/>
          <a:p>
            <a:pPr marL="365125" indent="-255588">
              <a:spcBef>
                <a:spcPts val="300"/>
              </a:spcBef>
              <a:buClr>
                <a:srgbClr val="A04DA3"/>
              </a:buClr>
              <a:buFont typeface="Georgia" pitchFamily="18" charset="0"/>
              <a:buChar char="•"/>
              <a:defRPr/>
            </a:pPr>
            <a:r>
              <a:rPr kumimoji="0"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실습목표</a:t>
            </a:r>
            <a:endParaRPr kumimoji="0" lang="en-US" altLang="ko-KR" sz="24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657225" lvl="1" indent="-246063">
              <a:spcBef>
                <a:spcPts val="300"/>
              </a:spcBef>
              <a:buClr>
                <a:schemeClr val="accent2"/>
              </a:buClr>
              <a:buFont typeface="Georgia" pitchFamily="18" charset="0"/>
              <a:buChar char="▫"/>
              <a:defRPr/>
            </a:pPr>
            <a:r>
              <a:rPr kumimoji="0" lang="en-US" altLang="ko-KR" sz="2000" dirty="0">
                <a:solidFill>
                  <a:schemeClr val="accent2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dpkg </a:t>
            </a:r>
            <a:r>
              <a:rPr kumimoji="0" lang="ko-KR" altLang="en-US" sz="2000" dirty="0">
                <a:solidFill>
                  <a:schemeClr val="accent2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명령의 사용법을 익힌다</a:t>
            </a:r>
            <a:r>
              <a:rPr kumimoji="0" lang="en-US" altLang="ko-KR" sz="2000" dirty="0">
                <a:solidFill>
                  <a:schemeClr val="accent2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  <a:p>
            <a:pPr marL="657225" lvl="1" indent="-246063">
              <a:spcBef>
                <a:spcPts val="300"/>
              </a:spcBef>
              <a:buClr>
                <a:schemeClr val="accent2"/>
              </a:buClr>
              <a:buFont typeface="Georgia" pitchFamily="18" charset="0"/>
              <a:buChar char="▫"/>
              <a:defRPr/>
            </a:pPr>
            <a:r>
              <a:rPr kumimoji="0" lang="en-US" altLang="ko-KR" sz="2000" dirty="0">
                <a:solidFill>
                  <a:schemeClr val="accent2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deb </a:t>
            </a:r>
            <a:r>
              <a:rPr kumimoji="0" lang="ko-KR" altLang="en-US" sz="2000" dirty="0">
                <a:solidFill>
                  <a:schemeClr val="accent2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파일의 의존성 문제를 파악한다</a:t>
            </a:r>
            <a:r>
              <a:rPr kumimoji="0" lang="en-US" altLang="ko-KR" sz="2000" dirty="0">
                <a:solidFill>
                  <a:schemeClr val="accent2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  <a:p>
            <a:pPr marL="365125" indent="-255588">
              <a:spcBef>
                <a:spcPts val="300"/>
              </a:spcBef>
              <a:buClr>
                <a:srgbClr val="A04DA3"/>
              </a:buClr>
              <a:buFont typeface="Georgia" pitchFamily="18" charset="0"/>
              <a:buChar char="•"/>
              <a:defRPr/>
            </a:pPr>
            <a:r>
              <a:rPr kumimoji="0"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실습화면 </a:t>
            </a:r>
            <a:r>
              <a:rPr kumimoji="0"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(axel</a:t>
            </a:r>
            <a:r>
              <a:rPr kumimoji="0"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패키지 설치</a:t>
            </a:r>
            <a:r>
              <a:rPr kumimoji="0"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</a:p>
          <a:p>
            <a:pPr marL="657225" lvl="1" indent="-246063">
              <a:spcBef>
                <a:spcPts val="300"/>
              </a:spcBef>
              <a:buClr>
                <a:schemeClr val="accent2"/>
              </a:buClr>
              <a:buFont typeface="Georgia" pitchFamily="18" charset="0"/>
              <a:buChar char="▫"/>
              <a:defRPr/>
            </a:pPr>
            <a:endParaRPr kumimoji="0" lang="en-US" altLang="ko-KR" sz="2400" dirty="0">
              <a:solidFill>
                <a:schemeClr val="accent2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365125" indent="-255588">
              <a:spcBef>
                <a:spcPts val="300"/>
              </a:spcBef>
              <a:buClr>
                <a:srgbClr val="A04DA3"/>
              </a:buClr>
              <a:buFont typeface="Georgia" pitchFamily="18" charset="0"/>
              <a:buChar char="•"/>
              <a:defRPr/>
            </a:pPr>
            <a:endParaRPr kumimoji="0" lang="ko-KR" altLang="en-US" sz="24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pic>
        <p:nvPicPr>
          <p:cNvPr id="3" name="그림 2" descr="키보드, 컴퓨터이(가) 표시된 사진&#10;&#10;자동 생성된 설명">
            <a:extLst>
              <a:ext uri="{FF2B5EF4-FFF2-40B4-BE49-F238E27FC236}">
                <a16:creationId xmlns:a16="http://schemas.microsoft.com/office/drawing/2014/main" id="{11BFDEC2-4D93-444E-9D1E-E45C0840A37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6768" y="512862"/>
            <a:ext cx="756709" cy="742276"/>
          </a:xfrm>
          <a:prstGeom prst="rect">
            <a:avLst/>
          </a:prstGeom>
        </p:spPr>
      </p:pic>
      <p:sp>
        <p:nvSpPr>
          <p:cNvPr id="5" name="말풍선: 타원형 4">
            <a:extLst>
              <a:ext uri="{FF2B5EF4-FFF2-40B4-BE49-F238E27FC236}">
                <a16:creationId xmlns:a16="http://schemas.microsoft.com/office/drawing/2014/main" id="{41FD0512-2F1B-9DCA-A50D-3C50C6CE0BE9}"/>
              </a:ext>
            </a:extLst>
          </p:cNvPr>
          <p:cNvSpPr/>
          <p:nvPr/>
        </p:nvSpPr>
        <p:spPr>
          <a:xfrm>
            <a:off x="3970576" y="560108"/>
            <a:ext cx="1049292" cy="410369"/>
          </a:xfrm>
          <a:prstGeom prst="wedgeEllipseCallout">
            <a:avLst>
              <a:gd name="adj1" fmla="val -49721"/>
              <a:gd name="adj2" fmla="val 61440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228</a:t>
            </a:r>
            <a:r>
              <a:rPr lang="ko-KR" altLang="en-US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  <p:pic>
        <p:nvPicPr>
          <p:cNvPr id="8" name="그림 7" descr="텍스트, 스크린샷, 폰트, 소프트웨어이(가) 표시된 사진&#10;&#10;자동 생성된 설명">
            <a:extLst>
              <a:ext uri="{FF2B5EF4-FFF2-40B4-BE49-F238E27FC236}">
                <a16:creationId xmlns:a16="http://schemas.microsoft.com/office/drawing/2014/main" id="{FC398BF9-BE67-55AB-EB30-A1D61543424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7704" y="3207902"/>
            <a:ext cx="5256584" cy="3181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649494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제목 1"/>
          <p:cNvSpPr>
            <a:spLocks noGrp="1"/>
          </p:cNvSpPr>
          <p:nvPr>
            <p:ph type="title"/>
          </p:nvPr>
        </p:nvSpPr>
        <p:spPr>
          <a:xfrm>
            <a:off x="500063" y="714375"/>
            <a:ext cx="8229600" cy="642938"/>
          </a:xfrm>
        </p:spPr>
        <p:txBody>
          <a:bodyPr/>
          <a:lstStyle/>
          <a:p>
            <a:pPr eaLnBrk="1" hangingPunct="1"/>
            <a:r>
              <a:rPr lang="ko-KR" altLang="en-US" sz="2800" dirty="0"/>
              <a:t>편리한 패키지 설치를</a:t>
            </a:r>
            <a:r>
              <a:rPr lang="en-US" altLang="ko-KR" sz="2800" dirty="0"/>
              <a:t> </a:t>
            </a:r>
            <a:r>
              <a:rPr lang="ko-KR" altLang="en-US" sz="2800" dirty="0"/>
              <a:t>위한</a:t>
            </a:r>
            <a:r>
              <a:rPr lang="en-US" altLang="ko-KR" sz="2800" dirty="0"/>
              <a:t> apt (1)</a:t>
            </a:r>
            <a:endParaRPr lang="ko-KR" altLang="en-US" sz="2800" dirty="0">
              <a:solidFill>
                <a:srgbClr val="00B050"/>
              </a:solidFill>
            </a:endParaRPr>
          </a:p>
        </p:txBody>
      </p:sp>
      <p:sp>
        <p:nvSpPr>
          <p:cNvPr id="6" name="내용 개체 틀 2"/>
          <p:cNvSpPr>
            <a:spLocks noGrp="1"/>
          </p:cNvSpPr>
          <p:nvPr>
            <p:ph idx="1"/>
          </p:nvPr>
        </p:nvSpPr>
        <p:spPr>
          <a:xfrm>
            <a:off x="457200" y="1357313"/>
            <a:ext cx="8229600" cy="5214937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en-US" altLang="ko-KR" dirty="0"/>
              <a:t>apt </a:t>
            </a:r>
            <a:r>
              <a:rPr lang="ko-KR" altLang="en-US" dirty="0"/>
              <a:t>명령</a:t>
            </a:r>
            <a:endParaRPr lang="en-US" altLang="ko-KR" dirty="0"/>
          </a:p>
          <a:p>
            <a:pPr lvl="1">
              <a:defRPr/>
            </a:pPr>
            <a:r>
              <a:rPr lang="en-US" altLang="ko-KR" sz="2000" dirty="0"/>
              <a:t>dpkg </a:t>
            </a:r>
            <a:r>
              <a:rPr lang="ko-KR" altLang="en-US" sz="2000" dirty="0"/>
              <a:t>명령의 패키지 의존성 문제를 완전하게 해결됨</a:t>
            </a:r>
            <a:r>
              <a:rPr lang="en-US" altLang="ko-KR" sz="2000" dirty="0"/>
              <a:t>.</a:t>
            </a:r>
          </a:p>
          <a:p>
            <a:pPr lvl="1">
              <a:defRPr/>
            </a:pPr>
            <a:r>
              <a:rPr lang="ko-KR" altLang="en-US" sz="2000" dirty="0"/>
              <a:t>인터넷을 통하여 필요한 파일을 저장소</a:t>
            </a:r>
            <a:r>
              <a:rPr lang="en-US" altLang="ko-KR" sz="2000" dirty="0"/>
              <a:t>(Repository)</a:t>
            </a:r>
            <a:r>
              <a:rPr lang="ko-KR" altLang="en-US" sz="2000" dirty="0"/>
              <a:t>에서 자동으로 모두 다운로드해서 설치하는 방식</a:t>
            </a:r>
            <a:endParaRPr lang="en-US" altLang="ko-KR" sz="2000" dirty="0"/>
          </a:p>
          <a:p>
            <a:pPr lvl="1">
              <a:defRPr/>
            </a:pPr>
            <a:endParaRPr lang="ko-KR" altLang="en-US" sz="2000" dirty="0"/>
          </a:p>
          <a:p>
            <a:pPr>
              <a:defRPr/>
            </a:pPr>
            <a:r>
              <a:rPr lang="en-US" altLang="ko-KR" dirty="0"/>
              <a:t>apt </a:t>
            </a:r>
            <a:r>
              <a:rPr lang="ko-KR" altLang="en-US" dirty="0"/>
              <a:t>기본적인 사용법</a:t>
            </a:r>
            <a:endParaRPr lang="en-US" altLang="ko-KR" dirty="0"/>
          </a:p>
          <a:p>
            <a:pPr lvl="1">
              <a:defRPr/>
            </a:pPr>
            <a:r>
              <a:rPr lang="ko-KR" altLang="en-US" sz="2000" dirty="0"/>
              <a:t>기본 설치 </a:t>
            </a:r>
            <a:r>
              <a:rPr lang="en-US" altLang="ko-KR" sz="2000" dirty="0"/>
              <a:t>: apt -y install </a:t>
            </a:r>
            <a:r>
              <a:rPr lang="ko-KR" altLang="en-US" sz="2000" dirty="0"/>
              <a:t>패키지이름</a:t>
            </a:r>
            <a:endParaRPr lang="en-US" altLang="ko-KR" sz="2000" dirty="0"/>
          </a:p>
          <a:p>
            <a:pPr lvl="2">
              <a:defRPr/>
            </a:pPr>
            <a:r>
              <a:rPr lang="en-US" altLang="ko-KR" sz="1600" dirty="0">
                <a:solidFill>
                  <a:srgbClr val="0070C0"/>
                </a:solidFill>
              </a:rPr>
              <a:t>“-y”</a:t>
            </a:r>
            <a:r>
              <a:rPr lang="ko-KR" altLang="en-US" sz="1600" dirty="0">
                <a:solidFill>
                  <a:srgbClr val="0070C0"/>
                </a:solidFill>
              </a:rPr>
              <a:t>는 사용자의 확인을 모두 </a:t>
            </a:r>
            <a:r>
              <a:rPr lang="en-US" altLang="ko-KR" sz="1600" dirty="0">
                <a:solidFill>
                  <a:srgbClr val="0070C0"/>
                </a:solidFill>
              </a:rPr>
              <a:t>“yes”</a:t>
            </a:r>
            <a:r>
              <a:rPr lang="ko-KR" altLang="en-US" sz="1600" dirty="0">
                <a:solidFill>
                  <a:srgbClr val="0070C0"/>
                </a:solidFill>
              </a:rPr>
              <a:t>로 간주하고 설치를 진행한다는 옵션</a:t>
            </a:r>
            <a:endParaRPr lang="en-US" altLang="ko-KR" sz="1600" dirty="0">
              <a:solidFill>
                <a:srgbClr val="0070C0"/>
              </a:solidFill>
            </a:endParaRPr>
          </a:p>
          <a:p>
            <a:pPr lvl="1">
              <a:defRPr/>
            </a:pPr>
            <a:r>
              <a:rPr lang="ko-KR" altLang="en-US" sz="2000" dirty="0"/>
              <a:t>패키지 목록의 업데이트 </a:t>
            </a:r>
            <a:r>
              <a:rPr lang="en-US" altLang="ko-KR" sz="2000" dirty="0"/>
              <a:t>: apt update</a:t>
            </a:r>
          </a:p>
          <a:p>
            <a:pPr lvl="1">
              <a:defRPr/>
            </a:pPr>
            <a:r>
              <a:rPr lang="ko-KR" altLang="en-US" sz="2000" dirty="0"/>
              <a:t>삭제 </a:t>
            </a:r>
            <a:r>
              <a:rPr lang="en-US" altLang="ko-KR" sz="2000" dirty="0"/>
              <a:t>: apt remove/purge </a:t>
            </a:r>
            <a:r>
              <a:rPr lang="ko-KR" altLang="en-US" sz="2000" dirty="0"/>
              <a:t>패키지 이름</a:t>
            </a:r>
            <a:endParaRPr lang="en-US" altLang="ko-KR" sz="2000" dirty="0"/>
          </a:p>
          <a:p>
            <a:pPr lvl="1">
              <a:defRPr/>
            </a:pPr>
            <a:r>
              <a:rPr lang="ko-KR" altLang="en-US" sz="2000" dirty="0"/>
              <a:t>사용하지 않는 패키지 제거 </a:t>
            </a:r>
            <a:r>
              <a:rPr lang="en-US" altLang="ko-KR" sz="2000" dirty="0"/>
              <a:t>: apt </a:t>
            </a:r>
            <a:r>
              <a:rPr lang="en-US" altLang="ko-KR" sz="2000" dirty="0" err="1"/>
              <a:t>autoremove</a:t>
            </a:r>
            <a:endParaRPr lang="en-US" altLang="ko-KR" sz="2000" dirty="0"/>
          </a:p>
          <a:p>
            <a:pPr lvl="1">
              <a:defRPr/>
            </a:pPr>
            <a:r>
              <a:rPr lang="ko-KR" altLang="en-US" sz="2000" dirty="0"/>
              <a:t>내려</a:t>
            </a:r>
            <a:r>
              <a:rPr lang="en-US" altLang="ko-KR" sz="2000" dirty="0"/>
              <a:t> </a:t>
            </a:r>
            <a:r>
              <a:rPr lang="ko-KR" altLang="en-US" sz="2000" dirty="0"/>
              <a:t>받은</a:t>
            </a:r>
            <a:r>
              <a:rPr lang="en-US" altLang="ko-KR" sz="2000" dirty="0"/>
              <a:t> </a:t>
            </a:r>
            <a:r>
              <a:rPr lang="ko-KR" altLang="en-US" sz="2000" dirty="0"/>
              <a:t>파일 제거 </a:t>
            </a:r>
            <a:r>
              <a:rPr lang="en-US" altLang="ko-KR" sz="2000" dirty="0"/>
              <a:t>: apt clean </a:t>
            </a:r>
            <a:r>
              <a:rPr lang="ko-KR" altLang="en-US" sz="2000" dirty="0"/>
              <a:t>또는 </a:t>
            </a:r>
            <a:r>
              <a:rPr lang="en-US" altLang="ko-KR" sz="2000" dirty="0"/>
              <a:t>apt </a:t>
            </a:r>
            <a:r>
              <a:rPr lang="en-US" altLang="ko-KR" sz="2000" dirty="0" err="1"/>
              <a:t>autoclean</a:t>
            </a:r>
            <a:endParaRPr lang="en-US" altLang="ko-KR" sz="2000" dirty="0"/>
          </a:p>
        </p:txBody>
      </p:sp>
      <p:sp>
        <p:nvSpPr>
          <p:cNvPr id="3" name="말풍선: 타원형 2">
            <a:extLst>
              <a:ext uri="{FF2B5EF4-FFF2-40B4-BE49-F238E27FC236}">
                <a16:creationId xmlns:a16="http://schemas.microsoft.com/office/drawing/2014/main" id="{9BB377A1-2F2D-0DAD-5D94-A416D467146F}"/>
              </a:ext>
            </a:extLst>
          </p:cNvPr>
          <p:cNvSpPr/>
          <p:nvPr/>
        </p:nvSpPr>
        <p:spPr>
          <a:xfrm>
            <a:off x="5940152" y="560108"/>
            <a:ext cx="1049292" cy="410369"/>
          </a:xfrm>
          <a:prstGeom prst="wedgeEllipseCallout">
            <a:avLst>
              <a:gd name="adj1" fmla="val -49721"/>
              <a:gd name="adj2" fmla="val 61440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232</a:t>
            </a:r>
            <a:r>
              <a:rPr lang="ko-KR" altLang="en-US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  <p:sp>
        <p:nvSpPr>
          <p:cNvPr id="4" name="물결 3">
            <a:extLst>
              <a:ext uri="{FF2B5EF4-FFF2-40B4-BE49-F238E27FC236}">
                <a16:creationId xmlns:a16="http://schemas.microsoft.com/office/drawing/2014/main" id="{C44314B1-5CE1-57C9-B47F-E0E6C0C057F8}"/>
              </a:ext>
            </a:extLst>
          </p:cNvPr>
          <p:cNvSpPr/>
          <p:nvPr/>
        </p:nvSpPr>
        <p:spPr>
          <a:xfrm>
            <a:off x="3707904" y="2880491"/>
            <a:ext cx="5256584" cy="554973"/>
          </a:xfrm>
          <a:prstGeom prst="wave">
            <a:avLst>
              <a:gd name="adj1" fmla="val 6856"/>
              <a:gd name="adj2" fmla="val -605"/>
            </a:avLst>
          </a:prstGeom>
          <a:solidFill>
            <a:srgbClr val="FF7C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ko-KR" altLang="en-US" sz="1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저장소의 </a:t>
            </a:r>
            <a:r>
              <a:rPr lang="en-US" altLang="ko-KR" sz="1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URL</a:t>
            </a:r>
            <a:r>
              <a:rPr lang="ko-KR" altLang="en-US" sz="1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은</a:t>
            </a:r>
            <a:r>
              <a:rPr lang="en-US" altLang="ko-KR" sz="1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/etc/apt/</a:t>
            </a:r>
            <a:r>
              <a:rPr lang="en-US" altLang="ko-KR" sz="1400" dirty="0" err="1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sources.list.d</a:t>
            </a:r>
            <a:r>
              <a:rPr lang="en-US" altLang="ko-KR" sz="1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/</a:t>
            </a:r>
            <a:r>
              <a:rPr lang="en-US" altLang="ko-KR" sz="1400" dirty="0" err="1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ubuntu.sources</a:t>
            </a:r>
            <a:r>
              <a:rPr lang="en-US" altLang="ko-KR" sz="1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1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파일</a:t>
            </a:r>
            <a:endParaRPr lang="en-US" altLang="ko-KR" sz="1400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381120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제목 1"/>
          <p:cNvSpPr>
            <a:spLocks noGrp="1"/>
          </p:cNvSpPr>
          <p:nvPr>
            <p:ph type="title"/>
          </p:nvPr>
        </p:nvSpPr>
        <p:spPr>
          <a:xfrm>
            <a:off x="500063" y="714375"/>
            <a:ext cx="8229600" cy="642938"/>
          </a:xfrm>
        </p:spPr>
        <p:txBody>
          <a:bodyPr/>
          <a:lstStyle/>
          <a:p>
            <a:pPr eaLnBrk="1" hangingPunct="1"/>
            <a:r>
              <a:rPr lang="ko-KR" altLang="en-US" sz="2800" dirty="0"/>
              <a:t>편리한 패키지 설치를</a:t>
            </a:r>
            <a:r>
              <a:rPr lang="en-US" altLang="ko-KR" sz="2800" dirty="0"/>
              <a:t> </a:t>
            </a:r>
            <a:r>
              <a:rPr lang="ko-KR" altLang="en-US" sz="2800" dirty="0"/>
              <a:t>위한</a:t>
            </a:r>
            <a:r>
              <a:rPr lang="en-US" altLang="ko-KR" sz="2800" dirty="0"/>
              <a:t> apt (2)</a:t>
            </a:r>
            <a:endParaRPr lang="ko-KR" altLang="en-US" sz="2800" dirty="0">
              <a:solidFill>
                <a:srgbClr val="00B050"/>
              </a:solidFill>
            </a:endParaRPr>
          </a:p>
        </p:txBody>
      </p:sp>
      <p:sp>
        <p:nvSpPr>
          <p:cNvPr id="6" name="내용 개체 틀 2"/>
          <p:cNvSpPr>
            <a:spLocks noGrp="1"/>
          </p:cNvSpPr>
          <p:nvPr>
            <p:ph idx="1"/>
          </p:nvPr>
        </p:nvSpPr>
        <p:spPr>
          <a:xfrm>
            <a:off x="457200" y="1357313"/>
            <a:ext cx="8229600" cy="5214937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en-US" altLang="ko-KR" dirty="0"/>
              <a:t>apt-cache</a:t>
            </a:r>
          </a:p>
          <a:p>
            <a:pPr lvl="1">
              <a:defRPr/>
            </a:pPr>
            <a:r>
              <a:rPr lang="ko-KR" altLang="en-US" sz="2000" dirty="0"/>
              <a:t>패키지를 설치하기 전에 패키지에 대한 정보나 의존성 문제를 미리 확인</a:t>
            </a:r>
            <a:endParaRPr lang="en-US" altLang="ko-KR" sz="2000" dirty="0"/>
          </a:p>
          <a:p>
            <a:pPr lvl="1">
              <a:defRPr/>
            </a:pPr>
            <a:r>
              <a:rPr lang="ko-KR" altLang="en-US" sz="2000" dirty="0"/>
              <a:t>패키지 정보 보기</a:t>
            </a:r>
          </a:p>
          <a:p>
            <a:pPr lvl="2">
              <a:defRPr/>
            </a:pPr>
            <a:r>
              <a:rPr lang="en-US" altLang="ko-KR" sz="1600" dirty="0"/>
              <a:t>apt-cache show </a:t>
            </a:r>
            <a:r>
              <a:rPr lang="ko-KR" altLang="en-US" sz="1600" dirty="0"/>
              <a:t>패키지이름</a:t>
            </a:r>
            <a:endParaRPr lang="en-US" altLang="ko-KR" sz="1600" dirty="0">
              <a:solidFill>
                <a:srgbClr val="0070C0"/>
              </a:solidFill>
            </a:endParaRPr>
          </a:p>
          <a:p>
            <a:pPr lvl="1">
              <a:defRPr/>
            </a:pPr>
            <a:r>
              <a:rPr lang="ko-KR" altLang="en-US" sz="2000" dirty="0"/>
              <a:t>패키지 의존성 확인</a:t>
            </a:r>
          </a:p>
          <a:p>
            <a:pPr lvl="2">
              <a:defRPr/>
            </a:pPr>
            <a:r>
              <a:rPr lang="en-US" altLang="ko-KR" sz="1600" dirty="0"/>
              <a:t>apt-cache depends </a:t>
            </a:r>
            <a:r>
              <a:rPr lang="ko-KR" altLang="en-US" sz="1600" dirty="0"/>
              <a:t>패키지이름</a:t>
            </a:r>
            <a:endParaRPr lang="en-US" altLang="ko-KR" sz="1600" dirty="0"/>
          </a:p>
          <a:p>
            <a:pPr lvl="1">
              <a:defRPr/>
            </a:pPr>
            <a:r>
              <a:rPr lang="ko-KR" altLang="en-US" sz="2000" dirty="0"/>
              <a:t>패키지 역의존성 확인</a:t>
            </a:r>
          </a:p>
          <a:p>
            <a:pPr lvl="2">
              <a:defRPr/>
            </a:pPr>
            <a:r>
              <a:rPr lang="en-US" altLang="ko-KR" sz="1600" dirty="0"/>
              <a:t>apt-cache </a:t>
            </a:r>
            <a:r>
              <a:rPr lang="en-US" altLang="ko-KR" sz="1600" dirty="0" err="1"/>
              <a:t>rdepends</a:t>
            </a:r>
            <a:r>
              <a:rPr lang="en-US" altLang="ko-KR" sz="1600" dirty="0"/>
              <a:t> </a:t>
            </a:r>
            <a:r>
              <a:rPr lang="ko-KR" altLang="en-US" sz="1600" dirty="0"/>
              <a:t>패키지이름</a:t>
            </a:r>
            <a:endParaRPr lang="en-US" altLang="ko-KR" sz="1600" dirty="0"/>
          </a:p>
          <a:p>
            <a:pPr lvl="1">
              <a:defRPr/>
            </a:pPr>
            <a:endParaRPr lang="en-US" altLang="ko-KR" sz="2000" dirty="0"/>
          </a:p>
        </p:txBody>
      </p:sp>
      <p:sp>
        <p:nvSpPr>
          <p:cNvPr id="2" name="말풍선: 타원형 1">
            <a:extLst>
              <a:ext uri="{FF2B5EF4-FFF2-40B4-BE49-F238E27FC236}">
                <a16:creationId xmlns:a16="http://schemas.microsoft.com/office/drawing/2014/main" id="{C09C0384-EC16-F790-C4F4-05D6C38AE014}"/>
              </a:ext>
            </a:extLst>
          </p:cNvPr>
          <p:cNvSpPr/>
          <p:nvPr/>
        </p:nvSpPr>
        <p:spPr>
          <a:xfrm>
            <a:off x="5868144" y="560108"/>
            <a:ext cx="1049292" cy="410369"/>
          </a:xfrm>
          <a:prstGeom prst="wedgeEllipseCallout">
            <a:avLst>
              <a:gd name="adj1" fmla="val -49721"/>
              <a:gd name="adj2" fmla="val 61440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234</a:t>
            </a:r>
            <a:r>
              <a:rPr lang="ko-KR" altLang="en-US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</p:spTree>
    <p:extLst>
      <p:ext uri="{BB962C8B-B14F-4D97-AF65-F5344CB8AC3E}">
        <p14:creationId xmlns:p14="http://schemas.microsoft.com/office/powerpoint/2010/main" val="45787819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4069EA-9B5E-4563-9B7A-9BDFD01029DF}"/>
              </a:ext>
            </a:extLst>
          </p:cNvPr>
          <p:cNvSpPr txBox="1">
            <a:spLocks/>
          </p:cNvSpPr>
          <p:nvPr/>
        </p:nvSpPr>
        <p:spPr bwMode="auto">
          <a:xfrm>
            <a:off x="790109" y="714376"/>
            <a:ext cx="8075240" cy="642937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50000"/>
                  <a:shade val="30000"/>
                  <a:satMod val="115000"/>
                </a:schemeClr>
              </a:gs>
              <a:gs pos="50000">
                <a:schemeClr val="bg2">
                  <a:lumMod val="50000"/>
                  <a:shade val="67500"/>
                  <a:satMod val="115000"/>
                </a:schemeClr>
              </a:gs>
              <a:gs pos="100000">
                <a:schemeClr val="bg2">
                  <a:lumMod val="50000"/>
                  <a:shade val="100000"/>
                  <a:satMod val="115000"/>
                </a:schemeClr>
              </a:gs>
            </a:gsLst>
            <a:lin ang="0" scaled="1"/>
            <a:tileRect/>
          </a:gradFill>
          <a:ln>
            <a:noFill/>
            <a:miter lim="800000"/>
            <a:headEnd/>
            <a:tailEnd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2"/>
                </a:solidFill>
                <a:latin typeface="HY견고딕" pitchFamily="18" charset="-127"/>
                <a:ea typeface="HY견고딕" pitchFamily="18" charset="-127"/>
                <a:cs typeface="+mj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9pPr>
          </a:lstStyle>
          <a:p>
            <a:pPr eaLnBrk="1" hangingPunct="1">
              <a:defRPr/>
            </a:pPr>
            <a:r>
              <a:rPr kumimoji="0" lang="en-US" altLang="ko-KR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&lt;</a:t>
            </a:r>
            <a:r>
              <a:rPr kumimoji="0" lang="ko-KR" altLang="en-US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실습</a:t>
            </a:r>
            <a:r>
              <a:rPr kumimoji="0" lang="en-US" altLang="ko-KR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12&gt; apt </a:t>
            </a:r>
            <a:r>
              <a:rPr kumimoji="0" lang="ko-KR" altLang="en-US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기본 연습</a:t>
            </a:r>
          </a:p>
        </p:txBody>
      </p:sp>
      <p:pic>
        <p:nvPicPr>
          <p:cNvPr id="3" name="그림 2" descr="키보드, 컴퓨터이(가) 표시된 사진&#10;&#10;자동 생성된 설명">
            <a:extLst>
              <a:ext uri="{FF2B5EF4-FFF2-40B4-BE49-F238E27FC236}">
                <a16:creationId xmlns:a16="http://schemas.microsoft.com/office/drawing/2014/main" id="{A8A70181-990C-43C0-B9F2-9D460D3F30A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6768" y="543798"/>
            <a:ext cx="756709" cy="742276"/>
          </a:xfrm>
          <a:prstGeom prst="rect">
            <a:avLst/>
          </a:prstGeom>
        </p:spPr>
      </p:pic>
      <p:sp>
        <p:nvSpPr>
          <p:cNvPr id="19459" name="내용 개체 틀 2"/>
          <p:cNvSpPr>
            <a:spLocks noGrp="1"/>
          </p:cNvSpPr>
          <p:nvPr>
            <p:ph idx="1"/>
          </p:nvPr>
        </p:nvSpPr>
        <p:spPr>
          <a:xfrm>
            <a:off x="500063" y="1357313"/>
            <a:ext cx="8229600" cy="5143500"/>
          </a:xfrm>
        </p:spPr>
        <p:txBody>
          <a:bodyPr/>
          <a:lstStyle/>
          <a:p>
            <a:pPr eaLnBrk="1" hangingPunct="1">
              <a:defRPr/>
            </a:pPr>
            <a:r>
              <a:rPr lang="ko-KR" altLang="en-US" dirty="0"/>
              <a:t>실습목표</a:t>
            </a:r>
            <a:endParaRPr lang="en-US" altLang="ko-KR" dirty="0"/>
          </a:p>
          <a:p>
            <a:pPr lvl="1" eaLnBrk="1" hangingPunct="1">
              <a:defRPr/>
            </a:pPr>
            <a:r>
              <a:rPr lang="ko-KR" altLang="en-US" sz="2000" dirty="0"/>
              <a:t>의존성 문제가 있는 패키지를 </a:t>
            </a:r>
            <a:r>
              <a:rPr lang="en-US" altLang="ko-KR" sz="2000" dirty="0"/>
              <a:t>apt </a:t>
            </a:r>
            <a:r>
              <a:rPr lang="ko-KR" altLang="en-US" sz="2000" dirty="0"/>
              <a:t>명령으로 설치해 본다</a:t>
            </a:r>
            <a:r>
              <a:rPr lang="en-US" altLang="ko-KR" sz="2000" dirty="0"/>
              <a:t>.</a:t>
            </a:r>
          </a:p>
          <a:p>
            <a:pPr lvl="1" eaLnBrk="1" hangingPunct="1">
              <a:defRPr/>
            </a:pPr>
            <a:endParaRPr lang="en-US" altLang="ko-KR" dirty="0"/>
          </a:p>
          <a:p>
            <a:pPr eaLnBrk="1" hangingPunct="1">
              <a:defRPr/>
            </a:pPr>
            <a:r>
              <a:rPr lang="ko-KR" altLang="en-US" dirty="0"/>
              <a:t>실습 화면 </a:t>
            </a:r>
            <a:r>
              <a:rPr lang="en-US" altLang="ko-KR" dirty="0"/>
              <a:t>(</a:t>
            </a:r>
            <a:r>
              <a:rPr lang="ko-KR" altLang="en-US" dirty="0"/>
              <a:t>의존성 패키지 자동 다운로드</a:t>
            </a:r>
            <a:r>
              <a:rPr lang="en-US" altLang="ko-KR" dirty="0"/>
              <a:t>)</a:t>
            </a:r>
          </a:p>
          <a:p>
            <a:pPr lvl="2" eaLnBrk="1" hangingPunct="1">
              <a:defRPr/>
            </a:pPr>
            <a:endParaRPr lang="en-US" altLang="ko-KR" dirty="0"/>
          </a:p>
          <a:p>
            <a:pPr eaLnBrk="1" hangingPunct="1">
              <a:defRPr/>
            </a:pPr>
            <a:endParaRPr lang="ko-KR" altLang="en-US" dirty="0"/>
          </a:p>
        </p:txBody>
      </p:sp>
      <p:sp>
        <p:nvSpPr>
          <p:cNvPr id="4" name="말풍선: 타원형 3">
            <a:extLst>
              <a:ext uri="{FF2B5EF4-FFF2-40B4-BE49-F238E27FC236}">
                <a16:creationId xmlns:a16="http://schemas.microsoft.com/office/drawing/2014/main" id="{6AA8B574-CA34-D45F-35C8-1B0A96676094}"/>
              </a:ext>
            </a:extLst>
          </p:cNvPr>
          <p:cNvSpPr/>
          <p:nvPr/>
        </p:nvSpPr>
        <p:spPr>
          <a:xfrm>
            <a:off x="4211960" y="560108"/>
            <a:ext cx="1049292" cy="410369"/>
          </a:xfrm>
          <a:prstGeom prst="wedgeEllipseCallout">
            <a:avLst>
              <a:gd name="adj1" fmla="val -49721"/>
              <a:gd name="adj2" fmla="val 61440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235</a:t>
            </a:r>
            <a:r>
              <a:rPr lang="ko-KR" altLang="en-US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  <p:pic>
        <p:nvPicPr>
          <p:cNvPr id="6" name="그림 5" descr="텍스트, 스크린샷, 디스플레이, 소프트웨어이(가) 표시된 사진&#10;&#10;자동 생성된 설명">
            <a:extLst>
              <a:ext uri="{FF2B5EF4-FFF2-40B4-BE49-F238E27FC236}">
                <a16:creationId xmlns:a16="http://schemas.microsoft.com/office/drawing/2014/main" id="{FBD768F9-7542-DDCC-BC1C-624A7DE1F60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6601" y="3140968"/>
            <a:ext cx="6310798" cy="2897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610503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제목 1"/>
          <p:cNvSpPr>
            <a:spLocks noGrp="1"/>
          </p:cNvSpPr>
          <p:nvPr>
            <p:ph type="title"/>
          </p:nvPr>
        </p:nvSpPr>
        <p:spPr>
          <a:xfrm>
            <a:off x="500063" y="714375"/>
            <a:ext cx="8229600" cy="642938"/>
          </a:xfrm>
        </p:spPr>
        <p:txBody>
          <a:bodyPr/>
          <a:lstStyle/>
          <a:p>
            <a:pPr eaLnBrk="1" hangingPunct="1"/>
            <a:r>
              <a:rPr lang="ko-KR" altLang="en-US" sz="2800" dirty="0"/>
              <a:t>편리한 패키지 설치를</a:t>
            </a:r>
            <a:r>
              <a:rPr lang="en-US" altLang="ko-KR" sz="2800" dirty="0"/>
              <a:t> </a:t>
            </a:r>
            <a:r>
              <a:rPr lang="ko-KR" altLang="en-US" sz="2800" dirty="0"/>
              <a:t>위한</a:t>
            </a:r>
            <a:r>
              <a:rPr lang="en-US" altLang="ko-KR" sz="2800" dirty="0"/>
              <a:t> apt (3)</a:t>
            </a:r>
            <a:endParaRPr lang="ko-KR" altLang="en-US" sz="2800" dirty="0">
              <a:solidFill>
                <a:srgbClr val="00B050"/>
              </a:solidFill>
            </a:endParaRPr>
          </a:p>
        </p:txBody>
      </p:sp>
      <p:sp>
        <p:nvSpPr>
          <p:cNvPr id="6" name="내용 개체 틀 2"/>
          <p:cNvSpPr>
            <a:spLocks noGrp="1"/>
          </p:cNvSpPr>
          <p:nvPr>
            <p:ph idx="1"/>
          </p:nvPr>
        </p:nvSpPr>
        <p:spPr>
          <a:xfrm>
            <a:off x="457200" y="1357313"/>
            <a:ext cx="8229600" cy="5214937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en-US" altLang="ko-KR" dirty="0"/>
              <a:t>apt </a:t>
            </a:r>
            <a:r>
              <a:rPr lang="ko-KR" altLang="en-US" dirty="0"/>
              <a:t>작동 방식과 설정 파일</a:t>
            </a:r>
            <a:endParaRPr lang="en-US" altLang="ko-KR" dirty="0"/>
          </a:p>
          <a:p>
            <a:pPr lvl="1">
              <a:defRPr/>
            </a:pPr>
            <a:r>
              <a:rPr lang="en-US" altLang="ko-KR" sz="2000" dirty="0"/>
              <a:t>‘apt install </a:t>
            </a:r>
            <a:r>
              <a:rPr lang="ko-KR" altLang="en-US" sz="2000" dirty="0"/>
              <a:t>패키지이름</a:t>
            </a:r>
            <a:r>
              <a:rPr lang="en-US" altLang="ko-KR" sz="2000" dirty="0"/>
              <a:t>’ </a:t>
            </a:r>
            <a:r>
              <a:rPr lang="ko-KR" altLang="en-US" sz="2000" dirty="0"/>
              <a:t>명령이 작동하는 방식</a:t>
            </a:r>
            <a:endParaRPr lang="en-US" altLang="ko-KR" sz="2000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7D47640-175B-1BD1-16BF-A9876781E4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608" y="2348880"/>
            <a:ext cx="6760114" cy="4072069"/>
          </a:xfrm>
          <a:prstGeom prst="rect">
            <a:avLst/>
          </a:prstGeom>
        </p:spPr>
      </p:pic>
      <p:sp>
        <p:nvSpPr>
          <p:cNvPr id="7" name="말풍선: 타원형 6">
            <a:extLst>
              <a:ext uri="{FF2B5EF4-FFF2-40B4-BE49-F238E27FC236}">
                <a16:creationId xmlns:a16="http://schemas.microsoft.com/office/drawing/2014/main" id="{BFCB2152-400D-195E-6826-FAE4C9BFEFCA}"/>
              </a:ext>
            </a:extLst>
          </p:cNvPr>
          <p:cNvSpPr/>
          <p:nvPr/>
        </p:nvSpPr>
        <p:spPr>
          <a:xfrm>
            <a:off x="5868144" y="560108"/>
            <a:ext cx="1049292" cy="410369"/>
          </a:xfrm>
          <a:prstGeom prst="wedgeEllipseCallout">
            <a:avLst>
              <a:gd name="adj1" fmla="val -49721"/>
              <a:gd name="adj2" fmla="val 61440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238</a:t>
            </a:r>
            <a:r>
              <a:rPr lang="ko-KR" altLang="en-US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</p:spTree>
    <p:extLst>
      <p:ext uri="{BB962C8B-B14F-4D97-AF65-F5344CB8AC3E}">
        <p14:creationId xmlns:p14="http://schemas.microsoft.com/office/powerpoint/2010/main" val="261946976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제목 1"/>
          <p:cNvSpPr>
            <a:spLocks noGrp="1"/>
          </p:cNvSpPr>
          <p:nvPr>
            <p:ph type="title"/>
          </p:nvPr>
        </p:nvSpPr>
        <p:spPr>
          <a:xfrm>
            <a:off x="500063" y="714375"/>
            <a:ext cx="8229600" cy="642938"/>
          </a:xfrm>
        </p:spPr>
        <p:txBody>
          <a:bodyPr/>
          <a:lstStyle/>
          <a:p>
            <a:pPr eaLnBrk="1" hangingPunct="1"/>
            <a:r>
              <a:rPr lang="ko-KR" altLang="en-US" sz="2800" dirty="0"/>
              <a:t>편리한 패키지 설치를</a:t>
            </a:r>
            <a:r>
              <a:rPr lang="en-US" altLang="ko-KR" sz="2800" dirty="0"/>
              <a:t> </a:t>
            </a:r>
            <a:r>
              <a:rPr lang="ko-KR" altLang="en-US" sz="2800" dirty="0"/>
              <a:t>위한</a:t>
            </a:r>
            <a:r>
              <a:rPr lang="en-US" altLang="ko-KR" sz="2800" dirty="0"/>
              <a:t> apt (4)</a:t>
            </a:r>
            <a:endParaRPr lang="ko-KR" altLang="en-US" sz="2800" dirty="0">
              <a:solidFill>
                <a:srgbClr val="00B050"/>
              </a:solidFill>
            </a:endParaRPr>
          </a:p>
        </p:txBody>
      </p:sp>
      <p:sp>
        <p:nvSpPr>
          <p:cNvPr id="6" name="내용 개체 틀 2"/>
          <p:cNvSpPr>
            <a:spLocks noGrp="1"/>
          </p:cNvSpPr>
          <p:nvPr>
            <p:ph idx="1"/>
          </p:nvPr>
        </p:nvSpPr>
        <p:spPr>
          <a:xfrm>
            <a:off x="457200" y="1357313"/>
            <a:ext cx="8229600" cy="5214937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ko-KR" altLang="en-US" dirty="0"/>
              <a:t>우분투 패키지 저장소</a:t>
            </a:r>
            <a:endParaRPr lang="en-US" altLang="ko-KR" dirty="0"/>
          </a:p>
          <a:p>
            <a:pPr lvl="1">
              <a:defRPr/>
            </a:pPr>
            <a:r>
              <a:rPr lang="en-US" altLang="ko-KR" sz="2000" dirty="0"/>
              <a:t>main : </a:t>
            </a:r>
            <a:r>
              <a:rPr lang="ko-KR" altLang="en-US" sz="2000" dirty="0"/>
              <a:t>우분투에서 공식적으로 지원하는 무료</a:t>
            </a:r>
            <a:r>
              <a:rPr lang="en-US" altLang="ko-KR" sz="2000" dirty="0"/>
              <a:t>(Free) SW</a:t>
            </a:r>
          </a:p>
          <a:p>
            <a:pPr lvl="1">
              <a:defRPr/>
            </a:pPr>
            <a:r>
              <a:rPr lang="en-US" altLang="ko-KR" sz="2000" dirty="0"/>
              <a:t>restricted : </a:t>
            </a:r>
            <a:r>
              <a:rPr lang="ko-KR" altLang="en-US" sz="2000" dirty="0"/>
              <a:t>우분투에서 공식적으로 지원하는 유료</a:t>
            </a:r>
            <a:r>
              <a:rPr lang="en-US" altLang="ko-KR" sz="2000" dirty="0"/>
              <a:t>(Non-Free) SW</a:t>
            </a:r>
            <a:endParaRPr lang="ko-KR" altLang="en-US" sz="2000" dirty="0"/>
          </a:p>
          <a:p>
            <a:pPr lvl="1">
              <a:defRPr/>
            </a:pPr>
            <a:r>
              <a:rPr lang="en-US" altLang="ko-KR" sz="2000" dirty="0"/>
              <a:t>universe : </a:t>
            </a:r>
            <a:r>
              <a:rPr lang="ko-KR" altLang="en-US" sz="2000" dirty="0"/>
              <a:t>우분투에서 지원하지 않는 무료</a:t>
            </a:r>
            <a:r>
              <a:rPr lang="en-US" altLang="ko-KR" sz="2000" dirty="0"/>
              <a:t>(Free)</a:t>
            </a:r>
            <a:r>
              <a:rPr lang="ko-KR" altLang="en-US" sz="2000" dirty="0"/>
              <a:t> </a:t>
            </a:r>
            <a:r>
              <a:rPr lang="en-US" altLang="ko-KR" sz="2000" dirty="0"/>
              <a:t>SW</a:t>
            </a:r>
            <a:endParaRPr lang="ko-KR" altLang="en-US" sz="2000" dirty="0"/>
          </a:p>
          <a:p>
            <a:pPr lvl="1">
              <a:defRPr/>
            </a:pPr>
            <a:r>
              <a:rPr lang="en-US" altLang="ko-KR" sz="2000" dirty="0"/>
              <a:t>multiverse : </a:t>
            </a:r>
            <a:r>
              <a:rPr lang="ko-KR" altLang="en-US" sz="2000" dirty="0"/>
              <a:t>우분투에서 지원하지 않는 유료</a:t>
            </a:r>
            <a:r>
              <a:rPr lang="en-US" altLang="ko-KR" sz="2000" dirty="0"/>
              <a:t>(Non-Free)</a:t>
            </a:r>
            <a:r>
              <a:rPr lang="ko-KR" altLang="en-US" sz="2000" dirty="0"/>
              <a:t> </a:t>
            </a:r>
            <a:r>
              <a:rPr lang="en-US" altLang="ko-KR" sz="2000" dirty="0"/>
              <a:t>SW</a:t>
            </a:r>
          </a:p>
          <a:p>
            <a:pPr>
              <a:defRPr/>
            </a:pPr>
            <a:r>
              <a:rPr lang="ko-KR" altLang="en-US" sz="2000" dirty="0"/>
              <a:t>저장소가 기록된 파일</a:t>
            </a:r>
            <a:endParaRPr lang="en-US" altLang="ko-KR" sz="2000" dirty="0"/>
          </a:p>
          <a:p>
            <a:pPr lvl="1">
              <a:defRPr/>
            </a:pPr>
            <a:r>
              <a:rPr lang="en-US" altLang="ko-KR" sz="2000" dirty="0"/>
              <a:t>/etc/apt/</a:t>
            </a:r>
            <a:r>
              <a:rPr lang="en-US" altLang="ko-KR" sz="2000" dirty="0" err="1"/>
              <a:t>sources.list.d</a:t>
            </a:r>
            <a:r>
              <a:rPr lang="en-US" altLang="ko-KR" sz="2000" dirty="0"/>
              <a:t>/</a:t>
            </a:r>
            <a:r>
              <a:rPr lang="en-US" altLang="ko-KR" sz="2000" dirty="0" err="1"/>
              <a:t>ubuntu.sources</a:t>
            </a:r>
            <a:r>
              <a:rPr lang="en-US" altLang="ko-KR" sz="2000" dirty="0"/>
              <a:t> </a:t>
            </a:r>
            <a:r>
              <a:rPr lang="ko-KR" altLang="en-US" sz="2000" dirty="0"/>
              <a:t>파일</a:t>
            </a:r>
            <a:endParaRPr lang="en-US" altLang="ko-KR" sz="2000" dirty="0"/>
          </a:p>
          <a:p>
            <a:pPr lvl="1">
              <a:defRPr/>
            </a:pPr>
            <a:r>
              <a:rPr lang="ko-KR" altLang="en-US" sz="2000" dirty="0"/>
              <a:t>원본 </a:t>
            </a:r>
            <a:r>
              <a:rPr lang="en-US" altLang="ko-KR" sz="2000" dirty="0"/>
              <a:t>:  </a:t>
            </a:r>
            <a:r>
              <a:rPr lang="en-US" altLang="ko-KR" sz="1600" dirty="0">
                <a:solidFill>
                  <a:schemeClr val="accent6">
                    <a:lumMod val="50000"/>
                  </a:schemeClr>
                </a:solidFill>
                <a:highlight>
                  <a:srgbClr val="FFFF00"/>
                </a:highlight>
              </a:rPr>
              <a:t>Suites: noble noble-updates noble-backports</a:t>
            </a:r>
          </a:p>
          <a:p>
            <a:pPr lvl="1">
              <a:defRPr/>
            </a:pPr>
            <a:endParaRPr lang="en-US" altLang="ko-KR" sz="1600" dirty="0"/>
          </a:p>
        </p:txBody>
      </p:sp>
      <p:sp>
        <p:nvSpPr>
          <p:cNvPr id="2" name="말풍선: 타원형 1">
            <a:extLst>
              <a:ext uri="{FF2B5EF4-FFF2-40B4-BE49-F238E27FC236}">
                <a16:creationId xmlns:a16="http://schemas.microsoft.com/office/drawing/2014/main" id="{A41FE73E-EF18-D0EC-2384-E0E36D2CC33F}"/>
              </a:ext>
            </a:extLst>
          </p:cNvPr>
          <p:cNvSpPr/>
          <p:nvPr/>
        </p:nvSpPr>
        <p:spPr>
          <a:xfrm>
            <a:off x="6012160" y="560108"/>
            <a:ext cx="1049292" cy="410369"/>
          </a:xfrm>
          <a:prstGeom prst="wedgeEllipseCallout">
            <a:avLst>
              <a:gd name="adj1" fmla="val -49721"/>
              <a:gd name="adj2" fmla="val 61440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239</a:t>
            </a:r>
            <a:r>
              <a:rPr lang="ko-KR" altLang="en-US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  <p:pic>
        <p:nvPicPr>
          <p:cNvPr id="4" name="그림 3" descr="텍스트, 전자제품, 스크린샷, 디스플레이이(가) 표시된 사진&#10;&#10;자동 생성된 설명">
            <a:extLst>
              <a:ext uri="{FF2B5EF4-FFF2-40B4-BE49-F238E27FC236}">
                <a16:creationId xmlns:a16="http://schemas.microsoft.com/office/drawing/2014/main" id="{2112A8B8-1A17-B177-DDD7-606F6E02E4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1023" y="4293096"/>
            <a:ext cx="4388275" cy="2127823"/>
          </a:xfrm>
          <a:prstGeom prst="rect">
            <a:avLst/>
          </a:prstGeom>
        </p:spPr>
      </p:pic>
      <p:sp>
        <p:nvSpPr>
          <p:cNvPr id="8" name="물결 7">
            <a:extLst>
              <a:ext uri="{FF2B5EF4-FFF2-40B4-BE49-F238E27FC236}">
                <a16:creationId xmlns:a16="http://schemas.microsoft.com/office/drawing/2014/main" id="{9855B416-05B9-CEA2-8173-EB9CFF511374}"/>
              </a:ext>
            </a:extLst>
          </p:cNvPr>
          <p:cNvSpPr/>
          <p:nvPr/>
        </p:nvSpPr>
        <p:spPr>
          <a:xfrm>
            <a:off x="5724128" y="4653136"/>
            <a:ext cx="3168352" cy="1116264"/>
          </a:xfrm>
          <a:prstGeom prst="wave">
            <a:avLst>
              <a:gd name="adj1" fmla="val 6856"/>
              <a:gd name="adj2" fmla="val -605"/>
            </a:avLst>
          </a:prstGeom>
          <a:solidFill>
            <a:srgbClr val="FF7C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r>
              <a:rPr lang="en-US" altLang="ko-KR" sz="1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noble </a:t>
            </a:r>
            <a:r>
              <a:rPr lang="en-US" altLang="ko-KR" sz="1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</a:t>
            </a:r>
            <a:r>
              <a:rPr lang="en-US" altLang="ko-KR" sz="1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1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원본 패키지</a:t>
            </a:r>
            <a:endParaRPr lang="en-US" altLang="ko-KR" sz="1400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>
              <a:defRPr/>
            </a:pPr>
            <a:r>
              <a:rPr lang="en-US" altLang="ko-KR" sz="1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noble-updates  </a:t>
            </a:r>
            <a:r>
              <a:rPr lang="ko-KR" altLang="en-US" sz="1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및 </a:t>
            </a:r>
            <a:r>
              <a:rPr lang="en-US" altLang="ko-KR" sz="1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noble-backports </a:t>
            </a:r>
            <a:r>
              <a:rPr lang="en-US" altLang="ko-KR" sz="1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</a:t>
            </a:r>
            <a:r>
              <a:rPr lang="en-US" altLang="ko-KR" sz="1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1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업데이트 패키지</a:t>
            </a:r>
            <a:endParaRPr lang="en-US" altLang="ko-KR" sz="1400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6348986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F0C4D3-013B-4C48-9A40-B602748D552D}"/>
              </a:ext>
            </a:extLst>
          </p:cNvPr>
          <p:cNvSpPr txBox="1">
            <a:spLocks/>
          </p:cNvSpPr>
          <p:nvPr/>
        </p:nvSpPr>
        <p:spPr bwMode="auto">
          <a:xfrm>
            <a:off x="790109" y="618801"/>
            <a:ext cx="8075240" cy="642937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50000"/>
                  <a:shade val="30000"/>
                  <a:satMod val="115000"/>
                </a:schemeClr>
              </a:gs>
              <a:gs pos="50000">
                <a:schemeClr val="bg2">
                  <a:lumMod val="50000"/>
                  <a:shade val="67500"/>
                  <a:satMod val="115000"/>
                </a:schemeClr>
              </a:gs>
              <a:gs pos="100000">
                <a:schemeClr val="bg2">
                  <a:lumMod val="50000"/>
                  <a:shade val="100000"/>
                  <a:satMod val="115000"/>
                </a:schemeClr>
              </a:gs>
            </a:gsLst>
            <a:lin ang="0" scaled="1"/>
            <a:tileRect/>
          </a:gradFill>
          <a:ln>
            <a:noFill/>
            <a:miter lim="800000"/>
            <a:headEnd/>
            <a:tailEnd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2"/>
                </a:solidFill>
                <a:latin typeface="HY견고딕" pitchFamily="18" charset="-127"/>
                <a:ea typeface="HY견고딕" pitchFamily="18" charset="-127"/>
                <a:cs typeface="+mj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9pPr>
          </a:lstStyle>
          <a:p>
            <a:pPr eaLnBrk="1" hangingPunct="1">
              <a:defRPr/>
            </a:pPr>
            <a:r>
              <a:rPr kumimoji="0" lang="en-US" altLang="ko-KR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&lt;</a:t>
            </a:r>
            <a:r>
              <a:rPr kumimoji="0" lang="ko-KR" altLang="en-US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실습</a:t>
            </a:r>
            <a:r>
              <a:rPr kumimoji="0" lang="en-US" altLang="ko-KR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13&gt; apt </a:t>
            </a:r>
            <a:r>
              <a:rPr kumimoji="0" lang="ko-KR" altLang="en-US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추가 실습</a:t>
            </a:r>
          </a:p>
        </p:txBody>
      </p:sp>
      <p:sp>
        <p:nvSpPr>
          <p:cNvPr id="19459" name="내용 개체 틀 2"/>
          <p:cNvSpPr>
            <a:spLocks noGrp="1"/>
          </p:cNvSpPr>
          <p:nvPr>
            <p:ph idx="1"/>
          </p:nvPr>
        </p:nvSpPr>
        <p:spPr>
          <a:xfrm>
            <a:off x="500063" y="1357313"/>
            <a:ext cx="8229600" cy="5143500"/>
          </a:xfrm>
        </p:spPr>
        <p:txBody>
          <a:bodyPr/>
          <a:lstStyle/>
          <a:p>
            <a:pPr eaLnBrk="1" hangingPunct="1">
              <a:defRPr/>
            </a:pPr>
            <a:r>
              <a:rPr lang="ko-KR" altLang="en-US" dirty="0"/>
              <a:t>실습목표</a:t>
            </a:r>
            <a:endParaRPr lang="en-US" altLang="ko-KR" dirty="0"/>
          </a:p>
          <a:p>
            <a:pPr lvl="1" eaLnBrk="1" hangingPunct="1">
              <a:defRPr/>
            </a:pPr>
            <a:r>
              <a:rPr lang="ko-KR" altLang="en-US" sz="2000" dirty="0"/>
              <a:t>저장소 </a:t>
            </a:r>
            <a:r>
              <a:rPr lang="en-US" altLang="ko-KR" sz="2000" dirty="0"/>
              <a:t>URL</a:t>
            </a:r>
            <a:r>
              <a:rPr lang="ko-KR" altLang="en-US" sz="2000" dirty="0"/>
              <a:t>을 변경하는 실습을 한다</a:t>
            </a:r>
            <a:r>
              <a:rPr lang="en-US" altLang="ko-KR" sz="2000" dirty="0"/>
              <a:t>.</a:t>
            </a:r>
          </a:p>
          <a:p>
            <a:pPr lvl="1" eaLnBrk="1" hangingPunct="1">
              <a:defRPr/>
            </a:pPr>
            <a:r>
              <a:rPr lang="ko-KR" altLang="en-US" sz="2000" dirty="0"/>
              <a:t>업데이트된 패키지를 설치하는 방법을 확인한다</a:t>
            </a:r>
            <a:r>
              <a:rPr lang="en-US" altLang="ko-KR" sz="2000" dirty="0"/>
              <a:t>.</a:t>
            </a:r>
          </a:p>
          <a:p>
            <a:pPr lvl="1">
              <a:defRPr/>
            </a:pPr>
            <a:endParaRPr lang="en-US" altLang="ko-KR" sz="2000" dirty="0"/>
          </a:p>
          <a:p>
            <a:pPr eaLnBrk="1" hangingPunct="1">
              <a:defRPr/>
            </a:pPr>
            <a:r>
              <a:rPr lang="ko-KR" altLang="en-US" dirty="0"/>
              <a:t>실습 화면 </a:t>
            </a:r>
            <a:r>
              <a:rPr lang="en-US" altLang="ko-KR" dirty="0"/>
              <a:t>(</a:t>
            </a:r>
            <a:r>
              <a:rPr lang="ko-KR" altLang="en-US" dirty="0"/>
              <a:t>전체 패키지 </a:t>
            </a:r>
            <a:r>
              <a:rPr lang="ko-KR" altLang="en-US" dirty="0" err="1"/>
              <a:t>업드레이드</a:t>
            </a:r>
            <a:r>
              <a:rPr lang="ko-KR" altLang="en-US" dirty="0"/>
              <a:t> 화면</a:t>
            </a:r>
            <a:r>
              <a:rPr lang="en-US" altLang="ko-KR" dirty="0"/>
              <a:t>)</a:t>
            </a:r>
          </a:p>
          <a:p>
            <a:pPr lvl="2" eaLnBrk="1" hangingPunct="1">
              <a:defRPr/>
            </a:pPr>
            <a:endParaRPr lang="en-US" altLang="ko-KR" dirty="0"/>
          </a:p>
          <a:p>
            <a:pPr eaLnBrk="1" hangingPunct="1">
              <a:defRPr/>
            </a:pPr>
            <a:endParaRPr lang="ko-KR" altLang="en-US" dirty="0"/>
          </a:p>
        </p:txBody>
      </p:sp>
      <p:pic>
        <p:nvPicPr>
          <p:cNvPr id="3" name="그림 2" descr="키보드, 컴퓨터이(가) 표시된 사진&#10;&#10;자동 생성된 설명">
            <a:extLst>
              <a:ext uri="{FF2B5EF4-FFF2-40B4-BE49-F238E27FC236}">
                <a16:creationId xmlns:a16="http://schemas.microsoft.com/office/drawing/2014/main" id="{3D9F01E6-F91B-43D4-9036-7ED07E8237C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6768" y="448223"/>
            <a:ext cx="756709" cy="742276"/>
          </a:xfrm>
          <a:prstGeom prst="rect">
            <a:avLst/>
          </a:prstGeom>
        </p:spPr>
      </p:pic>
      <p:sp>
        <p:nvSpPr>
          <p:cNvPr id="4" name="말풍선: 타원형 3">
            <a:extLst>
              <a:ext uri="{FF2B5EF4-FFF2-40B4-BE49-F238E27FC236}">
                <a16:creationId xmlns:a16="http://schemas.microsoft.com/office/drawing/2014/main" id="{C9328808-BFB1-2B67-C4A9-DFC3AE68098A}"/>
              </a:ext>
            </a:extLst>
          </p:cNvPr>
          <p:cNvSpPr/>
          <p:nvPr/>
        </p:nvSpPr>
        <p:spPr>
          <a:xfrm>
            <a:off x="4303083" y="560108"/>
            <a:ext cx="1049292" cy="410369"/>
          </a:xfrm>
          <a:prstGeom prst="wedgeEllipseCallout">
            <a:avLst>
              <a:gd name="adj1" fmla="val -49721"/>
              <a:gd name="adj2" fmla="val 61440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241</a:t>
            </a:r>
            <a:r>
              <a:rPr lang="ko-KR" altLang="en-US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  <p:pic>
        <p:nvPicPr>
          <p:cNvPr id="7" name="그림 6" descr="텍스트, 스크린샷, 폰트이(가) 표시된 사진&#10;&#10;자동 생성된 설명">
            <a:extLst>
              <a:ext uri="{FF2B5EF4-FFF2-40B4-BE49-F238E27FC236}">
                <a16:creationId xmlns:a16="http://schemas.microsoft.com/office/drawing/2014/main" id="{A1AB1941-8220-56E9-4160-F1CB8E9EDFD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7704" y="3284984"/>
            <a:ext cx="4609354" cy="3215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445733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제목 1"/>
          <p:cNvSpPr>
            <a:spLocks noGrp="1"/>
          </p:cNvSpPr>
          <p:nvPr>
            <p:ph type="title"/>
          </p:nvPr>
        </p:nvSpPr>
        <p:spPr>
          <a:xfrm>
            <a:off x="500063" y="714375"/>
            <a:ext cx="8229600" cy="642938"/>
          </a:xfrm>
        </p:spPr>
        <p:txBody>
          <a:bodyPr/>
          <a:lstStyle/>
          <a:p>
            <a:pPr eaLnBrk="1" hangingPunct="1"/>
            <a:r>
              <a:rPr lang="en-US" altLang="ko-KR" sz="2800" dirty="0">
                <a:solidFill>
                  <a:srgbClr val="00B050"/>
                </a:solidFill>
              </a:rPr>
              <a:t>App Center</a:t>
            </a:r>
            <a:endParaRPr lang="ko-KR" altLang="en-US" sz="2800" dirty="0">
              <a:solidFill>
                <a:srgbClr val="00B050"/>
              </a:solidFill>
            </a:endParaRPr>
          </a:p>
        </p:txBody>
      </p:sp>
      <p:sp>
        <p:nvSpPr>
          <p:cNvPr id="2" name="말풍선: 타원형 1">
            <a:extLst>
              <a:ext uri="{FF2B5EF4-FFF2-40B4-BE49-F238E27FC236}">
                <a16:creationId xmlns:a16="http://schemas.microsoft.com/office/drawing/2014/main" id="{A7BAA699-A607-0420-9550-B0EDA7C51105}"/>
              </a:ext>
            </a:extLst>
          </p:cNvPr>
          <p:cNvSpPr/>
          <p:nvPr/>
        </p:nvSpPr>
        <p:spPr>
          <a:xfrm>
            <a:off x="2771800" y="560108"/>
            <a:ext cx="1049292" cy="410369"/>
          </a:xfrm>
          <a:prstGeom prst="wedgeEllipseCallout">
            <a:avLst>
              <a:gd name="adj1" fmla="val -49721"/>
              <a:gd name="adj2" fmla="val 61440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246</a:t>
            </a:r>
            <a:r>
              <a:rPr lang="ko-KR" altLang="en-US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  <p:pic>
        <p:nvPicPr>
          <p:cNvPr id="4" name="그림 3" descr="텍스트, 스크린샷, 소프트웨어, 멀티미디어 소프트웨어이(가) 표시된 사진&#10;&#10;자동 생성된 설명">
            <a:extLst>
              <a:ext uri="{FF2B5EF4-FFF2-40B4-BE49-F238E27FC236}">
                <a16:creationId xmlns:a16="http://schemas.microsoft.com/office/drawing/2014/main" id="{E0529CA7-1692-793D-28BD-369F5E2A5B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4747" y="1628800"/>
            <a:ext cx="6660232" cy="4162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646403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31738" y="2037235"/>
            <a:ext cx="8280523" cy="39241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▶ </a:t>
            </a: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힌트 </a:t>
            </a:r>
            <a: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 : build-essential </a:t>
            </a: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패키지 설치</a:t>
            </a:r>
            <a:endParaRPr lang="en-US" altLang="ko-KR" sz="24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▶ </a:t>
            </a: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힌트 </a:t>
            </a:r>
            <a: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 : </a:t>
            </a: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설치 완료 후 재부팅</a:t>
            </a:r>
            <a:endParaRPr lang="en-US" altLang="ko-KR" sz="24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▶ </a:t>
            </a: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힌트 </a:t>
            </a:r>
            <a: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3 : </a:t>
            </a: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다음을 코딩하고 </a:t>
            </a:r>
            <a: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hello.cpp</a:t>
            </a: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로 저장</a:t>
            </a:r>
            <a:endParaRPr lang="en-US" altLang="ko-KR" sz="24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24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24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▶ </a:t>
            </a: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힌트 </a:t>
            </a:r>
            <a: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4 : gcc hello.cpp</a:t>
            </a: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로 컴파일한 후 </a:t>
            </a:r>
            <a: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./</a:t>
            </a:r>
            <a:r>
              <a:rPr lang="en-US" altLang="ko-KR" sz="24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a.out</a:t>
            </a:r>
            <a: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명령으로 실행</a:t>
            </a:r>
            <a:endParaRPr lang="en-US" altLang="ko-KR" sz="24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24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1744E28F-4C2F-F990-7A89-FC6D342E20EF}"/>
              </a:ext>
            </a:extLst>
          </p:cNvPr>
          <p:cNvSpPr/>
          <p:nvPr/>
        </p:nvSpPr>
        <p:spPr>
          <a:xfrm>
            <a:off x="1907642" y="908720"/>
            <a:ext cx="511229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ko-KR" alt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660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비타민 퀴즈 </a:t>
            </a:r>
            <a:r>
              <a:rPr lang="en-US" altLang="ko-KR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660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4-1 </a:t>
            </a:r>
          </a:p>
        </p:txBody>
      </p:sp>
      <p:sp>
        <p:nvSpPr>
          <p:cNvPr id="3" name="말풍선: 타원형 2">
            <a:extLst>
              <a:ext uri="{FF2B5EF4-FFF2-40B4-BE49-F238E27FC236}">
                <a16:creationId xmlns:a16="http://schemas.microsoft.com/office/drawing/2014/main" id="{3568D076-CCEB-90BC-59D5-98032577C519}"/>
              </a:ext>
            </a:extLst>
          </p:cNvPr>
          <p:cNvSpPr/>
          <p:nvPr/>
        </p:nvSpPr>
        <p:spPr>
          <a:xfrm>
            <a:off x="6876256" y="703535"/>
            <a:ext cx="1049292" cy="410369"/>
          </a:xfrm>
          <a:prstGeom prst="wedgeEllipseCallout">
            <a:avLst>
              <a:gd name="adj1" fmla="val -49721"/>
              <a:gd name="adj2" fmla="val 61440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247</a:t>
            </a:r>
            <a:r>
              <a:rPr lang="ko-KR" altLang="en-US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57658B6-D0D1-9543-40EE-0498EBB99500}"/>
              </a:ext>
            </a:extLst>
          </p:cNvPr>
          <p:cNvSpPr txBox="1"/>
          <p:nvPr/>
        </p:nvSpPr>
        <p:spPr>
          <a:xfrm>
            <a:off x="1043608" y="3717032"/>
            <a:ext cx="612068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00B05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#include &lt;stdio.h&gt;</a:t>
            </a:r>
          </a:p>
          <a:p>
            <a:r>
              <a:rPr lang="en-US" altLang="ko-KR" dirty="0">
                <a:solidFill>
                  <a:srgbClr val="00B05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int main() {</a:t>
            </a:r>
          </a:p>
          <a:p>
            <a:r>
              <a:rPr lang="en-US" altLang="ko-KR" dirty="0">
                <a:solidFill>
                  <a:srgbClr val="00B05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printf("Hello World! \n");</a:t>
            </a:r>
          </a:p>
          <a:p>
            <a:r>
              <a:rPr lang="en-US" altLang="ko-KR" dirty="0">
                <a:solidFill>
                  <a:srgbClr val="00B05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}</a:t>
            </a:r>
            <a:endParaRPr lang="ko-KR" altLang="en-US" dirty="0">
              <a:solidFill>
                <a:srgbClr val="00B050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7992655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제목 1"/>
          <p:cNvSpPr>
            <a:spLocks noGrp="1"/>
          </p:cNvSpPr>
          <p:nvPr>
            <p:ph type="title"/>
          </p:nvPr>
        </p:nvSpPr>
        <p:spPr>
          <a:xfrm>
            <a:off x="500063" y="714375"/>
            <a:ext cx="8229600" cy="642938"/>
          </a:xfrm>
        </p:spPr>
        <p:txBody>
          <a:bodyPr/>
          <a:lstStyle/>
          <a:p>
            <a:pPr eaLnBrk="1" hangingPunct="1"/>
            <a:r>
              <a:rPr lang="ko-KR" altLang="en-US" sz="2800" dirty="0"/>
              <a:t>파일의 압축과 묶기 </a:t>
            </a:r>
            <a:r>
              <a:rPr lang="en-US" altLang="ko-KR" sz="2800" dirty="0"/>
              <a:t>(1)</a:t>
            </a:r>
            <a:endParaRPr lang="ko-KR" altLang="en-US" sz="2800" dirty="0">
              <a:solidFill>
                <a:srgbClr val="00B050"/>
              </a:solidFill>
            </a:endParaRPr>
          </a:p>
        </p:txBody>
      </p:sp>
      <p:sp>
        <p:nvSpPr>
          <p:cNvPr id="6" name="내용 개체 틀 2"/>
          <p:cNvSpPr>
            <a:spLocks noGrp="1"/>
          </p:cNvSpPr>
          <p:nvPr>
            <p:ph idx="1"/>
          </p:nvPr>
        </p:nvSpPr>
        <p:spPr>
          <a:xfrm>
            <a:off x="457200" y="1357313"/>
            <a:ext cx="8229600" cy="5214937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ko-KR" altLang="en-US" dirty="0"/>
              <a:t>파일 압축</a:t>
            </a:r>
            <a:endParaRPr lang="en-US" altLang="ko-KR" dirty="0"/>
          </a:p>
          <a:p>
            <a:pPr lvl="1">
              <a:defRPr/>
            </a:pPr>
            <a:r>
              <a:rPr lang="ko-KR" altLang="en-US" sz="2000" dirty="0"/>
              <a:t>압축파일 확장명은 </a:t>
            </a:r>
            <a:r>
              <a:rPr lang="en-US" altLang="ko-KR" sz="2000" dirty="0"/>
              <a:t>xz, bz2, </a:t>
            </a:r>
            <a:r>
              <a:rPr lang="en-US" altLang="ko-KR" sz="2000" dirty="0" err="1"/>
              <a:t>gz</a:t>
            </a:r>
            <a:r>
              <a:rPr lang="en-US" altLang="ko-KR" sz="2000" dirty="0"/>
              <a:t>, zip, Z </a:t>
            </a:r>
            <a:r>
              <a:rPr lang="ko-KR" altLang="en-US" sz="2000" dirty="0"/>
              <a:t>등</a:t>
            </a:r>
            <a:endParaRPr lang="en-US" altLang="ko-KR" sz="2000" dirty="0"/>
          </a:p>
          <a:p>
            <a:pPr lvl="1">
              <a:defRPr/>
            </a:pPr>
            <a:r>
              <a:rPr lang="en-US" altLang="ko-KR" sz="2000" dirty="0"/>
              <a:t>xz</a:t>
            </a:r>
            <a:r>
              <a:rPr lang="ko-KR" altLang="en-US" sz="2000" dirty="0"/>
              <a:t>나 </a:t>
            </a:r>
            <a:r>
              <a:rPr lang="en-US" altLang="ko-KR" sz="2000" dirty="0"/>
              <a:t>bz2  </a:t>
            </a:r>
            <a:r>
              <a:rPr lang="ko-KR" altLang="en-US" sz="2000" dirty="0"/>
              <a:t>압축률이 더 좋음</a:t>
            </a:r>
            <a:endParaRPr lang="en-US" altLang="ko-KR" sz="2000" dirty="0"/>
          </a:p>
          <a:p>
            <a:pPr>
              <a:defRPr/>
            </a:pPr>
            <a:r>
              <a:rPr lang="ko-KR" altLang="en-US" dirty="0"/>
              <a:t>파일 압축 관련 명령</a:t>
            </a:r>
            <a:endParaRPr lang="en-US" altLang="ko-KR" dirty="0"/>
          </a:p>
          <a:p>
            <a:pPr lvl="1">
              <a:defRPr/>
            </a:pPr>
            <a:r>
              <a:rPr lang="en-US" altLang="ko-KR" sz="2000" dirty="0"/>
              <a:t>xz : </a:t>
            </a:r>
            <a:r>
              <a:rPr lang="ko-KR" altLang="en-US" sz="2000" dirty="0"/>
              <a:t>확장명 </a:t>
            </a:r>
            <a:r>
              <a:rPr lang="en-US" altLang="ko-KR" sz="2000" dirty="0"/>
              <a:t>xz</a:t>
            </a:r>
            <a:r>
              <a:rPr lang="ko-KR" altLang="en-US" sz="2000" dirty="0"/>
              <a:t>로 압축을 하거나 풀어준다</a:t>
            </a:r>
            <a:endParaRPr lang="en-US" altLang="ko-KR" sz="2000" dirty="0"/>
          </a:p>
          <a:p>
            <a:pPr lvl="2">
              <a:buNone/>
              <a:defRPr/>
            </a:pPr>
            <a:r>
              <a:rPr lang="ko-KR" altLang="en-US" sz="1600" dirty="0">
                <a:solidFill>
                  <a:srgbClr val="0070C0"/>
                </a:solidFill>
              </a:rPr>
              <a:t>예</a:t>
            </a:r>
            <a:r>
              <a:rPr lang="en-US" altLang="ko-KR" sz="1600" dirty="0">
                <a:solidFill>
                  <a:srgbClr val="0070C0"/>
                </a:solidFill>
              </a:rPr>
              <a:t>) xz </a:t>
            </a:r>
            <a:r>
              <a:rPr lang="ko-KR" altLang="en-US" sz="1600" dirty="0">
                <a:solidFill>
                  <a:srgbClr val="0070C0"/>
                </a:solidFill>
              </a:rPr>
              <a:t>파일명</a:t>
            </a:r>
            <a:endParaRPr lang="en-US" altLang="ko-KR" sz="1600" dirty="0">
              <a:solidFill>
                <a:srgbClr val="0070C0"/>
              </a:solidFill>
            </a:endParaRPr>
          </a:p>
          <a:p>
            <a:pPr lvl="2">
              <a:buNone/>
              <a:defRPr/>
            </a:pPr>
            <a:r>
              <a:rPr lang="en-US" altLang="ko-KR" sz="1600" dirty="0">
                <a:solidFill>
                  <a:srgbClr val="0070C0"/>
                </a:solidFill>
              </a:rPr>
              <a:t>     xz -d </a:t>
            </a:r>
            <a:r>
              <a:rPr lang="ko-KR" altLang="en-US" sz="1600" dirty="0">
                <a:solidFill>
                  <a:srgbClr val="0070C0"/>
                </a:solidFill>
              </a:rPr>
              <a:t>파일명</a:t>
            </a:r>
            <a:r>
              <a:rPr lang="en-US" altLang="ko-KR" sz="1600" dirty="0">
                <a:solidFill>
                  <a:srgbClr val="0070C0"/>
                </a:solidFill>
              </a:rPr>
              <a:t>.xz</a:t>
            </a:r>
            <a:endParaRPr lang="en-US" altLang="ko-KR" sz="2000" dirty="0"/>
          </a:p>
          <a:p>
            <a:pPr lvl="1">
              <a:defRPr/>
            </a:pPr>
            <a:r>
              <a:rPr lang="en-US" altLang="ko-KR" sz="2000" dirty="0"/>
              <a:t>bzip2 : </a:t>
            </a:r>
            <a:r>
              <a:rPr lang="ko-KR" altLang="en-US" sz="2000" dirty="0"/>
              <a:t>확장명 </a:t>
            </a:r>
            <a:r>
              <a:rPr lang="en-US" altLang="ko-KR" sz="2000" dirty="0"/>
              <a:t>bz2</a:t>
            </a:r>
            <a:r>
              <a:rPr lang="ko-KR" altLang="en-US" sz="2000" dirty="0"/>
              <a:t>로 압축을 하거나 풀어준다</a:t>
            </a:r>
            <a:endParaRPr lang="en-US" altLang="ko-KR" sz="2000" dirty="0"/>
          </a:p>
          <a:p>
            <a:pPr lvl="2">
              <a:buFont typeface="Wingdings 2" panose="05020102010507070707" pitchFamily="18" charset="2"/>
              <a:buNone/>
              <a:defRPr/>
            </a:pPr>
            <a:r>
              <a:rPr lang="ko-KR" altLang="en-US" sz="1600" dirty="0">
                <a:solidFill>
                  <a:srgbClr val="0070C0"/>
                </a:solidFill>
              </a:rPr>
              <a:t>예</a:t>
            </a:r>
            <a:r>
              <a:rPr lang="en-US" altLang="ko-KR" sz="1600" dirty="0">
                <a:solidFill>
                  <a:srgbClr val="0070C0"/>
                </a:solidFill>
              </a:rPr>
              <a:t>) bzip2 </a:t>
            </a:r>
            <a:r>
              <a:rPr lang="ko-KR" altLang="en-US" sz="1600" dirty="0">
                <a:solidFill>
                  <a:srgbClr val="0070C0"/>
                </a:solidFill>
              </a:rPr>
              <a:t>파일명</a:t>
            </a:r>
            <a:endParaRPr lang="en-US" altLang="ko-KR" sz="1600" dirty="0">
              <a:solidFill>
                <a:srgbClr val="0070C0"/>
              </a:solidFill>
            </a:endParaRPr>
          </a:p>
          <a:p>
            <a:pPr lvl="2">
              <a:buFont typeface="Wingdings 2" panose="05020102010507070707" pitchFamily="18" charset="2"/>
              <a:buNone/>
              <a:defRPr/>
            </a:pPr>
            <a:r>
              <a:rPr lang="en-US" altLang="ko-KR" sz="1600" dirty="0">
                <a:solidFill>
                  <a:srgbClr val="0070C0"/>
                </a:solidFill>
              </a:rPr>
              <a:t>     bzip2 -d </a:t>
            </a:r>
            <a:r>
              <a:rPr lang="ko-KR" altLang="en-US" sz="1600" dirty="0">
                <a:solidFill>
                  <a:srgbClr val="0070C0"/>
                </a:solidFill>
              </a:rPr>
              <a:t>파일명</a:t>
            </a:r>
            <a:r>
              <a:rPr lang="en-US" altLang="ko-KR" sz="1600" dirty="0">
                <a:solidFill>
                  <a:srgbClr val="0070C0"/>
                </a:solidFill>
              </a:rPr>
              <a:t>.bz2</a:t>
            </a:r>
          </a:p>
          <a:p>
            <a:pPr lvl="1">
              <a:defRPr/>
            </a:pPr>
            <a:r>
              <a:rPr lang="en-US" altLang="ko-KR" sz="2000" dirty="0" err="1"/>
              <a:t>gzip</a:t>
            </a:r>
            <a:r>
              <a:rPr lang="en-US" altLang="ko-KR" sz="2000" dirty="0"/>
              <a:t> : </a:t>
            </a:r>
            <a:r>
              <a:rPr lang="ko-KR" altLang="en-US" sz="2000" dirty="0"/>
              <a:t>확장명 </a:t>
            </a:r>
            <a:r>
              <a:rPr lang="en-US" altLang="ko-KR" sz="2000" dirty="0" err="1"/>
              <a:t>gz</a:t>
            </a:r>
            <a:r>
              <a:rPr lang="ko-KR" altLang="en-US" sz="2000" dirty="0"/>
              <a:t>으로 압축을 하거나 풀어준다</a:t>
            </a:r>
            <a:endParaRPr lang="en-US" altLang="ko-KR" sz="2000" dirty="0"/>
          </a:p>
          <a:p>
            <a:pPr lvl="2">
              <a:buFont typeface="Wingdings 2" panose="05020102010507070707" pitchFamily="18" charset="2"/>
              <a:buNone/>
              <a:defRPr/>
            </a:pPr>
            <a:r>
              <a:rPr lang="ko-KR" altLang="en-US" sz="1600" dirty="0">
                <a:solidFill>
                  <a:srgbClr val="0070C0"/>
                </a:solidFill>
              </a:rPr>
              <a:t>예</a:t>
            </a:r>
            <a:r>
              <a:rPr lang="en-US" altLang="ko-KR" sz="1600" dirty="0">
                <a:solidFill>
                  <a:srgbClr val="0070C0"/>
                </a:solidFill>
              </a:rPr>
              <a:t>) </a:t>
            </a:r>
            <a:r>
              <a:rPr lang="en-US" altLang="ko-KR" sz="1600" dirty="0" err="1">
                <a:solidFill>
                  <a:srgbClr val="0070C0"/>
                </a:solidFill>
              </a:rPr>
              <a:t>gzip</a:t>
            </a:r>
            <a:r>
              <a:rPr lang="en-US" altLang="ko-KR" sz="1600" dirty="0">
                <a:solidFill>
                  <a:srgbClr val="0070C0"/>
                </a:solidFill>
              </a:rPr>
              <a:t> </a:t>
            </a:r>
            <a:r>
              <a:rPr lang="ko-KR" altLang="en-US" sz="1600" dirty="0">
                <a:solidFill>
                  <a:srgbClr val="0070C0"/>
                </a:solidFill>
              </a:rPr>
              <a:t>파일명</a:t>
            </a:r>
            <a:endParaRPr lang="en-US" altLang="ko-KR" sz="1600" dirty="0">
              <a:solidFill>
                <a:srgbClr val="0070C0"/>
              </a:solidFill>
            </a:endParaRPr>
          </a:p>
          <a:p>
            <a:pPr lvl="2">
              <a:buFont typeface="Wingdings 2" panose="05020102010507070707" pitchFamily="18" charset="2"/>
              <a:buNone/>
              <a:defRPr/>
            </a:pPr>
            <a:r>
              <a:rPr lang="en-US" altLang="ko-KR" sz="1600" dirty="0">
                <a:solidFill>
                  <a:srgbClr val="0070C0"/>
                </a:solidFill>
              </a:rPr>
              <a:t>     </a:t>
            </a:r>
            <a:r>
              <a:rPr lang="en-US" altLang="ko-KR" sz="1600" dirty="0" err="1">
                <a:solidFill>
                  <a:srgbClr val="0070C0"/>
                </a:solidFill>
              </a:rPr>
              <a:t>gzip</a:t>
            </a:r>
            <a:r>
              <a:rPr lang="en-US" altLang="ko-KR" sz="1600" dirty="0">
                <a:solidFill>
                  <a:srgbClr val="0070C0"/>
                </a:solidFill>
              </a:rPr>
              <a:t> -d </a:t>
            </a:r>
            <a:r>
              <a:rPr lang="ko-KR" altLang="en-US" sz="1600" dirty="0">
                <a:solidFill>
                  <a:srgbClr val="0070C0"/>
                </a:solidFill>
              </a:rPr>
              <a:t>파일명</a:t>
            </a:r>
            <a:r>
              <a:rPr lang="en-US" altLang="ko-KR" sz="1600" dirty="0">
                <a:solidFill>
                  <a:srgbClr val="0070C0"/>
                </a:solidFill>
              </a:rPr>
              <a:t>.</a:t>
            </a:r>
            <a:r>
              <a:rPr lang="en-US" altLang="ko-KR" sz="1600" dirty="0" err="1">
                <a:solidFill>
                  <a:srgbClr val="0070C0"/>
                </a:solidFill>
              </a:rPr>
              <a:t>gz</a:t>
            </a:r>
            <a:endParaRPr lang="en-US" altLang="ko-KR" sz="1600" dirty="0">
              <a:solidFill>
                <a:srgbClr val="0070C0"/>
              </a:solidFill>
            </a:endParaRPr>
          </a:p>
          <a:p>
            <a:pPr lvl="1">
              <a:defRPr/>
            </a:pPr>
            <a:r>
              <a:rPr lang="en-US" altLang="ko-KR" sz="2000" dirty="0"/>
              <a:t>zip/unzip : </a:t>
            </a:r>
            <a:r>
              <a:rPr lang="ko-KR" altLang="en-US" sz="2000" dirty="0"/>
              <a:t>확장명 </a:t>
            </a:r>
            <a:r>
              <a:rPr lang="en-US" altLang="ko-KR" sz="2000" dirty="0"/>
              <a:t>zip</a:t>
            </a:r>
            <a:r>
              <a:rPr lang="ko-KR" altLang="en-US" sz="2000" dirty="0"/>
              <a:t>으로 압축하거나 풀어준다</a:t>
            </a:r>
            <a:r>
              <a:rPr lang="en-US" altLang="ko-KR" sz="2000" dirty="0"/>
              <a:t>.</a:t>
            </a:r>
          </a:p>
          <a:p>
            <a:pPr lvl="2">
              <a:buNone/>
              <a:defRPr/>
            </a:pPr>
            <a:r>
              <a:rPr lang="ko-KR" altLang="en-US" sz="1600" dirty="0">
                <a:solidFill>
                  <a:srgbClr val="0070C0"/>
                </a:solidFill>
              </a:rPr>
              <a:t>예</a:t>
            </a:r>
            <a:r>
              <a:rPr lang="en-US" altLang="ko-KR" sz="1600" dirty="0">
                <a:solidFill>
                  <a:srgbClr val="0070C0"/>
                </a:solidFill>
              </a:rPr>
              <a:t>) zip </a:t>
            </a:r>
            <a:r>
              <a:rPr lang="ko-KR" altLang="en-US" sz="1600" dirty="0" err="1">
                <a:solidFill>
                  <a:srgbClr val="0070C0"/>
                </a:solidFill>
              </a:rPr>
              <a:t>새로생성될파일이름</a:t>
            </a:r>
            <a:r>
              <a:rPr lang="en-US" altLang="ko-KR" sz="1600" dirty="0">
                <a:solidFill>
                  <a:srgbClr val="0070C0"/>
                </a:solidFill>
              </a:rPr>
              <a:t>.zip </a:t>
            </a:r>
            <a:r>
              <a:rPr lang="ko-KR" altLang="en-US" sz="1600" dirty="0" err="1">
                <a:solidFill>
                  <a:srgbClr val="0070C0"/>
                </a:solidFill>
              </a:rPr>
              <a:t>압축할파일이름</a:t>
            </a:r>
            <a:endParaRPr lang="ko-KR" altLang="en-US" sz="1600" dirty="0">
              <a:solidFill>
                <a:srgbClr val="0070C0"/>
              </a:solidFill>
            </a:endParaRPr>
          </a:p>
          <a:p>
            <a:pPr lvl="2">
              <a:buNone/>
              <a:defRPr/>
            </a:pPr>
            <a:r>
              <a:rPr lang="en-US" altLang="ko-KR" sz="1600" dirty="0">
                <a:solidFill>
                  <a:srgbClr val="0070C0"/>
                </a:solidFill>
              </a:rPr>
              <a:t>     unzip </a:t>
            </a:r>
            <a:r>
              <a:rPr lang="ko-KR" altLang="en-US" sz="1600" dirty="0">
                <a:solidFill>
                  <a:srgbClr val="0070C0"/>
                </a:solidFill>
              </a:rPr>
              <a:t>압축파일이름</a:t>
            </a:r>
            <a:r>
              <a:rPr lang="en-US" altLang="ko-KR" sz="1600" dirty="0">
                <a:solidFill>
                  <a:srgbClr val="0070C0"/>
                </a:solidFill>
              </a:rPr>
              <a:t>.zip</a:t>
            </a:r>
            <a:endParaRPr lang="en-US" altLang="ko-KR" sz="1800" dirty="0"/>
          </a:p>
        </p:txBody>
      </p:sp>
      <p:sp>
        <p:nvSpPr>
          <p:cNvPr id="3" name="말풍선: 타원형 2">
            <a:extLst>
              <a:ext uri="{FF2B5EF4-FFF2-40B4-BE49-F238E27FC236}">
                <a16:creationId xmlns:a16="http://schemas.microsoft.com/office/drawing/2014/main" id="{98504D4D-95E2-1322-049C-24A4B9870A3E}"/>
              </a:ext>
            </a:extLst>
          </p:cNvPr>
          <p:cNvSpPr/>
          <p:nvPr/>
        </p:nvSpPr>
        <p:spPr>
          <a:xfrm>
            <a:off x="4283968" y="625475"/>
            <a:ext cx="1049292" cy="410369"/>
          </a:xfrm>
          <a:prstGeom prst="wedgeEllipseCallout">
            <a:avLst>
              <a:gd name="adj1" fmla="val -49721"/>
              <a:gd name="adj2" fmla="val 61440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247</a:t>
            </a:r>
            <a:r>
              <a:rPr lang="ko-KR" altLang="en-US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</p:spTree>
    <p:extLst>
      <p:ext uri="{BB962C8B-B14F-4D97-AF65-F5344CB8AC3E}">
        <p14:creationId xmlns:p14="http://schemas.microsoft.com/office/powerpoint/2010/main" val="316329219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제목 1"/>
          <p:cNvSpPr>
            <a:spLocks noGrp="1"/>
          </p:cNvSpPr>
          <p:nvPr>
            <p:ph type="title"/>
          </p:nvPr>
        </p:nvSpPr>
        <p:spPr>
          <a:xfrm>
            <a:off x="500063" y="714375"/>
            <a:ext cx="8229600" cy="642938"/>
          </a:xfrm>
        </p:spPr>
        <p:txBody>
          <a:bodyPr/>
          <a:lstStyle/>
          <a:p>
            <a:pPr eaLnBrk="1" hangingPunct="1"/>
            <a:r>
              <a:rPr lang="ko-KR" altLang="en-US" sz="2800" dirty="0"/>
              <a:t>파일의 압축과 묶기 </a:t>
            </a:r>
            <a:r>
              <a:rPr lang="en-US" altLang="ko-KR" sz="2800" dirty="0"/>
              <a:t>(2) </a:t>
            </a:r>
            <a:endParaRPr lang="ko-KR" altLang="en-US" sz="2800" dirty="0">
              <a:solidFill>
                <a:srgbClr val="00B050"/>
              </a:solidFill>
            </a:endParaRPr>
          </a:p>
        </p:txBody>
      </p:sp>
      <p:sp>
        <p:nvSpPr>
          <p:cNvPr id="6" name="내용 개체 틀 2"/>
          <p:cNvSpPr>
            <a:spLocks noGrp="1"/>
          </p:cNvSpPr>
          <p:nvPr>
            <p:ph idx="1"/>
          </p:nvPr>
        </p:nvSpPr>
        <p:spPr>
          <a:xfrm>
            <a:off x="457200" y="1357313"/>
            <a:ext cx="8229600" cy="5214937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ko-KR" altLang="en-US" dirty="0"/>
              <a:t>파일 묶기</a:t>
            </a:r>
            <a:endParaRPr lang="en-US" altLang="ko-KR" dirty="0"/>
          </a:p>
          <a:p>
            <a:pPr lvl="1">
              <a:defRPr/>
            </a:pPr>
            <a:r>
              <a:rPr lang="ko-KR" altLang="en-US" sz="2000" dirty="0"/>
              <a:t>리눅스</a:t>
            </a:r>
            <a:r>
              <a:rPr lang="en-US" altLang="ko-KR" sz="2000" dirty="0"/>
              <a:t>(</a:t>
            </a:r>
            <a:r>
              <a:rPr lang="ko-KR" altLang="en-US" sz="2000" dirty="0"/>
              <a:t>유닉스</a:t>
            </a:r>
            <a:r>
              <a:rPr lang="en-US" altLang="ko-KR" sz="2000" dirty="0"/>
              <a:t>)</a:t>
            </a:r>
            <a:r>
              <a:rPr lang="ko-KR" altLang="en-US" sz="2000" dirty="0"/>
              <a:t>에서는 ‘파일 압축’과 ‘파일 묶기’는 원칙적으로 별개의 프로그램으로 수행</a:t>
            </a:r>
            <a:endParaRPr lang="en-US" altLang="ko-KR" sz="2000" dirty="0"/>
          </a:p>
          <a:p>
            <a:pPr lvl="1">
              <a:defRPr/>
            </a:pPr>
            <a:r>
              <a:rPr lang="ko-KR" altLang="en-US" sz="2000" dirty="0"/>
              <a:t>파일 묶기의 명령어는 ‘</a:t>
            </a:r>
            <a:r>
              <a:rPr lang="en-US" altLang="ko-KR" sz="2000" dirty="0"/>
              <a:t>tar</a:t>
            </a:r>
            <a:r>
              <a:rPr lang="ko-KR" altLang="en-US" sz="2000" dirty="0"/>
              <a:t>’이며</a:t>
            </a:r>
            <a:r>
              <a:rPr lang="en-US" altLang="ko-KR" sz="2000" dirty="0"/>
              <a:t>, </a:t>
            </a:r>
            <a:r>
              <a:rPr lang="ko-KR" altLang="en-US" sz="2000" dirty="0"/>
              <a:t>묶인 파일의 확장명도‘</a:t>
            </a:r>
            <a:r>
              <a:rPr lang="en-US" altLang="ko-KR" sz="2000" dirty="0"/>
              <a:t>tar</a:t>
            </a:r>
            <a:r>
              <a:rPr lang="ko-KR" altLang="en-US" sz="2000" dirty="0"/>
              <a:t>’이다</a:t>
            </a:r>
            <a:endParaRPr lang="en-US" altLang="ko-KR" sz="2000" dirty="0"/>
          </a:p>
          <a:p>
            <a:pPr lvl="1">
              <a:defRPr/>
            </a:pPr>
            <a:endParaRPr lang="en-US" altLang="ko-KR" sz="2000" dirty="0"/>
          </a:p>
          <a:p>
            <a:pPr>
              <a:defRPr/>
            </a:pPr>
            <a:r>
              <a:rPr lang="ko-KR" altLang="en-US" dirty="0"/>
              <a:t>파일 묶기 명령</a:t>
            </a:r>
            <a:r>
              <a:rPr lang="en-US" altLang="ko-KR" dirty="0"/>
              <a:t>(tar)</a:t>
            </a:r>
          </a:p>
          <a:p>
            <a:pPr lvl="1">
              <a:defRPr/>
            </a:pPr>
            <a:r>
              <a:rPr lang="en-US" altLang="ko-KR" sz="2000" dirty="0"/>
              <a:t>tar : </a:t>
            </a:r>
            <a:r>
              <a:rPr lang="ko-KR" altLang="en-US" sz="2000" dirty="0"/>
              <a:t>확장명 </a:t>
            </a:r>
            <a:r>
              <a:rPr lang="en-US" altLang="ko-KR" sz="2000" dirty="0"/>
              <a:t>tar</a:t>
            </a:r>
            <a:r>
              <a:rPr lang="ko-KR" altLang="en-US" sz="2000" dirty="0"/>
              <a:t>로 묶음 파일을 만들어 주거나 묶음을 풀어 준다</a:t>
            </a:r>
            <a:endParaRPr lang="en-US" altLang="ko-KR" sz="2000" dirty="0"/>
          </a:p>
          <a:p>
            <a:pPr lvl="2">
              <a:buFont typeface="Wingdings 2" panose="05020102010507070707" pitchFamily="18" charset="2"/>
              <a:buNone/>
              <a:defRPr/>
            </a:pPr>
            <a:r>
              <a:rPr lang="ko-KR" altLang="en-US" sz="1600" dirty="0">
                <a:solidFill>
                  <a:srgbClr val="0070C0"/>
                </a:solidFill>
              </a:rPr>
              <a:t>동작 </a:t>
            </a:r>
            <a:r>
              <a:rPr lang="en-US" altLang="ko-KR" sz="1600" dirty="0">
                <a:solidFill>
                  <a:srgbClr val="0070C0"/>
                </a:solidFill>
              </a:rPr>
              <a:t>: c(</a:t>
            </a:r>
            <a:r>
              <a:rPr lang="ko-KR" altLang="en-US" sz="1600" dirty="0">
                <a:solidFill>
                  <a:srgbClr val="0070C0"/>
                </a:solidFill>
              </a:rPr>
              <a:t>묶기</a:t>
            </a:r>
            <a:r>
              <a:rPr lang="en-US" altLang="ko-KR" sz="1600" dirty="0">
                <a:solidFill>
                  <a:srgbClr val="0070C0"/>
                </a:solidFill>
              </a:rPr>
              <a:t>), x(</a:t>
            </a:r>
            <a:r>
              <a:rPr lang="ko-KR" altLang="en-US" sz="1600" dirty="0">
                <a:solidFill>
                  <a:srgbClr val="0070C0"/>
                </a:solidFill>
              </a:rPr>
              <a:t>풀기</a:t>
            </a:r>
            <a:r>
              <a:rPr lang="en-US" altLang="ko-KR" sz="1600" dirty="0">
                <a:solidFill>
                  <a:srgbClr val="0070C0"/>
                </a:solidFill>
              </a:rPr>
              <a:t>), t(</a:t>
            </a:r>
            <a:r>
              <a:rPr lang="ko-KR" altLang="en-US" sz="1600" dirty="0">
                <a:solidFill>
                  <a:srgbClr val="0070C0"/>
                </a:solidFill>
              </a:rPr>
              <a:t>경로확인</a:t>
            </a:r>
            <a:r>
              <a:rPr lang="en-US" altLang="ko-KR" sz="1600" dirty="0">
                <a:solidFill>
                  <a:srgbClr val="0070C0"/>
                </a:solidFill>
              </a:rPr>
              <a:t>), C(</a:t>
            </a:r>
            <a:r>
              <a:rPr lang="ko-KR" altLang="en-US" sz="1600" dirty="0">
                <a:solidFill>
                  <a:srgbClr val="0070C0"/>
                </a:solidFill>
              </a:rPr>
              <a:t>디렉터리 지정</a:t>
            </a:r>
            <a:r>
              <a:rPr lang="en-US" altLang="ko-KR" sz="1600" dirty="0">
                <a:solidFill>
                  <a:srgbClr val="0070C0"/>
                </a:solidFill>
              </a:rPr>
              <a:t>)</a:t>
            </a:r>
          </a:p>
          <a:p>
            <a:pPr lvl="2">
              <a:buFont typeface="Wingdings 2" panose="05020102010507070707" pitchFamily="18" charset="2"/>
              <a:buNone/>
              <a:defRPr/>
            </a:pPr>
            <a:r>
              <a:rPr lang="ko-KR" altLang="en-US" sz="1600" dirty="0">
                <a:solidFill>
                  <a:srgbClr val="0070C0"/>
                </a:solidFill>
              </a:rPr>
              <a:t>옵션 </a:t>
            </a:r>
            <a:r>
              <a:rPr lang="en-US" altLang="ko-KR" sz="1600" dirty="0">
                <a:solidFill>
                  <a:srgbClr val="0070C0"/>
                </a:solidFill>
              </a:rPr>
              <a:t>: f(</a:t>
            </a:r>
            <a:r>
              <a:rPr lang="ko-KR" altLang="en-US" sz="1600" dirty="0">
                <a:solidFill>
                  <a:srgbClr val="0070C0"/>
                </a:solidFill>
              </a:rPr>
              <a:t>파일</a:t>
            </a:r>
            <a:r>
              <a:rPr lang="en-US" altLang="ko-KR" sz="1600" dirty="0">
                <a:solidFill>
                  <a:srgbClr val="0070C0"/>
                </a:solidFill>
              </a:rPr>
              <a:t>), v(</a:t>
            </a:r>
            <a:r>
              <a:rPr lang="ko-KR" altLang="en-US" sz="1600" dirty="0" err="1">
                <a:solidFill>
                  <a:srgbClr val="0070C0"/>
                </a:solidFill>
              </a:rPr>
              <a:t>과정보이기</a:t>
            </a:r>
            <a:r>
              <a:rPr lang="en-US" altLang="ko-KR" sz="1600" dirty="0">
                <a:solidFill>
                  <a:srgbClr val="0070C0"/>
                </a:solidFill>
              </a:rPr>
              <a:t>), J(</a:t>
            </a:r>
            <a:r>
              <a:rPr lang="en-US" altLang="ko-KR" sz="1600" dirty="0" err="1">
                <a:solidFill>
                  <a:srgbClr val="0070C0"/>
                </a:solidFill>
              </a:rPr>
              <a:t>tar+xz</a:t>
            </a:r>
            <a:r>
              <a:rPr lang="en-US" altLang="ko-KR" sz="1600" dirty="0">
                <a:solidFill>
                  <a:srgbClr val="0070C0"/>
                </a:solidFill>
              </a:rPr>
              <a:t>), z(</a:t>
            </a:r>
            <a:r>
              <a:rPr lang="en-US" altLang="ko-KR" sz="1600" dirty="0" err="1">
                <a:solidFill>
                  <a:srgbClr val="0070C0"/>
                </a:solidFill>
              </a:rPr>
              <a:t>tar+gzip</a:t>
            </a:r>
            <a:r>
              <a:rPr lang="en-US" altLang="ko-KR" sz="1600" dirty="0">
                <a:solidFill>
                  <a:srgbClr val="0070C0"/>
                </a:solidFill>
              </a:rPr>
              <a:t>), j(tar+bzip2)</a:t>
            </a:r>
          </a:p>
          <a:p>
            <a:pPr lvl="1">
              <a:defRPr/>
            </a:pPr>
            <a:r>
              <a:rPr lang="ko-KR" altLang="en-US" sz="2000" dirty="0"/>
              <a:t>사용 예</a:t>
            </a:r>
            <a:endParaRPr lang="en-US" altLang="ko-KR" sz="2000" dirty="0"/>
          </a:p>
          <a:p>
            <a:pPr lvl="2">
              <a:buFont typeface="Wingdings 2" panose="05020102010507070707" pitchFamily="18" charset="2"/>
              <a:buNone/>
              <a:defRPr/>
            </a:pPr>
            <a:r>
              <a:rPr lang="en-US" altLang="ko-KR" sz="1800" dirty="0">
                <a:solidFill>
                  <a:srgbClr val="0070C0"/>
                </a:solidFill>
              </a:rPr>
              <a:t># tar </a:t>
            </a:r>
            <a:r>
              <a:rPr lang="en-US" altLang="ko-KR" sz="1800" dirty="0" err="1">
                <a:solidFill>
                  <a:srgbClr val="0070C0"/>
                </a:solidFill>
              </a:rPr>
              <a:t>cvf</a:t>
            </a:r>
            <a:r>
              <a:rPr lang="en-US" altLang="ko-KR" sz="1800" dirty="0">
                <a:solidFill>
                  <a:srgbClr val="0070C0"/>
                </a:solidFill>
              </a:rPr>
              <a:t> my.tar /etc/systemd/ → </a:t>
            </a:r>
            <a:r>
              <a:rPr lang="ko-KR" altLang="en-US" sz="1800" dirty="0">
                <a:solidFill>
                  <a:srgbClr val="0070C0"/>
                </a:solidFill>
              </a:rPr>
              <a:t>묶기</a:t>
            </a:r>
            <a:endParaRPr lang="en-US" altLang="ko-KR" sz="1800" dirty="0">
              <a:solidFill>
                <a:srgbClr val="0070C0"/>
              </a:solidFill>
            </a:endParaRPr>
          </a:p>
          <a:p>
            <a:pPr lvl="2">
              <a:buNone/>
              <a:defRPr/>
            </a:pPr>
            <a:r>
              <a:rPr lang="en-US" altLang="ko-KR" sz="1800" dirty="0">
                <a:solidFill>
                  <a:srgbClr val="0070C0"/>
                </a:solidFill>
              </a:rPr>
              <a:t># tar </a:t>
            </a:r>
            <a:r>
              <a:rPr lang="en-US" altLang="ko-KR" sz="1800" dirty="0" err="1">
                <a:solidFill>
                  <a:srgbClr val="0070C0"/>
                </a:solidFill>
              </a:rPr>
              <a:t>cvfJ</a:t>
            </a:r>
            <a:r>
              <a:rPr lang="en-US" altLang="ko-KR" sz="1800" dirty="0">
                <a:solidFill>
                  <a:srgbClr val="0070C0"/>
                </a:solidFill>
              </a:rPr>
              <a:t> </a:t>
            </a:r>
            <a:r>
              <a:rPr lang="en-US" altLang="ko-KR" sz="1800" dirty="0" err="1">
                <a:solidFill>
                  <a:srgbClr val="0070C0"/>
                </a:solidFill>
              </a:rPr>
              <a:t>my.tar.xz</a:t>
            </a:r>
            <a:r>
              <a:rPr lang="en-US" altLang="ko-KR" sz="1800" dirty="0">
                <a:solidFill>
                  <a:srgbClr val="0070C0"/>
                </a:solidFill>
              </a:rPr>
              <a:t> /etc/systemd/ → </a:t>
            </a:r>
            <a:r>
              <a:rPr lang="ko-KR" altLang="en-US" sz="1800" dirty="0">
                <a:solidFill>
                  <a:srgbClr val="0070C0"/>
                </a:solidFill>
              </a:rPr>
              <a:t>묶기 </a:t>
            </a:r>
            <a:r>
              <a:rPr lang="en-US" altLang="ko-KR" sz="1800" dirty="0">
                <a:solidFill>
                  <a:srgbClr val="0070C0"/>
                </a:solidFill>
              </a:rPr>
              <a:t>+ xz </a:t>
            </a:r>
            <a:r>
              <a:rPr lang="ko-KR" altLang="en-US" sz="1800" dirty="0">
                <a:solidFill>
                  <a:srgbClr val="0070C0"/>
                </a:solidFill>
              </a:rPr>
              <a:t>압축</a:t>
            </a:r>
          </a:p>
          <a:p>
            <a:pPr lvl="2">
              <a:buNone/>
              <a:defRPr/>
            </a:pPr>
            <a:r>
              <a:rPr lang="en-US" altLang="ko-KR" sz="1800" dirty="0">
                <a:solidFill>
                  <a:srgbClr val="0070C0"/>
                </a:solidFill>
              </a:rPr>
              <a:t># tar </a:t>
            </a:r>
            <a:r>
              <a:rPr lang="en-US" altLang="ko-KR" sz="1800" dirty="0" err="1">
                <a:solidFill>
                  <a:srgbClr val="0070C0"/>
                </a:solidFill>
              </a:rPr>
              <a:t>xvf</a:t>
            </a:r>
            <a:r>
              <a:rPr lang="en-US" altLang="ko-KR" sz="1800" dirty="0">
                <a:solidFill>
                  <a:srgbClr val="0070C0"/>
                </a:solidFill>
              </a:rPr>
              <a:t> my.tar → tar </a:t>
            </a:r>
            <a:r>
              <a:rPr lang="ko-KR" altLang="en-US" sz="1800" dirty="0">
                <a:solidFill>
                  <a:srgbClr val="0070C0"/>
                </a:solidFill>
              </a:rPr>
              <a:t>풀기</a:t>
            </a:r>
          </a:p>
          <a:p>
            <a:pPr lvl="2">
              <a:buNone/>
              <a:defRPr/>
            </a:pPr>
            <a:r>
              <a:rPr lang="en-US" altLang="ko-KR" sz="1800" dirty="0">
                <a:solidFill>
                  <a:srgbClr val="0070C0"/>
                </a:solidFill>
              </a:rPr>
              <a:t># tar </a:t>
            </a:r>
            <a:r>
              <a:rPr lang="en-US" altLang="ko-KR" sz="1800" dirty="0" err="1">
                <a:solidFill>
                  <a:srgbClr val="0070C0"/>
                </a:solidFill>
              </a:rPr>
              <a:t>xvfJ</a:t>
            </a:r>
            <a:r>
              <a:rPr lang="en-US" altLang="ko-KR" sz="1800" dirty="0">
                <a:solidFill>
                  <a:srgbClr val="0070C0"/>
                </a:solidFill>
              </a:rPr>
              <a:t> </a:t>
            </a:r>
            <a:r>
              <a:rPr lang="en-US" altLang="ko-KR" sz="1800" dirty="0" err="1">
                <a:solidFill>
                  <a:srgbClr val="0070C0"/>
                </a:solidFill>
              </a:rPr>
              <a:t>my.tar.xz</a:t>
            </a:r>
            <a:r>
              <a:rPr lang="en-US" altLang="ko-KR" sz="1800" dirty="0">
                <a:solidFill>
                  <a:srgbClr val="0070C0"/>
                </a:solidFill>
              </a:rPr>
              <a:t>  → xz </a:t>
            </a:r>
            <a:r>
              <a:rPr lang="ko-KR" altLang="en-US" sz="1800" dirty="0">
                <a:solidFill>
                  <a:srgbClr val="0070C0"/>
                </a:solidFill>
              </a:rPr>
              <a:t>압축 해제 </a:t>
            </a:r>
            <a:r>
              <a:rPr lang="en-US" altLang="ko-KR" sz="1800" dirty="0">
                <a:solidFill>
                  <a:srgbClr val="0070C0"/>
                </a:solidFill>
              </a:rPr>
              <a:t>+ tar </a:t>
            </a:r>
            <a:r>
              <a:rPr lang="ko-KR" altLang="en-US" sz="1800" dirty="0">
                <a:solidFill>
                  <a:srgbClr val="0070C0"/>
                </a:solidFill>
              </a:rPr>
              <a:t>풀기</a:t>
            </a:r>
          </a:p>
        </p:txBody>
      </p:sp>
      <p:sp>
        <p:nvSpPr>
          <p:cNvPr id="2" name="말풍선: 타원형 1">
            <a:extLst>
              <a:ext uri="{FF2B5EF4-FFF2-40B4-BE49-F238E27FC236}">
                <a16:creationId xmlns:a16="http://schemas.microsoft.com/office/drawing/2014/main" id="{63A727C1-24E8-E6D3-5D37-D42FB07041AA}"/>
              </a:ext>
            </a:extLst>
          </p:cNvPr>
          <p:cNvSpPr/>
          <p:nvPr/>
        </p:nvSpPr>
        <p:spPr>
          <a:xfrm>
            <a:off x="4283968" y="625475"/>
            <a:ext cx="1049292" cy="410369"/>
          </a:xfrm>
          <a:prstGeom prst="wedgeEllipseCallout">
            <a:avLst>
              <a:gd name="adj1" fmla="val -49721"/>
              <a:gd name="adj2" fmla="val 61440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249</a:t>
            </a:r>
            <a:r>
              <a:rPr lang="ko-KR" altLang="en-US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</p:spTree>
    <p:extLst>
      <p:ext uri="{BB962C8B-B14F-4D97-AF65-F5344CB8AC3E}">
        <p14:creationId xmlns:p14="http://schemas.microsoft.com/office/powerpoint/2010/main" val="249882318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제목 1"/>
          <p:cNvSpPr>
            <a:spLocks noGrp="1"/>
          </p:cNvSpPr>
          <p:nvPr>
            <p:ph type="title"/>
          </p:nvPr>
        </p:nvSpPr>
        <p:spPr>
          <a:xfrm>
            <a:off x="500063" y="714375"/>
            <a:ext cx="8229600" cy="642938"/>
          </a:xfrm>
        </p:spPr>
        <p:txBody>
          <a:bodyPr/>
          <a:lstStyle/>
          <a:p>
            <a:pPr eaLnBrk="1" hangingPunct="1"/>
            <a:r>
              <a:rPr lang="ko-KR" altLang="en-US" sz="2800" dirty="0"/>
              <a:t>파일 위치 검색</a:t>
            </a:r>
            <a:endParaRPr lang="ko-KR" altLang="en-US" sz="2800" dirty="0">
              <a:solidFill>
                <a:srgbClr val="00B050"/>
              </a:solidFill>
            </a:endParaRPr>
          </a:p>
        </p:txBody>
      </p:sp>
      <p:sp>
        <p:nvSpPr>
          <p:cNvPr id="6" name="내용 개체 틀 2"/>
          <p:cNvSpPr>
            <a:spLocks noGrp="1"/>
          </p:cNvSpPr>
          <p:nvPr>
            <p:ph idx="1"/>
          </p:nvPr>
        </p:nvSpPr>
        <p:spPr>
          <a:xfrm>
            <a:off x="457200" y="1357313"/>
            <a:ext cx="8229600" cy="5214937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en-US" altLang="ko-KR" sz="2000" dirty="0"/>
              <a:t>find [</a:t>
            </a:r>
            <a:r>
              <a:rPr lang="ko-KR" altLang="en-US" sz="2000" dirty="0"/>
              <a:t>경로</a:t>
            </a:r>
            <a:r>
              <a:rPr lang="en-US" altLang="ko-KR" sz="2000" dirty="0"/>
              <a:t>] [</a:t>
            </a:r>
            <a:r>
              <a:rPr lang="ko-KR" altLang="en-US" sz="2000" dirty="0"/>
              <a:t>옵션</a:t>
            </a:r>
            <a:r>
              <a:rPr lang="en-US" altLang="ko-KR" sz="2000" dirty="0"/>
              <a:t>] [</a:t>
            </a:r>
            <a:r>
              <a:rPr lang="ko-KR" altLang="en-US" sz="2000" dirty="0"/>
              <a:t>조건</a:t>
            </a:r>
            <a:r>
              <a:rPr lang="en-US" altLang="ko-KR" sz="2000" dirty="0"/>
              <a:t>] [action] : </a:t>
            </a:r>
            <a:r>
              <a:rPr lang="ko-KR" altLang="en-US" sz="2000" dirty="0"/>
              <a:t>기본 파일 찾기</a:t>
            </a:r>
            <a:endParaRPr lang="en-US" altLang="ko-KR" sz="2000" dirty="0"/>
          </a:p>
          <a:p>
            <a:pPr lvl="1">
              <a:defRPr/>
            </a:pPr>
            <a:r>
              <a:rPr lang="en-US" altLang="ko-KR" sz="1800" dirty="0"/>
              <a:t>[</a:t>
            </a:r>
            <a:r>
              <a:rPr lang="ko-KR" altLang="en-US" sz="1800" dirty="0"/>
              <a:t>옵션</a:t>
            </a:r>
            <a:r>
              <a:rPr lang="en-US" altLang="ko-KR" sz="1800" dirty="0"/>
              <a:t>] -name, -user(</a:t>
            </a:r>
            <a:r>
              <a:rPr lang="ko-KR" altLang="en-US" sz="1800" dirty="0"/>
              <a:t>소유자</a:t>
            </a:r>
            <a:r>
              <a:rPr lang="en-US" altLang="ko-KR" sz="1800" dirty="0"/>
              <a:t>), -newer(</a:t>
            </a:r>
            <a:r>
              <a:rPr lang="ko-KR" altLang="en-US" sz="1800" dirty="0"/>
              <a:t>전</a:t>
            </a:r>
            <a:r>
              <a:rPr lang="en-US" altLang="ko-KR" sz="1800" dirty="0"/>
              <a:t>,</a:t>
            </a:r>
            <a:r>
              <a:rPr lang="ko-KR" altLang="en-US" sz="1800" dirty="0"/>
              <a:t>후</a:t>
            </a:r>
            <a:r>
              <a:rPr lang="en-US" altLang="ko-KR" sz="1800" dirty="0"/>
              <a:t>), -perm(</a:t>
            </a:r>
            <a:r>
              <a:rPr lang="ko-KR" altLang="en-US" sz="1800" dirty="0"/>
              <a:t>허가권</a:t>
            </a:r>
            <a:r>
              <a:rPr lang="en-US" altLang="ko-KR" sz="1800" dirty="0"/>
              <a:t>), -size(</a:t>
            </a:r>
            <a:r>
              <a:rPr lang="ko-KR" altLang="en-US" sz="1800" dirty="0"/>
              <a:t>크기</a:t>
            </a:r>
            <a:r>
              <a:rPr lang="en-US" altLang="ko-KR" sz="1800" dirty="0"/>
              <a:t>)</a:t>
            </a:r>
          </a:p>
          <a:p>
            <a:pPr lvl="1">
              <a:defRPr/>
            </a:pPr>
            <a:r>
              <a:rPr lang="en-US" altLang="ko-KR" sz="1800" dirty="0"/>
              <a:t>[action] -print(</a:t>
            </a:r>
            <a:r>
              <a:rPr lang="ko-KR" altLang="en-US" sz="1800" dirty="0"/>
              <a:t>디폴트</a:t>
            </a:r>
            <a:r>
              <a:rPr lang="en-US" altLang="ko-KR" sz="1800" dirty="0"/>
              <a:t>), -exec (</a:t>
            </a:r>
            <a:r>
              <a:rPr lang="ko-KR" altLang="en-US" sz="1800" dirty="0"/>
              <a:t>외부명령 실행</a:t>
            </a:r>
            <a:r>
              <a:rPr lang="en-US" altLang="ko-KR" sz="1800" dirty="0"/>
              <a:t>)</a:t>
            </a:r>
            <a:endParaRPr lang="en-US" altLang="ko-KR" sz="4800" dirty="0"/>
          </a:p>
          <a:p>
            <a:pPr lvl="1" eaLnBrk="1" hangingPunct="1">
              <a:defRPr/>
            </a:pPr>
            <a:r>
              <a:rPr lang="ko-KR" altLang="en-US" sz="2000" dirty="0"/>
              <a:t>사용 예</a:t>
            </a:r>
            <a:r>
              <a:rPr lang="en-US" altLang="ko-KR" sz="2000" dirty="0"/>
              <a:t> </a:t>
            </a:r>
          </a:p>
          <a:p>
            <a:pPr lvl="2" eaLnBrk="1" hangingPunct="1">
              <a:buFont typeface="Wingdings 2" panose="05020102010507070707" pitchFamily="18" charset="2"/>
              <a:buNone/>
              <a:defRPr/>
            </a:pPr>
            <a:r>
              <a:rPr lang="en-US" altLang="ko-KR" sz="1600" dirty="0">
                <a:solidFill>
                  <a:srgbClr val="0070C0"/>
                </a:solidFill>
              </a:rPr>
              <a:t># find /etc -name "*.conf“</a:t>
            </a:r>
          </a:p>
          <a:p>
            <a:pPr lvl="2" eaLnBrk="1" hangingPunct="1">
              <a:buFont typeface="Wingdings 2" panose="05020102010507070707" pitchFamily="18" charset="2"/>
              <a:buNone/>
              <a:defRPr/>
            </a:pPr>
            <a:r>
              <a:rPr lang="en-US" altLang="ko-KR" sz="1600" dirty="0">
                <a:solidFill>
                  <a:srgbClr val="0070C0"/>
                </a:solidFill>
              </a:rPr>
              <a:t># find /bin -size +10k -size -100k</a:t>
            </a:r>
          </a:p>
          <a:p>
            <a:pPr lvl="2" eaLnBrk="1" hangingPunct="1">
              <a:buFont typeface="Wingdings 2" panose="05020102010507070707" pitchFamily="18" charset="2"/>
              <a:buNone/>
              <a:defRPr/>
            </a:pPr>
            <a:r>
              <a:rPr lang="en-US" altLang="ko-KR" sz="1600" dirty="0">
                <a:solidFill>
                  <a:srgbClr val="0070C0"/>
                </a:solidFill>
              </a:rPr>
              <a:t># find /home -name "*.swp" -exec </a:t>
            </a:r>
            <a:r>
              <a:rPr lang="en-US" altLang="ko-KR" sz="1600" dirty="0" err="1">
                <a:solidFill>
                  <a:srgbClr val="0070C0"/>
                </a:solidFill>
              </a:rPr>
              <a:t>rm</a:t>
            </a:r>
            <a:r>
              <a:rPr lang="en-US" altLang="ko-KR" sz="1600" dirty="0">
                <a:solidFill>
                  <a:srgbClr val="0070C0"/>
                </a:solidFill>
              </a:rPr>
              <a:t> { } \;</a:t>
            </a:r>
          </a:p>
          <a:p>
            <a:pPr lvl="2" eaLnBrk="1" hangingPunct="1">
              <a:buFont typeface="Wingdings 2" panose="05020102010507070707" pitchFamily="18" charset="2"/>
              <a:buNone/>
              <a:defRPr/>
            </a:pPr>
            <a:endParaRPr lang="en-US" altLang="ko-KR" sz="1600" dirty="0"/>
          </a:p>
          <a:p>
            <a:pPr lvl="1" eaLnBrk="1" hangingPunct="1">
              <a:defRPr/>
            </a:pPr>
            <a:endParaRPr lang="en-US" altLang="ko-KR" sz="2000" dirty="0"/>
          </a:p>
          <a:p>
            <a:pPr lvl="1" eaLnBrk="1" hangingPunct="1">
              <a:defRPr/>
            </a:pPr>
            <a:endParaRPr lang="en-US" altLang="ko-KR" sz="2000" dirty="0"/>
          </a:p>
          <a:p>
            <a:pPr lvl="1" eaLnBrk="1" hangingPunct="1">
              <a:defRPr/>
            </a:pPr>
            <a:endParaRPr lang="en-US" altLang="ko-KR" sz="2000" dirty="0"/>
          </a:p>
          <a:p>
            <a:pPr lvl="1" eaLnBrk="1" hangingPunct="1">
              <a:defRPr/>
            </a:pPr>
            <a:endParaRPr lang="en-US" altLang="ko-KR" sz="2000" dirty="0"/>
          </a:p>
          <a:p>
            <a:pPr lvl="1" eaLnBrk="1" hangingPunct="1">
              <a:defRPr/>
            </a:pPr>
            <a:endParaRPr lang="en-US" altLang="ko-KR" sz="2000" dirty="0"/>
          </a:p>
          <a:p>
            <a:pPr>
              <a:defRPr/>
            </a:pPr>
            <a:r>
              <a:rPr lang="en-US" altLang="ko-KR" sz="2000" dirty="0"/>
              <a:t>which </a:t>
            </a:r>
            <a:r>
              <a:rPr lang="ko-KR" altLang="en-US" sz="2000" dirty="0"/>
              <a:t>실행파일이름</a:t>
            </a:r>
            <a:r>
              <a:rPr lang="en-US" altLang="ko-KR" sz="2000" dirty="0"/>
              <a:t> : PATH</a:t>
            </a:r>
            <a:r>
              <a:rPr lang="ko-KR" altLang="en-US" sz="2000" dirty="0"/>
              <a:t>에 설정된 디렉터리만 검색</a:t>
            </a:r>
            <a:endParaRPr lang="en-US" altLang="ko-KR" sz="2000" dirty="0"/>
          </a:p>
          <a:p>
            <a:pPr>
              <a:defRPr/>
            </a:pPr>
            <a:r>
              <a:rPr lang="en-US" altLang="ko-KR" sz="2000" dirty="0"/>
              <a:t>whereis </a:t>
            </a:r>
            <a:r>
              <a:rPr lang="ko-KR" altLang="en-US" sz="2000" dirty="0"/>
              <a:t>실행파일이름</a:t>
            </a:r>
            <a:r>
              <a:rPr lang="en-US" altLang="ko-KR" sz="2000" dirty="0"/>
              <a:t> :</a:t>
            </a:r>
            <a:r>
              <a:rPr lang="ko-KR" altLang="en-US" sz="2000" dirty="0"/>
              <a:t>실행 파일</a:t>
            </a:r>
            <a:r>
              <a:rPr lang="en-US" altLang="ko-KR" sz="2000" dirty="0"/>
              <a:t>,</a:t>
            </a:r>
            <a:r>
              <a:rPr lang="ko-KR" altLang="en-US" sz="2000" dirty="0"/>
              <a:t>소스</a:t>
            </a:r>
            <a:r>
              <a:rPr lang="en-US" altLang="ko-KR" sz="2000" dirty="0"/>
              <a:t>,man</a:t>
            </a:r>
            <a:r>
              <a:rPr lang="ko-KR" altLang="en-US" sz="2000" dirty="0"/>
              <a:t>페이지 파일까지 검색</a:t>
            </a:r>
            <a:endParaRPr lang="en-US" altLang="ko-KR" sz="2000" dirty="0"/>
          </a:p>
          <a:p>
            <a:pPr>
              <a:defRPr/>
            </a:pPr>
            <a:r>
              <a:rPr lang="en-US" altLang="ko-KR" sz="2000" dirty="0"/>
              <a:t>locate </a:t>
            </a:r>
            <a:r>
              <a:rPr lang="ko-KR" altLang="en-US" sz="2000" dirty="0"/>
              <a:t>파일이름 </a:t>
            </a:r>
            <a:r>
              <a:rPr lang="en-US" altLang="ko-KR" sz="2000" dirty="0"/>
              <a:t>: </a:t>
            </a:r>
            <a:r>
              <a:rPr lang="ko-KR" altLang="en-US" sz="2000" dirty="0"/>
              <a:t>파일 목록 데이터베이스에서 검색</a:t>
            </a:r>
            <a:endParaRPr lang="en-US" altLang="ko-KR" sz="2000" dirty="0"/>
          </a:p>
        </p:txBody>
      </p:sp>
      <p:sp>
        <p:nvSpPr>
          <p:cNvPr id="2" name="말풍선: 타원형 1">
            <a:extLst>
              <a:ext uri="{FF2B5EF4-FFF2-40B4-BE49-F238E27FC236}">
                <a16:creationId xmlns:a16="http://schemas.microsoft.com/office/drawing/2014/main" id="{701030A7-D843-AD21-FCE1-76794D335AF3}"/>
              </a:ext>
            </a:extLst>
          </p:cNvPr>
          <p:cNvSpPr/>
          <p:nvPr/>
        </p:nvSpPr>
        <p:spPr>
          <a:xfrm>
            <a:off x="3059832" y="625475"/>
            <a:ext cx="1049292" cy="410369"/>
          </a:xfrm>
          <a:prstGeom prst="wedgeEllipseCallout">
            <a:avLst>
              <a:gd name="adj1" fmla="val -49721"/>
              <a:gd name="adj2" fmla="val 61440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250</a:t>
            </a:r>
            <a:r>
              <a:rPr lang="ko-KR" altLang="en-US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47C91B4E-F76E-0A5E-E99D-C28153403E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1640" y="3573016"/>
            <a:ext cx="4380952" cy="1790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246963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제목 1"/>
          <p:cNvSpPr>
            <a:spLocks noGrp="1"/>
          </p:cNvSpPr>
          <p:nvPr>
            <p:ph type="title"/>
          </p:nvPr>
        </p:nvSpPr>
        <p:spPr>
          <a:xfrm>
            <a:off x="500063" y="714375"/>
            <a:ext cx="8229600" cy="642938"/>
          </a:xfrm>
        </p:spPr>
        <p:txBody>
          <a:bodyPr/>
          <a:lstStyle/>
          <a:p>
            <a:pPr eaLnBrk="1" hangingPunct="1"/>
            <a:r>
              <a:rPr lang="ko-KR" altLang="en-US" sz="2800" dirty="0"/>
              <a:t>시스템 설정</a:t>
            </a:r>
            <a:endParaRPr lang="ko-KR" altLang="en-US" sz="2800" dirty="0">
              <a:solidFill>
                <a:srgbClr val="00B050"/>
              </a:solidFill>
            </a:endParaRPr>
          </a:p>
        </p:txBody>
      </p:sp>
      <p:sp>
        <p:nvSpPr>
          <p:cNvPr id="6" name="내용 개체 틀 2"/>
          <p:cNvSpPr>
            <a:spLocks noGrp="1"/>
          </p:cNvSpPr>
          <p:nvPr>
            <p:ph idx="1"/>
          </p:nvPr>
        </p:nvSpPr>
        <p:spPr>
          <a:xfrm>
            <a:off x="457200" y="1357313"/>
            <a:ext cx="8229600" cy="5214937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ko-KR" altLang="en-US" dirty="0"/>
              <a:t>다양한</a:t>
            </a:r>
            <a:r>
              <a:rPr lang="en-US" altLang="ko-KR" dirty="0"/>
              <a:t> </a:t>
            </a:r>
            <a:r>
              <a:rPr lang="ko-KR" altLang="en-US" dirty="0"/>
              <a:t>환경 설정 </a:t>
            </a:r>
            <a:r>
              <a:rPr lang="en-US" altLang="ko-KR" dirty="0"/>
              <a:t>(gnome-control-center)</a:t>
            </a:r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r>
              <a:rPr lang="ko-KR" altLang="en-US" dirty="0"/>
              <a:t>네트워크 설정 </a:t>
            </a:r>
            <a:r>
              <a:rPr lang="en-US" altLang="ko-KR" dirty="0"/>
              <a:t>(nmtui)</a:t>
            </a:r>
          </a:p>
          <a:p>
            <a:pPr>
              <a:defRPr/>
            </a:pPr>
            <a:r>
              <a:rPr lang="ko-KR" altLang="en-US" dirty="0"/>
              <a:t>방화벽 설정</a:t>
            </a:r>
            <a:r>
              <a:rPr lang="en-US" altLang="ko-KR" dirty="0"/>
              <a:t>(</a:t>
            </a:r>
            <a:r>
              <a:rPr lang="en-US" altLang="ko-KR" dirty="0" err="1"/>
              <a:t>ufw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lang="en-US" altLang="ko-KR" dirty="0" err="1"/>
              <a:t>gufw</a:t>
            </a:r>
            <a:r>
              <a:rPr lang="en-US" altLang="ko-KR" dirty="0"/>
              <a:t>) </a:t>
            </a:r>
            <a:r>
              <a:rPr lang="en-US" altLang="ko-KR" dirty="0">
                <a:sym typeface="Wingdings" panose="05000000000000000000" pitchFamily="2" charset="2"/>
              </a:rPr>
              <a:t></a:t>
            </a:r>
            <a:endParaRPr lang="en-US" altLang="ko-KR" dirty="0"/>
          </a:p>
          <a:p>
            <a:pPr>
              <a:defRPr/>
            </a:pPr>
            <a:endParaRPr lang="ko-KR" altLang="en-US" sz="2000" dirty="0"/>
          </a:p>
        </p:txBody>
      </p:sp>
      <p:sp>
        <p:nvSpPr>
          <p:cNvPr id="2" name="말풍선: 타원형 1">
            <a:extLst>
              <a:ext uri="{FF2B5EF4-FFF2-40B4-BE49-F238E27FC236}">
                <a16:creationId xmlns:a16="http://schemas.microsoft.com/office/drawing/2014/main" id="{3FEC677A-D2E2-EABF-B616-15FA8A7E6D42}"/>
              </a:ext>
            </a:extLst>
          </p:cNvPr>
          <p:cNvSpPr/>
          <p:nvPr/>
        </p:nvSpPr>
        <p:spPr>
          <a:xfrm>
            <a:off x="2627784" y="625475"/>
            <a:ext cx="1049292" cy="410369"/>
          </a:xfrm>
          <a:prstGeom prst="wedgeEllipseCallout">
            <a:avLst>
              <a:gd name="adj1" fmla="val -49721"/>
              <a:gd name="adj2" fmla="val 61440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252</a:t>
            </a:r>
            <a:r>
              <a:rPr lang="ko-KR" altLang="en-US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  <p:pic>
        <p:nvPicPr>
          <p:cNvPr id="5" name="그림 4" descr="텍스트, 스크린샷, 소프트웨어, 번호이(가) 표시된 사진&#10;&#10;자동 생성된 설명">
            <a:extLst>
              <a:ext uri="{FF2B5EF4-FFF2-40B4-BE49-F238E27FC236}">
                <a16:creationId xmlns:a16="http://schemas.microsoft.com/office/drawing/2014/main" id="{5FF840D8-8D45-20DC-2887-418CDC0EBF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617" y="1844824"/>
            <a:ext cx="4392488" cy="2877682"/>
          </a:xfrm>
          <a:prstGeom prst="rect">
            <a:avLst/>
          </a:prstGeom>
        </p:spPr>
      </p:pic>
      <p:pic>
        <p:nvPicPr>
          <p:cNvPr id="9" name="그림 8" descr="스크린샷, 텍스트, 디스플레이, 소프트웨어이(가) 표시된 사진&#10;&#10;자동 생성된 설명">
            <a:extLst>
              <a:ext uri="{FF2B5EF4-FFF2-40B4-BE49-F238E27FC236}">
                <a16:creationId xmlns:a16="http://schemas.microsoft.com/office/drawing/2014/main" id="{768B43D0-1790-FD74-4D4E-74ED0D41C8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6522" y="2780928"/>
            <a:ext cx="2670838" cy="3590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246789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제목 1"/>
          <p:cNvSpPr>
            <a:spLocks noGrp="1"/>
          </p:cNvSpPr>
          <p:nvPr>
            <p:ph type="title"/>
          </p:nvPr>
        </p:nvSpPr>
        <p:spPr>
          <a:xfrm>
            <a:off x="500063" y="714375"/>
            <a:ext cx="8229600" cy="642938"/>
          </a:xfrm>
        </p:spPr>
        <p:txBody>
          <a:bodyPr/>
          <a:lstStyle/>
          <a:p>
            <a:pPr eaLnBrk="1" hangingPunct="1"/>
            <a:r>
              <a:rPr lang="en-US" altLang="ko-KR" sz="2800" dirty="0" err="1"/>
              <a:t>cron</a:t>
            </a:r>
            <a:r>
              <a:rPr lang="ko-KR" altLang="en-US" sz="2800" dirty="0"/>
              <a:t>과 </a:t>
            </a:r>
            <a:r>
              <a:rPr lang="en-US" altLang="ko-KR" sz="2800" dirty="0"/>
              <a:t>at </a:t>
            </a:r>
            <a:endParaRPr lang="ko-KR" altLang="en-US" sz="2800" dirty="0">
              <a:solidFill>
                <a:srgbClr val="00B050"/>
              </a:solidFill>
            </a:endParaRPr>
          </a:p>
        </p:txBody>
      </p:sp>
      <p:sp>
        <p:nvSpPr>
          <p:cNvPr id="6" name="내용 개체 틀 2"/>
          <p:cNvSpPr>
            <a:spLocks noGrp="1"/>
          </p:cNvSpPr>
          <p:nvPr>
            <p:ph idx="1"/>
          </p:nvPr>
        </p:nvSpPr>
        <p:spPr>
          <a:xfrm>
            <a:off x="457200" y="1357313"/>
            <a:ext cx="8229600" cy="5214937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en-US" altLang="ko-KR" dirty="0" err="1"/>
              <a:t>cron</a:t>
            </a:r>
            <a:endParaRPr lang="en-US" altLang="ko-KR" dirty="0"/>
          </a:p>
          <a:p>
            <a:pPr lvl="1">
              <a:defRPr/>
            </a:pPr>
            <a:r>
              <a:rPr lang="ko-KR" altLang="en-US" sz="2000" dirty="0"/>
              <a:t>주기적으로 반복되는 일을 자동적으로 실행될 수 있도록 설정</a:t>
            </a:r>
            <a:endParaRPr lang="en-US" altLang="ko-KR" sz="2000" dirty="0"/>
          </a:p>
          <a:p>
            <a:pPr lvl="1">
              <a:defRPr/>
            </a:pPr>
            <a:r>
              <a:rPr lang="ko-KR" altLang="en-US" sz="2000" dirty="0"/>
              <a:t>관련된 데몬</a:t>
            </a:r>
            <a:r>
              <a:rPr lang="en-US" altLang="ko-KR" sz="2000" dirty="0"/>
              <a:t>(</a:t>
            </a:r>
            <a:r>
              <a:rPr lang="ko-KR" altLang="en-US" sz="2000" dirty="0"/>
              <a:t>서비스</a:t>
            </a:r>
            <a:r>
              <a:rPr lang="en-US" altLang="ko-KR" sz="2000" dirty="0"/>
              <a:t>)</a:t>
            </a:r>
            <a:r>
              <a:rPr lang="ko-KR" altLang="en-US" sz="2000" dirty="0"/>
              <a:t>은“</a:t>
            </a:r>
            <a:r>
              <a:rPr lang="en-US" altLang="ko-KR" sz="2000" dirty="0" err="1"/>
              <a:t>crond</a:t>
            </a:r>
            <a:r>
              <a:rPr lang="ko-KR" altLang="en-US" sz="2000" dirty="0"/>
              <a:t>”</a:t>
            </a:r>
            <a:r>
              <a:rPr lang="en-US" altLang="ko-KR" sz="2000" dirty="0"/>
              <a:t>, </a:t>
            </a:r>
            <a:r>
              <a:rPr lang="ko-KR" altLang="en-US" sz="2000" dirty="0"/>
              <a:t>관련 파일은 “</a:t>
            </a:r>
            <a:r>
              <a:rPr lang="en-US" altLang="ko-KR" sz="2000" dirty="0"/>
              <a:t>/etc/</a:t>
            </a:r>
            <a:r>
              <a:rPr lang="en-US" altLang="ko-KR" sz="2000" dirty="0" err="1"/>
              <a:t>crontab</a:t>
            </a:r>
            <a:r>
              <a:rPr lang="en-US" altLang="ko-KR" sz="2000" dirty="0"/>
              <a:t>”</a:t>
            </a:r>
          </a:p>
          <a:p>
            <a:pPr lvl="1">
              <a:defRPr/>
            </a:pPr>
            <a:r>
              <a:rPr lang="en-US" altLang="ko-KR" sz="2000" dirty="0"/>
              <a:t>/etc/crontab </a:t>
            </a:r>
            <a:r>
              <a:rPr lang="ko-KR" altLang="en-US" sz="2000" dirty="0"/>
              <a:t>형식</a:t>
            </a:r>
            <a:endParaRPr lang="en-US" altLang="ko-KR" sz="2000" dirty="0"/>
          </a:p>
          <a:p>
            <a:pPr lvl="2">
              <a:defRPr/>
            </a:pPr>
            <a:r>
              <a:rPr lang="ko-KR" altLang="en-US" sz="1600" dirty="0"/>
              <a:t>분 시 일 월 요일 사용자 실행명령</a:t>
            </a:r>
            <a:endParaRPr lang="en-US" altLang="ko-KR" sz="1600" dirty="0"/>
          </a:p>
          <a:p>
            <a:pPr lvl="2">
              <a:defRPr/>
            </a:pPr>
            <a:r>
              <a:rPr lang="ko-KR" altLang="en-US" sz="1600" dirty="0">
                <a:solidFill>
                  <a:srgbClr val="0070C0"/>
                </a:solidFill>
              </a:rPr>
              <a:t>예</a:t>
            </a:r>
            <a:r>
              <a:rPr lang="en-US" altLang="ko-KR" sz="1600" dirty="0">
                <a:solidFill>
                  <a:srgbClr val="0070C0"/>
                </a:solidFill>
              </a:rPr>
              <a:t>) 00 05 1 * * root </a:t>
            </a:r>
            <a:r>
              <a:rPr lang="en-US" altLang="ko-KR" sz="1600" dirty="0" err="1">
                <a:solidFill>
                  <a:srgbClr val="0070C0"/>
                </a:solidFill>
              </a:rPr>
              <a:t>cp</a:t>
            </a:r>
            <a:r>
              <a:rPr lang="en-US" altLang="ko-KR" sz="1600" dirty="0">
                <a:solidFill>
                  <a:srgbClr val="0070C0"/>
                </a:solidFill>
              </a:rPr>
              <a:t> -r /home /backup</a:t>
            </a:r>
          </a:p>
          <a:p>
            <a:pPr>
              <a:defRPr/>
            </a:pPr>
            <a:r>
              <a:rPr lang="en-US" altLang="ko-KR" dirty="0"/>
              <a:t>at</a:t>
            </a:r>
          </a:p>
          <a:p>
            <a:pPr lvl="1">
              <a:defRPr/>
            </a:pPr>
            <a:r>
              <a:rPr lang="ko-KR" altLang="en-US" sz="2000" dirty="0"/>
              <a:t>일회성 작업을 예약</a:t>
            </a:r>
            <a:endParaRPr lang="en-US" altLang="ko-KR" sz="2000" dirty="0"/>
          </a:p>
          <a:p>
            <a:pPr lvl="1">
              <a:defRPr/>
            </a:pPr>
            <a:r>
              <a:rPr lang="ko-KR" altLang="en-US" sz="2000" dirty="0"/>
              <a:t>사용 예</a:t>
            </a:r>
            <a:endParaRPr lang="en-US" altLang="ko-KR" sz="2000" dirty="0"/>
          </a:p>
          <a:p>
            <a:pPr lvl="2">
              <a:defRPr/>
            </a:pPr>
            <a:r>
              <a:rPr lang="ko-KR" altLang="en-US" sz="1600" dirty="0">
                <a:solidFill>
                  <a:srgbClr val="0070C0"/>
                </a:solidFill>
              </a:rPr>
              <a:t>예약 </a:t>
            </a:r>
            <a:r>
              <a:rPr lang="en-US" altLang="ko-KR" sz="1600" dirty="0">
                <a:solidFill>
                  <a:srgbClr val="0070C0"/>
                </a:solidFill>
              </a:rPr>
              <a:t>: # at &lt;</a:t>
            </a:r>
            <a:r>
              <a:rPr lang="ko-KR" altLang="en-US" sz="1600" dirty="0">
                <a:solidFill>
                  <a:srgbClr val="0070C0"/>
                </a:solidFill>
              </a:rPr>
              <a:t>시간</a:t>
            </a:r>
            <a:r>
              <a:rPr lang="en-US" altLang="ko-KR" sz="1600" dirty="0">
                <a:solidFill>
                  <a:srgbClr val="0070C0"/>
                </a:solidFill>
              </a:rPr>
              <a:t>&gt;</a:t>
            </a:r>
          </a:p>
          <a:p>
            <a:pPr lvl="2">
              <a:defRPr/>
            </a:pPr>
            <a:r>
              <a:rPr lang="ko-KR" altLang="en-US" sz="1600" dirty="0">
                <a:solidFill>
                  <a:srgbClr val="0070C0"/>
                </a:solidFill>
              </a:rPr>
              <a:t>예</a:t>
            </a:r>
            <a:r>
              <a:rPr lang="en-US" altLang="ko-KR" sz="1600" dirty="0">
                <a:solidFill>
                  <a:srgbClr val="0070C0"/>
                </a:solidFill>
              </a:rPr>
              <a:t>) # at 3:00am tomorrow → </a:t>
            </a:r>
            <a:r>
              <a:rPr lang="ko-KR" altLang="en-US" sz="1600" dirty="0">
                <a:solidFill>
                  <a:srgbClr val="0070C0"/>
                </a:solidFill>
              </a:rPr>
              <a:t>내일 새벽 </a:t>
            </a:r>
            <a:r>
              <a:rPr lang="en-US" altLang="ko-KR" sz="1600" dirty="0">
                <a:solidFill>
                  <a:srgbClr val="0070C0"/>
                </a:solidFill>
              </a:rPr>
              <a:t>3</a:t>
            </a:r>
            <a:r>
              <a:rPr lang="ko-KR" altLang="en-US" sz="1600" dirty="0">
                <a:solidFill>
                  <a:srgbClr val="0070C0"/>
                </a:solidFill>
              </a:rPr>
              <a:t>시</a:t>
            </a:r>
          </a:p>
          <a:p>
            <a:pPr lvl="2">
              <a:buNone/>
              <a:defRPr/>
            </a:pPr>
            <a:r>
              <a:rPr lang="en-US" altLang="ko-KR" sz="1600" dirty="0">
                <a:solidFill>
                  <a:srgbClr val="0070C0"/>
                </a:solidFill>
              </a:rPr>
              <a:t>           # at now + 1 hours → 1</a:t>
            </a:r>
            <a:r>
              <a:rPr lang="ko-KR" altLang="en-US" sz="1600" dirty="0">
                <a:solidFill>
                  <a:srgbClr val="0070C0"/>
                </a:solidFill>
              </a:rPr>
              <a:t>시간 후</a:t>
            </a:r>
          </a:p>
          <a:p>
            <a:pPr lvl="2">
              <a:defRPr/>
            </a:pPr>
            <a:r>
              <a:rPr lang="en-US" altLang="ko-KR" sz="1600" dirty="0">
                <a:solidFill>
                  <a:srgbClr val="0070C0"/>
                </a:solidFill>
              </a:rPr>
              <a:t>at&gt; </a:t>
            </a:r>
            <a:r>
              <a:rPr lang="ko-KR" altLang="en-US" sz="1600" dirty="0">
                <a:solidFill>
                  <a:srgbClr val="0070C0"/>
                </a:solidFill>
              </a:rPr>
              <a:t>프롬프트에 예약 명령어 입력 후 </a:t>
            </a:r>
            <a:r>
              <a:rPr lang="en-US" altLang="ko-KR" sz="1600" dirty="0">
                <a:solidFill>
                  <a:srgbClr val="0070C0"/>
                </a:solidFill>
              </a:rPr>
              <a:t>[Enter]</a:t>
            </a:r>
            <a:endParaRPr lang="ko-KR" altLang="en-US" sz="1600" dirty="0">
              <a:solidFill>
                <a:srgbClr val="0070C0"/>
              </a:solidFill>
            </a:endParaRPr>
          </a:p>
          <a:p>
            <a:pPr lvl="2">
              <a:defRPr/>
            </a:pPr>
            <a:r>
              <a:rPr lang="ko-KR" altLang="en-US" sz="1600" dirty="0">
                <a:solidFill>
                  <a:srgbClr val="0070C0"/>
                </a:solidFill>
              </a:rPr>
              <a:t>완료되면 </a:t>
            </a:r>
            <a:r>
              <a:rPr lang="en-US" altLang="ko-KR" sz="1600" dirty="0">
                <a:solidFill>
                  <a:srgbClr val="0070C0"/>
                </a:solidFill>
              </a:rPr>
              <a:t>[Ctrl] + [D]</a:t>
            </a:r>
          </a:p>
          <a:p>
            <a:pPr lvl="2">
              <a:defRPr/>
            </a:pPr>
            <a:r>
              <a:rPr lang="ko-KR" altLang="en-US" sz="1600" dirty="0">
                <a:solidFill>
                  <a:srgbClr val="0070C0"/>
                </a:solidFill>
              </a:rPr>
              <a:t>확인 </a:t>
            </a:r>
            <a:r>
              <a:rPr lang="en-US" altLang="ko-KR" sz="1600" dirty="0">
                <a:solidFill>
                  <a:srgbClr val="0070C0"/>
                </a:solidFill>
              </a:rPr>
              <a:t>: # at -l</a:t>
            </a:r>
          </a:p>
          <a:p>
            <a:pPr lvl="2">
              <a:defRPr/>
            </a:pPr>
            <a:r>
              <a:rPr lang="ko-KR" altLang="en-US" sz="1600" dirty="0">
                <a:solidFill>
                  <a:srgbClr val="0070C0"/>
                </a:solidFill>
              </a:rPr>
              <a:t>취소 </a:t>
            </a:r>
            <a:r>
              <a:rPr lang="en-US" altLang="ko-KR" sz="1600" dirty="0">
                <a:solidFill>
                  <a:srgbClr val="0070C0"/>
                </a:solidFill>
              </a:rPr>
              <a:t>: # </a:t>
            </a:r>
            <a:r>
              <a:rPr lang="en-US" altLang="ko-KR" sz="1600" dirty="0" err="1">
                <a:solidFill>
                  <a:srgbClr val="0070C0"/>
                </a:solidFill>
              </a:rPr>
              <a:t>atrm</a:t>
            </a:r>
            <a:r>
              <a:rPr lang="en-US" altLang="ko-KR" sz="1600" dirty="0">
                <a:solidFill>
                  <a:srgbClr val="0070C0"/>
                </a:solidFill>
              </a:rPr>
              <a:t> &lt;</a:t>
            </a:r>
            <a:r>
              <a:rPr lang="ko-KR" altLang="en-US" sz="1600" dirty="0">
                <a:solidFill>
                  <a:srgbClr val="0070C0"/>
                </a:solidFill>
              </a:rPr>
              <a:t>작업번호</a:t>
            </a:r>
            <a:r>
              <a:rPr lang="en-US" altLang="ko-KR" sz="1600" dirty="0">
                <a:solidFill>
                  <a:srgbClr val="0070C0"/>
                </a:solidFill>
              </a:rPr>
              <a:t>&gt;</a:t>
            </a:r>
            <a:endParaRPr lang="en-US" altLang="ko-KR" sz="1400" dirty="0"/>
          </a:p>
        </p:txBody>
      </p:sp>
      <p:sp>
        <p:nvSpPr>
          <p:cNvPr id="2" name="말풍선: 타원형 1">
            <a:extLst>
              <a:ext uri="{FF2B5EF4-FFF2-40B4-BE49-F238E27FC236}">
                <a16:creationId xmlns:a16="http://schemas.microsoft.com/office/drawing/2014/main" id="{A19004E6-0EDA-2930-7A4F-A0DE1B02A178}"/>
              </a:ext>
            </a:extLst>
          </p:cNvPr>
          <p:cNvSpPr/>
          <p:nvPr/>
        </p:nvSpPr>
        <p:spPr>
          <a:xfrm>
            <a:off x="2627784" y="625475"/>
            <a:ext cx="1049292" cy="410369"/>
          </a:xfrm>
          <a:prstGeom prst="wedgeEllipseCallout">
            <a:avLst>
              <a:gd name="adj1" fmla="val -49721"/>
              <a:gd name="adj2" fmla="val 61440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253</a:t>
            </a:r>
            <a:r>
              <a:rPr lang="ko-KR" altLang="en-US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</p:spTree>
    <p:extLst>
      <p:ext uri="{BB962C8B-B14F-4D97-AF65-F5344CB8AC3E}">
        <p14:creationId xmlns:p14="http://schemas.microsoft.com/office/powerpoint/2010/main" val="77505466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EFBB0FF2-5EA5-4C3E-A78F-7412D2F79638}"/>
              </a:ext>
            </a:extLst>
          </p:cNvPr>
          <p:cNvSpPr txBox="1">
            <a:spLocks/>
          </p:cNvSpPr>
          <p:nvPr/>
        </p:nvSpPr>
        <p:spPr bwMode="auto">
          <a:xfrm>
            <a:off x="790109" y="646265"/>
            <a:ext cx="8075240" cy="642937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50000"/>
                  <a:shade val="30000"/>
                  <a:satMod val="115000"/>
                </a:schemeClr>
              </a:gs>
              <a:gs pos="50000">
                <a:schemeClr val="bg2">
                  <a:lumMod val="50000"/>
                  <a:shade val="67500"/>
                  <a:satMod val="115000"/>
                </a:schemeClr>
              </a:gs>
              <a:gs pos="100000">
                <a:schemeClr val="bg2">
                  <a:lumMod val="50000"/>
                  <a:shade val="100000"/>
                  <a:satMod val="115000"/>
                </a:schemeClr>
              </a:gs>
            </a:gsLst>
            <a:lin ang="0" scaled="1"/>
            <a:tileRect/>
          </a:gradFill>
          <a:ln>
            <a:noFill/>
            <a:miter lim="800000"/>
            <a:headEnd/>
            <a:tailEnd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2"/>
                </a:solidFill>
                <a:latin typeface="HY견고딕" pitchFamily="18" charset="-127"/>
                <a:ea typeface="HY견고딕" pitchFamily="18" charset="-127"/>
                <a:cs typeface="+mj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9pPr>
          </a:lstStyle>
          <a:p>
            <a:pPr eaLnBrk="1" hangingPunct="1">
              <a:defRPr/>
            </a:pPr>
            <a:r>
              <a:rPr kumimoji="0" lang="en-US" altLang="ko-KR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&lt;</a:t>
            </a:r>
            <a:r>
              <a:rPr kumimoji="0" lang="ko-KR" altLang="en-US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실습</a:t>
            </a:r>
            <a:r>
              <a:rPr kumimoji="0" lang="en-US" altLang="ko-KR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14&gt; </a:t>
            </a:r>
            <a:r>
              <a:rPr kumimoji="0" lang="en-US" altLang="ko-KR" sz="2400" dirty="0" err="1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cron</a:t>
            </a:r>
            <a:r>
              <a:rPr kumimoji="0" lang="en-US" altLang="ko-KR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, at </a:t>
            </a:r>
            <a:r>
              <a:rPr kumimoji="0" lang="ko-KR" altLang="en-US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실습 </a:t>
            </a:r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FAF8ABAE-47DD-42C4-ABF3-3634D335334F}"/>
              </a:ext>
            </a:extLst>
          </p:cNvPr>
          <p:cNvSpPr txBox="1">
            <a:spLocks/>
          </p:cNvSpPr>
          <p:nvPr/>
        </p:nvSpPr>
        <p:spPr bwMode="auto">
          <a:xfrm>
            <a:off x="790109" y="618801"/>
            <a:ext cx="8075240" cy="642937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50000"/>
                  <a:shade val="30000"/>
                  <a:satMod val="115000"/>
                </a:schemeClr>
              </a:gs>
              <a:gs pos="50000">
                <a:schemeClr val="bg2">
                  <a:lumMod val="50000"/>
                  <a:shade val="67500"/>
                  <a:satMod val="115000"/>
                </a:schemeClr>
              </a:gs>
              <a:gs pos="100000">
                <a:schemeClr val="bg2">
                  <a:lumMod val="50000"/>
                  <a:shade val="100000"/>
                  <a:satMod val="115000"/>
                </a:schemeClr>
              </a:gs>
            </a:gsLst>
            <a:lin ang="0" scaled="1"/>
            <a:tileRect/>
          </a:gradFill>
          <a:ln>
            <a:noFill/>
            <a:miter lim="800000"/>
            <a:headEnd/>
            <a:tailEnd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2"/>
                </a:solidFill>
                <a:latin typeface="HY견고딕" pitchFamily="18" charset="-127"/>
                <a:ea typeface="HY견고딕" pitchFamily="18" charset="-127"/>
                <a:cs typeface="+mj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9pPr>
          </a:lstStyle>
          <a:p>
            <a:pPr eaLnBrk="1" hangingPunct="1">
              <a:defRPr/>
            </a:pPr>
            <a:r>
              <a:rPr kumimoji="0" lang="en-US" altLang="ko-KR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&lt;</a:t>
            </a:r>
            <a:r>
              <a:rPr kumimoji="0" lang="ko-KR" altLang="en-US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실습</a:t>
            </a:r>
            <a:r>
              <a:rPr kumimoji="0" lang="en-US" altLang="ko-KR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14&gt; </a:t>
            </a:r>
            <a:r>
              <a:rPr kumimoji="0" lang="en-US" altLang="ko-KR" sz="2400" dirty="0" err="1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cron</a:t>
            </a:r>
            <a:r>
              <a:rPr kumimoji="0" lang="en-US" altLang="ko-KR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, at </a:t>
            </a:r>
            <a:r>
              <a:rPr kumimoji="0" lang="ko-KR" altLang="en-US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실습 </a:t>
            </a:r>
          </a:p>
        </p:txBody>
      </p:sp>
      <p:sp>
        <p:nvSpPr>
          <p:cNvPr id="19459" name="내용 개체 틀 2"/>
          <p:cNvSpPr>
            <a:spLocks noGrp="1"/>
          </p:cNvSpPr>
          <p:nvPr>
            <p:ph idx="1"/>
          </p:nvPr>
        </p:nvSpPr>
        <p:spPr>
          <a:xfrm>
            <a:off x="500063" y="1357313"/>
            <a:ext cx="8229600" cy="5143500"/>
          </a:xfrm>
        </p:spPr>
        <p:txBody>
          <a:bodyPr/>
          <a:lstStyle/>
          <a:p>
            <a:pPr eaLnBrk="1" hangingPunct="1">
              <a:defRPr/>
            </a:pPr>
            <a:r>
              <a:rPr lang="ko-KR" altLang="en-US" dirty="0"/>
              <a:t>실습목표</a:t>
            </a:r>
            <a:endParaRPr lang="en-US" altLang="ko-KR" dirty="0"/>
          </a:p>
          <a:p>
            <a:pPr lvl="1" eaLnBrk="1" hangingPunct="1">
              <a:defRPr/>
            </a:pPr>
            <a:r>
              <a:rPr lang="en-US" altLang="ko-KR" sz="2000" dirty="0" err="1"/>
              <a:t>cron</a:t>
            </a:r>
            <a:r>
              <a:rPr lang="ko-KR" altLang="en-US" sz="2000" dirty="0"/>
              <a:t>을 활용하여 매월 </a:t>
            </a:r>
            <a:r>
              <a:rPr lang="en-US" altLang="ko-KR" sz="2000" dirty="0"/>
              <a:t>15</a:t>
            </a:r>
            <a:r>
              <a:rPr lang="ko-KR" altLang="en-US" sz="2000" dirty="0"/>
              <a:t>일 새벽 </a:t>
            </a:r>
            <a:r>
              <a:rPr lang="en-US" altLang="ko-KR" sz="2000" dirty="0"/>
              <a:t>3</a:t>
            </a:r>
            <a:r>
              <a:rPr lang="ko-KR" altLang="en-US" sz="2000" dirty="0"/>
              <a:t>시 </a:t>
            </a:r>
            <a:r>
              <a:rPr lang="en-US" altLang="ko-KR" sz="2000" dirty="0"/>
              <a:t>1</a:t>
            </a:r>
            <a:r>
              <a:rPr lang="ko-KR" altLang="en-US" sz="2000" dirty="0"/>
              <a:t>분에 </a:t>
            </a:r>
            <a:r>
              <a:rPr lang="en-US" altLang="ko-KR" sz="2000" dirty="0"/>
              <a:t>/home</a:t>
            </a:r>
            <a:r>
              <a:rPr lang="ko-KR" altLang="en-US" sz="2000" dirty="0"/>
              <a:t>디렉터리와 그 하위 디렉터리를 </a:t>
            </a:r>
            <a:r>
              <a:rPr lang="en-US" altLang="ko-KR" sz="2000" dirty="0"/>
              <a:t>/backup </a:t>
            </a:r>
            <a:r>
              <a:rPr lang="ko-KR" altLang="en-US" sz="2000" dirty="0"/>
              <a:t>디렉터리에 백업하는 방법을 익힌다</a:t>
            </a:r>
            <a:r>
              <a:rPr lang="en-US" altLang="ko-KR" sz="2000" dirty="0"/>
              <a:t>.</a:t>
            </a:r>
          </a:p>
          <a:p>
            <a:pPr lvl="1" eaLnBrk="1" hangingPunct="1">
              <a:defRPr/>
            </a:pPr>
            <a:r>
              <a:rPr lang="en-US" altLang="ko-KR" sz="2000" dirty="0"/>
              <a:t>AT</a:t>
            </a:r>
            <a:r>
              <a:rPr lang="ko-KR" altLang="en-US" sz="2000" dirty="0"/>
              <a:t>의 사용법을 익힌다</a:t>
            </a:r>
            <a:r>
              <a:rPr lang="en-US" altLang="ko-KR" sz="2000" dirty="0"/>
              <a:t>.</a:t>
            </a:r>
          </a:p>
          <a:p>
            <a:pPr eaLnBrk="1" hangingPunct="1">
              <a:defRPr/>
            </a:pPr>
            <a:r>
              <a:rPr lang="ko-KR" altLang="en-US" dirty="0"/>
              <a:t>실습 화면 </a:t>
            </a:r>
            <a:r>
              <a:rPr lang="en-US" altLang="ko-KR" dirty="0"/>
              <a:t>(</a:t>
            </a:r>
            <a:r>
              <a:rPr lang="ko-KR" altLang="en-US" dirty="0"/>
              <a:t>백업 진행</a:t>
            </a:r>
            <a:r>
              <a:rPr lang="en-US" altLang="ko-KR" dirty="0"/>
              <a:t>)</a:t>
            </a:r>
          </a:p>
          <a:p>
            <a:pPr lvl="2" eaLnBrk="1" hangingPunct="1">
              <a:defRPr/>
            </a:pPr>
            <a:endParaRPr lang="en-US" altLang="ko-KR" dirty="0"/>
          </a:p>
          <a:p>
            <a:pPr eaLnBrk="1" hangingPunct="1">
              <a:defRPr/>
            </a:pPr>
            <a:endParaRPr lang="ko-KR" altLang="en-US" dirty="0"/>
          </a:p>
        </p:txBody>
      </p:sp>
      <p:pic>
        <p:nvPicPr>
          <p:cNvPr id="5" name="그림 4" descr="키보드, 컴퓨터이(가) 표시된 사진&#10;&#10;자동 생성된 설명">
            <a:extLst>
              <a:ext uri="{FF2B5EF4-FFF2-40B4-BE49-F238E27FC236}">
                <a16:creationId xmlns:a16="http://schemas.microsoft.com/office/drawing/2014/main" id="{7900BE00-6405-4E5C-98A6-2E124C1FC77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6768" y="448223"/>
            <a:ext cx="756709" cy="742276"/>
          </a:xfrm>
          <a:prstGeom prst="rect">
            <a:avLst/>
          </a:prstGeom>
        </p:spPr>
      </p:pic>
      <p:pic>
        <p:nvPicPr>
          <p:cNvPr id="17" name="그림 16" descr="키보드, 컴퓨터이(가) 표시된 사진&#10;&#10;자동 생성된 설명">
            <a:extLst>
              <a:ext uri="{FF2B5EF4-FFF2-40B4-BE49-F238E27FC236}">
                <a16:creationId xmlns:a16="http://schemas.microsoft.com/office/drawing/2014/main" id="{B631490F-E13F-4318-8628-8BF81F974EE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6768" y="475687"/>
            <a:ext cx="756709" cy="742276"/>
          </a:xfrm>
          <a:prstGeom prst="rect">
            <a:avLst/>
          </a:prstGeom>
        </p:spPr>
      </p:pic>
      <p:sp>
        <p:nvSpPr>
          <p:cNvPr id="2" name="말풍선: 타원형 1">
            <a:extLst>
              <a:ext uri="{FF2B5EF4-FFF2-40B4-BE49-F238E27FC236}">
                <a16:creationId xmlns:a16="http://schemas.microsoft.com/office/drawing/2014/main" id="{FE08D018-4E37-D386-9D9C-BA03EA30F1ED}"/>
              </a:ext>
            </a:extLst>
          </p:cNvPr>
          <p:cNvSpPr/>
          <p:nvPr/>
        </p:nvSpPr>
        <p:spPr>
          <a:xfrm>
            <a:off x="4184219" y="518775"/>
            <a:ext cx="1049292" cy="410369"/>
          </a:xfrm>
          <a:prstGeom prst="wedgeEllipseCallout">
            <a:avLst>
              <a:gd name="adj1" fmla="val -49721"/>
              <a:gd name="adj2" fmla="val 61440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255</a:t>
            </a:r>
            <a:r>
              <a:rPr lang="ko-KR" altLang="en-US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  <p:pic>
        <p:nvPicPr>
          <p:cNvPr id="7" name="그림 6" descr="텍스트, 스크린샷, 폰트, 소프트웨어이(가) 표시된 사진&#10;&#10;자동 생성된 설명">
            <a:extLst>
              <a:ext uri="{FF2B5EF4-FFF2-40B4-BE49-F238E27FC236}">
                <a16:creationId xmlns:a16="http://schemas.microsoft.com/office/drawing/2014/main" id="{04623DDE-1C8A-BB63-729B-84A6ECC0397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2539" y="3284984"/>
            <a:ext cx="5672651" cy="3148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366960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95536" y="2492896"/>
            <a:ext cx="8280523" cy="5971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▶ </a:t>
            </a: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힌트 없음</a:t>
            </a:r>
            <a:endParaRPr lang="en-US" altLang="ko-KR" sz="24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" name="말풍선: 타원형 1">
            <a:extLst>
              <a:ext uri="{FF2B5EF4-FFF2-40B4-BE49-F238E27FC236}">
                <a16:creationId xmlns:a16="http://schemas.microsoft.com/office/drawing/2014/main" id="{0BD15E11-915B-0E88-6BA7-985BF139EC27}"/>
              </a:ext>
            </a:extLst>
          </p:cNvPr>
          <p:cNvSpPr/>
          <p:nvPr/>
        </p:nvSpPr>
        <p:spPr>
          <a:xfrm>
            <a:off x="6922453" y="764704"/>
            <a:ext cx="1049292" cy="410369"/>
          </a:xfrm>
          <a:prstGeom prst="wedgeEllipseCallout">
            <a:avLst>
              <a:gd name="adj1" fmla="val -49721"/>
              <a:gd name="adj2" fmla="val 61440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260</a:t>
            </a:r>
            <a:r>
              <a:rPr lang="ko-KR" altLang="en-US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EA63D01-9EB4-196B-E139-1FFD60833AAA}"/>
              </a:ext>
            </a:extLst>
          </p:cNvPr>
          <p:cNvSpPr/>
          <p:nvPr/>
        </p:nvSpPr>
        <p:spPr>
          <a:xfrm>
            <a:off x="1907642" y="908720"/>
            <a:ext cx="511229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ko-KR" alt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660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비타민 퀴즈 </a:t>
            </a:r>
            <a:r>
              <a:rPr lang="en-US" altLang="ko-KR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660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4-2 </a:t>
            </a:r>
          </a:p>
        </p:txBody>
      </p:sp>
    </p:spTree>
    <p:extLst>
      <p:ext uri="{BB962C8B-B14F-4D97-AF65-F5344CB8AC3E}">
        <p14:creationId xmlns:p14="http://schemas.microsoft.com/office/powerpoint/2010/main" val="182509852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제목 1"/>
          <p:cNvSpPr>
            <a:spLocks noGrp="1"/>
          </p:cNvSpPr>
          <p:nvPr>
            <p:ph type="title"/>
          </p:nvPr>
        </p:nvSpPr>
        <p:spPr>
          <a:xfrm>
            <a:off x="500063" y="714375"/>
            <a:ext cx="8229600" cy="642938"/>
          </a:xfrm>
        </p:spPr>
        <p:txBody>
          <a:bodyPr/>
          <a:lstStyle/>
          <a:p>
            <a:pPr eaLnBrk="1" hangingPunct="1"/>
            <a:r>
              <a:rPr lang="ko-KR" altLang="en-US" sz="2800" dirty="0">
                <a:solidFill>
                  <a:schemeClr val="tx1"/>
                </a:solidFill>
              </a:rPr>
              <a:t>네트워크 관련 필수 개념 </a:t>
            </a:r>
            <a:r>
              <a:rPr lang="en-US" altLang="ko-KR" sz="2800" dirty="0">
                <a:solidFill>
                  <a:schemeClr val="tx1"/>
                </a:solidFill>
              </a:rPr>
              <a:t>(1)</a:t>
            </a:r>
            <a:endParaRPr lang="ko-KR" altLang="en-US" sz="2800" dirty="0">
              <a:solidFill>
                <a:srgbClr val="00B050"/>
              </a:solidFill>
            </a:endParaRPr>
          </a:p>
        </p:txBody>
      </p:sp>
      <p:sp>
        <p:nvSpPr>
          <p:cNvPr id="6" name="내용 개체 틀 2"/>
          <p:cNvSpPr>
            <a:spLocks noGrp="1"/>
          </p:cNvSpPr>
          <p:nvPr>
            <p:ph idx="1"/>
          </p:nvPr>
        </p:nvSpPr>
        <p:spPr>
          <a:xfrm>
            <a:off x="457200" y="1357313"/>
            <a:ext cx="8229600" cy="5214937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en-US" altLang="ko-KR" dirty="0"/>
              <a:t>TCP/IP</a:t>
            </a:r>
          </a:p>
          <a:p>
            <a:pPr lvl="1">
              <a:defRPr/>
            </a:pPr>
            <a:r>
              <a:rPr lang="ko-KR" altLang="en-US" sz="2000" dirty="0"/>
              <a:t>컴퓨터끼리 네트워크 상으로 의사소통을 하는 “프로토콜” 중 가장 널리 사용되는 프로토콜의 한 종류</a:t>
            </a:r>
            <a:endParaRPr lang="en-US" altLang="ko-KR" sz="2000" dirty="0"/>
          </a:p>
          <a:p>
            <a:pPr>
              <a:defRPr/>
            </a:pPr>
            <a:r>
              <a:rPr lang="ko-KR" altLang="en-US" dirty="0"/>
              <a:t>호스트 이름</a:t>
            </a:r>
            <a:r>
              <a:rPr lang="en-US" altLang="ko-KR" dirty="0"/>
              <a:t>(Hostname)</a:t>
            </a:r>
            <a:r>
              <a:rPr lang="ko-KR" altLang="en-US" dirty="0"/>
              <a:t>과 도메인 이름</a:t>
            </a:r>
            <a:r>
              <a:rPr lang="en-US" altLang="ko-KR" dirty="0"/>
              <a:t>(Domain name)</a:t>
            </a:r>
          </a:p>
          <a:p>
            <a:pPr lvl="1">
              <a:defRPr/>
            </a:pPr>
            <a:r>
              <a:rPr lang="ko-KR" altLang="en-US" sz="2000" dirty="0"/>
              <a:t>호스트 이름은 각각의 컴퓨터에 지정된 이름</a:t>
            </a:r>
            <a:endParaRPr lang="en-US" altLang="ko-KR" sz="2000" dirty="0"/>
          </a:p>
          <a:p>
            <a:pPr lvl="1">
              <a:defRPr/>
            </a:pPr>
            <a:r>
              <a:rPr lang="ko-KR" altLang="en-US" sz="2000" dirty="0"/>
              <a:t>도메인 이름</a:t>
            </a:r>
            <a:r>
              <a:rPr lang="en-US" altLang="ko-KR" sz="2000" dirty="0"/>
              <a:t>(</a:t>
            </a:r>
            <a:r>
              <a:rPr lang="ko-KR" altLang="en-US" sz="2000" dirty="0"/>
              <a:t>또는 도메인 주소</a:t>
            </a:r>
            <a:r>
              <a:rPr lang="en-US" altLang="ko-KR" sz="2000" dirty="0"/>
              <a:t>)</a:t>
            </a:r>
            <a:r>
              <a:rPr lang="ko-KR" altLang="en-US" sz="2000" dirty="0"/>
              <a:t>는 </a:t>
            </a:r>
            <a:r>
              <a:rPr lang="en-US" altLang="ko-KR" sz="2000" dirty="0"/>
              <a:t>hanbit.co.kr</a:t>
            </a:r>
            <a:r>
              <a:rPr lang="ko-KR" altLang="en-US" sz="2000" dirty="0"/>
              <a:t>과 같은 형식</a:t>
            </a:r>
            <a:endParaRPr lang="en-US" altLang="ko-KR" sz="2000" dirty="0"/>
          </a:p>
          <a:p>
            <a:pPr>
              <a:defRPr/>
            </a:pPr>
            <a:r>
              <a:rPr lang="en-US" altLang="ko-KR" dirty="0"/>
              <a:t>IP </a:t>
            </a:r>
            <a:r>
              <a:rPr lang="ko-KR" altLang="en-US" dirty="0"/>
              <a:t>주소</a:t>
            </a:r>
            <a:endParaRPr lang="en-US" altLang="ko-KR" dirty="0"/>
          </a:p>
          <a:p>
            <a:pPr lvl="1">
              <a:defRPr/>
            </a:pPr>
            <a:r>
              <a:rPr lang="ko-KR" altLang="en-US" sz="2000" dirty="0"/>
              <a:t>각 컴퓨터의 </a:t>
            </a:r>
            <a:r>
              <a:rPr lang="ko-KR" altLang="en-US" sz="2000" dirty="0" err="1"/>
              <a:t>랜카드에</a:t>
            </a:r>
            <a:r>
              <a:rPr lang="ko-KR" altLang="en-US" sz="2000" dirty="0"/>
              <a:t> 부여되는 중복되지 않는 유일한 주소</a:t>
            </a:r>
            <a:endParaRPr lang="en-US" altLang="ko-KR" sz="2000" dirty="0"/>
          </a:p>
          <a:p>
            <a:pPr lvl="1">
              <a:defRPr/>
            </a:pPr>
            <a:r>
              <a:rPr lang="en-US" altLang="ko-KR" sz="2000" dirty="0"/>
              <a:t>4</a:t>
            </a:r>
            <a:r>
              <a:rPr lang="ko-KR" altLang="en-US" sz="2000" dirty="0"/>
              <a:t>바이트로 이루어져 있으며</a:t>
            </a:r>
            <a:r>
              <a:rPr lang="en-US" altLang="ko-KR" sz="2000" dirty="0"/>
              <a:t>, </a:t>
            </a:r>
            <a:r>
              <a:rPr lang="ko-KR" altLang="en-US" sz="2000" dirty="0"/>
              <a:t>각 자리는 </a:t>
            </a:r>
            <a:r>
              <a:rPr lang="en-US" altLang="ko-KR" sz="2000" dirty="0"/>
              <a:t>0~255</a:t>
            </a:r>
            <a:r>
              <a:rPr lang="ko-KR" altLang="en-US" sz="2000" dirty="0"/>
              <a:t>까지의 숫자</a:t>
            </a:r>
            <a:endParaRPr lang="en-US" altLang="ko-KR" sz="2000" dirty="0"/>
          </a:p>
          <a:p>
            <a:pPr lvl="1">
              <a:defRPr/>
            </a:pPr>
            <a:r>
              <a:rPr lang="ko-KR" altLang="en-US" sz="2000" dirty="0"/>
              <a:t>예</a:t>
            </a:r>
            <a:r>
              <a:rPr lang="en-US" altLang="ko-KR" sz="2000" dirty="0"/>
              <a:t>) Server</a:t>
            </a:r>
            <a:r>
              <a:rPr lang="ko-KR" altLang="en-US" sz="2000" dirty="0"/>
              <a:t>의 </a:t>
            </a:r>
            <a:r>
              <a:rPr lang="en-US" altLang="ko-KR" sz="2000" dirty="0"/>
              <a:t>IP </a:t>
            </a:r>
            <a:r>
              <a:rPr lang="ko-KR" altLang="en-US" sz="2000" dirty="0"/>
              <a:t>주소는 </a:t>
            </a:r>
            <a:r>
              <a:rPr lang="en-US" altLang="ko-KR" sz="2000" dirty="0"/>
              <a:t>192.168.111.100</a:t>
            </a:r>
          </a:p>
          <a:p>
            <a:pPr>
              <a:defRPr/>
            </a:pPr>
            <a:r>
              <a:rPr lang="ko-KR" altLang="en-US" dirty="0"/>
              <a:t>네트워크 주소</a:t>
            </a:r>
            <a:endParaRPr lang="en-US" altLang="ko-KR" dirty="0"/>
          </a:p>
          <a:p>
            <a:pPr lvl="1">
              <a:defRPr/>
            </a:pPr>
            <a:r>
              <a:rPr lang="ko-KR" altLang="en-US" sz="2000" dirty="0"/>
              <a:t>같은 네트워크에 속해 있는 공통된 주소 </a:t>
            </a:r>
            <a:r>
              <a:rPr lang="en-US" altLang="ko-KR" sz="2000" dirty="0"/>
              <a:t>(</a:t>
            </a:r>
            <a:r>
              <a:rPr lang="ko-KR" altLang="en-US" sz="2000" dirty="0"/>
              <a:t>예 </a:t>
            </a:r>
            <a:r>
              <a:rPr lang="en-US" altLang="ko-KR" sz="2000" dirty="0"/>
              <a:t>: 192.168.111.0)</a:t>
            </a:r>
          </a:p>
        </p:txBody>
      </p:sp>
      <p:sp>
        <p:nvSpPr>
          <p:cNvPr id="2" name="말풍선: 타원형 1">
            <a:extLst>
              <a:ext uri="{FF2B5EF4-FFF2-40B4-BE49-F238E27FC236}">
                <a16:creationId xmlns:a16="http://schemas.microsoft.com/office/drawing/2014/main" id="{910D0E84-2712-CA31-4E09-22969548A9E8}"/>
              </a:ext>
            </a:extLst>
          </p:cNvPr>
          <p:cNvSpPr/>
          <p:nvPr/>
        </p:nvSpPr>
        <p:spPr>
          <a:xfrm>
            <a:off x="5148064" y="625475"/>
            <a:ext cx="1049292" cy="410369"/>
          </a:xfrm>
          <a:prstGeom prst="wedgeEllipseCallout">
            <a:avLst>
              <a:gd name="adj1" fmla="val -49721"/>
              <a:gd name="adj2" fmla="val 61440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261</a:t>
            </a:r>
            <a:r>
              <a:rPr lang="ko-KR" altLang="en-US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</p:spTree>
    <p:extLst>
      <p:ext uri="{BB962C8B-B14F-4D97-AF65-F5344CB8AC3E}">
        <p14:creationId xmlns:p14="http://schemas.microsoft.com/office/powerpoint/2010/main" val="298787409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제목 1"/>
          <p:cNvSpPr>
            <a:spLocks noGrp="1"/>
          </p:cNvSpPr>
          <p:nvPr>
            <p:ph type="title"/>
          </p:nvPr>
        </p:nvSpPr>
        <p:spPr>
          <a:xfrm>
            <a:off x="500063" y="714375"/>
            <a:ext cx="8229600" cy="642938"/>
          </a:xfrm>
        </p:spPr>
        <p:txBody>
          <a:bodyPr/>
          <a:lstStyle/>
          <a:p>
            <a:pPr eaLnBrk="1" hangingPunct="1"/>
            <a:r>
              <a:rPr lang="ko-KR" altLang="en-US" sz="2800" dirty="0">
                <a:solidFill>
                  <a:schemeClr val="tx1"/>
                </a:solidFill>
              </a:rPr>
              <a:t>네트워크 관련 필수 개념 </a:t>
            </a:r>
            <a:r>
              <a:rPr lang="en-US" altLang="ko-KR" sz="2800" dirty="0">
                <a:solidFill>
                  <a:schemeClr val="tx1"/>
                </a:solidFill>
              </a:rPr>
              <a:t>(2)</a:t>
            </a:r>
            <a:endParaRPr lang="ko-KR" altLang="en-US" sz="2800" dirty="0">
              <a:solidFill>
                <a:srgbClr val="00B050"/>
              </a:solidFill>
            </a:endParaRPr>
          </a:p>
        </p:txBody>
      </p:sp>
      <p:sp>
        <p:nvSpPr>
          <p:cNvPr id="6" name="내용 개체 틀 2"/>
          <p:cNvSpPr>
            <a:spLocks noGrp="1"/>
          </p:cNvSpPr>
          <p:nvPr>
            <p:ph idx="1"/>
          </p:nvPr>
        </p:nvSpPr>
        <p:spPr>
          <a:xfrm>
            <a:off x="457200" y="1357313"/>
            <a:ext cx="8229600" cy="5214937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ko-KR" altLang="en-US" dirty="0"/>
              <a:t>브로드캐스트</a:t>
            </a:r>
            <a:r>
              <a:rPr lang="en-US" altLang="ko-KR" dirty="0"/>
              <a:t>(Broadcast) </a:t>
            </a:r>
            <a:r>
              <a:rPr lang="ko-KR" altLang="en-US" dirty="0"/>
              <a:t>주소</a:t>
            </a:r>
            <a:endParaRPr lang="en-US" altLang="ko-KR" dirty="0"/>
          </a:p>
          <a:p>
            <a:pPr lvl="1">
              <a:defRPr/>
            </a:pPr>
            <a:r>
              <a:rPr lang="ko-KR" altLang="en-US" sz="2000" dirty="0"/>
              <a:t>내부 네트워크의 모든 컴퓨터가 듣게 되는 주소</a:t>
            </a:r>
            <a:endParaRPr lang="en-US" altLang="ko-KR" sz="2000" dirty="0"/>
          </a:p>
          <a:p>
            <a:pPr lvl="1">
              <a:defRPr/>
            </a:pPr>
            <a:r>
              <a:rPr lang="ko-KR" altLang="en-US" sz="2000" dirty="0"/>
              <a:t>현재 주소의 제일 끝자리를 </a:t>
            </a:r>
            <a:r>
              <a:rPr lang="en-US" altLang="ko-KR" sz="2000" dirty="0"/>
              <a:t>255</a:t>
            </a:r>
            <a:r>
              <a:rPr lang="ko-KR" altLang="en-US" sz="2000" dirty="0"/>
              <a:t>로 바꾼 주소</a:t>
            </a:r>
            <a:r>
              <a:rPr lang="en-US" altLang="ko-KR" sz="2000" dirty="0"/>
              <a:t>(C</a:t>
            </a:r>
            <a:r>
              <a:rPr lang="ko-KR" altLang="en-US" sz="2000" dirty="0"/>
              <a:t>클래스</a:t>
            </a:r>
            <a:r>
              <a:rPr lang="en-US" altLang="ko-KR" sz="2000" dirty="0"/>
              <a:t>)</a:t>
            </a:r>
          </a:p>
          <a:p>
            <a:pPr>
              <a:defRPr/>
            </a:pPr>
            <a:r>
              <a:rPr lang="ko-KR" altLang="en-US" dirty="0"/>
              <a:t>게이트웨이</a:t>
            </a:r>
            <a:r>
              <a:rPr lang="en-US" altLang="ko-KR" dirty="0"/>
              <a:t>(Gateway), </a:t>
            </a:r>
            <a:r>
              <a:rPr lang="ko-KR" altLang="en-US" dirty="0"/>
              <a:t>라우터</a:t>
            </a:r>
            <a:r>
              <a:rPr lang="en-US" altLang="ko-KR" dirty="0"/>
              <a:t>(Router)</a:t>
            </a:r>
          </a:p>
          <a:p>
            <a:pPr lvl="1">
              <a:defRPr/>
            </a:pPr>
            <a:r>
              <a:rPr lang="ko-KR" altLang="en-US" sz="2000" dirty="0"/>
              <a:t>라우터 </a:t>
            </a:r>
            <a:r>
              <a:rPr lang="en-US" altLang="ko-KR" sz="2000" dirty="0"/>
              <a:t>== </a:t>
            </a:r>
            <a:r>
              <a:rPr lang="ko-KR" altLang="en-US" sz="2000" dirty="0"/>
              <a:t>게이트웨이</a:t>
            </a:r>
            <a:endParaRPr lang="en-US" altLang="ko-KR" sz="2000" dirty="0"/>
          </a:p>
          <a:p>
            <a:pPr lvl="1">
              <a:defRPr/>
            </a:pPr>
            <a:r>
              <a:rPr lang="ko-KR" altLang="en-US" sz="2000" dirty="0"/>
              <a:t>네트워크 간에 데이터를 전송하는 컴퓨터 또는 장비</a:t>
            </a:r>
            <a:endParaRPr lang="en-US" altLang="ko-KR" sz="2000" dirty="0"/>
          </a:p>
          <a:p>
            <a:pPr lvl="1">
              <a:defRPr/>
            </a:pPr>
            <a:r>
              <a:rPr lang="en-US" altLang="ko-KR" sz="2000" dirty="0"/>
              <a:t>VMware</a:t>
            </a:r>
            <a:r>
              <a:rPr lang="ko-KR" altLang="en-US" sz="2000" dirty="0"/>
              <a:t>의 게이트웨이 주소는 </a:t>
            </a:r>
            <a:r>
              <a:rPr lang="en-US" altLang="ko-KR" sz="2000" dirty="0"/>
              <a:t>192.168.111.2</a:t>
            </a:r>
            <a:r>
              <a:rPr lang="ko-KR" altLang="en-US" sz="2000" dirty="0"/>
              <a:t>로 고정</a:t>
            </a:r>
            <a:endParaRPr lang="en-US" altLang="ko-KR" sz="2000" dirty="0"/>
          </a:p>
          <a:p>
            <a:pPr>
              <a:defRPr/>
            </a:pPr>
            <a:r>
              <a:rPr lang="ko-KR" altLang="en-US" dirty="0"/>
              <a:t>넷마스크</a:t>
            </a:r>
            <a:r>
              <a:rPr lang="en-US" altLang="ko-KR" dirty="0"/>
              <a:t>(</a:t>
            </a:r>
            <a:r>
              <a:rPr lang="en-US" altLang="ko-KR" dirty="0" err="1"/>
              <a:t>Netmask</a:t>
            </a:r>
            <a:r>
              <a:rPr lang="en-US" altLang="ko-KR" dirty="0"/>
              <a:t>) &amp; </a:t>
            </a:r>
            <a:r>
              <a:rPr lang="ko-KR" altLang="en-US" dirty="0"/>
              <a:t>클래스</a:t>
            </a:r>
            <a:r>
              <a:rPr lang="en-US" altLang="ko-KR" dirty="0"/>
              <a:t>(Class)</a:t>
            </a:r>
          </a:p>
          <a:p>
            <a:pPr lvl="1">
              <a:defRPr/>
            </a:pPr>
            <a:r>
              <a:rPr lang="ko-KR" altLang="en-US" sz="2000" dirty="0"/>
              <a:t>넷마스크 </a:t>
            </a:r>
            <a:r>
              <a:rPr lang="en-US" altLang="ko-KR" sz="2000" dirty="0"/>
              <a:t>: </a:t>
            </a:r>
            <a:r>
              <a:rPr lang="ko-KR" altLang="en-US" sz="2000" dirty="0"/>
              <a:t>네트워크의 규모를 결정</a:t>
            </a:r>
            <a:r>
              <a:rPr lang="en-US" altLang="ko-KR" sz="2000" dirty="0"/>
              <a:t>(</a:t>
            </a:r>
            <a:r>
              <a:rPr lang="ko-KR" altLang="en-US" sz="2000" dirty="0"/>
              <a:t>예</a:t>
            </a:r>
            <a:r>
              <a:rPr lang="en-US" altLang="ko-KR" sz="2000" dirty="0"/>
              <a:t>:255.255.255.0 </a:t>
            </a:r>
            <a:r>
              <a:rPr lang="en-US" altLang="ko-KR" sz="2000" dirty="0">
                <a:sym typeface="Wingdings" panose="05000000000000000000" pitchFamily="2" charset="2"/>
              </a:rPr>
              <a:t> </a:t>
            </a:r>
            <a:r>
              <a:rPr lang="en-US" altLang="ko-KR" sz="2000" dirty="0"/>
              <a:t>C</a:t>
            </a:r>
            <a:r>
              <a:rPr lang="ko-KR" altLang="en-US" sz="2000" dirty="0"/>
              <a:t>클래스</a:t>
            </a:r>
            <a:r>
              <a:rPr lang="en-US" altLang="ko-KR" sz="2000" dirty="0"/>
              <a:t>)</a:t>
            </a:r>
          </a:p>
          <a:p>
            <a:pPr>
              <a:defRPr/>
            </a:pPr>
            <a:r>
              <a:rPr lang="en-US" altLang="ko-KR" dirty="0"/>
              <a:t>DNS(Domain Name System) </a:t>
            </a:r>
            <a:r>
              <a:rPr lang="ko-KR" altLang="en-US" dirty="0"/>
              <a:t>서버</a:t>
            </a:r>
            <a:r>
              <a:rPr lang="en-US" altLang="ko-KR" dirty="0"/>
              <a:t>(= </a:t>
            </a:r>
            <a:r>
              <a:rPr lang="ko-KR" altLang="en-US" dirty="0"/>
              <a:t>네임 서버</a:t>
            </a:r>
            <a:r>
              <a:rPr lang="en-US" altLang="ko-KR" dirty="0"/>
              <a:t>) </a:t>
            </a:r>
            <a:r>
              <a:rPr lang="ko-KR" altLang="en-US" dirty="0"/>
              <a:t>주소</a:t>
            </a:r>
            <a:endParaRPr lang="en-US" altLang="ko-KR" dirty="0"/>
          </a:p>
          <a:p>
            <a:pPr lvl="1">
              <a:defRPr/>
            </a:pPr>
            <a:r>
              <a:rPr lang="en-US" altLang="ko-KR" sz="2000" dirty="0"/>
              <a:t>URL</a:t>
            </a:r>
            <a:r>
              <a:rPr lang="ko-KR" altLang="en-US" sz="2000" dirty="0"/>
              <a:t>을 해당 컴퓨터의 </a:t>
            </a:r>
            <a:r>
              <a:rPr lang="en-US" altLang="ko-KR" sz="2000" dirty="0"/>
              <a:t>IP</a:t>
            </a:r>
            <a:r>
              <a:rPr lang="ko-KR" altLang="en-US" sz="2000" dirty="0"/>
              <a:t>주소로 변환해 주는 서버</a:t>
            </a:r>
            <a:endParaRPr lang="en-US" altLang="ko-KR" sz="2000" dirty="0"/>
          </a:p>
          <a:p>
            <a:pPr lvl="1">
              <a:defRPr/>
            </a:pPr>
            <a:r>
              <a:rPr lang="ko-KR" altLang="en-US" sz="2000" dirty="0"/>
              <a:t>설정 파일은 </a:t>
            </a:r>
            <a:r>
              <a:rPr lang="en-US" altLang="ko-KR" sz="2000" dirty="0"/>
              <a:t>/etc/</a:t>
            </a:r>
            <a:r>
              <a:rPr lang="en-US" altLang="ko-KR" sz="2000" dirty="0" err="1"/>
              <a:t>resolv.conf</a:t>
            </a:r>
            <a:endParaRPr lang="en-US" altLang="ko-KR" sz="2000" dirty="0"/>
          </a:p>
          <a:p>
            <a:pPr lvl="1">
              <a:defRPr/>
            </a:pPr>
            <a:r>
              <a:rPr lang="en-US" altLang="ko-KR" sz="2000" dirty="0"/>
              <a:t>VMware</a:t>
            </a:r>
            <a:r>
              <a:rPr lang="ko-KR" altLang="en-US" sz="2000" dirty="0"/>
              <a:t>를 사용하면 </a:t>
            </a:r>
            <a:r>
              <a:rPr lang="en-US" altLang="ko-KR" sz="2000" dirty="0"/>
              <a:t>VMware</a:t>
            </a:r>
            <a:r>
              <a:rPr lang="ko-KR" altLang="en-US" sz="2000" dirty="0"/>
              <a:t>가 </a:t>
            </a:r>
            <a:r>
              <a:rPr lang="en-US" altLang="ko-KR" sz="2000" dirty="0"/>
              <a:t>192.168.111.2</a:t>
            </a:r>
            <a:r>
              <a:rPr lang="ko-KR" altLang="en-US" sz="2000" dirty="0"/>
              <a:t>를 게이트웨이</a:t>
            </a:r>
            <a:r>
              <a:rPr lang="en-US" altLang="ko-KR" sz="2000" dirty="0"/>
              <a:t> </a:t>
            </a:r>
            <a:r>
              <a:rPr lang="ko-KR" altLang="en-US" sz="2000" dirty="0"/>
              <a:t>및 </a:t>
            </a:r>
            <a:r>
              <a:rPr lang="en-US" altLang="ko-KR" sz="2000" dirty="0"/>
              <a:t>DNS </a:t>
            </a:r>
            <a:r>
              <a:rPr lang="ko-KR" altLang="en-US" sz="2000" dirty="0"/>
              <a:t>서버로</a:t>
            </a:r>
            <a:r>
              <a:rPr lang="en-US" altLang="ko-KR" sz="2000" dirty="0"/>
              <a:t>, 192.168.111.254</a:t>
            </a:r>
            <a:r>
              <a:rPr lang="ko-KR" altLang="en-US" sz="2000" dirty="0"/>
              <a:t>를 </a:t>
            </a:r>
            <a:r>
              <a:rPr lang="en-US" altLang="ko-KR" sz="2000" dirty="0"/>
              <a:t>DHCP </a:t>
            </a:r>
            <a:r>
              <a:rPr lang="ko-KR" altLang="en-US" sz="2000" dirty="0"/>
              <a:t>서버로 설정함</a:t>
            </a:r>
            <a:r>
              <a:rPr lang="en-US" altLang="ko-KR" sz="2000" dirty="0"/>
              <a:t>.</a:t>
            </a:r>
          </a:p>
        </p:txBody>
      </p:sp>
      <p:sp>
        <p:nvSpPr>
          <p:cNvPr id="2" name="말풍선: 타원형 1">
            <a:extLst>
              <a:ext uri="{FF2B5EF4-FFF2-40B4-BE49-F238E27FC236}">
                <a16:creationId xmlns:a16="http://schemas.microsoft.com/office/drawing/2014/main" id="{53C529BC-F259-C75F-F47A-DC1BF382D91B}"/>
              </a:ext>
            </a:extLst>
          </p:cNvPr>
          <p:cNvSpPr/>
          <p:nvPr/>
        </p:nvSpPr>
        <p:spPr>
          <a:xfrm>
            <a:off x="5148064" y="625475"/>
            <a:ext cx="1049292" cy="410369"/>
          </a:xfrm>
          <a:prstGeom prst="wedgeEllipseCallout">
            <a:avLst>
              <a:gd name="adj1" fmla="val -49721"/>
              <a:gd name="adj2" fmla="val 61440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262</a:t>
            </a:r>
            <a:r>
              <a:rPr lang="ko-KR" altLang="en-US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</p:spTree>
    <p:extLst>
      <p:ext uri="{BB962C8B-B14F-4D97-AF65-F5344CB8AC3E}">
        <p14:creationId xmlns:p14="http://schemas.microsoft.com/office/powerpoint/2010/main" val="270051690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제목 1"/>
          <p:cNvSpPr>
            <a:spLocks noGrp="1"/>
          </p:cNvSpPr>
          <p:nvPr>
            <p:ph type="title"/>
          </p:nvPr>
        </p:nvSpPr>
        <p:spPr>
          <a:xfrm>
            <a:off x="500063" y="714375"/>
            <a:ext cx="8229600" cy="642938"/>
          </a:xfrm>
        </p:spPr>
        <p:txBody>
          <a:bodyPr/>
          <a:lstStyle/>
          <a:p>
            <a:pPr eaLnBrk="1" hangingPunct="1"/>
            <a:r>
              <a:rPr lang="ko-KR" altLang="en-US" sz="2800" dirty="0">
                <a:solidFill>
                  <a:schemeClr val="tx1"/>
                </a:solidFill>
              </a:rPr>
              <a:t>네트워크 관련 필수 개념 </a:t>
            </a:r>
            <a:r>
              <a:rPr lang="en-US" altLang="ko-KR" sz="2800" dirty="0">
                <a:solidFill>
                  <a:schemeClr val="tx1"/>
                </a:solidFill>
              </a:rPr>
              <a:t>(3) </a:t>
            </a:r>
            <a:endParaRPr lang="ko-KR" altLang="en-US" sz="2800" dirty="0">
              <a:solidFill>
                <a:srgbClr val="00B050"/>
              </a:solidFill>
            </a:endParaRPr>
          </a:p>
        </p:txBody>
      </p:sp>
      <p:sp>
        <p:nvSpPr>
          <p:cNvPr id="6" name="내용 개체 틀 2"/>
          <p:cNvSpPr>
            <a:spLocks noGrp="1"/>
          </p:cNvSpPr>
          <p:nvPr>
            <p:ph idx="1"/>
          </p:nvPr>
        </p:nvSpPr>
        <p:spPr>
          <a:xfrm>
            <a:off x="457200" y="1357313"/>
            <a:ext cx="8229600" cy="5214937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ko-KR" altLang="en-US" dirty="0"/>
              <a:t>리눅스에서의 네트워크 장치 이름</a:t>
            </a:r>
            <a:endParaRPr lang="en-US" altLang="ko-KR" dirty="0"/>
          </a:p>
          <a:p>
            <a:pPr lvl="1">
              <a:defRPr/>
            </a:pPr>
            <a:r>
              <a:rPr lang="ko-KR" altLang="en-US" sz="2000" dirty="0"/>
              <a:t>우분투는 랜카드를 </a:t>
            </a:r>
            <a:r>
              <a:rPr lang="en-US" altLang="ko-KR" sz="2000" dirty="0"/>
              <a:t>ens32 </a:t>
            </a:r>
            <a:r>
              <a:rPr lang="ko-KR" altLang="en-US" sz="2000" dirty="0"/>
              <a:t>또는 </a:t>
            </a:r>
            <a:r>
              <a:rPr lang="en-US" altLang="ko-KR" sz="2000" dirty="0"/>
              <a:t>ens33</a:t>
            </a:r>
            <a:r>
              <a:rPr lang="ko-KR" altLang="en-US" sz="2000" dirty="0"/>
              <a:t>으로 할당함</a:t>
            </a:r>
            <a:endParaRPr lang="en-US" altLang="ko-KR" sz="2000" dirty="0"/>
          </a:p>
          <a:p>
            <a:pPr lvl="1">
              <a:defRPr/>
            </a:pPr>
            <a:r>
              <a:rPr lang="ko-KR" altLang="en-US" sz="2000" dirty="0"/>
              <a:t>명령 예</a:t>
            </a:r>
            <a:endParaRPr lang="en-US" altLang="ko-KR" sz="2000" dirty="0"/>
          </a:p>
          <a:p>
            <a:pPr lvl="2">
              <a:defRPr/>
            </a:pPr>
            <a:r>
              <a:rPr lang="en-US" altLang="ko-KR" sz="1600" dirty="0"/>
              <a:t># ifconfig ens32 </a:t>
            </a:r>
            <a:r>
              <a:rPr lang="ko-KR" altLang="en-US" sz="1600" dirty="0"/>
              <a:t>또는 </a:t>
            </a:r>
            <a:r>
              <a:rPr lang="en-US" altLang="ko-KR" sz="1600" dirty="0"/>
              <a:t>ens33	 → </a:t>
            </a:r>
            <a:r>
              <a:rPr lang="ko-KR" altLang="en-US" sz="1600" dirty="0"/>
              <a:t>네트워크 설정 정보를 출력</a:t>
            </a:r>
          </a:p>
          <a:p>
            <a:pPr lvl="2">
              <a:defRPr/>
            </a:pPr>
            <a:r>
              <a:rPr lang="en-US" altLang="ko-KR" sz="1600" dirty="0"/>
              <a:t># </a:t>
            </a:r>
            <a:r>
              <a:rPr lang="en-US" altLang="ko-KR" sz="1600" dirty="0" err="1"/>
              <a:t>ifdown</a:t>
            </a:r>
            <a:r>
              <a:rPr lang="en-US" altLang="ko-KR" sz="1600" dirty="0"/>
              <a:t> ens32 </a:t>
            </a:r>
            <a:r>
              <a:rPr lang="ko-KR" altLang="en-US" sz="1600" dirty="0"/>
              <a:t>또는 </a:t>
            </a:r>
            <a:r>
              <a:rPr lang="en-US" altLang="ko-KR" sz="1600" dirty="0"/>
              <a:t>ens33	 → </a:t>
            </a:r>
            <a:r>
              <a:rPr lang="ko-KR" altLang="en-US" sz="1600" dirty="0"/>
              <a:t>네트워크 장치를 정지</a:t>
            </a:r>
          </a:p>
          <a:p>
            <a:pPr lvl="2">
              <a:defRPr/>
            </a:pPr>
            <a:r>
              <a:rPr lang="en-US" altLang="ko-KR" sz="1600" dirty="0"/>
              <a:t># </a:t>
            </a:r>
            <a:r>
              <a:rPr lang="en-US" altLang="ko-KR" sz="1600" dirty="0" err="1"/>
              <a:t>ifup</a:t>
            </a:r>
            <a:r>
              <a:rPr lang="en-US" altLang="ko-KR" sz="1600" dirty="0"/>
              <a:t> ens32 </a:t>
            </a:r>
            <a:r>
              <a:rPr lang="ko-KR" altLang="en-US" sz="1600" dirty="0"/>
              <a:t>또는 </a:t>
            </a:r>
            <a:r>
              <a:rPr lang="en-US" altLang="ko-KR" sz="1600" dirty="0"/>
              <a:t>ens33	 → </a:t>
            </a:r>
            <a:r>
              <a:rPr lang="ko-KR" altLang="en-US" sz="1600" dirty="0"/>
              <a:t>네트워크 장치를 가동</a:t>
            </a:r>
            <a:endParaRPr lang="en-US" altLang="ko-KR" sz="1600" dirty="0"/>
          </a:p>
        </p:txBody>
      </p:sp>
      <p:sp>
        <p:nvSpPr>
          <p:cNvPr id="2" name="말풍선: 타원형 1">
            <a:extLst>
              <a:ext uri="{FF2B5EF4-FFF2-40B4-BE49-F238E27FC236}">
                <a16:creationId xmlns:a16="http://schemas.microsoft.com/office/drawing/2014/main" id="{398DEB51-AF7C-946D-45EE-840B10083DB3}"/>
              </a:ext>
            </a:extLst>
          </p:cNvPr>
          <p:cNvSpPr/>
          <p:nvPr/>
        </p:nvSpPr>
        <p:spPr>
          <a:xfrm>
            <a:off x="5148064" y="625475"/>
            <a:ext cx="1049292" cy="410369"/>
          </a:xfrm>
          <a:prstGeom prst="wedgeEllipseCallout">
            <a:avLst>
              <a:gd name="adj1" fmla="val -49721"/>
              <a:gd name="adj2" fmla="val 61440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264</a:t>
            </a:r>
            <a:r>
              <a:rPr lang="ko-KR" altLang="en-US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</p:spTree>
    <p:extLst>
      <p:ext uri="{BB962C8B-B14F-4D97-AF65-F5344CB8AC3E}">
        <p14:creationId xmlns:p14="http://schemas.microsoft.com/office/powerpoint/2010/main" val="344313747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제목 1"/>
          <p:cNvSpPr>
            <a:spLocks noGrp="1"/>
          </p:cNvSpPr>
          <p:nvPr>
            <p:ph type="title"/>
          </p:nvPr>
        </p:nvSpPr>
        <p:spPr>
          <a:xfrm>
            <a:off x="500063" y="714375"/>
            <a:ext cx="8229600" cy="642938"/>
          </a:xfrm>
        </p:spPr>
        <p:txBody>
          <a:bodyPr>
            <a:normAutofit/>
          </a:bodyPr>
          <a:lstStyle/>
          <a:p>
            <a:pPr eaLnBrk="1" hangingPunct="1"/>
            <a:r>
              <a:rPr lang="ko-KR" altLang="en-US" sz="2800" dirty="0">
                <a:solidFill>
                  <a:schemeClr val="tx1"/>
                </a:solidFill>
              </a:rPr>
              <a:t>중요한 네트워크 관련 명령어 </a:t>
            </a:r>
            <a:r>
              <a:rPr lang="en-US" altLang="ko-KR" sz="2800" dirty="0">
                <a:solidFill>
                  <a:schemeClr val="tx1"/>
                </a:solidFill>
              </a:rPr>
              <a:t>(1)</a:t>
            </a:r>
            <a:endParaRPr lang="ko-KR" altLang="en-US" sz="2800" dirty="0">
              <a:solidFill>
                <a:srgbClr val="00B050"/>
              </a:solidFill>
            </a:endParaRPr>
          </a:p>
        </p:txBody>
      </p:sp>
      <p:sp>
        <p:nvSpPr>
          <p:cNvPr id="6" name="내용 개체 틀 2"/>
          <p:cNvSpPr>
            <a:spLocks noGrp="1"/>
          </p:cNvSpPr>
          <p:nvPr>
            <p:ph idx="1"/>
          </p:nvPr>
        </p:nvSpPr>
        <p:spPr>
          <a:xfrm>
            <a:off x="457200" y="1357313"/>
            <a:ext cx="8229600" cy="5143500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en-US" altLang="ko-KR" dirty="0"/>
              <a:t>nm-connection-editor </a:t>
            </a:r>
            <a:r>
              <a:rPr lang="ko-KR" altLang="en-US" dirty="0"/>
              <a:t>또는 </a:t>
            </a:r>
            <a:r>
              <a:rPr lang="en-US" altLang="ko-KR" dirty="0"/>
              <a:t>nmtui</a:t>
            </a:r>
          </a:p>
          <a:p>
            <a:pPr lvl="1">
              <a:defRPr/>
            </a:pPr>
            <a:r>
              <a:rPr lang="ko-KR" altLang="en-US" sz="2000" dirty="0"/>
              <a:t>네트워크와 관련된 대부분의 작업을 이 명령어에서 수행</a:t>
            </a:r>
            <a:endParaRPr lang="en-US" altLang="ko-KR" sz="2000" dirty="0"/>
          </a:p>
          <a:p>
            <a:pPr lvl="2">
              <a:buFont typeface="Wingdings 2" panose="05020102010507070707" pitchFamily="18" charset="2"/>
              <a:buNone/>
              <a:defRPr/>
            </a:pPr>
            <a:r>
              <a:rPr lang="en-US" altLang="ko-KR" sz="1600" dirty="0">
                <a:solidFill>
                  <a:srgbClr val="0070C0"/>
                </a:solidFill>
              </a:rPr>
              <a:t>•</a:t>
            </a:r>
            <a:r>
              <a:rPr lang="ko-KR" altLang="en-US" sz="1600" dirty="0">
                <a:solidFill>
                  <a:srgbClr val="0070C0"/>
                </a:solidFill>
              </a:rPr>
              <a:t>자동 </a:t>
            </a:r>
            <a:r>
              <a:rPr lang="en-US" altLang="ko-KR" sz="1600" dirty="0">
                <a:solidFill>
                  <a:srgbClr val="0070C0"/>
                </a:solidFill>
              </a:rPr>
              <a:t>IP </a:t>
            </a:r>
            <a:r>
              <a:rPr lang="ko-KR" altLang="en-US" sz="1600" dirty="0">
                <a:solidFill>
                  <a:srgbClr val="0070C0"/>
                </a:solidFill>
              </a:rPr>
              <a:t>주소 또는 고정 </a:t>
            </a:r>
            <a:r>
              <a:rPr lang="en-US" altLang="ko-KR" sz="1600" dirty="0">
                <a:solidFill>
                  <a:srgbClr val="0070C0"/>
                </a:solidFill>
              </a:rPr>
              <a:t>IP</a:t>
            </a:r>
            <a:r>
              <a:rPr lang="ko-KR" altLang="en-US" sz="1600" dirty="0">
                <a:solidFill>
                  <a:srgbClr val="0070C0"/>
                </a:solidFill>
              </a:rPr>
              <a:t>주소 사용 결정</a:t>
            </a:r>
          </a:p>
          <a:p>
            <a:pPr lvl="2">
              <a:buFont typeface="Wingdings 2" panose="05020102010507070707" pitchFamily="18" charset="2"/>
              <a:buNone/>
              <a:defRPr/>
            </a:pPr>
            <a:r>
              <a:rPr lang="en-US" altLang="ko-KR" sz="1600" dirty="0">
                <a:solidFill>
                  <a:srgbClr val="0070C0"/>
                </a:solidFill>
              </a:rPr>
              <a:t>•IP</a:t>
            </a:r>
            <a:r>
              <a:rPr lang="ko-KR" altLang="en-US" sz="1600" dirty="0">
                <a:solidFill>
                  <a:srgbClr val="0070C0"/>
                </a:solidFill>
              </a:rPr>
              <a:t>주소</a:t>
            </a:r>
            <a:r>
              <a:rPr lang="en-US" altLang="ko-KR" sz="1600" dirty="0">
                <a:solidFill>
                  <a:srgbClr val="0070C0"/>
                </a:solidFill>
              </a:rPr>
              <a:t>, </a:t>
            </a:r>
            <a:r>
              <a:rPr lang="ko-KR" altLang="en-US" sz="1600" dirty="0">
                <a:solidFill>
                  <a:srgbClr val="0070C0"/>
                </a:solidFill>
              </a:rPr>
              <a:t>서브넷 마스크</a:t>
            </a:r>
            <a:r>
              <a:rPr lang="en-US" altLang="ko-KR" sz="1600" dirty="0">
                <a:solidFill>
                  <a:srgbClr val="0070C0"/>
                </a:solidFill>
              </a:rPr>
              <a:t>, </a:t>
            </a:r>
            <a:r>
              <a:rPr lang="ko-KR" altLang="en-US" sz="1600" dirty="0">
                <a:solidFill>
                  <a:srgbClr val="0070C0"/>
                </a:solidFill>
              </a:rPr>
              <a:t>게이트웨이 정보 입력</a:t>
            </a:r>
          </a:p>
          <a:p>
            <a:pPr lvl="2">
              <a:buFont typeface="Wingdings 2" panose="05020102010507070707" pitchFamily="18" charset="2"/>
              <a:buNone/>
              <a:defRPr/>
            </a:pPr>
            <a:r>
              <a:rPr lang="en-US" altLang="ko-KR" sz="1600" dirty="0">
                <a:solidFill>
                  <a:srgbClr val="0070C0"/>
                </a:solidFill>
              </a:rPr>
              <a:t>•DNS </a:t>
            </a:r>
            <a:r>
              <a:rPr lang="ko-KR" altLang="en-US" sz="1600" dirty="0">
                <a:solidFill>
                  <a:srgbClr val="0070C0"/>
                </a:solidFill>
              </a:rPr>
              <a:t>정보 입력</a:t>
            </a:r>
          </a:p>
          <a:p>
            <a:pPr lvl="2">
              <a:buFont typeface="Wingdings 2" panose="05020102010507070707" pitchFamily="18" charset="2"/>
              <a:buNone/>
              <a:defRPr/>
            </a:pPr>
            <a:r>
              <a:rPr lang="en-US" altLang="ko-KR" sz="1600" dirty="0">
                <a:solidFill>
                  <a:srgbClr val="0070C0"/>
                </a:solidFill>
              </a:rPr>
              <a:t>•</a:t>
            </a:r>
            <a:r>
              <a:rPr lang="ko-KR" altLang="en-US" sz="1600" dirty="0">
                <a:solidFill>
                  <a:srgbClr val="0070C0"/>
                </a:solidFill>
              </a:rPr>
              <a:t>네트워크 카드 드라이버 설정</a:t>
            </a:r>
          </a:p>
          <a:p>
            <a:pPr lvl="2">
              <a:buFont typeface="Wingdings 2" panose="05020102010507070707" pitchFamily="18" charset="2"/>
              <a:buNone/>
              <a:defRPr/>
            </a:pPr>
            <a:r>
              <a:rPr lang="en-US" altLang="ko-KR" sz="1600" dirty="0">
                <a:solidFill>
                  <a:srgbClr val="0070C0"/>
                </a:solidFill>
              </a:rPr>
              <a:t>•</a:t>
            </a:r>
            <a:r>
              <a:rPr lang="ko-KR" altLang="en-US" sz="1600" dirty="0">
                <a:solidFill>
                  <a:srgbClr val="0070C0"/>
                </a:solidFill>
              </a:rPr>
              <a:t>네트워크 장치</a:t>
            </a:r>
            <a:r>
              <a:rPr lang="en-US" altLang="ko-KR" sz="1600" dirty="0">
                <a:solidFill>
                  <a:srgbClr val="0070C0"/>
                </a:solidFill>
              </a:rPr>
              <a:t>(ens32)</a:t>
            </a:r>
            <a:r>
              <a:rPr lang="ko-KR" altLang="en-US" sz="1600" dirty="0">
                <a:solidFill>
                  <a:srgbClr val="0070C0"/>
                </a:solidFill>
              </a:rPr>
              <a:t>의 설정</a:t>
            </a:r>
            <a:endParaRPr lang="en-US" altLang="ko-KR" sz="1600" dirty="0">
              <a:solidFill>
                <a:srgbClr val="0070C0"/>
              </a:solidFill>
            </a:endParaRPr>
          </a:p>
        </p:txBody>
      </p:sp>
      <p:sp>
        <p:nvSpPr>
          <p:cNvPr id="2" name="말풍선: 타원형 1">
            <a:extLst>
              <a:ext uri="{FF2B5EF4-FFF2-40B4-BE49-F238E27FC236}">
                <a16:creationId xmlns:a16="http://schemas.microsoft.com/office/drawing/2014/main" id="{655946E4-6080-92DA-7EBC-C664633096B4}"/>
              </a:ext>
            </a:extLst>
          </p:cNvPr>
          <p:cNvSpPr/>
          <p:nvPr/>
        </p:nvSpPr>
        <p:spPr>
          <a:xfrm>
            <a:off x="5796136" y="625475"/>
            <a:ext cx="1049292" cy="410369"/>
          </a:xfrm>
          <a:prstGeom prst="wedgeEllipseCallout">
            <a:avLst>
              <a:gd name="adj1" fmla="val -49721"/>
              <a:gd name="adj2" fmla="val 61440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265</a:t>
            </a:r>
            <a:r>
              <a:rPr lang="ko-KR" altLang="en-US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  <p:pic>
        <p:nvPicPr>
          <p:cNvPr id="4" name="그림 3" descr="텍스트, 스크린샷, 소프트웨어, 번호이(가) 표시된 사진&#10;&#10;자동 생성된 설명">
            <a:extLst>
              <a:ext uri="{FF2B5EF4-FFF2-40B4-BE49-F238E27FC236}">
                <a16:creationId xmlns:a16="http://schemas.microsoft.com/office/drawing/2014/main" id="{8D56C1A1-1C1D-5ED9-61B3-5ED9FDD58E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1680" y="3599208"/>
            <a:ext cx="3096344" cy="2901605"/>
          </a:xfrm>
          <a:prstGeom prst="rect">
            <a:avLst/>
          </a:prstGeom>
        </p:spPr>
      </p:pic>
      <p:pic>
        <p:nvPicPr>
          <p:cNvPr id="8" name="그림 7" descr="텍스트, 스크린샷, 디스플레이, 소프트웨어이(가) 표시된 사진&#10;&#10;자동 생성된 설명">
            <a:extLst>
              <a:ext uri="{FF2B5EF4-FFF2-40B4-BE49-F238E27FC236}">
                <a16:creationId xmlns:a16="http://schemas.microsoft.com/office/drawing/2014/main" id="{270575D5-6876-CBCE-F12D-ACAFE548697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8064" y="3599208"/>
            <a:ext cx="2985222" cy="2373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359575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제목 1"/>
          <p:cNvSpPr>
            <a:spLocks noGrp="1"/>
          </p:cNvSpPr>
          <p:nvPr>
            <p:ph type="title"/>
          </p:nvPr>
        </p:nvSpPr>
        <p:spPr>
          <a:xfrm>
            <a:off x="500063" y="714375"/>
            <a:ext cx="8229600" cy="642938"/>
          </a:xfrm>
        </p:spPr>
        <p:txBody>
          <a:bodyPr>
            <a:normAutofit/>
          </a:bodyPr>
          <a:lstStyle/>
          <a:p>
            <a:pPr eaLnBrk="1" hangingPunct="1"/>
            <a:r>
              <a:rPr lang="ko-KR" altLang="en-US" sz="2800" dirty="0">
                <a:solidFill>
                  <a:schemeClr val="tx1"/>
                </a:solidFill>
              </a:rPr>
              <a:t>중요한 네트워크 관련 명령어 </a:t>
            </a:r>
            <a:r>
              <a:rPr lang="en-US" altLang="ko-KR" sz="2800" dirty="0">
                <a:solidFill>
                  <a:schemeClr val="tx1"/>
                </a:solidFill>
              </a:rPr>
              <a:t>(2)</a:t>
            </a:r>
            <a:endParaRPr lang="ko-KR" altLang="en-US" sz="2800" dirty="0">
              <a:solidFill>
                <a:srgbClr val="00B050"/>
              </a:solidFill>
            </a:endParaRPr>
          </a:p>
        </p:txBody>
      </p:sp>
      <p:sp>
        <p:nvSpPr>
          <p:cNvPr id="6" name="내용 개체 틀 2"/>
          <p:cNvSpPr>
            <a:spLocks noGrp="1"/>
          </p:cNvSpPr>
          <p:nvPr>
            <p:ph idx="1"/>
          </p:nvPr>
        </p:nvSpPr>
        <p:spPr>
          <a:xfrm>
            <a:off x="457200" y="1357313"/>
            <a:ext cx="8229600" cy="5143500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en-US" altLang="ko-KR" dirty="0"/>
              <a:t>systemctl &lt;start/stop/restart/status&gt; </a:t>
            </a:r>
            <a:r>
              <a:rPr lang="en-US" altLang="ko-KR" dirty="0" err="1"/>
              <a:t>NetworkManager</a:t>
            </a:r>
            <a:endParaRPr lang="en-US" altLang="ko-KR" dirty="0"/>
          </a:p>
          <a:p>
            <a:pPr lvl="1">
              <a:defRPr/>
            </a:pPr>
            <a:r>
              <a:rPr lang="ko-KR" altLang="en-US" sz="2000" dirty="0"/>
              <a:t>네트워크의 설정을 변경한 후에</a:t>
            </a:r>
            <a:r>
              <a:rPr lang="en-US" altLang="ko-KR" sz="2000" dirty="0"/>
              <a:t>, </a:t>
            </a:r>
            <a:r>
              <a:rPr lang="ko-KR" altLang="en-US" sz="2000" dirty="0"/>
              <a:t>변경된 내용을 시스템에 적용시키는 명령어</a:t>
            </a:r>
            <a:endParaRPr lang="en-US" altLang="ko-KR" sz="2000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r>
              <a:rPr lang="en-US" altLang="ko-KR" dirty="0"/>
              <a:t>ifconfig &lt;</a:t>
            </a:r>
            <a:r>
              <a:rPr lang="ko-KR" altLang="en-US" dirty="0"/>
              <a:t>장치이름</a:t>
            </a:r>
            <a:r>
              <a:rPr lang="en-US" altLang="ko-KR" dirty="0"/>
              <a:t>&gt; </a:t>
            </a:r>
            <a:r>
              <a:rPr lang="ko-KR" altLang="en-US" dirty="0"/>
              <a:t>또는 </a:t>
            </a:r>
            <a:r>
              <a:rPr lang="en-US" altLang="ko-KR" dirty="0" err="1"/>
              <a:t>ip</a:t>
            </a:r>
            <a:r>
              <a:rPr lang="en-US" altLang="ko-KR" dirty="0"/>
              <a:t> addr</a:t>
            </a:r>
          </a:p>
          <a:p>
            <a:pPr lvl="1">
              <a:defRPr/>
            </a:pPr>
            <a:r>
              <a:rPr lang="ko-KR" altLang="en-US" sz="2000" dirty="0"/>
              <a:t>장치의 </a:t>
            </a:r>
            <a:r>
              <a:rPr lang="en-US" altLang="ko-KR" sz="2000" dirty="0"/>
              <a:t>IP</a:t>
            </a:r>
            <a:r>
              <a:rPr lang="ko-KR" altLang="en-US" sz="2000" dirty="0"/>
              <a:t>주소 설정 정보를 출력</a:t>
            </a:r>
            <a:endParaRPr lang="en-US" altLang="ko-KR" sz="2000" dirty="0"/>
          </a:p>
          <a:p>
            <a:pPr lvl="2">
              <a:buFont typeface="Wingdings 2" panose="05020102010507070707" pitchFamily="18" charset="2"/>
              <a:buNone/>
              <a:defRPr/>
            </a:pPr>
            <a:endParaRPr lang="en-US" altLang="ko-KR" sz="1600" dirty="0"/>
          </a:p>
          <a:p>
            <a:pPr>
              <a:defRPr/>
            </a:pPr>
            <a:r>
              <a:rPr lang="en-US" altLang="ko-KR" dirty="0" err="1"/>
              <a:t>nslookup</a:t>
            </a:r>
            <a:endParaRPr lang="en-US" altLang="ko-KR" dirty="0"/>
          </a:p>
          <a:p>
            <a:pPr lvl="1">
              <a:defRPr/>
            </a:pPr>
            <a:r>
              <a:rPr lang="en-US" altLang="ko-KR" sz="2000" dirty="0"/>
              <a:t>DNS </a:t>
            </a:r>
            <a:r>
              <a:rPr lang="ko-KR" altLang="en-US" sz="2000" dirty="0"/>
              <a:t>서버의 작동을 테스트하는 명령어</a:t>
            </a:r>
            <a:endParaRPr lang="en-US" altLang="ko-KR" sz="2000" dirty="0"/>
          </a:p>
          <a:p>
            <a:pPr lvl="1">
              <a:defRPr/>
            </a:pPr>
            <a:endParaRPr lang="en-US" altLang="ko-KR" sz="2000" dirty="0"/>
          </a:p>
          <a:p>
            <a:pPr>
              <a:defRPr/>
            </a:pPr>
            <a:r>
              <a:rPr lang="en-US" altLang="ko-KR" dirty="0"/>
              <a:t>ping &lt;IP</a:t>
            </a:r>
            <a:r>
              <a:rPr lang="ko-KR" altLang="en-US" dirty="0"/>
              <a:t>주소 또는 </a:t>
            </a:r>
            <a:r>
              <a:rPr lang="en-US" altLang="ko-KR" dirty="0"/>
              <a:t>URL&gt; </a:t>
            </a:r>
          </a:p>
          <a:p>
            <a:pPr lvl="1">
              <a:defRPr/>
            </a:pPr>
            <a:r>
              <a:rPr lang="ko-KR" altLang="en-US" sz="2000" dirty="0"/>
              <a:t>해당 컴퓨터가 네트워크상에서 응답하는지를 테스트하는 간편한 명령어</a:t>
            </a:r>
            <a:endParaRPr lang="en-US" altLang="ko-KR" sz="2000" dirty="0"/>
          </a:p>
        </p:txBody>
      </p:sp>
      <p:sp>
        <p:nvSpPr>
          <p:cNvPr id="2" name="말풍선: 타원형 1">
            <a:extLst>
              <a:ext uri="{FF2B5EF4-FFF2-40B4-BE49-F238E27FC236}">
                <a16:creationId xmlns:a16="http://schemas.microsoft.com/office/drawing/2014/main" id="{3CF6CB2D-E895-BD44-CA3F-BF010F0F2403}"/>
              </a:ext>
            </a:extLst>
          </p:cNvPr>
          <p:cNvSpPr/>
          <p:nvPr/>
        </p:nvSpPr>
        <p:spPr>
          <a:xfrm>
            <a:off x="5796136" y="625475"/>
            <a:ext cx="1049292" cy="410369"/>
          </a:xfrm>
          <a:prstGeom prst="wedgeEllipseCallout">
            <a:avLst>
              <a:gd name="adj1" fmla="val -49721"/>
              <a:gd name="adj2" fmla="val 61440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265</a:t>
            </a:r>
            <a:r>
              <a:rPr lang="ko-KR" altLang="en-US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</p:spTree>
    <p:extLst>
      <p:ext uri="{BB962C8B-B14F-4D97-AF65-F5344CB8AC3E}">
        <p14:creationId xmlns:p14="http://schemas.microsoft.com/office/powerpoint/2010/main" val="353094380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제목 1"/>
          <p:cNvSpPr>
            <a:spLocks noGrp="1"/>
          </p:cNvSpPr>
          <p:nvPr>
            <p:ph type="title"/>
          </p:nvPr>
        </p:nvSpPr>
        <p:spPr>
          <a:xfrm>
            <a:off x="500063" y="714375"/>
            <a:ext cx="8229600" cy="642938"/>
          </a:xfrm>
        </p:spPr>
        <p:txBody>
          <a:bodyPr>
            <a:normAutofit/>
          </a:bodyPr>
          <a:lstStyle/>
          <a:p>
            <a:pPr eaLnBrk="1" hangingPunct="1"/>
            <a:r>
              <a:rPr lang="ko-KR" altLang="en-US" sz="2800" dirty="0"/>
              <a:t>네트워크 설정과 관련된 주요 파일</a:t>
            </a:r>
            <a:endParaRPr lang="ko-KR" altLang="en-US" sz="2800" dirty="0">
              <a:solidFill>
                <a:srgbClr val="00B050"/>
              </a:solidFill>
            </a:endParaRPr>
          </a:p>
        </p:txBody>
      </p:sp>
      <p:sp>
        <p:nvSpPr>
          <p:cNvPr id="6" name="내용 개체 틀 2"/>
          <p:cNvSpPr>
            <a:spLocks noGrp="1"/>
          </p:cNvSpPr>
          <p:nvPr>
            <p:ph idx="1"/>
          </p:nvPr>
        </p:nvSpPr>
        <p:spPr>
          <a:xfrm>
            <a:off x="457200" y="1357313"/>
            <a:ext cx="8229600" cy="5143500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ko-KR" altLang="en-US" dirty="0"/>
              <a:t>네트워크 기본 정보가 설정된 파일 </a:t>
            </a:r>
            <a:endParaRPr lang="en-US" altLang="ko-KR" dirty="0"/>
          </a:p>
          <a:p>
            <a:pPr lvl="1">
              <a:defRPr/>
            </a:pPr>
            <a:r>
              <a:rPr lang="en-US" altLang="ko-KR" sz="2000" dirty="0"/>
              <a:t>/etc/</a:t>
            </a:r>
            <a:r>
              <a:rPr lang="en-US" altLang="ko-KR" sz="2000" dirty="0" err="1"/>
              <a:t>netplan</a:t>
            </a:r>
            <a:r>
              <a:rPr lang="en-US" altLang="ko-KR" sz="2000" dirty="0"/>
              <a:t>/*.</a:t>
            </a:r>
            <a:r>
              <a:rPr lang="en-US" altLang="ko-KR" sz="2000" dirty="0" err="1"/>
              <a:t>yaml</a:t>
            </a:r>
            <a:r>
              <a:rPr lang="en-US" altLang="ko-KR" sz="2000" dirty="0"/>
              <a:t> </a:t>
            </a:r>
            <a:r>
              <a:rPr lang="ko-KR" altLang="en-US" sz="2000" dirty="0"/>
              <a:t>파일</a:t>
            </a:r>
            <a:endParaRPr lang="en-US" altLang="ko-KR" sz="2000" dirty="0"/>
          </a:p>
          <a:p>
            <a:pPr lvl="2">
              <a:defRPr/>
            </a:pPr>
            <a:r>
              <a:rPr lang="en-US" altLang="ko-KR" sz="1600" dirty="0"/>
              <a:t>Server : 90-NM-~~~.</a:t>
            </a:r>
            <a:r>
              <a:rPr lang="en-US" altLang="ko-KR" sz="1600" dirty="0" err="1"/>
              <a:t>yaml</a:t>
            </a:r>
            <a:endParaRPr lang="en-US" altLang="ko-KR" sz="1600" dirty="0"/>
          </a:p>
          <a:p>
            <a:pPr lvl="2">
              <a:defRPr/>
            </a:pPr>
            <a:r>
              <a:rPr lang="en-US" altLang="ko-KR" sz="1600" dirty="0"/>
              <a:t>Server(B) : 50-cloud-init.yaml</a:t>
            </a:r>
            <a:r>
              <a:rPr lang="ko-KR" altLang="en-US" sz="1600" dirty="0"/>
              <a:t> </a:t>
            </a:r>
            <a:br>
              <a:rPr lang="ko-KR" altLang="en-US" sz="1600" dirty="0"/>
            </a:br>
            <a:endParaRPr lang="en-US" altLang="ko-KR" sz="1600" dirty="0"/>
          </a:p>
          <a:p>
            <a:pPr>
              <a:defRPr/>
            </a:pPr>
            <a:r>
              <a:rPr lang="en-US" altLang="ko-KR" dirty="0"/>
              <a:t>/etc/</a:t>
            </a:r>
            <a:r>
              <a:rPr lang="en-US" altLang="ko-KR" dirty="0" err="1"/>
              <a:t>resolv.conf</a:t>
            </a:r>
            <a:endParaRPr lang="en-US" altLang="ko-KR" dirty="0"/>
          </a:p>
          <a:p>
            <a:pPr lvl="1">
              <a:defRPr/>
            </a:pPr>
            <a:r>
              <a:rPr lang="en-US" altLang="ko-KR" sz="2000" dirty="0"/>
              <a:t>DNS </a:t>
            </a:r>
            <a:r>
              <a:rPr lang="ko-KR" altLang="en-US" sz="2000" dirty="0"/>
              <a:t>서버의 정보 및 호스트 이름이 들어 있는 파일</a:t>
            </a:r>
            <a:endParaRPr lang="en-US" altLang="ko-KR" sz="2000" dirty="0"/>
          </a:p>
          <a:p>
            <a:pPr lvl="1">
              <a:defRPr/>
            </a:pPr>
            <a:endParaRPr lang="en-US" altLang="ko-KR" sz="2000" dirty="0"/>
          </a:p>
          <a:p>
            <a:pPr lvl="1">
              <a:defRPr/>
            </a:pPr>
            <a:endParaRPr lang="en-US" altLang="ko-KR" sz="2000" dirty="0"/>
          </a:p>
          <a:p>
            <a:pPr lvl="1">
              <a:defRPr/>
            </a:pPr>
            <a:endParaRPr lang="en-US" altLang="ko-KR" sz="2000" dirty="0"/>
          </a:p>
          <a:p>
            <a:pPr lvl="1">
              <a:defRPr/>
            </a:pPr>
            <a:endParaRPr lang="en-US" altLang="ko-KR" sz="2000" dirty="0"/>
          </a:p>
          <a:p>
            <a:pPr>
              <a:defRPr/>
            </a:pPr>
            <a:r>
              <a:rPr lang="en-US" altLang="ko-KR" dirty="0"/>
              <a:t>/etc/hosts</a:t>
            </a:r>
          </a:p>
          <a:p>
            <a:pPr lvl="1">
              <a:defRPr/>
            </a:pPr>
            <a:r>
              <a:rPr lang="ko-KR" altLang="en-US" sz="2000" dirty="0"/>
              <a:t>현 컴퓨터의 호스트 이름 및 </a:t>
            </a:r>
            <a:r>
              <a:rPr lang="en-US" altLang="ko-KR" sz="2000" dirty="0"/>
              <a:t>FQDN</a:t>
            </a:r>
            <a:r>
              <a:rPr lang="ko-KR" altLang="en-US" sz="2000" dirty="0"/>
              <a:t>이 들어 있는 파일</a:t>
            </a:r>
            <a:endParaRPr lang="en-US" altLang="ko-KR" sz="2000" dirty="0"/>
          </a:p>
        </p:txBody>
      </p:sp>
      <p:sp>
        <p:nvSpPr>
          <p:cNvPr id="2" name="말풍선: 타원형 1">
            <a:extLst>
              <a:ext uri="{FF2B5EF4-FFF2-40B4-BE49-F238E27FC236}">
                <a16:creationId xmlns:a16="http://schemas.microsoft.com/office/drawing/2014/main" id="{9473BDEF-836A-2856-18F7-569E0ECD0A2A}"/>
              </a:ext>
            </a:extLst>
          </p:cNvPr>
          <p:cNvSpPr/>
          <p:nvPr/>
        </p:nvSpPr>
        <p:spPr>
          <a:xfrm>
            <a:off x="5898972" y="625475"/>
            <a:ext cx="1049292" cy="410369"/>
          </a:xfrm>
          <a:prstGeom prst="wedgeEllipseCallout">
            <a:avLst>
              <a:gd name="adj1" fmla="val -49721"/>
              <a:gd name="adj2" fmla="val 61440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266</a:t>
            </a:r>
            <a:r>
              <a:rPr lang="ko-KR" altLang="en-US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  <p:sp>
        <p:nvSpPr>
          <p:cNvPr id="3" name="물결 2">
            <a:extLst>
              <a:ext uri="{FF2B5EF4-FFF2-40B4-BE49-F238E27FC236}">
                <a16:creationId xmlns:a16="http://schemas.microsoft.com/office/drawing/2014/main" id="{A23DA468-749D-C562-1359-0430772E16F2}"/>
              </a:ext>
            </a:extLst>
          </p:cNvPr>
          <p:cNvSpPr/>
          <p:nvPr/>
        </p:nvSpPr>
        <p:spPr>
          <a:xfrm>
            <a:off x="762435" y="3861048"/>
            <a:ext cx="7704856" cy="900240"/>
          </a:xfrm>
          <a:prstGeom prst="wave">
            <a:avLst>
              <a:gd name="adj1" fmla="val 6856"/>
              <a:gd name="adj2" fmla="val -605"/>
            </a:avLst>
          </a:prstGeom>
          <a:solidFill>
            <a:srgbClr val="FF7C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r>
              <a:rPr lang="ko-KR" altLang="en-US" sz="1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영구적으로 </a:t>
            </a:r>
            <a:r>
              <a:rPr lang="en-US" altLang="ko-KR" sz="1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DNS </a:t>
            </a:r>
            <a:r>
              <a:rPr lang="ko-KR" altLang="en-US" sz="1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서버 정보를 변경하려면 </a:t>
            </a:r>
            <a:r>
              <a:rPr lang="en-US" altLang="ko-KR" sz="1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nm-connection-editor </a:t>
            </a:r>
            <a:r>
              <a:rPr lang="ko-KR" altLang="en-US" sz="1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명령이나 </a:t>
            </a:r>
            <a:r>
              <a:rPr lang="en-US" altLang="ko-KR" sz="1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/etc/</a:t>
            </a:r>
            <a:r>
              <a:rPr lang="en-US" altLang="ko-KR" sz="1400" dirty="0" err="1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netplan</a:t>
            </a:r>
            <a:r>
              <a:rPr lang="en-US" altLang="ko-KR" sz="1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/*.</a:t>
            </a:r>
            <a:r>
              <a:rPr lang="en-US" altLang="ko-KR" sz="1400" dirty="0" err="1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yaml</a:t>
            </a:r>
            <a:r>
              <a:rPr lang="en-US" altLang="ko-KR" sz="1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1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파일을 직접 편집해야 함</a:t>
            </a:r>
            <a:endParaRPr lang="en-US" altLang="ko-KR" sz="1400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1122715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D92B23-2A95-4AE9-98C5-92B83DC2208A}"/>
              </a:ext>
            </a:extLst>
          </p:cNvPr>
          <p:cNvSpPr txBox="1">
            <a:spLocks/>
          </p:cNvSpPr>
          <p:nvPr/>
        </p:nvSpPr>
        <p:spPr bwMode="auto">
          <a:xfrm>
            <a:off x="790109" y="686121"/>
            <a:ext cx="8075240" cy="642937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50000"/>
                  <a:shade val="30000"/>
                  <a:satMod val="115000"/>
                </a:schemeClr>
              </a:gs>
              <a:gs pos="50000">
                <a:schemeClr val="bg2">
                  <a:lumMod val="50000"/>
                  <a:shade val="67500"/>
                  <a:satMod val="115000"/>
                </a:schemeClr>
              </a:gs>
              <a:gs pos="100000">
                <a:schemeClr val="bg2">
                  <a:lumMod val="50000"/>
                  <a:shade val="100000"/>
                  <a:satMod val="115000"/>
                </a:schemeClr>
              </a:gs>
            </a:gsLst>
            <a:lin ang="0" scaled="1"/>
            <a:tileRect/>
          </a:gradFill>
          <a:ln>
            <a:noFill/>
            <a:miter lim="800000"/>
            <a:headEnd/>
            <a:tailEnd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2"/>
                </a:solidFill>
                <a:latin typeface="HY견고딕" pitchFamily="18" charset="-127"/>
                <a:ea typeface="HY견고딕" pitchFamily="18" charset="-127"/>
                <a:cs typeface="+mj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9pPr>
          </a:lstStyle>
          <a:p>
            <a:pPr eaLnBrk="1" hangingPunct="1">
              <a:defRPr/>
            </a:pPr>
            <a:r>
              <a:rPr kumimoji="0" lang="en-US" altLang="ko-KR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&lt;</a:t>
            </a:r>
            <a:r>
              <a:rPr kumimoji="0" lang="ko-KR" altLang="en-US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실습</a:t>
            </a:r>
            <a:r>
              <a:rPr kumimoji="0" lang="en-US" altLang="ko-KR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15&gt; nm-connection-editor </a:t>
            </a:r>
            <a:r>
              <a:rPr kumimoji="0" lang="ko-KR" altLang="en-US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명령</a:t>
            </a:r>
          </a:p>
        </p:txBody>
      </p:sp>
      <p:sp>
        <p:nvSpPr>
          <p:cNvPr id="19459" name="내용 개체 틀 2"/>
          <p:cNvSpPr>
            <a:spLocks noGrp="1"/>
          </p:cNvSpPr>
          <p:nvPr>
            <p:ph idx="1"/>
          </p:nvPr>
        </p:nvSpPr>
        <p:spPr>
          <a:xfrm>
            <a:off x="500063" y="1357313"/>
            <a:ext cx="8229600" cy="5143500"/>
          </a:xfrm>
        </p:spPr>
        <p:txBody>
          <a:bodyPr/>
          <a:lstStyle/>
          <a:p>
            <a:pPr eaLnBrk="1" hangingPunct="1">
              <a:defRPr/>
            </a:pPr>
            <a:r>
              <a:rPr lang="ko-KR" altLang="en-US" dirty="0"/>
              <a:t>실습목표</a:t>
            </a:r>
            <a:endParaRPr lang="en-US" altLang="ko-KR" dirty="0"/>
          </a:p>
          <a:p>
            <a:pPr lvl="1" eaLnBrk="1" hangingPunct="1">
              <a:defRPr/>
            </a:pPr>
            <a:r>
              <a:rPr lang="en-US" altLang="ko-KR" sz="2000" dirty="0"/>
              <a:t>nm-connection-editor </a:t>
            </a:r>
            <a:r>
              <a:rPr lang="ko-KR" altLang="en-US" sz="2000" dirty="0"/>
              <a:t>명령의 작동을 이해한다</a:t>
            </a:r>
            <a:r>
              <a:rPr lang="en-US" altLang="ko-KR" sz="2000" dirty="0"/>
              <a:t>.</a:t>
            </a:r>
          </a:p>
          <a:p>
            <a:pPr lvl="1" eaLnBrk="1" hangingPunct="1">
              <a:defRPr/>
            </a:pPr>
            <a:r>
              <a:rPr lang="ko-KR" altLang="en-US" sz="2000" dirty="0"/>
              <a:t>네트워크 관련 파일들의 내용을 확인한다</a:t>
            </a:r>
            <a:r>
              <a:rPr lang="en-US" altLang="ko-KR" sz="2000" dirty="0"/>
              <a:t>.</a:t>
            </a:r>
          </a:p>
          <a:p>
            <a:pPr lvl="1" eaLnBrk="1" hangingPunct="1">
              <a:defRPr/>
            </a:pPr>
            <a:r>
              <a:rPr lang="en-US" altLang="ko-KR" sz="2000" dirty="0"/>
              <a:t>DNS</a:t>
            </a:r>
            <a:r>
              <a:rPr lang="ko-KR" altLang="en-US" sz="2000" dirty="0"/>
              <a:t>의 작동을 </a:t>
            </a:r>
            <a:r>
              <a:rPr lang="en-US" altLang="ko-KR" sz="2000" dirty="0"/>
              <a:t>/etc/</a:t>
            </a:r>
            <a:r>
              <a:rPr lang="en-US" altLang="ko-KR" sz="2000" dirty="0" err="1"/>
              <a:t>resolv.conf</a:t>
            </a:r>
            <a:r>
              <a:rPr lang="en-US" altLang="ko-KR" sz="2000" dirty="0"/>
              <a:t> </a:t>
            </a:r>
            <a:r>
              <a:rPr lang="ko-KR" altLang="en-US" sz="2000" dirty="0"/>
              <a:t>파일과 연관해서 이해한다</a:t>
            </a:r>
            <a:r>
              <a:rPr lang="en-US" altLang="ko-KR" sz="2000" dirty="0"/>
              <a:t>.</a:t>
            </a:r>
          </a:p>
          <a:p>
            <a:pPr eaLnBrk="1" hangingPunct="1">
              <a:defRPr/>
            </a:pPr>
            <a:r>
              <a:rPr lang="ko-KR" altLang="en-US" dirty="0"/>
              <a:t>실습 화면 </a:t>
            </a:r>
            <a:r>
              <a:rPr lang="en-US" altLang="ko-KR" dirty="0"/>
              <a:t>(</a:t>
            </a:r>
            <a:r>
              <a:rPr lang="ko-KR" altLang="en-US" dirty="0"/>
              <a:t>네트워크 설정</a:t>
            </a:r>
            <a:r>
              <a:rPr lang="en-US" altLang="ko-KR" dirty="0"/>
              <a:t>)</a:t>
            </a:r>
          </a:p>
          <a:p>
            <a:pPr lvl="2" eaLnBrk="1" hangingPunct="1">
              <a:defRPr/>
            </a:pPr>
            <a:endParaRPr lang="en-US" altLang="ko-KR" dirty="0"/>
          </a:p>
          <a:p>
            <a:pPr eaLnBrk="1" hangingPunct="1">
              <a:defRPr/>
            </a:pPr>
            <a:endParaRPr lang="ko-KR" altLang="en-US" dirty="0"/>
          </a:p>
        </p:txBody>
      </p:sp>
      <p:pic>
        <p:nvPicPr>
          <p:cNvPr id="3" name="그림 2" descr="키보드, 컴퓨터이(가) 표시된 사진&#10;&#10;자동 생성된 설명">
            <a:extLst>
              <a:ext uri="{FF2B5EF4-FFF2-40B4-BE49-F238E27FC236}">
                <a16:creationId xmlns:a16="http://schemas.microsoft.com/office/drawing/2014/main" id="{F46D9CD7-5D40-46C4-9DAA-AC85493A16A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6768" y="515543"/>
            <a:ext cx="756709" cy="742276"/>
          </a:xfrm>
          <a:prstGeom prst="rect">
            <a:avLst/>
          </a:prstGeom>
        </p:spPr>
      </p:pic>
      <p:sp>
        <p:nvSpPr>
          <p:cNvPr id="4" name="말풍선: 타원형 3">
            <a:extLst>
              <a:ext uri="{FF2B5EF4-FFF2-40B4-BE49-F238E27FC236}">
                <a16:creationId xmlns:a16="http://schemas.microsoft.com/office/drawing/2014/main" id="{72FDC74F-BEE0-A076-13CE-B57AFFF53DD0}"/>
              </a:ext>
            </a:extLst>
          </p:cNvPr>
          <p:cNvSpPr/>
          <p:nvPr/>
        </p:nvSpPr>
        <p:spPr>
          <a:xfrm>
            <a:off x="6228184" y="625475"/>
            <a:ext cx="1049292" cy="410369"/>
          </a:xfrm>
          <a:prstGeom prst="wedgeEllipseCallout">
            <a:avLst>
              <a:gd name="adj1" fmla="val -49721"/>
              <a:gd name="adj2" fmla="val 61440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267</a:t>
            </a:r>
            <a:r>
              <a:rPr lang="ko-KR" altLang="en-US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  <p:pic>
        <p:nvPicPr>
          <p:cNvPr id="9" name="그림 8" descr="텍스트, 스크린샷, 번호, 소프트웨어이(가) 표시된 사진&#10;&#10;자동 생성된 설명">
            <a:extLst>
              <a:ext uri="{FF2B5EF4-FFF2-40B4-BE49-F238E27FC236}">
                <a16:creationId xmlns:a16="http://schemas.microsoft.com/office/drawing/2014/main" id="{E2B13A70-BA3B-9B98-AA46-383542AC77F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4442" y="3356992"/>
            <a:ext cx="5553034" cy="3067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808371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제목 1"/>
          <p:cNvSpPr>
            <a:spLocks noGrp="1"/>
          </p:cNvSpPr>
          <p:nvPr>
            <p:ph type="title"/>
          </p:nvPr>
        </p:nvSpPr>
        <p:spPr>
          <a:xfrm>
            <a:off x="500063" y="714375"/>
            <a:ext cx="8229600" cy="642938"/>
          </a:xfrm>
        </p:spPr>
        <p:txBody>
          <a:bodyPr/>
          <a:lstStyle/>
          <a:p>
            <a:pPr eaLnBrk="1" hangingPunct="1"/>
            <a:r>
              <a:rPr lang="ko-KR" altLang="en-US" sz="2800" dirty="0"/>
              <a:t>파이프</a:t>
            </a:r>
            <a:r>
              <a:rPr lang="en-US" altLang="ko-KR" sz="2800" dirty="0"/>
              <a:t>, </a:t>
            </a:r>
            <a:r>
              <a:rPr lang="ko-KR" altLang="en-US" sz="2800" dirty="0"/>
              <a:t>필터</a:t>
            </a:r>
            <a:r>
              <a:rPr lang="en-US" altLang="ko-KR" sz="2800" dirty="0"/>
              <a:t>, </a:t>
            </a:r>
            <a:r>
              <a:rPr lang="ko-KR" altLang="en-US" sz="2800" dirty="0"/>
              <a:t>리디렉션</a:t>
            </a:r>
            <a:endParaRPr lang="ko-KR" altLang="en-US" sz="2800" dirty="0">
              <a:solidFill>
                <a:srgbClr val="00B050"/>
              </a:solidFill>
            </a:endParaRPr>
          </a:p>
        </p:txBody>
      </p:sp>
      <p:sp>
        <p:nvSpPr>
          <p:cNvPr id="6" name="내용 개체 틀 2"/>
          <p:cNvSpPr>
            <a:spLocks noGrp="1"/>
          </p:cNvSpPr>
          <p:nvPr>
            <p:ph idx="1"/>
          </p:nvPr>
        </p:nvSpPr>
        <p:spPr>
          <a:xfrm>
            <a:off x="457200" y="1357313"/>
            <a:ext cx="8229600" cy="5143500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ko-KR" altLang="en-US" dirty="0"/>
              <a:t>파이프</a:t>
            </a:r>
            <a:r>
              <a:rPr lang="en-US" altLang="ko-KR" dirty="0"/>
              <a:t>(pipe)</a:t>
            </a:r>
          </a:p>
          <a:p>
            <a:pPr lvl="1">
              <a:defRPr/>
            </a:pPr>
            <a:r>
              <a:rPr lang="en-US" altLang="ko-KR" sz="2000" dirty="0"/>
              <a:t>2</a:t>
            </a:r>
            <a:r>
              <a:rPr lang="ko-KR" altLang="en-US" sz="2000" dirty="0"/>
              <a:t>개의 프로그램을 연결해 주는 연결통로의 의미</a:t>
            </a:r>
            <a:endParaRPr lang="en-US" altLang="ko-KR" sz="2000" dirty="0"/>
          </a:p>
          <a:p>
            <a:pPr lvl="1">
              <a:defRPr/>
            </a:pPr>
            <a:r>
              <a:rPr lang="ko-KR" altLang="en-US" sz="2000" dirty="0"/>
              <a:t>“</a:t>
            </a:r>
            <a:r>
              <a:rPr lang="en-US" altLang="ko-KR" sz="2000" dirty="0"/>
              <a:t>|”</a:t>
            </a:r>
            <a:r>
              <a:rPr lang="ko-KR" altLang="en-US" sz="2000" dirty="0"/>
              <a:t>문자를 사용함</a:t>
            </a:r>
            <a:endParaRPr lang="en-US" altLang="ko-KR" sz="2000" dirty="0"/>
          </a:p>
          <a:p>
            <a:pPr lvl="1">
              <a:defRPr/>
            </a:pPr>
            <a:r>
              <a:rPr lang="ko-KR" altLang="en-US" sz="2000" dirty="0"/>
              <a:t>예</a:t>
            </a:r>
            <a:r>
              <a:rPr lang="en-US" altLang="ko-KR" sz="2000" dirty="0"/>
              <a:t>) # ls -l /etc | less</a:t>
            </a:r>
          </a:p>
          <a:p>
            <a:pPr>
              <a:defRPr/>
            </a:pPr>
            <a:r>
              <a:rPr lang="ko-KR" altLang="en-US" dirty="0"/>
              <a:t>필터</a:t>
            </a:r>
            <a:r>
              <a:rPr lang="en-US" altLang="ko-KR" dirty="0"/>
              <a:t>(filter)</a:t>
            </a:r>
          </a:p>
          <a:p>
            <a:pPr marL="858837" lvl="1" indent="-457200">
              <a:defRPr/>
            </a:pPr>
            <a:r>
              <a:rPr lang="ko-KR" altLang="en-US" sz="2000" dirty="0"/>
              <a:t>필요한 것만 걸러 주는 명령어</a:t>
            </a:r>
          </a:p>
          <a:p>
            <a:pPr marL="858837" lvl="1" indent="-457200">
              <a:defRPr/>
            </a:pPr>
            <a:r>
              <a:rPr lang="en-US" altLang="ko-KR" sz="2000" dirty="0"/>
              <a:t>grep, tail, </a:t>
            </a:r>
            <a:r>
              <a:rPr lang="en-US" altLang="ko-KR" sz="2000" dirty="0" err="1"/>
              <a:t>wc</a:t>
            </a:r>
            <a:r>
              <a:rPr lang="en-US" altLang="ko-KR" sz="2000" dirty="0"/>
              <a:t>, sort, awk, sed </a:t>
            </a:r>
            <a:r>
              <a:rPr lang="ko-KR" altLang="en-US" sz="2000" dirty="0"/>
              <a:t>등</a:t>
            </a:r>
            <a:endParaRPr lang="en-US" altLang="ko-KR" sz="2000" dirty="0"/>
          </a:p>
          <a:p>
            <a:pPr marL="858837" lvl="1" indent="-457200">
              <a:defRPr/>
            </a:pPr>
            <a:r>
              <a:rPr lang="ko-KR" altLang="en-US" sz="2000" dirty="0"/>
              <a:t>주로 파이프와 같이 사용</a:t>
            </a:r>
            <a:endParaRPr lang="en-US" altLang="ko-KR" sz="2000" dirty="0"/>
          </a:p>
          <a:p>
            <a:pPr marL="858837" lvl="1" indent="-457200">
              <a:defRPr/>
            </a:pPr>
            <a:r>
              <a:rPr lang="ko-KR" altLang="en-US" sz="2000" dirty="0"/>
              <a:t>예</a:t>
            </a:r>
            <a:r>
              <a:rPr lang="en-US" altLang="ko-KR" sz="2000" dirty="0"/>
              <a:t>) # </a:t>
            </a:r>
            <a:r>
              <a:rPr lang="en-US" altLang="ko-KR" sz="2000" dirty="0" err="1"/>
              <a:t>ps</a:t>
            </a:r>
            <a:r>
              <a:rPr lang="en-US" altLang="ko-KR" sz="2000" dirty="0"/>
              <a:t> -</a:t>
            </a:r>
            <a:r>
              <a:rPr lang="en-US" altLang="ko-KR" sz="2000" dirty="0" err="1"/>
              <a:t>ef</a:t>
            </a:r>
            <a:r>
              <a:rPr lang="en-US" altLang="ko-KR" sz="2000" dirty="0"/>
              <a:t> | </a:t>
            </a:r>
            <a:r>
              <a:rPr lang="en-US" altLang="ko-KR" sz="2000" dirty="0" err="1"/>
              <a:t>grep</a:t>
            </a:r>
            <a:r>
              <a:rPr lang="en-US" altLang="ko-KR" sz="2000" dirty="0"/>
              <a:t> bash</a:t>
            </a:r>
          </a:p>
          <a:p>
            <a:pPr>
              <a:defRPr/>
            </a:pPr>
            <a:r>
              <a:rPr lang="ko-KR" altLang="en-US" dirty="0"/>
              <a:t>리디렉션 </a:t>
            </a:r>
            <a:r>
              <a:rPr lang="en-US" altLang="ko-KR" dirty="0"/>
              <a:t>(redirection)</a:t>
            </a:r>
          </a:p>
          <a:p>
            <a:pPr marL="858837" lvl="1" indent="-457200">
              <a:defRPr/>
            </a:pPr>
            <a:r>
              <a:rPr lang="ko-KR" altLang="en-US" sz="2000" dirty="0"/>
              <a:t>표준 입출력의 방향을 바꿔 줌</a:t>
            </a:r>
            <a:endParaRPr lang="en-US" altLang="ko-KR" sz="2000" dirty="0"/>
          </a:p>
          <a:p>
            <a:pPr marL="858837" lvl="1" indent="-457200">
              <a:defRPr/>
            </a:pPr>
            <a:r>
              <a:rPr lang="ko-KR" altLang="en-US" sz="2000" dirty="0"/>
              <a:t>예</a:t>
            </a:r>
            <a:r>
              <a:rPr lang="en-US" altLang="ko-KR" sz="2000" dirty="0"/>
              <a:t>) ls -l &gt; list.txt</a:t>
            </a:r>
          </a:p>
          <a:p>
            <a:pPr marL="401637" lvl="1" indent="0">
              <a:buNone/>
              <a:defRPr/>
            </a:pPr>
            <a:r>
              <a:rPr lang="en-US" altLang="ko-KR" sz="2000" dirty="0"/>
              <a:t>                sort &lt; list.txt &gt; out.txt</a:t>
            </a:r>
          </a:p>
        </p:txBody>
      </p:sp>
      <p:sp>
        <p:nvSpPr>
          <p:cNvPr id="2" name="말풍선: 타원형 1">
            <a:extLst>
              <a:ext uri="{FF2B5EF4-FFF2-40B4-BE49-F238E27FC236}">
                <a16:creationId xmlns:a16="http://schemas.microsoft.com/office/drawing/2014/main" id="{143C9954-BD19-2ECD-8D81-49B240C0D23A}"/>
              </a:ext>
            </a:extLst>
          </p:cNvPr>
          <p:cNvSpPr/>
          <p:nvPr/>
        </p:nvSpPr>
        <p:spPr>
          <a:xfrm>
            <a:off x="4427984" y="625475"/>
            <a:ext cx="1049292" cy="410369"/>
          </a:xfrm>
          <a:prstGeom prst="wedgeEllipseCallout">
            <a:avLst>
              <a:gd name="adj1" fmla="val -49721"/>
              <a:gd name="adj2" fmla="val 61440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276</a:t>
            </a:r>
            <a:r>
              <a:rPr lang="ko-KR" altLang="en-US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</p:spTree>
    <p:extLst>
      <p:ext uri="{BB962C8B-B14F-4D97-AF65-F5344CB8AC3E}">
        <p14:creationId xmlns:p14="http://schemas.microsoft.com/office/powerpoint/2010/main" val="241529275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제목 1"/>
          <p:cNvSpPr>
            <a:spLocks noGrp="1"/>
          </p:cNvSpPr>
          <p:nvPr>
            <p:ph type="title"/>
          </p:nvPr>
        </p:nvSpPr>
        <p:spPr>
          <a:xfrm>
            <a:off x="500063" y="714375"/>
            <a:ext cx="8229600" cy="642938"/>
          </a:xfrm>
        </p:spPr>
        <p:txBody>
          <a:bodyPr/>
          <a:lstStyle/>
          <a:p>
            <a:pPr eaLnBrk="1" hangingPunct="1"/>
            <a:r>
              <a:rPr lang="ko-KR" altLang="en-US" sz="2800" dirty="0"/>
              <a:t>프로세스</a:t>
            </a:r>
            <a:r>
              <a:rPr lang="en-US" altLang="ko-KR" sz="2800" dirty="0"/>
              <a:t> (1)</a:t>
            </a:r>
            <a:endParaRPr lang="ko-KR" altLang="en-US" sz="2800" dirty="0">
              <a:solidFill>
                <a:srgbClr val="00B050"/>
              </a:solidFill>
            </a:endParaRPr>
          </a:p>
        </p:txBody>
      </p:sp>
      <p:sp>
        <p:nvSpPr>
          <p:cNvPr id="6" name="내용 개체 틀 2"/>
          <p:cNvSpPr>
            <a:spLocks noGrp="1"/>
          </p:cNvSpPr>
          <p:nvPr>
            <p:ph idx="1"/>
          </p:nvPr>
        </p:nvSpPr>
        <p:spPr>
          <a:xfrm>
            <a:off x="457200" y="1357313"/>
            <a:ext cx="8229600" cy="5143500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ko-KR" altLang="en-US" dirty="0"/>
              <a:t>정의 </a:t>
            </a:r>
            <a:endParaRPr lang="en-US" altLang="ko-KR" dirty="0"/>
          </a:p>
          <a:p>
            <a:pPr lvl="1">
              <a:defRPr/>
            </a:pPr>
            <a:r>
              <a:rPr lang="ko-KR" altLang="en-US" sz="2000" dirty="0"/>
              <a:t>하드디스크에 저장된 실행코드</a:t>
            </a:r>
            <a:r>
              <a:rPr lang="en-US" altLang="ko-KR" sz="2000" dirty="0"/>
              <a:t>(</a:t>
            </a:r>
            <a:r>
              <a:rPr lang="ko-KR" altLang="en-US" sz="2000" dirty="0"/>
              <a:t>프로그램</a:t>
            </a:r>
            <a:r>
              <a:rPr lang="en-US" altLang="ko-KR" sz="2000" dirty="0"/>
              <a:t>)</a:t>
            </a:r>
            <a:r>
              <a:rPr lang="ko-KR" altLang="en-US" sz="2000" dirty="0"/>
              <a:t>가</a:t>
            </a:r>
            <a:r>
              <a:rPr lang="en-US" altLang="ko-KR" sz="2000" dirty="0"/>
              <a:t>, </a:t>
            </a:r>
            <a:r>
              <a:rPr lang="ko-KR" altLang="en-US" sz="2000" dirty="0"/>
              <a:t>메모리에 로딩되어 활성화된 것</a:t>
            </a:r>
            <a:endParaRPr lang="en-US" altLang="ko-KR" sz="2000" dirty="0"/>
          </a:p>
          <a:p>
            <a:pPr>
              <a:defRPr/>
            </a:pPr>
            <a:r>
              <a:rPr lang="ko-KR" altLang="en-US" dirty="0" err="1"/>
              <a:t>포그라운드</a:t>
            </a:r>
            <a:r>
              <a:rPr lang="ko-KR" altLang="en-US" dirty="0"/>
              <a:t> 프로세스</a:t>
            </a:r>
            <a:r>
              <a:rPr lang="en-US" altLang="ko-KR" dirty="0"/>
              <a:t>(</a:t>
            </a:r>
            <a:r>
              <a:rPr lang="en-US" altLang="ko-KR" b="1" dirty="0"/>
              <a:t>Foreground Process)</a:t>
            </a:r>
            <a:endParaRPr lang="en-US" altLang="ko-KR" dirty="0"/>
          </a:p>
          <a:p>
            <a:pPr lvl="1" eaLnBrk="1" hangingPunct="1">
              <a:defRPr/>
            </a:pPr>
            <a:r>
              <a:rPr lang="ko-KR" altLang="en-US" sz="2000" dirty="0"/>
              <a:t>실행하면 화면에 나타나서 사용자와 상호작용을 하는 프로세스</a:t>
            </a:r>
            <a:endParaRPr lang="en-US" altLang="ko-KR" sz="2000" dirty="0"/>
          </a:p>
          <a:p>
            <a:pPr lvl="1" eaLnBrk="1" hangingPunct="1">
              <a:defRPr/>
            </a:pPr>
            <a:r>
              <a:rPr lang="ko-KR" altLang="en-US" sz="2000" dirty="0"/>
              <a:t>대부분의 응용프로그램</a:t>
            </a:r>
            <a:endParaRPr lang="en-US" altLang="ko-KR" sz="2000" dirty="0"/>
          </a:p>
          <a:p>
            <a:pPr>
              <a:defRPr/>
            </a:pPr>
            <a:r>
              <a:rPr lang="ko-KR" altLang="en-US" dirty="0"/>
              <a:t>백그라운드 프로세스</a:t>
            </a:r>
            <a:r>
              <a:rPr lang="en-US" altLang="ko-KR" dirty="0"/>
              <a:t>(</a:t>
            </a:r>
            <a:r>
              <a:rPr lang="en-US" altLang="ko-KR" b="1" dirty="0"/>
              <a:t>Background Process)</a:t>
            </a:r>
            <a:endParaRPr lang="en-US" altLang="ko-KR" dirty="0"/>
          </a:p>
          <a:p>
            <a:pPr lvl="1" eaLnBrk="1" hangingPunct="1">
              <a:defRPr/>
            </a:pPr>
            <a:r>
              <a:rPr lang="ko-KR" altLang="en-US" sz="2000" dirty="0"/>
              <a:t>실행은 되었지만</a:t>
            </a:r>
            <a:r>
              <a:rPr lang="en-US" altLang="ko-KR" sz="2000" dirty="0"/>
              <a:t>, </a:t>
            </a:r>
            <a:r>
              <a:rPr lang="ko-KR" altLang="en-US" sz="2000" dirty="0"/>
              <a:t>화면에는 나타나지 않고 실행되는 프로세스</a:t>
            </a:r>
            <a:endParaRPr lang="en-US" altLang="ko-KR" sz="2000" dirty="0"/>
          </a:p>
          <a:p>
            <a:pPr lvl="1" eaLnBrk="1" hangingPunct="1">
              <a:defRPr/>
            </a:pPr>
            <a:r>
              <a:rPr lang="ko-KR" altLang="en-US" sz="2000" dirty="0"/>
              <a:t>백신 프로그램</a:t>
            </a:r>
            <a:r>
              <a:rPr lang="en-US" altLang="ko-KR" sz="2000" dirty="0"/>
              <a:t>, </a:t>
            </a:r>
            <a:r>
              <a:rPr lang="ko-KR" altLang="en-US" sz="2000" dirty="0"/>
              <a:t>서버 데몬 등</a:t>
            </a:r>
            <a:endParaRPr lang="en-US" altLang="ko-KR" sz="2000" dirty="0"/>
          </a:p>
          <a:p>
            <a:pPr>
              <a:defRPr/>
            </a:pPr>
            <a:r>
              <a:rPr lang="ko-KR" altLang="en-US" dirty="0"/>
              <a:t>프로세스 번호</a:t>
            </a:r>
            <a:endParaRPr lang="en-US" altLang="ko-KR" dirty="0"/>
          </a:p>
          <a:p>
            <a:pPr lvl="1">
              <a:defRPr/>
            </a:pPr>
            <a:r>
              <a:rPr lang="ko-KR" altLang="en-US" sz="2000" dirty="0"/>
              <a:t>각각의 프로세스에 할당된 고유번호</a:t>
            </a:r>
            <a:endParaRPr lang="en-US" altLang="ko-KR" sz="2000" dirty="0"/>
          </a:p>
          <a:p>
            <a:pPr>
              <a:defRPr/>
            </a:pPr>
            <a:r>
              <a:rPr lang="ko-KR" altLang="en-US" dirty="0"/>
              <a:t>작업 번호</a:t>
            </a:r>
            <a:endParaRPr lang="en-US" altLang="ko-KR" dirty="0"/>
          </a:p>
          <a:p>
            <a:pPr lvl="1">
              <a:defRPr/>
            </a:pPr>
            <a:r>
              <a:rPr lang="ko-KR" altLang="en-US" sz="2000" dirty="0"/>
              <a:t>현재 실행되고 있는 백그라운드 프로세스의 순차번호</a:t>
            </a:r>
            <a:endParaRPr lang="en-US" altLang="ko-KR" sz="2000" dirty="0"/>
          </a:p>
        </p:txBody>
      </p:sp>
      <p:sp>
        <p:nvSpPr>
          <p:cNvPr id="2" name="말풍선: 타원형 1">
            <a:extLst>
              <a:ext uri="{FF2B5EF4-FFF2-40B4-BE49-F238E27FC236}">
                <a16:creationId xmlns:a16="http://schemas.microsoft.com/office/drawing/2014/main" id="{157786DF-A146-B4BB-0107-C598740C7ABA}"/>
              </a:ext>
            </a:extLst>
          </p:cNvPr>
          <p:cNvSpPr/>
          <p:nvPr/>
        </p:nvSpPr>
        <p:spPr>
          <a:xfrm>
            <a:off x="2771800" y="625475"/>
            <a:ext cx="1049292" cy="410369"/>
          </a:xfrm>
          <a:prstGeom prst="wedgeEllipseCallout">
            <a:avLst>
              <a:gd name="adj1" fmla="val -49721"/>
              <a:gd name="adj2" fmla="val 61440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278</a:t>
            </a:r>
            <a:r>
              <a:rPr lang="ko-KR" altLang="en-US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</p:spTree>
    <p:extLst>
      <p:ext uri="{BB962C8B-B14F-4D97-AF65-F5344CB8AC3E}">
        <p14:creationId xmlns:p14="http://schemas.microsoft.com/office/powerpoint/2010/main" val="305045291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제목 1"/>
          <p:cNvSpPr>
            <a:spLocks noGrp="1"/>
          </p:cNvSpPr>
          <p:nvPr>
            <p:ph type="title"/>
          </p:nvPr>
        </p:nvSpPr>
        <p:spPr>
          <a:xfrm>
            <a:off x="500063" y="714375"/>
            <a:ext cx="8229600" cy="642938"/>
          </a:xfrm>
        </p:spPr>
        <p:txBody>
          <a:bodyPr/>
          <a:lstStyle/>
          <a:p>
            <a:pPr eaLnBrk="1" hangingPunct="1"/>
            <a:r>
              <a:rPr lang="ko-KR" altLang="en-US" sz="2800" dirty="0"/>
              <a:t>프로세스</a:t>
            </a:r>
            <a:r>
              <a:rPr lang="en-US" altLang="ko-KR" sz="2800" dirty="0"/>
              <a:t> (2) </a:t>
            </a:r>
            <a:endParaRPr lang="ko-KR" altLang="en-US" sz="2800" dirty="0">
              <a:solidFill>
                <a:srgbClr val="00B050"/>
              </a:solidFill>
            </a:endParaRPr>
          </a:p>
        </p:txBody>
      </p:sp>
      <p:sp>
        <p:nvSpPr>
          <p:cNvPr id="6" name="내용 개체 틀 2"/>
          <p:cNvSpPr>
            <a:spLocks noGrp="1"/>
          </p:cNvSpPr>
          <p:nvPr>
            <p:ph idx="1"/>
          </p:nvPr>
        </p:nvSpPr>
        <p:spPr>
          <a:xfrm>
            <a:off x="457200" y="1357313"/>
            <a:ext cx="8229600" cy="5143500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ko-KR" altLang="en-US" dirty="0"/>
              <a:t>부모 프로세스와 자식 프로세스</a:t>
            </a:r>
            <a:endParaRPr lang="en-US" altLang="ko-KR" dirty="0"/>
          </a:p>
          <a:p>
            <a:pPr lvl="1">
              <a:defRPr/>
            </a:pPr>
            <a:r>
              <a:rPr lang="ko-KR" altLang="en-US" sz="2000" dirty="0"/>
              <a:t>모든 프로세스는 부모 프로세스를 가지고 있음</a:t>
            </a:r>
            <a:endParaRPr lang="en-US" altLang="ko-KR" sz="2000" dirty="0"/>
          </a:p>
          <a:p>
            <a:pPr lvl="1">
              <a:defRPr/>
            </a:pPr>
            <a:r>
              <a:rPr lang="ko-KR" altLang="en-US" sz="2000" dirty="0"/>
              <a:t>부모 프로세스를 </a:t>
            </a:r>
            <a:r>
              <a:rPr lang="en-US" altLang="ko-KR" sz="2000" dirty="0"/>
              <a:t>kill </a:t>
            </a:r>
            <a:r>
              <a:rPr lang="ko-KR" altLang="en-US" sz="2000" dirty="0"/>
              <a:t>하면</a:t>
            </a:r>
            <a:r>
              <a:rPr lang="en-US" altLang="ko-KR" sz="2000" dirty="0"/>
              <a:t>, </a:t>
            </a:r>
            <a:r>
              <a:rPr lang="ko-KR" altLang="en-US" sz="2000" dirty="0"/>
              <a:t>자식 프로세스도 자동으로 </a:t>
            </a:r>
            <a:r>
              <a:rPr lang="en-US" altLang="ko-KR" sz="2000" dirty="0"/>
              <a:t>kill </a:t>
            </a:r>
            <a:r>
              <a:rPr lang="ko-KR" altLang="en-US" sz="2000" dirty="0"/>
              <a:t>됨</a:t>
            </a:r>
            <a:endParaRPr lang="en-US" altLang="ko-KR" sz="2000" dirty="0"/>
          </a:p>
          <a:p>
            <a:pPr>
              <a:defRPr/>
            </a:pPr>
            <a:r>
              <a:rPr lang="ko-KR" altLang="en-US" dirty="0"/>
              <a:t>프로세스 관련 명령</a:t>
            </a:r>
            <a:endParaRPr lang="en-US" altLang="ko-KR" dirty="0"/>
          </a:p>
          <a:p>
            <a:pPr lvl="1">
              <a:defRPr/>
            </a:pPr>
            <a:r>
              <a:rPr lang="en-US" altLang="ko-KR" sz="2000" b="1" dirty="0" err="1"/>
              <a:t>ps</a:t>
            </a:r>
            <a:endParaRPr lang="en-US" altLang="ko-KR" sz="2000" b="1" dirty="0"/>
          </a:p>
          <a:p>
            <a:pPr lvl="2">
              <a:defRPr/>
            </a:pPr>
            <a:r>
              <a:rPr lang="ko-KR" altLang="en-US" sz="1800" dirty="0">
                <a:solidFill>
                  <a:srgbClr val="0070C0"/>
                </a:solidFill>
              </a:rPr>
              <a:t>현재 프로세스의 상태를 확인하는 명령어</a:t>
            </a:r>
            <a:endParaRPr lang="en-US" altLang="ko-KR" sz="1800" dirty="0">
              <a:solidFill>
                <a:srgbClr val="0070C0"/>
              </a:solidFill>
            </a:endParaRPr>
          </a:p>
          <a:p>
            <a:pPr lvl="2">
              <a:defRPr/>
            </a:pPr>
            <a:r>
              <a:rPr lang="en-US" altLang="ko-KR" sz="1800" dirty="0">
                <a:solidFill>
                  <a:srgbClr val="0070C0"/>
                </a:solidFill>
              </a:rPr>
              <a:t>“</a:t>
            </a:r>
            <a:r>
              <a:rPr lang="en-US" altLang="ko-KR" sz="1800" dirty="0" err="1">
                <a:solidFill>
                  <a:srgbClr val="0070C0"/>
                </a:solidFill>
              </a:rPr>
              <a:t>ps</a:t>
            </a:r>
            <a:r>
              <a:rPr lang="en-US" altLang="ko-KR" sz="1800" dirty="0">
                <a:solidFill>
                  <a:srgbClr val="0070C0"/>
                </a:solidFill>
              </a:rPr>
              <a:t> -</a:t>
            </a:r>
            <a:r>
              <a:rPr lang="en-US" altLang="ko-KR" sz="1800" dirty="0" err="1">
                <a:solidFill>
                  <a:srgbClr val="0070C0"/>
                </a:solidFill>
              </a:rPr>
              <a:t>ef</a:t>
            </a:r>
            <a:r>
              <a:rPr lang="en-US" altLang="ko-KR" sz="1800" dirty="0">
                <a:solidFill>
                  <a:srgbClr val="0070C0"/>
                </a:solidFill>
              </a:rPr>
              <a:t> | </a:t>
            </a:r>
            <a:r>
              <a:rPr lang="en-US" altLang="ko-KR" sz="1800" dirty="0" err="1">
                <a:solidFill>
                  <a:srgbClr val="0070C0"/>
                </a:solidFill>
              </a:rPr>
              <a:t>grep</a:t>
            </a:r>
            <a:r>
              <a:rPr lang="en-US" altLang="ko-KR" sz="1800" dirty="0">
                <a:solidFill>
                  <a:srgbClr val="0070C0"/>
                </a:solidFill>
              </a:rPr>
              <a:t> &lt;</a:t>
            </a:r>
            <a:r>
              <a:rPr lang="ko-KR" altLang="en-US" sz="1800" dirty="0">
                <a:solidFill>
                  <a:srgbClr val="0070C0"/>
                </a:solidFill>
              </a:rPr>
              <a:t>프로세스 이름</a:t>
            </a:r>
            <a:r>
              <a:rPr lang="en-US" altLang="ko-KR" sz="1800" dirty="0">
                <a:solidFill>
                  <a:srgbClr val="0070C0"/>
                </a:solidFill>
              </a:rPr>
              <a:t>&gt;”</a:t>
            </a:r>
            <a:r>
              <a:rPr lang="ko-KR" altLang="en-US" sz="1800" dirty="0">
                <a:solidFill>
                  <a:srgbClr val="0070C0"/>
                </a:solidFill>
              </a:rPr>
              <a:t>을 주로 사용함</a:t>
            </a:r>
            <a:endParaRPr lang="en-US" altLang="ko-KR" sz="1800" dirty="0">
              <a:solidFill>
                <a:srgbClr val="0070C0"/>
              </a:solidFill>
            </a:endParaRPr>
          </a:p>
          <a:p>
            <a:pPr lvl="1">
              <a:defRPr/>
            </a:pPr>
            <a:r>
              <a:rPr lang="en-US" altLang="ko-KR" sz="2000" b="1" dirty="0"/>
              <a:t>kill</a:t>
            </a:r>
          </a:p>
          <a:p>
            <a:pPr lvl="2">
              <a:defRPr/>
            </a:pPr>
            <a:r>
              <a:rPr lang="ko-KR" altLang="en-US" sz="1800" dirty="0">
                <a:solidFill>
                  <a:srgbClr val="0070C0"/>
                </a:solidFill>
              </a:rPr>
              <a:t>프로세스를 강제로 종료하는 명령어</a:t>
            </a:r>
            <a:endParaRPr lang="en-US" altLang="ko-KR" sz="1800" dirty="0">
              <a:solidFill>
                <a:srgbClr val="0070C0"/>
              </a:solidFill>
            </a:endParaRPr>
          </a:p>
          <a:p>
            <a:pPr lvl="2">
              <a:defRPr/>
            </a:pPr>
            <a:r>
              <a:rPr lang="en-US" altLang="ko-KR" sz="1800" dirty="0">
                <a:solidFill>
                  <a:srgbClr val="0070C0"/>
                </a:solidFill>
              </a:rPr>
              <a:t>“kill -9 &lt;</a:t>
            </a:r>
            <a:r>
              <a:rPr lang="ko-KR" altLang="en-US" sz="1800" dirty="0">
                <a:solidFill>
                  <a:srgbClr val="0070C0"/>
                </a:solidFill>
              </a:rPr>
              <a:t>프로세스 번호</a:t>
            </a:r>
            <a:r>
              <a:rPr lang="en-US" altLang="ko-KR" sz="1800" dirty="0">
                <a:solidFill>
                  <a:srgbClr val="0070C0"/>
                </a:solidFill>
              </a:rPr>
              <a:t>&gt;”</a:t>
            </a:r>
            <a:r>
              <a:rPr lang="ko-KR" altLang="en-US" sz="1800" dirty="0">
                <a:solidFill>
                  <a:srgbClr val="0070C0"/>
                </a:solidFill>
              </a:rPr>
              <a:t>는 강제 종료</a:t>
            </a:r>
            <a:endParaRPr lang="en-US" altLang="ko-KR" sz="1800" dirty="0">
              <a:solidFill>
                <a:srgbClr val="0070C0"/>
              </a:solidFill>
            </a:endParaRPr>
          </a:p>
          <a:p>
            <a:pPr lvl="1">
              <a:defRPr/>
            </a:pPr>
            <a:r>
              <a:rPr lang="en-US" altLang="ko-KR" sz="2000" b="1" dirty="0" err="1"/>
              <a:t>pstree</a:t>
            </a:r>
            <a:endParaRPr lang="en-US" altLang="ko-KR" sz="2000" b="1" dirty="0"/>
          </a:p>
          <a:p>
            <a:pPr lvl="2">
              <a:defRPr/>
            </a:pPr>
            <a:r>
              <a:rPr lang="ko-KR" altLang="en-US" sz="1800" dirty="0">
                <a:solidFill>
                  <a:srgbClr val="0070C0"/>
                </a:solidFill>
              </a:rPr>
              <a:t>부모 프로세스와 자식 프로세스의 관계를 트리 형태로 보여 줌</a:t>
            </a:r>
            <a:endParaRPr lang="en-US" altLang="ko-KR" sz="1800" dirty="0"/>
          </a:p>
        </p:txBody>
      </p:sp>
      <p:sp>
        <p:nvSpPr>
          <p:cNvPr id="2" name="말풍선: 타원형 1">
            <a:extLst>
              <a:ext uri="{FF2B5EF4-FFF2-40B4-BE49-F238E27FC236}">
                <a16:creationId xmlns:a16="http://schemas.microsoft.com/office/drawing/2014/main" id="{562BED66-E98E-1952-9E33-28A42A0F6C5B}"/>
              </a:ext>
            </a:extLst>
          </p:cNvPr>
          <p:cNvSpPr/>
          <p:nvPr/>
        </p:nvSpPr>
        <p:spPr>
          <a:xfrm>
            <a:off x="2771800" y="625475"/>
            <a:ext cx="1049292" cy="410369"/>
          </a:xfrm>
          <a:prstGeom prst="wedgeEllipseCallout">
            <a:avLst>
              <a:gd name="adj1" fmla="val -49721"/>
              <a:gd name="adj2" fmla="val 61440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279</a:t>
            </a:r>
            <a:r>
              <a:rPr lang="ko-KR" altLang="en-US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</p:spTree>
    <p:extLst>
      <p:ext uri="{BB962C8B-B14F-4D97-AF65-F5344CB8AC3E}">
        <p14:creationId xmlns:p14="http://schemas.microsoft.com/office/powerpoint/2010/main" val="46325687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CD1182-5273-41EC-AE0F-E7C6C268FA4F}"/>
              </a:ext>
            </a:extLst>
          </p:cNvPr>
          <p:cNvSpPr txBox="1">
            <a:spLocks/>
          </p:cNvSpPr>
          <p:nvPr/>
        </p:nvSpPr>
        <p:spPr bwMode="auto">
          <a:xfrm>
            <a:off x="790109" y="692695"/>
            <a:ext cx="8075240" cy="642937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50000"/>
                  <a:shade val="30000"/>
                  <a:satMod val="115000"/>
                </a:schemeClr>
              </a:gs>
              <a:gs pos="50000">
                <a:schemeClr val="bg2">
                  <a:lumMod val="50000"/>
                  <a:shade val="67500"/>
                  <a:satMod val="115000"/>
                </a:schemeClr>
              </a:gs>
              <a:gs pos="100000">
                <a:schemeClr val="bg2">
                  <a:lumMod val="50000"/>
                  <a:shade val="100000"/>
                  <a:satMod val="115000"/>
                </a:schemeClr>
              </a:gs>
            </a:gsLst>
            <a:lin ang="0" scaled="1"/>
            <a:tileRect/>
          </a:gradFill>
          <a:ln>
            <a:noFill/>
            <a:miter lim="800000"/>
            <a:headEnd/>
            <a:tailEnd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2"/>
                </a:solidFill>
                <a:latin typeface="HY견고딕" pitchFamily="18" charset="-127"/>
                <a:ea typeface="HY견고딕" pitchFamily="18" charset="-127"/>
                <a:cs typeface="+mj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9pPr>
          </a:lstStyle>
          <a:p>
            <a:pPr eaLnBrk="1" hangingPunct="1">
              <a:defRPr/>
            </a:pPr>
            <a:r>
              <a:rPr kumimoji="0" lang="en-US" altLang="ko-KR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&lt;</a:t>
            </a:r>
            <a:r>
              <a:rPr kumimoji="0" lang="ko-KR" altLang="en-US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실습</a:t>
            </a:r>
            <a:r>
              <a:rPr kumimoji="0" lang="en-US" altLang="ko-KR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16&gt; </a:t>
            </a:r>
            <a:r>
              <a:rPr kumimoji="0" lang="ko-KR" altLang="en-US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프로세스 연습</a:t>
            </a:r>
          </a:p>
        </p:txBody>
      </p:sp>
      <p:pic>
        <p:nvPicPr>
          <p:cNvPr id="3" name="그림 2" descr="키보드, 컴퓨터이(가) 표시된 사진&#10;&#10;자동 생성된 설명">
            <a:extLst>
              <a:ext uri="{FF2B5EF4-FFF2-40B4-BE49-F238E27FC236}">
                <a16:creationId xmlns:a16="http://schemas.microsoft.com/office/drawing/2014/main" id="{CA3AEAC8-1E99-49A2-B01D-19B288BCBBF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6768" y="522117"/>
            <a:ext cx="756709" cy="742276"/>
          </a:xfrm>
          <a:prstGeom prst="rect">
            <a:avLst/>
          </a:prstGeom>
        </p:spPr>
      </p:pic>
      <p:sp>
        <p:nvSpPr>
          <p:cNvPr id="19459" name="내용 개체 틀 2"/>
          <p:cNvSpPr>
            <a:spLocks noGrp="1"/>
          </p:cNvSpPr>
          <p:nvPr>
            <p:ph idx="1"/>
          </p:nvPr>
        </p:nvSpPr>
        <p:spPr>
          <a:xfrm>
            <a:off x="500063" y="1357313"/>
            <a:ext cx="8229600" cy="5143500"/>
          </a:xfrm>
        </p:spPr>
        <p:txBody>
          <a:bodyPr/>
          <a:lstStyle/>
          <a:p>
            <a:pPr eaLnBrk="1" hangingPunct="1">
              <a:defRPr/>
            </a:pPr>
            <a:r>
              <a:rPr lang="ko-KR" altLang="en-US" dirty="0"/>
              <a:t>실습목표</a:t>
            </a:r>
            <a:endParaRPr lang="en-US" altLang="ko-KR" dirty="0"/>
          </a:p>
          <a:p>
            <a:pPr lvl="1" eaLnBrk="1" hangingPunct="1">
              <a:defRPr/>
            </a:pPr>
            <a:r>
              <a:rPr lang="ko-KR" altLang="en-US" sz="2000" dirty="0"/>
              <a:t>포그라운드 프로세스와 백그라운드 프로세스의 상호 전환 연습을 한다</a:t>
            </a:r>
            <a:r>
              <a:rPr lang="en-US" altLang="ko-KR" sz="2000" dirty="0"/>
              <a:t>.</a:t>
            </a:r>
          </a:p>
          <a:p>
            <a:pPr lvl="1" eaLnBrk="1" hangingPunct="1">
              <a:defRPr/>
            </a:pPr>
            <a:endParaRPr lang="en-US" altLang="ko-KR" sz="2000" dirty="0"/>
          </a:p>
          <a:p>
            <a:pPr eaLnBrk="1" hangingPunct="1">
              <a:defRPr/>
            </a:pPr>
            <a:r>
              <a:rPr lang="ko-KR" altLang="en-US" dirty="0"/>
              <a:t>실습 화면 </a:t>
            </a:r>
            <a:r>
              <a:rPr lang="en-US" altLang="ko-KR" dirty="0"/>
              <a:t>(</a:t>
            </a:r>
            <a:r>
              <a:rPr lang="ko-KR" altLang="en-US" dirty="0"/>
              <a:t>백그라운드 프로세스로 실행</a:t>
            </a:r>
            <a:r>
              <a:rPr lang="en-US" altLang="ko-KR" dirty="0"/>
              <a:t>)</a:t>
            </a:r>
          </a:p>
          <a:p>
            <a:pPr lvl="2" eaLnBrk="1" hangingPunct="1">
              <a:defRPr/>
            </a:pPr>
            <a:endParaRPr lang="en-US" altLang="ko-KR" dirty="0"/>
          </a:p>
          <a:p>
            <a:pPr eaLnBrk="1" hangingPunct="1">
              <a:defRPr/>
            </a:pPr>
            <a:endParaRPr lang="ko-KR" altLang="en-US" dirty="0"/>
          </a:p>
        </p:txBody>
      </p:sp>
      <p:sp>
        <p:nvSpPr>
          <p:cNvPr id="4" name="말풍선: 타원형 3">
            <a:extLst>
              <a:ext uri="{FF2B5EF4-FFF2-40B4-BE49-F238E27FC236}">
                <a16:creationId xmlns:a16="http://schemas.microsoft.com/office/drawing/2014/main" id="{67A7638D-EFB8-3E5C-88BA-44D0C5ED193F}"/>
              </a:ext>
            </a:extLst>
          </p:cNvPr>
          <p:cNvSpPr/>
          <p:nvPr/>
        </p:nvSpPr>
        <p:spPr>
          <a:xfrm>
            <a:off x="4427984" y="625475"/>
            <a:ext cx="1049292" cy="410369"/>
          </a:xfrm>
          <a:prstGeom prst="wedgeEllipseCallout">
            <a:avLst>
              <a:gd name="adj1" fmla="val -49721"/>
              <a:gd name="adj2" fmla="val 61440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279</a:t>
            </a:r>
            <a:r>
              <a:rPr lang="ko-KR" altLang="en-US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  <p:pic>
        <p:nvPicPr>
          <p:cNvPr id="9" name="그림 8" descr="텍스트, 스크린샷, 멀티미디어이(가) 표시된 사진&#10;&#10;자동 생성된 설명">
            <a:extLst>
              <a:ext uri="{FF2B5EF4-FFF2-40B4-BE49-F238E27FC236}">
                <a16:creationId xmlns:a16="http://schemas.microsoft.com/office/drawing/2014/main" id="{9D4B24B6-6361-BF4E-832B-0C07DFD8F93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5696" y="3132911"/>
            <a:ext cx="6014139" cy="2365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52445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제목 1"/>
          <p:cNvSpPr>
            <a:spLocks noGrp="1"/>
          </p:cNvSpPr>
          <p:nvPr>
            <p:ph type="title"/>
          </p:nvPr>
        </p:nvSpPr>
        <p:spPr>
          <a:xfrm>
            <a:off x="500063" y="714375"/>
            <a:ext cx="8229600" cy="642938"/>
          </a:xfrm>
        </p:spPr>
        <p:txBody>
          <a:bodyPr/>
          <a:lstStyle/>
          <a:p>
            <a:pPr eaLnBrk="1" hangingPunct="1"/>
            <a:r>
              <a:rPr lang="ko-KR" altLang="en-US" sz="2800" dirty="0"/>
              <a:t>서비스와 소켓</a:t>
            </a:r>
            <a:r>
              <a:rPr lang="en-US" altLang="ko-KR" sz="2800" dirty="0"/>
              <a:t>(1)</a:t>
            </a:r>
            <a:endParaRPr lang="ko-KR" altLang="en-US" sz="2800" dirty="0">
              <a:solidFill>
                <a:srgbClr val="00B050"/>
              </a:solidFill>
            </a:endParaRPr>
          </a:p>
        </p:txBody>
      </p:sp>
      <p:sp>
        <p:nvSpPr>
          <p:cNvPr id="6" name="내용 개체 틀 2"/>
          <p:cNvSpPr>
            <a:spLocks noGrp="1"/>
          </p:cNvSpPr>
          <p:nvPr>
            <p:ph idx="1"/>
          </p:nvPr>
        </p:nvSpPr>
        <p:spPr>
          <a:xfrm>
            <a:off x="457200" y="1357313"/>
            <a:ext cx="8229600" cy="5143500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ko-KR" altLang="en-US" dirty="0"/>
              <a:t>서비스</a:t>
            </a:r>
            <a:endParaRPr lang="en-US" altLang="ko-KR" dirty="0"/>
          </a:p>
          <a:p>
            <a:pPr lvl="1">
              <a:defRPr/>
            </a:pPr>
            <a:r>
              <a:rPr lang="ko-KR" altLang="en-US" sz="1800" dirty="0"/>
              <a:t>시스템과 독자적으로 구동되어 제공하는 프로세스를 말한다</a:t>
            </a:r>
            <a:r>
              <a:rPr lang="en-US" altLang="ko-KR" sz="1800" dirty="0"/>
              <a:t>. </a:t>
            </a:r>
            <a:r>
              <a:rPr lang="ko-KR" altLang="en-US" sz="1800" dirty="0"/>
              <a:t>예로 웹 서버</a:t>
            </a:r>
            <a:r>
              <a:rPr lang="en-US" altLang="ko-KR" sz="1800" dirty="0"/>
              <a:t>, DB </a:t>
            </a:r>
            <a:r>
              <a:rPr lang="ko-KR" altLang="en-US" sz="1800" dirty="0"/>
              <a:t>서버</a:t>
            </a:r>
            <a:r>
              <a:rPr lang="en-US" altLang="ko-KR" sz="1800" dirty="0"/>
              <a:t>, FTP </a:t>
            </a:r>
            <a:r>
              <a:rPr lang="ko-KR" altLang="en-US" sz="1800" dirty="0"/>
              <a:t>서버</a:t>
            </a:r>
            <a:r>
              <a:rPr lang="en-US" altLang="ko-KR" sz="1800" dirty="0"/>
              <a:t> </a:t>
            </a:r>
            <a:r>
              <a:rPr lang="ko-KR" altLang="en-US" sz="1800" dirty="0"/>
              <a:t>등이 있다</a:t>
            </a:r>
            <a:r>
              <a:rPr lang="en-US" altLang="ko-KR" sz="1800" dirty="0"/>
              <a:t>.</a:t>
            </a:r>
          </a:p>
          <a:p>
            <a:pPr lvl="1">
              <a:defRPr/>
            </a:pPr>
            <a:r>
              <a:rPr lang="ko-KR" altLang="en-US" sz="1800" dirty="0"/>
              <a:t>실행 및 종료는 대개 ‘</a:t>
            </a:r>
            <a:r>
              <a:rPr lang="en-US" altLang="ko-KR" sz="1800" dirty="0"/>
              <a:t>systemctl start/stop/restart </a:t>
            </a:r>
            <a:r>
              <a:rPr lang="ko-KR" altLang="en-US" sz="1800" dirty="0"/>
              <a:t>서비스이름’으로 사용된다</a:t>
            </a:r>
            <a:r>
              <a:rPr lang="en-US" altLang="ko-KR" sz="1800" dirty="0"/>
              <a:t>. </a:t>
            </a:r>
          </a:p>
          <a:p>
            <a:pPr lvl="1">
              <a:defRPr/>
            </a:pPr>
            <a:r>
              <a:rPr lang="ko-KR" altLang="en-US" sz="1800" dirty="0"/>
              <a:t>서비스의 실행 스크립트 파일은 </a:t>
            </a:r>
            <a:r>
              <a:rPr lang="en-US" altLang="ko-KR" sz="1800" dirty="0"/>
              <a:t>/lib/systemd/system/ </a:t>
            </a:r>
            <a:r>
              <a:rPr lang="ko-KR" altLang="en-US" sz="1800" dirty="0"/>
              <a:t>디렉터리에 </a:t>
            </a:r>
            <a:br>
              <a:rPr lang="en-US" altLang="ko-KR" sz="1800" dirty="0"/>
            </a:br>
            <a:r>
              <a:rPr lang="ko-KR" altLang="en-US" sz="1800" dirty="0"/>
              <a:t>‘서비스이름</a:t>
            </a:r>
            <a:r>
              <a:rPr lang="en-US" altLang="ko-KR" sz="1800" dirty="0"/>
              <a:t>.service’</a:t>
            </a:r>
            <a:r>
              <a:rPr lang="ko-KR" altLang="en-US" sz="1800" dirty="0"/>
              <a:t>라는 이름으로 확인할 수 있다</a:t>
            </a:r>
            <a:r>
              <a:rPr lang="en-US" altLang="ko-KR" sz="1800" dirty="0"/>
              <a:t>. </a:t>
            </a:r>
            <a:r>
              <a:rPr lang="ko-KR" altLang="en-US" sz="1800" dirty="0"/>
              <a:t>예로 </a:t>
            </a:r>
            <a:r>
              <a:rPr lang="en-US" altLang="ko-KR" sz="1800" dirty="0" err="1"/>
              <a:t>NetworkManager</a:t>
            </a:r>
            <a:r>
              <a:rPr lang="ko-KR" altLang="en-US" sz="1800" dirty="0"/>
              <a:t> 서비스는 </a:t>
            </a:r>
            <a:r>
              <a:rPr lang="en-US" altLang="ko-KR" sz="1800" dirty="0" err="1"/>
              <a:t>NetworkManager.service</a:t>
            </a:r>
            <a:r>
              <a:rPr lang="ko-KR" altLang="en-US" sz="1800" dirty="0"/>
              <a:t>라는 이름의 파일로 존재한다</a:t>
            </a:r>
            <a:r>
              <a:rPr lang="en-US" altLang="ko-KR" sz="1800" dirty="0"/>
              <a:t>.</a:t>
            </a:r>
            <a:endParaRPr lang="en-US" altLang="ko-KR" sz="1600" dirty="0"/>
          </a:p>
        </p:txBody>
      </p:sp>
      <p:sp>
        <p:nvSpPr>
          <p:cNvPr id="2" name="말풍선: 타원형 1">
            <a:extLst>
              <a:ext uri="{FF2B5EF4-FFF2-40B4-BE49-F238E27FC236}">
                <a16:creationId xmlns:a16="http://schemas.microsoft.com/office/drawing/2014/main" id="{5CFFCA14-6565-BC10-4A0E-AE1380C8A373}"/>
              </a:ext>
            </a:extLst>
          </p:cNvPr>
          <p:cNvSpPr/>
          <p:nvPr/>
        </p:nvSpPr>
        <p:spPr>
          <a:xfrm>
            <a:off x="3503648" y="625475"/>
            <a:ext cx="1049292" cy="410369"/>
          </a:xfrm>
          <a:prstGeom prst="wedgeEllipseCallout">
            <a:avLst>
              <a:gd name="adj1" fmla="val -49721"/>
              <a:gd name="adj2" fmla="val 61440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283</a:t>
            </a:r>
            <a:r>
              <a:rPr lang="ko-KR" altLang="en-US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  <p:pic>
        <p:nvPicPr>
          <p:cNvPr id="4" name="그림 3" descr="텍스트, 스크린샷, 폰트이(가) 표시된 사진&#10;&#10;자동 생성된 설명">
            <a:extLst>
              <a:ext uri="{FF2B5EF4-FFF2-40B4-BE49-F238E27FC236}">
                <a16:creationId xmlns:a16="http://schemas.microsoft.com/office/drawing/2014/main" id="{7837A310-2352-27D3-446E-B59B8EF201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8013" y="3789040"/>
            <a:ext cx="6093700" cy="2470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848288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제목 1"/>
          <p:cNvSpPr>
            <a:spLocks noGrp="1"/>
          </p:cNvSpPr>
          <p:nvPr>
            <p:ph type="title"/>
          </p:nvPr>
        </p:nvSpPr>
        <p:spPr>
          <a:xfrm>
            <a:off x="500063" y="714375"/>
            <a:ext cx="8229600" cy="642938"/>
          </a:xfrm>
        </p:spPr>
        <p:txBody>
          <a:bodyPr/>
          <a:lstStyle/>
          <a:p>
            <a:pPr eaLnBrk="1" hangingPunct="1"/>
            <a:r>
              <a:rPr lang="ko-KR" altLang="en-US" sz="2800" dirty="0"/>
              <a:t>서비스와 소켓</a:t>
            </a:r>
            <a:r>
              <a:rPr lang="en-US" altLang="ko-KR" sz="2800" dirty="0"/>
              <a:t>(2)</a:t>
            </a:r>
            <a:endParaRPr lang="ko-KR" altLang="en-US" sz="2800" dirty="0">
              <a:solidFill>
                <a:srgbClr val="00B050"/>
              </a:solidFill>
            </a:endParaRPr>
          </a:p>
        </p:txBody>
      </p:sp>
      <p:sp>
        <p:nvSpPr>
          <p:cNvPr id="6" name="내용 개체 틀 2"/>
          <p:cNvSpPr>
            <a:spLocks noGrp="1"/>
          </p:cNvSpPr>
          <p:nvPr>
            <p:ph idx="1"/>
          </p:nvPr>
        </p:nvSpPr>
        <p:spPr>
          <a:xfrm>
            <a:off x="457200" y="1357313"/>
            <a:ext cx="8229600" cy="5143500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ko-KR" altLang="en-US" dirty="0"/>
              <a:t>서비스</a:t>
            </a:r>
            <a:endParaRPr lang="en-US" altLang="ko-KR" dirty="0"/>
          </a:p>
          <a:p>
            <a:pPr lvl="1">
              <a:defRPr/>
            </a:pPr>
            <a:r>
              <a:rPr lang="ko-KR" altLang="en-US" sz="1800" dirty="0"/>
              <a:t>부팅과 동시에 서비스의 자동 실행 여부를 지정할 수 있는데</a:t>
            </a:r>
            <a:r>
              <a:rPr lang="en-US" altLang="ko-KR" sz="1800" dirty="0"/>
              <a:t>, </a:t>
            </a:r>
            <a:r>
              <a:rPr lang="ko-KR" altLang="en-US" sz="1800" dirty="0"/>
              <a:t>터미널에서 </a:t>
            </a:r>
            <a:r>
              <a:rPr lang="en-US" altLang="ko-KR" sz="1800" dirty="0"/>
              <a:t>systemctl list-unit-files </a:t>
            </a:r>
            <a:r>
              <a:rPr lang="ko-KR" altLang="en-US" sz="1800" dirty="0"/>
              <a:t>명령을 실행하면 현재 사용</a:t>
            </a:r>
            <a:r>
              <a:rPr lang="en-US" altLang="ko-KR" sz="1800" dirty="0"/>
              <a:t>(enabled)</a:t>
            </a:r>
            <a:r>
              <a:rPr lang="ko-KR" altLang="en-US" sz="1800" dirty="0"/>
              <a:t>과 사용 안 함</a:t>
            </a:r>
            <a:r>
              <a:rPr lang="en-US" altLang="ko-KR" sz="1800" dirty="0"/>
              <a:t>(disabled)</a:t>
            </a:r>
            <a:r>
              <a:rPr lang="ko-KR" altLang="en-US" sz="1800" dirty="0"/>
              <a:t>을 확인할 수 있다</a:t>
            </a:r>
            <a:r>
              <a:rPr lang="en-US" altLang="ko-KR" sz="1800" dirty="0"/>
              <a:t>. </a:t>
            </a:r>
            <a:endParaRPr lang="en-US" altLang="ko-KR" sz="1600" dirty="0"/>
          </a:p>
        </p:txBody>
      </p:sp>
      <p:sp>
        <p:nvSpPr>
          <p:cNvPr id="3" name="말풍선: 타원형 2">
            <a:extLst>
              <a:ext uri="{FF2B5EF4-FFF2-40B4-BE49-F238E27FC236}">
                <a16:creationId xmlns:a16="http://schemas.microsoft.com/office/drawing/2014/main" id="{1B0926B1-F3B2-9A78-A669-AC00C5DA283B}"/>
              </a:ext>
            </a:extLst>
          </p:cNvPr>
          <p:cNvSpPr/>
          <p:nvPr/>
        </p:nvSpPr>
        <p:spPr>
          <a:xfrm>
            <a:off x="3503648" y="625475"/>
            <a:ext cx="1049292" cy="410369"/>
          </a:xfrm>
          <a:prstGeom prst="wedgeEllipseCallout">
            <a:avLst>
              <a:gd name="adj1" fmla="val -49721"/>
              <a:gd name="adj2" fmla="val 61440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283</a:t>
            </a:r>
            <a:r>
              <a:rPr lang="ko-KR" altLang="en-US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  <p:pic>
        <p:nvPicPr>
          <p:cNvPr id="8" name="그림 7" descr="텍스트, 스크린샷이(가) 표시된 사진&#10;&#10;자동 생성된 설명">
            <a:extLst>
              <a:ext uri="{FF2B5EF4-FFF2-40B4-BE49-F238E27FC236}">
                <a16:creationId xmlns:a16="http://schemas.microsoft.com/office/drawing/2014/main" id="{652CBA2E-0439-644B-D458-A00BF5C799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0626" y="3064823"/>
            <a:ext cx="6408473" cy="3047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6695974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제목 1"/>
          <p:cNvSpPr>
            <a:spLocks noGrp="1"/>
          </p:cNvSpPr>
          <p:nvPr>
            <p:ph type="title"/>
          </p:nvPr>
        </p:nvSpPr>
        <p:spPr>
          <a:xfrm>
            <a:off x="500063" y="714375"/>
            <a:ext cx="8229600" cy="642938"/>
          </a:xfrm>
        </p:spPr>
        <p:txBody>
          <a:bodyPr/>
          <a:lstStyle/>
          <a:p>
            <a:pPr eaLnBrk="1" hangingPunct="1"/>
            <a:r>
              <a:rPr lang="ko-KR" altLang="en-US" sz="2800" dirty="0"/>
              <a:t>서비스와 소켓</a:t>
            </a:r>
            <a:r>
              <a:rPr lang="en-US" altLang="ko-KR" sz="2800" dirty="0"/>
              <a:t>(3)</a:t>
            </a:r>
            <a:endParaRPr lang="ko-KR" altLang="en-US" sz="2800" dirty="0">
              <a:solidFill>
                <a:srgbClr val="00B050"/>
              </a:solidFill>
            </a:endParaRPr>
          </a:p>
        </p:txBody>
      </p:sp>
      <p:sp>
        <p:nvSpPr>
          <p:cNvPr id="6" name="내용 개체 틀 2"/>
          <p:cNvSpPr>
            <a:spLocks noGrp="1"/>
          </p:cNvSpPr>
          <p:nvPr>
            <p:ph idx="1"/>
          </p:nvPr>
        </p:nvSpPr>
        <p:spPr>
          <a:xfrm>
            <a:off x="457200" y="1357313"/>
            <a:ext cx="8229600" cy="5024437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ko-KR" altLang="en-US" dirty="0"/>
              <a:t>소켓</a:t>
            </a:r>
            <a:endParaRPr lang="en-US" altLang="ko-KR" dirty="0"/>
          </a:p>
          <a:p>
            <a:pPr lvl="1">
              <a:defRPr/>
            </a:pPr>
            <a:r>
              <a:rPr lang="ko-KR" altLang="en-US" sz="2000" dirty="0"/>
              <a:t>서비스는 항상 가동되지만</a:t>
            </a:r>
            <a:r>
              <a:rPr lang="en-US" altLang="ko-KR" sz="2000" dirty="0"/>
              <a:t>, </a:t>
            </a:r>
            <a:r>
              <a:rPr lang="ko-KR" altLang="en-US" sz="2000" dirty="0"/>
              <a:t>소켓은 외부에서 특정 서비스를 요청할 경우에 </a:t>
            </a:r>
            <a:r>
              <a:rPr lang="en-US" altLang="ko-KR" sz="2000" dirty="0"/>
              <a:t>systemd</a:t>
            </a:r>
            <a:r>
              <a:rPr lang="ko-KR" altLang="en-US" sz="2000" dirty="0"/>
              <a:t>가 구동시킨다</a:t>
            </a:r>
            <a:r>
              <a:rPr lang="en-US" altLang="ko-KR" sz="2000" dirty="0"/>
              <a:t>. </a:t>
            </a:r>
            <a:r>
              <a:rPr lang="ko-KR" altLang="en-US" sz="2000" dirty="0"/>
              <a:t>그리고 요청이 끝나면 소켓도 종료된다</a:t>
            </a:r>
            <a:r>
              <a:rPr lang="en-US" altLang="ko-KR" sz="2000" dirty="0"/>
              <a:t>.</a:t>
            </a:r>
          </a:p>
          <a:p>
            <a:pPr lvl="1">
              <a:defRPr/>
            </a:pPr>
            <a:r>
              <a:rPr lang="ko-KR" altLang="en-US" sz="2000" dirty="0"/>
              <a:t>그래서 소켓으로 설정된 서비스를 요청할 때는 처음 연결되는 시간이 앞에서 설명한 서비스에 비교했을 때 약간 더 걸릴 수 있다</a:t>
            </a:r>
            <a:r>
              <a:rPr lang="en-US" altLang="ko-KR" sz="2000" dirty="0"/>
              <a:t>. </a:t>
            </a:r>
            <a:r>
              <a:rPr lang="ko-KR" altLang="en-US" sz="2000" dirty="0"/>
              <a:t>왜냐하면 </a:t>
            </a:r>
            <a:r>
              <a:rPr lang="en-US" altLang="ko-KR" sz="2000" dirty="0"/>
              <a:t>systemd</a:t>
            </a:r>
            <a:r>
              <a:rPr lang="ko-KR" altLang="en-US" sz="2000" dirty="0"/>
              <a:t>가 서비스를 새로 구동하는 데 시간이 소요되기 때문이다</a:t>
            </a:r>
            <a:r>
              <a:rPr lang="en-US" altLang="ko-KR" sz="2000" dirty="0"/>
              <a:t>. </a:t>
            </a:r>
            <a:r>
              <a:rPr lang="ko-KR" altLang="en-US" sz="2000" dirty="0"/>
              <a:t>이와 같은 소켓의 대표적인 예로 텔넷 서버를 들 수 있다</a:t>
            </a:r>
            <a:r>
              <a:rPr lang="en-US" altLang="ko-KR" sz="2000" dirty="0"/>
              <a:t>.</a:t>
            </a:r>
          </a:p>
          <a:p>
            <a:pPr lvl="1">
              <a:defRPr/>
            </a:pPr>
            <a:r>
              <a:rPr lang="ko-KR" altLang="en-US" sz="2000" dirty="0"/>
              <a:t>소켓과 관련된 스크립트 파일은 </a:t>
            </a:r>
            <a:r>
              <a:rPr lang="en-US" altLang="ko-KR" sz="2000" dirty="0"/>
              <a:t>/lib/systemd/system/ </a:t>
            </a:r>
            <a:r>
              <a:rPr lang="ko-KR" altLang="en-US" sz="2000" dirty="0"/>
              <a:t>디렉터리에 </a:t>
            </a:r>
            <a:r>
              <a:rPr lang="en-US" altLang="ko-KR" sz="2000" dirty="0"/>
              <a:t>'</a:t>
            </a:r>
            <a:r>
              <a:rPr lang="ko-KR" altLang="en-US" sz="2000" dirty="0"/>
              <a:t>소켓이름</a:t>
            </a:r>
            <a:r>
              <a:rPr lang="en-US" altLang="ko-KR" sz="2000" dirty="0"/>
              <a:t>.socket' </a:t>
            </a:r>
            <a:r>
              <a:rPr lang="ko-KR" altLang="en-US" sz="2000" dirty="0"/>
              <a:t>라는 이름으로 존재한다</a:t>
            </a:r>
            <a:endParaRPr lang="en-US" altLang="ko-KR" sz="1600" dirty="0"/>
          </a:p>
        </p:txBody>
      </p:sp>
      <p:sp>
        <p:nvSpPr>
          <p:cNvPr id="2" name="말풍선: 타원형 1">
            <a:extLst>
              <a:ext uri="{FF2B5EF4-FFF2-40B4-BE49-F238E27FC236}">
                <a16:creationId xmlns:a16="http://schemas.microsoft.com/office/drawing/2014/main" id="{08622D39-95D8-F38D-1A0A-4D89E326CB06}"/>
              </a:ext>
            </a:extLst>
          </p:cNvPr>
          <p:cNvSpPr/>
          <p:nvPr/>
        </p:nvSpPr>
        <p:spPr>
          <a:xfrm>
            <a:off x="3503648" y="625475"/>
            <a:ext cx="1049292" cy="410369"/>
          </a:xfrm>
          <a:prstGeom prst="wedgeEllipseCallout">
            <a:avLst>
              <a:gd name="adj1" fmla="val -49721"/>
              <a:gd name="adj2" fmla="val 61440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284</a:t>
            </a:r>
            <a:r>
              <a:rPr lang="ko-KR" altLang="en-US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  <p:sp>
        <p:nvSpPr>
          <p:cNvPr id="3" name="물결 2">
            <a:extLst>
              <a:ext uri="{FF2B5EF4-FFF2-40B4-BE49-F238E27FC236}">
                <a16:creationId xmlns:a16="http://schemas.microsoft.com/office/drawing/2014/main" id="{0E80261D-237F-7ABB-20C5-C49F12B73A32}"/>
              </a:ext>
            </a:extLst>
          </p:cNvPr>
          <p:cNvSpPr/>
          <p:nvPr/>
        </p:nvSpPr>
        <p:spPr>
          <a:xfrm>
            <a:off x="762435" y="4797152"/>
            <a:ext cx="7704856" cy="900240"/>
          </a:xfrm>
          <a:prstGeom prst="wave">
            <a:avLst>
              <a:gd name="adj1" fmla="val 6856"/>
              <a:gd name="adj2" fmla="val -605"/>
            </a:avLst>
          </a:prstGeom>
          <a:solidFill>
            <a:srgbClr val="FF7C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ko-KR" altLang="en-US" sz="1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예전 우분투에서는 소켓과 비슷한 개념으로 </a:t>
            </a:r>
            <a:r>
              <a:rPr lang="en-US" altLang="ko-KR" sz="1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xinetd </a:t>
            </a:r>
            <a:r>
              <a:rPr lang="ko-KR" altLang="en-US" sz="1400" dirty="0" err="1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데몬이</a:t>
            </a:r>
            <a:r>
              <a:rPr lang="ko-KR" altLang="en-US" sz="1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주로 사용되었다</a:t>
            </a:r>
            <a:r>
              <a:rPr lang="en-US" altLang="ko-KR" sz="1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altLang="ko-KR" sz="1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Ubuntu 24.04 LTS</a:t>
            </a:r>
            <a:r>
              <a:rPr lang="ko-KR" altLang="en-US" sz="1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도 </a:t>
            </a:r>
            <a:r>
              <a:rPr lang="en-US" altLang="ko-KR" sz="1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xinetd </a:t>
            </a:r>
            <a:r>
              <a:rPr lang="ko-KR" altLang="en-US" sz="1400" dirty="0" err="1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데몬을</a:t>
            </a:r>
            <a:r>
              <a:rPr lang="ko-KR" altLang="en-US" sz="1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지원한다</a:t>
            </a:r>
            <a:r>
              <a:rPr lang="en-US" altLang="ko-KR" sz="1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 </a:t>
            </a:r>
            <a:r>
              <a:rPr lang="ko-KR" altLang="en-US" sz="1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하지만 많은 서비스가 </a:t>
            </a:r>
            <a:r>
              <a:rPr lang="en-US" altLang="ko-KR" sz="1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xinetd </a:t>
            </a:r>
            <a:r>
              <a:rPr lang="ko-KR" altLang="en-US" sz="1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대신에 소켓으로 사용된다</a:t>
            </a:r>
            <a:r>
              <a:rPr lang="en-US" altLang="ko-KR" sz="1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7579821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제목 1"/>
          <p:cNvSpPr>
            <a:spLocks noGrp="1"/>
          </p:cNvSpPr>
          <p:nvPr>
            <p:ph type="title"/>
          </p:nvPr>
        </p:nvSpPr>
        <p:spPr>
          <a:xfrm>
            <a:off x="500063" y="714375"/>
            <a:ext cx="8229600" cy="642938"/>
          </a:xfrm>
        </p:spPr>
        <p:txBody>
          <a:bodyPr/>
          <a:lstStyle/>
          <a:p>
            <a:pPr eaLnBrk="1" hangingPunct="1"/>
            <a:r>
              <a:rPr lang="ko-KR" altLang="en-US" sz="2800" dirty="0"/>
              <a:t>응급 복구</a:t>
            </a:r>
            <a:endParaRPr lang="ko-KR" altLang="en-US" sz="2800" dirty="0">
              <a:solidFill>
                <a:srgbClr val="00B050"/>
              </a:solidFill>
            </a:endParaRPr>
          </a:p>
        </p:txBody>
      </p:sp>
      <p:sp>
        <p:nvSpPr>
          <p:cNvPr id="6" name="내용 개체 틀 2"/>
          <p:cNvSpPr>
            <a:spLocks noGrp="1"/>
          </p:cNvSpPr>
          <p:nvPr>
            <p:ph idx="1"/>
          </p:nvPr>
        </p:nvSpPr>
        <p:spPr>
          <a:xfrm>
            <a:off x="457200" y="1357313"/>
            <a:ext cx="8229600" cy="631825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ko-KR" altLang="en-US" dirty="0"/>
              <a:t>시스템이 부팅이 되지 않을 경우에 수행</a:t>
            </a:r>
            <a:endParaRPr lang="en-US" altLang="ko-KR" sz="1600" dirty="0"/>
          </a:p>
        </p:txBody>
      </p:sp>
      <p:sp>
        <p:nvSpPr>
          <p:cNvPr id="67588" name="내용 개체 틀 2"/>
          <p:cNvSpPr txBox="1">
            <a:spLocks/>
          </p:cNvSpPr>
          <p:nvPr/>
        </p:nvSpPr>
        <p:spPr bwMode="auto">
          <a:xfrm>
            <a:off x="422275" y="2708275"/>
            <a:ext cx="8229600" cy="3600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65125" indent="-255588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657225" indent="-246063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922338" indent="-219075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</a:pP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실습목표</a:t>
            </a:r>
            <a:endParaRPr lang="en-US" altLang="ko-KR" sz="24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lvl="1" eaLnBrk="1" hangingPunct="1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</a:pPr>
            <a:r>
              <a:rPr lang="en-US" altLang="ko-KR" sz="2000" dirty="0">
                <a:solidFill>
                  <a:schemeClr val="accent2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root </a:t>
            </a:r>
            <a:r>
              <a:rPr lang="ko-KR" altLang="en-US" sz="2000" dirty="0">
                <a:solidFill>
                  <a:schemeClr val="accent2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비밀번호를 </a:t>
            </a:r>
            <a:r>
              <a:rPr lang="ko-KR" altLang="en-US" sz="2000" dirty="0" err="1">
                <a:solidFill>
                  <a:schemeClr val="accent2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분실시</a:t>
            </a:r>
            <a:r>
              <a:rPr lang="en-US" altLang="ko-KR" sz="2000" dirty="0">
                <a:solidFill>
                  <a:schemeClr val="accent2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2000" dirty="0">
                <a:solidFill>
                  <a:schemeClr val="accent2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응급 복구하는 방법을 익힌다</a:t>
            </a:r>
            <a:r>
              <a:rPr lang="en-US" altLang="ko-KR" sz="2000" dirty="0">
                <a:solidFill>
                  <a:schemeClr val="accent2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  <a:p>
            <a:pPr lvl="1" eaLnBrk="1" hangingPunct="1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</a:pPr>
            <a:r>
              <a:rPr lang="en-US" altLang="ko-KR" sz="2000" dirty="0">
                <a:solidFill>
                  <a:schemeClr val="accent2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GRUB</a:t>
            </a:r>
            <a:r>
              <a:rPr lang="ko-KR" altLang="en-US" sz="2000" dirty="0">
                <a:solidFill>
                  <a:schemeClr val="accent2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에서 </a:t>
            </a:r>
            <a:r>
              <a:rPr lang="ko-KR" altLang="en-US" sz="2000" dirty="0" err="1">
                <a:solidFill>
                  <a:schemeClr val="accent2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부팅시</a:t>
            </a:r>
            <a:r>
              <a:rPr lang="ko-KR" altLang="en-US" sz="2000" dirty="0">
                <a:solidFill>
                  <a:schemeClr val="accent2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설정을 변경하는 방법을 알아 본다</a:t>
            </a:r>
            <a:r>
              <a:rPr lang="en-US" altLang="ko-KR" sz="2000" dirty="0">
                <a:solidFill>
                  <a:schemeClr val="accent2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  <a:p>
            <a:pPr eaLnBrk="1" hangingPunct="1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</a:pP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실습 화면 </a:t>
            </a:r>
            <a: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(GRUB </a:t>
            </a: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편집</a:t>
            </a:r>
            <a: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</a:p>
          <a:p>
            <a:pPr lvl="2" eaLnBrk="1" hangingPunct="1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</a:pPr>
            <a:endParaRPr lang="en-US" altLang="ko-KR" sz="2000" dirty="0">
              <a:solidFill>
                <a:schemeClr val="accent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eaLnBrk="1" hangingPunct="1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</a:pPr>
            <a:endParaRPr lang="ko-KR" altLang="en-US" sz="24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67089D9-C999-437F-9B50-6131BDEAF6AB}"/>
              </a:ext>
            </a:extLst>
          </p:cNvPr>
          <p:cNvSpPr txBox="1">
            <a:spLocks/>
          </p:cNvSpPr>
          <p:nvPr/>
        </p:nvSpPr>
        <p:spPr bwMode="auto">
          <a:xfrm>
            <a:off x="790109" y="1963285"/>
            <a:ext cx="8075240" cy="642937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50000"/>
                  <a:shade val="30000"/>
                  <a:satMod val="115000"/>
                </a:schemeClr>
              </a:gs>
              <a:gs pos="50000">
                <a:schemeClr val="bg2">
                  <a:lumMod val="50000"/>
                  <a:shade val="67500"/>
                  <a:satMod val="115000"/>
                </a:schemeClr>
              </a:gs>
              <a:gs pos="100000">
                <a:schemeClr val="bg2">
                  <a:lumMod val="50000"/>
                  <a:shade val="100000"/>
                  <a:satMod val="115000"/>
                </a:schemeClr>
              </a:gs>
            </a:gsLst>
            <a:lin ang="0" scaled="1"/>
            <a:tileRect/>
          </a:gradFill>
          <a:ln>
            <a:noFill/>
            <a:miter lim="800000"/>
            <a:headEnd/>
            <a:tailEnd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2"/>
                </a:solidFill>
                <a:latin typeface="HY견고딕" pitchFamily="18" charset="-127"/>
                <a:ea typeface="HY견고딕" pitchFamily="18" charset="-127"/>
                <a:cs typeface="+mj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9pPr>
          </a:lstStyle>
          <a:p>
            <a:pPr eaLnBrk="1" hangingPunct="1">
              <a:defRPr/>
            </a:pPr>
            <a:r>
              <a:rPr kumimoji="0" lang="en-US" altLang="ko-KR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&lt;</a:t>
            </a:r>
            <a:r>
              <a:rPr kumimoji="0" lang="ko-KR" altLang="en-US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실습</a:t>
            </a:r>
            <a:r>
              <a:rPr kumimoji="0" lang="en-US" altLang="ko-KR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17&gt; root </a:t>
            </a:r>
            <a:r>
              <a:rPr kumimoji="0" lang="ko-KR" altLang="en-US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비밀번호 분실 시 </a:t>
            </a:r>
          </a:p>
        </p:txBody>
      </p:sp>
      <p:pic>
        <p:nvPicPr>
          <p:cNvPr id="3" name="그림 2" descr="키보드, 컴퓨터이(가) 표시된 사진&#10;&#10;자동 생성된 설명">
            <a:extLst>
              <a:ext uri="{FF2B5EF4-FFF2-40B4-BE49-F238E27FC236}">
                <a16:creationId xmlns:a16="http://schemas.microsoft.com/office/drawing/2014/main" id="{6FF84B51-E32A-470C-828B-CBBF1B0A5E8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6768" y="1792707"/>
            <a:ext cx="756709" cy="742276"/>
          </a:xfrm>
          <a:prstGeom prst="rect">
            <a:avLst/>
          </a:prstGeom>
        </p:spPr>
      </p:pic>
      <p:sp>
        <p:nvSpPr>
          <p:cNvPr id="4" name="말풍선: 타원형 3">
            <a:extLst>
              <a:ext uri="{FF2B5EF4-FFF2-40B4-BE49-F238E27FC236}">
                <a16:creationId xmlns:a16="http://schemas.microsoft.com/office/drawing/2014/main" id="{97D5B678-F3A7-CDDB-63B2-946221B741B8}"/>
              </a:ext>
            </a:extLst>
          </p:cNvPr>
          <p:cNvSpPr/>
          <p:nvPr/>
        </p:nvSpPr>
        <p:spPr>
          <a:xfrm>
            <a:off x="2411760" y="625475"/>
            <a:ext cx="1049292" cy="410369"/>
          </a:xfrm>
          <a:prstGeom prst="wedgeEllipseCallout">
            <a:avLst>
              <a:gd name="adj1" fmla="val -49721"/>
              <a:gd name="adj2" fmla="val 61440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285</a:t>
            </a:r>
            <a:r>
              <a:rPr lang="ko-KR" altLang="en-US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  <p:sp>
        <p:nvSpPr>
          <p:cNvPr id="5" name="말풍선: 타원형 4">
            <a:extLst>
              <a:ext uri="{FF2B5EF4-FFF2-40B4-BE49-F238E27FC236}">
                <a16:creationId xmlns:a16="http://schemas.microsoft.com/office/drawing/2014/main" id="{5FA92AB5-7396-D494-1222-484A26E580AA}"/>
              </a:ext>
            </a:extLst>
          </p:cNvPr>
          <p:cNvSpPr/>
          <p:nvPr/>
        </p:nvSpPr>
        <p:spPr>
          <a:xfrm>
            <a:off x="5220072" y="1851691"/>
            <a:ext cx="1049292" cy="410369"/>
          </a:xfrm>
          <a:prstGeom prst="wedgeEllipseCallout">
            <a:avLst>
              <a:gd name="adj1" fmla="val -49721"/>
              <a:gd name="adj2" fmla="val 61440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286</a:t>
            </a:r>
            <a:r>
              <a:rPr lang="ko-KR" altLang="en-US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  <p:pic>
        <p:nvPicPr>
          <p:cNvPr id="8" name="그림 7" descr="텍스트, 스크린샷, 폰트이(가) 표시된 사진&#10;&#10;자동 생성된 설명">
            <a:extLst>
              <a:ext uri="{FF2B5EF4-FFF2-40B4-BE49-F238E27FC236}">
                <a16:creationId xmlns:a16="http://schemas.microsoft.com/office/drawing/2014/main" id="{4B0E6815-6275-E512-0E26-FD7E1F4E312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3728" y="4230765"/>
            <a:ext cx="4300900" cy="2251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1066405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제목 1"/>
          <p:cNvSpPr>
            <a:spLocks noGrp="1"/>
          </p:cNvSpPr>
          <p:nvPr>
            <p:ph type="title"/>
          </p:nvPr>
        </p:nvSpPr>
        <p:spPr>
          <a:xfrm>
            <a:off x="500063" y="714375"/>
            <a:ext cx="8229600" cy="642938"/>
          </a:xfrm>
        </p:spPr>
        <p:txBody>
          <a:bodyPr/>
          <a:lstStyle/>
          <a:p>
            <a:pPr eaLnBrk="1" hangingPunct="1"/>
            <a:r>
              <a:rPr lang="en-US" altLang="ko-KR" sz="2800" dirty="0"/>
              <a:t>GRUB </a:t>
            </a:r>
            <a:r>
              <a:rPr lang="ko-KR" altLang="en-US" sz="2800" dirty="0"/>
              <a:t>부트로더</a:t>
            </a:r>
            <a:r>
              <a:rPr lang="en-US" altLang="ko-KR" sz="2800" dirty="0"/>
              <a:t>(1)</a:t>
            </a:r>
            <a:endParaRPr lang="ko-KR" altLang="en-US" sz="2800" dirty="0">
              <a:solidFill>
                <a:srgbClr val="00B050"/>
              </a:solidFill>
            </a:endParaRPr>
          </a:p>
        </p:txBody>
      </p:sp>
      <p:sp>
        <p:nvSpPr>
          <p:cNvPr id="6" name="내용 개체 틀 2"/>
          <p:cNvSpPr>
            <a:spLocks noGrp="1"/>
          </p:cNvSpPr>
          <p:nvPr>
            <p:ph idx="1"/>
          </p:nvPr>
        </p:nvSpPr>
        <p:spPr>
          <a:xfrm>
            <a:off x="457200" y="1357313"/>
            <a:ext cx="8229600" cy="5024437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en-US" altLang="ko-KR" dirty="0"/>
              <a:t>GRUB </a:t>
            </a:r>
            <a:r>
              <a:rPr lang="ko-KR" altLang="en-US" dirty="0"/>
              <a:t>부트로더의 특징</a:t>
            </a:r>
            <a:endParaRPr lang="en-US" altLang="ko-KR" dirty="0"/>
          </a:p>
          <a:p>
            <a:pPr lvl="1">
              <a:defRPr/>
            </a:pPr>
            <a:r>
              <a:rPr lang="ko-KR" altLang="en-US" sz="2000" dirty="0"/>
              <a:t>부트 정보를 사용자가 임의로 변경해 부팅할 수가 있다</a:t>
            </a:r>
            <a:r>
              <a:rPr lang="en-US" altLang="ko-KR" sz="2000" dirty="0"/>
              <a:t>. </a:t>
            </a:r>
            <a:r>
              <a:rPr lang="ko-KR" altLang="en-US" sz="2000" dirty="0"/>
              <a:t>즉</a:t>
            </a:r>
            <a:r>
              <a:rPr lang="en-US" altLang="ko-KR" sz="2000" dirty="0"/>
              <a:t>, </a:t>
            </a:r>
            <a:r>
              <a:rPr lang="ko-KR" altLang="en-US" sz="2000" dirty="0"/>
              <a:t>부트 정보가 올바르지 않더라도 수정하여 부팅할 수 있다</a:t>
            </a:r>
            <a:r>
              <a:rPr lang="en-US" altLang="ko-KR" sz="2000" dirty="0"/>
              <a:t>.</a:t>
            </a:r>
          </a:p>
          <a:p>
            <a:pPr lvl="1">
              <a:defRPr/>
            </a:pPr>
            <a:r>
              <a:rPr lang="ko-KR" altLang="en-US" sz="2000" dirty="0"/>
              <a:t>다른 여러 가지 운영체제와 멀티부팅을 할 수 있다</a:t>
            </a:r>
            <a:r>
              <a:rPr lang="en-US" altLang="ko-KR" sz="2000" dirty="0"/>
              <a:t>.</a:t>
            </a:r>
          </a:p>
          <a:p>
            <a:pPr lvl="1">
              <a:defRPr/>
            </a:pPr>
            <a:r>
              <a:rPr lang="ko-KR" altLang="en-US" sz="2000" dirty="0"/>
              <a:t>대화형 설정을 제공해줘서</a:t>
            </a:r>
            <a:r>
              <a:rPr lang="en-US" altLang="ko-KR" sz="2000" dirty="0"/>
              <a:t>, </a:t>
            </a:r>
            <a:r>
              <a:rPr lang="ko-KR" altLang="en-US" sz="2000" dirty="0"/>
              <a:t>커널의 경로와 파일 이름만 알면 부팅이 가능하다</a:t>
            </a:r>
            <a:r>
              <a:rPr lang="en-US" altLang="ko-KR" sz="2000" dirty="0"/>
              <a:t>.</a:t>
            </a:r>
          </a:p>
          <a:p>
            <a:pPr>
              <a:defRPr/>
            </a:pPr>
            <a:endParaRPr lang="en-US" altLang="ko-KR" sz="2000" dirty="0"/>
          </a:p>
        </p:txBody>
      </p:sp>
      <p:sp>
        <p:nvSpPr>
          <p:cNvPr id="2" name="말풍선: 타원형 1">
            <a:extLst>
              <a:ext uri="{FF2B5EF4-FFF2-40B4-BE49-F238E27FC236}">
                <a16:creationId xmlns:a16="http://schemas.microsoft.com/office/drawing/2014/main" id="{7E733617-E478-3630-01A4-4A88F50CBC37}"/>
              </a:ext>
            </a:extLst>
          </p:cNvPr>
          <p:cNvSpPr/>
          <p:nvPr/>
        </p:nvSpPr>
        <p:spPr>
          <a:xfrm>
            <a:off x="3851920" y="625475"/>
            <a:ext cx="1049292" cy="410369"/>
          </a:xfrm>
          <a:prstGeom prst="wedgeEllipseCallout">
            <a:avLst>
              <a:gd name="adj1" fmla="val -49721"/>
              <a:gd name="adj2" fmla="val 61440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289</a:t>
            </a:r>
            <a:r>
              <a:rPr lang="ko-KR" altLang="en-US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  <p:pic>
        <p:nvPicPr>
          <p:cNvPr id="5" name="그림 4" descr="텍스트, 스크린샷, 폰트, 라인이(가) 표시된 사진&#10;&#10;자동 생성된 설명">
            <a:extLst>
              <a:ext uri="{FF2B5EF4-FFF2-40B4-BE49-F238E27FC236}">
                <a16:creationId xmlns:a16="http://schemas.microsoft.com/office/drawing/2014/main" id="{041FCB13-D6B7-6EB1-41A2-60C172757B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381" y="3573016"/>
            <a:ext cx="6095238" cy="2514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6283991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제목 1"/>
          <p:cNvSpPr>
            <a:spLocks noGrp="1"/>
          </p:cNvSpPr>
          <p:nvPr>
            <p:ph type="title"/>
          </p:nvPr>
        </p:nvSpPr>
        <p:spPr>
          <a:xfrm>
            <a:off x="500063" y="714375"/>
            <a:ext cx="8229600" cy="642938"/>
          </a:xfrm>
        </p:spPr>
        <p:txBody>
          <a:bodyPr/>
          <a:lstStyle/>
          <a:p>
            <a:pPr eaLnBrk="1" hangingPunct="1"/>
            <a:r>
              <a:rPr lang="en-US" altLang="ko-KR" sz="2800" dirty="0"/>
              <a:t>GRUB </a:t>
            </a:r>
            <a:r>
              <a:rPr lang="ko-KR" altLang="en-US" sz="2800" dirty="0" err="1"/>
              <a:t>부트로더</a:t>
            </a:r>
            <a:r>
              <a:rPr lang="en-US" altLang="ko-KR" sz="2800" dirty="0"/>
              <a:t>(2)</a:t>
            </a:r>
            <a:endParaRPr lang="ko-KR" altLang="en-US" sz="2800" dirty="0">
              <a:solidFill>
                <a:srgbClr val="00B050"/>
              </a:solidFill>
            </a:endParaRPr>
          </a:p>
        </p:txBody>
      </p:sp>
      <p:sp>
        <p:nvSpPr>
          <p:cNvPr id="6" name="내용 개체 틀 2"/>
          <p:cNvSpPr>
            <a:spLocks noGrp="1"/>
          </p:cNvSpPr>
          <p:nvPr>
            <p:ph idx="1"/>
          </p:nvPr>
        </p:nvSpPr>
        <p:spPr>
          <a:xfrm>
            <a:off x="457200" y="1357313"/>
            <a:ext cx="8229600" cy="5024437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en-US" altLang="ko-KR" dirty="0"/>
              <a:t>GRUB2</a:t>
            </a:r>
            <a:r>
              <a:rPr lang="ko-KR" altLang="en-US" dirty="0"/>
              <a:t>의 장점</a:t>
            </a:r>
            <a:endParaRPr lang="en-US" altLang="ko-KR" dirty="0"/>
          </a:p>
          <a:p>
            <a:pPr lvl="1">
              <a:defRPr/>
            </a:pPr>
            <a:r>
              <a:rPr lang="ko-KR" altLang="en-US" sz="2000" dirty="0"/>
              <a:t>셸 스크립트를 지원함으로써 조건식과 함수를 사용할 수 있다</a:t>
            </a:r>
            <a:r>
              <a:rPr lang="en-US" altLang="ko-KR" sz="2000" dirty="0"/>
              <a:t>.</a:t>
            </a:r>
          </a:p>
          <a:p>
            <a:pPr lvl="1">
              <a:defRPr/>
            </a:pPr>
            <a:r>
              <a:rPr lang="ko-KR" altLang="en-US" sz="2000" dirty="0"/>
              <a:t>동적 모듈을 </a:t>
            </a:r>
            <a:r>
              <a:rPr lang="ko-KR" altLang="en-US" sz="2000" dirty="0" err="1"/>
              <a:t>로드할</a:t>
            </a:r>
            <a:r>
              <a:rPr lang="ko-KR" altLang="en-US" sz="2000" dirty="0"/>
              <a:t> 수 있다</a:t>
            </a:r>
            <a:r>
              <a:rPr lang="en-US" altLang="ko-KR" sz="2000" dirty="0"/>
              <a:t>. </a:t>
            </a:r>
          </a:p>
          <a:p>
            <a:pPr lvl="1">
              <a:defRPr/>
            </a:pPr>
            <a:r>
              <a:rPr lang="ko-KR" altLang="en-US" sz="2000" dirty="0"/>
              <a:t>그래픽 부트 메뉴를 지원하며</a:t>
            </a:r>
            <a:r>
              <a:rPr lang="en-US" altLang="ko-KR" sz="2000" dirty="0"/>
              <a:t>, </a:t>
            </a:r>
            <a:r>
              <a:rPr lang="ko-KR" altLang="en-US" sz="2000" dirty="0"/>
              <a:t>부트 </a:t>
            </a:r>
            <a:r>
              <a:rPr lang="ko-KR" altLang="en-US" sz="2000" dirty="0" err="1"/>
              <a:t>스플래시</a:t>
            </a:r>
            <a:r>
              <a:rPr lang="en-US" altLang="ko-KR" sz="2000" dirty="0"/>
              <a:t>(boot splash)</a:t>
            </a:r>
            <a:r>
              <a:rPr lang="ko-KR" altLang="en-US" sz="2000" dirty="0"/>
              <a:t>성능이 개선되었다</a:t>
            </a:r>
            <a:r>
              <a:rPr lang="en-US" altLang="ko-KR" sz="2000" dirty="0"/>
              <a:t>.</a:t>
            </a:r>
          </a:p>
          <a:p>
            <a:pPr lvl="1">
              <a:defRPr/>
            </a:pPr>
            <a:r>
              <a:rPr lang="en-US" altLang="ko-KR" sz="2000" dirty="0"/>
              <a:t>ISO </a:t>
            </a:r>
            <a:r>
              <a:rPr lang="ko-KR" altLang="en-US" sz="2000" dirty="0"/>
              <a:t>이미지를 이용해서 바로 부팅할 수 있다</a:t>
            </a:r>
            <a:r>
              <a:rPr lang="en-US" altLang="ko-KR" sz="2000" dirty="0"/>
              <a:t>.</a:t>
            </a:r>
          </a:p>
          <a:p>
            <a:pPr lvl="1">
              <a:defRPr/>
            </a:pPr>
            <a:endParaRPr lang="en-US" altLang="ko-KR" sz="2000" dirty="0"/>
          </a:p>
          <a:p>
            <a:pPr>
              <a:defRPr/>
            </a:pPr>
            <a:r>
              <a:rPr lang="en-US" altLang="ko-KR" dirty="0"/>
              <a:t>GRUB2 </a:t>
            </a:r>
            <a:r>
              <a:rPr lang="ko-KR" altLang="en-US" dirty="0"/>
              <a:t>설정 방법</a:t>
            </a:r>
            <a:endParaRPr lang="en-US" altLang="ko-KR" dirty="0"/>
          </a:p>
          <a:p>
            <a:pPr lvl="1">
              <a:defRPr/>
            </a:pPr>
            <a:r>
              <a:rPr lang="en-US" altLang="ko-KR" sz="2000" dirty="0"/>
              <a:t>/boot/grub/</a:t>
            </a:r>
            <a:r>
              <a:rPr lang="en-US" altLang="ko-KR" sz="2000" dirty="0" err="1"/>
              <a:t>grub.cfg</a:t>
            </a:r>
            <a:r>
              <a:rPr lang="en-US" altLang="ko-KR" sz="2000" dirty="0"/>
              <a:t> </a:t>
            </a:r>
            <a:r>
              <a:rPr lang="ko-KR" altLang="en-US" sz="2000" dirty="0"/>
              <a:t>설정파일 </a:t>
            </a:r>
            <a:r>
              <a:rPr lang="en-US" altLang="ko-KR" sz="2000" dirty="0"/>
              <a:t>(</a:t>
            </a:r>
            <a:r>
              <a:rPr lang="ko-KR" altLang="en-US" sz="2000" dirty="0"/>
              <a:t>직접 변경하면 안됨</a:t>
            </a:r>
            <a:r>
              <a:rPr lang="en-US" altLang="ko-KR" sz="2000" dirty="0"/>
              <a:t>)</a:t>
            </a:r>
          </a:p>
          <a:p>
            <a:pPr lvl="1">
              <a:defRPr/>
            </a:pPr>
            <a:r>
              <a:rPr lang="en-US" altLang="ko-KR" sz="2000" dirty="0"/>
              <a:t>/etc/default/grub </a:t>
            </a:r>
            <a:r>
              <a:rPr lang="ko-KR" altLang="en-US" sz="2000" dirty="0"/>
              <a:t>파일과 </a:t>
            </a:r>
            <a:r>
              <a:rPr lang="en-US" altLang="ko-KR" sz="2000" dirty="0"/>
              <a:t>/etc/</a:t>
            </a:r>
            <a:r>
              <a:rPr lang="en-US" altLang="ko-KR" sz="2000" dirty="0" err="1"/>
              <a:t>grub.d</a:t>
            </a:r>
            <a:r>
              <a:rPr lang="en-US" altLang="ko-KR" sz="2000" dirty="0"/>
              <a:t>/ </a:t>
            </a:r>
            <a:r>
              <a:rPr lang="ko-KR" altLang="en-US" sz="2000" dirty="0"/>
              <a:t>디렉터리의 파일을 수정한 후에 ‘</a:t>
            </a:r>
            <a:r>
              <a:rPr lang="en-US" altLang="ko-KR" sz="2000" dirty="0"/>
              <a:t>update-grub’ </a:t>
            </a:r>
            <a:r>
              <a:rPr lang="ko-KR" altLang="en-US" sz="2000" dirty="0"/>
              <a:t>명령어를 실행해 설정함</a:t>
            </a:r>
            <a:r>
              <a:rPr lang="en-US" altLang="ko-KR" sz="2000" dirty="0"/>
              <a:t>.</a:t>
            </a:r>
          </a:p>
          <a:p>
            <a:pPr lvl="1">
              <a:defRPr/>
            </a:pPr>
            <a:endParaRPr lang="en-US" altLang="ko-KR" sz="2000" dirty="0"/>
          </a:p>
        </p:txBody>
      </p:sp>
      <p:sp>
        <p:nvSpPr>
          <p:cNvPr id="2" name="말풍선: 타원형 1">
            <a:extLst>
              <a:ext uri="{FF2B5EF4-FFF2-40B4-BE49-F238E27FC236}">
                <a16:creationId xmlns:a16="http://schemas.microsoft.com/office/drawing/2014/main" id="{7E733617-E478-3630-01A4-4A88F50CBC37}"/>
              </a:ext>
            </a:extLst>
          </p:cNvPr>
          <p:cNvSpPr/>
          <p:nvPr/>
        </p:nvSpPr>
        <p:spPr>
          <a:xfrm>
            <a:off x="3851920" y="625475"/>
            <a:ext cx="1049292" cy="410369"/>
          </a:xfrm>
          <a:prstGeom prst="wedgeEllipseCallout">
            <a:avLst>
              <a:gd name="adj1" fmla="val -49721"/>
              <a:gd name="adj2" fmla="val 61440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289</a:t>
            </a:r>
            <a:r>
              <a:rPr lang="ko-KR" altLang="en-US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</p:spTree>
    <p:extLst>
      <p:ext uri="{BB962C8B-B14F-4D97-AF65-F5344CB8AC3E}">
        <p14:creationId xmlns:p14="http://schemas.microsoft.com/office/powerpoint/2010/main" val="1851682034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제목 1"/>
          <p:cNvSpPr>
            <a:spLocks noGrp="1"/>
          </p:cNvSpPr>
          <p:nvPr>
            <p:ph type="title"/>
          </p:nvPr>
        </p:nvSpPr>
        <p:spPr>
          <a:xfrm>
            <a:off x="500063" y="714375"/>
            <a:ext cx="8229600" cy="642938"/>
          </a:xfrm>
        </p:spPr>
        <p:txBody>
          <a:bodyPr/>
          <a:lstStyle/>
          <a:p>
            <a:pPr eaLnBrk="1" hangingPunct="1"/>
            <a:r>
              <a:rPr lang="en-US" altLang="ko-KR" sz="2800" dirty="0"/>
              <a:t>GRUB </a:t>
            </a:r>
            <a:r>
              <a:rPr lang="ko-KR" altLang="en-US" sz="2800" dirty="0" err="1"/>
              <a:t>부트로더</a:t>
            </a:r>
            <a:r>
              <a:rPr lang="en-US" altLang="ko-KR" sz="2800" dirty="0"/>
              <a:t>(3)</a:t>
            </a:r>
            <a:endParaRPr lang="ko-KR" altLang="en-US" sz="2800" dirty="0">
              <a:solidFill>
                <a:srgbClr val="00B050"/>
              </a:solidFill>
            </a:endParaRPr>
          </a:p>
        </p:txBody>
      </p:sp>
      <p:sp>
        <p:nvSpPr>
          <p:cNvPr id="6" name="내용 개체 틀 2"/>
          <p:cNvSpPr>
            <a:spLocks noGrp="1"/>
          </p:cNvSpPr>
          <p:nvPr>
            <p:ph idx="1"/>
          </p:nvPr>
        </p:nvSpPr>
        <p:spPr>
          <a:xfrm>
            <a:off x="457200" y="1357313"/>
            <a:ext cx="8229600" cy="5024437"/>
          </a:xfrm>
        </p:spPr>
        <p:txBody>
          <a:bodyPr>
            <a:noAutofit/>
          </a:bodyPr>
          <a:lstStyle/>
          <a:p>
            <a:endParaRPr lang="ko-KR" altLang="en-US" dirty="0"/>
          </a:p>
          <a:p>
            <a:r>
              <a:rPr lang="en-US" altLang="ko-KR" dirty="0"/>
              <a:t>/etc/default/grub </a:t>
            </a:r>
            <a:r>
              <a:rPr lang="ko-KR" altLang="en-US" dirty="0"/>
              <a:t>파일</a:t>
            </a:r>
            <a:endParaRPr lang="en-US" altLang="ko-KR" dirty="0"/>
          </a:p>
        </p:txBody>
      </p:sp>
      <p:sp>
        <p:nvSpPr>
          <p:cNvPr id="2" name="말풍선: 타원형 1">
            <a:extLst>
              <a:ext uri="{FF2B5EF4-FFF2-40B4-BE49-F238E27FC236}">
                <a16:creationId xmlns:a16="http://schemas.microsoft.com/office/drawing/2014/main" id="{D4B26B2B-5797-0145-DBC0-2D4735E92444}"/>
              </a:ext>
            </a:extLst>
          </p:cNvPr>
          <p:cNvSpPr/>
          <p:nvPr/>
        </p:nvSpPr>
        <p:spPr>
          <a:xfrm>
            <a:off x="3851920" y="625475"/>
            <a:ext cx="1049292" cy="410369"/>
          </a:xfrm>
          <a:prstGeom prst="wedgeEllipseCallout">
            <a:avLst>
              <a:gd name="adj1" fmla="val -49721"/>
              <a:gd name="adj2" fmla="val 61440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290</a:t>
            </a:r>
            <a:r>
              <a:rPr lang="ko-KR" altLang="en-US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C6DB7A7-5F0A-6012-9887-6672841E70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095" y="2492896"/>
            <a:ext cx="7523809" cy="2428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7766197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0A1EA0-E23B-4C73-8AF0-62C4C249027E}"/>
              </a:ext>
            </a:extLst>
          </p:cNvPr>
          <p:cNvSpPr txBox="1">
            <a:spLocks/>
          </p:cNvSpPr>
          <p:nvPr/>
        </p:nvSpPr>
        <p:spPr bwMode="auto">
          <a:xfrm>
            <a:off x="790109" y="640481"/>
            <a:ext cx="8075240" cy="642937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50000"/>
                  <a:shade val="30000"/>
                  <a:satMod val="115000"/>
                </a:schemeClr>
              </a:gs>
              <a:gs pos="50000">
                <a:schemeClr val="bg2">
                  <a:lumMod val="50000"/>
                  <a:shade val="67500"/>
                  <a:satMod val="115000"/>
                </a:schemeClr>
              </a:gs>
              <a:gs pos="100000">
                <a:schemeClr val="bg2">
                  <a:lumMod val="50000"/>
                  <a:shade val="100000"/>
                  <a:satMod val="115000"/>
                </a:schemeClr>
              </a:gs>
            </a:gsLst>
            <a:lin ang="0" scaled="1"/>
            <a:tileRect/>
          </a:gradFill>
          <a:ln>
            <a:noFill/>
            <a:miter lim="800000"/>
            <a:headEnd/>
            <a:tailEnd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2"/>
                </a:solidFill>
                <a:latin typeface="HY견고딕" pitchFamily="18" charset="-127"/>
                <a:ea typeface="HY견고딕" pitchFamily="18" charset="-127"/>
                <a:cs typeface="+mj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9pPr>
          </a:lstStyle>
          <a:p>
            <a:pPr eaLnBrk="1" hangingPunct="1">
              <a:defRPr/>
            </a:pPr>
            <a:r>
              <a:rPr kumimoji="0" lang="en-US" altLang="ko-KR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&lt;</a:t>
            </a:r>
            <a:r>
              <a:rPr kumimoji="0" lang="ko-KR" altLang="en-US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실습</a:t>
            </a:r>
            <a:r>
              <a:rPr kumimoji="0" lang="en-US" altLang="ko-KR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18&gt; GURB </a:t>
            </a:r>
            <a:r>
              <a:rPr kumimoji="0" lang="ko-KR" altLang="en-US" sz="2400" dirty="0" err="1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부트로더</a:t>
            </a:r>
            <a:r>
              <a:rPr kumimoji="0" lang="ko-KR" altLang="en-US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변경 </a:t>
            </a:r>
          </a:p>
        </p:txBody>
      </p:sp>
      <p:pic>
        <p:nvPicPr>
          <p:cNvPr id="3" name="그림 2" descr="키보드, 컴퓨터이(가) 표시된 사진&#10;&#10;자동 생성된 설명">
            <a:extLst>
              <a:ext uri="{FF2B5EF4-FFF2-40B4-BE49-F238E27FC236}">
                <a16:creationId xmlns:a16="http://schemas.microsoft.com/office/drawing/2014/main" id="{32308ED0-D3A5-40F6-AEF0-18546C4A16A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6768" y="469903"/>
            <a:ext cx="756709" cy="742276"/>
          </a:xfrm>
          <a:prstGeom prst="rect">
            <a:avLst/>
          </a:prstGeom>
        </p:spPr>
      </p:pic>
      <p:sp>
        <p:nvSpPr>
          <p:cNvPr id="19459" name="내용 개체 틀 2"/>
          <p:cNvSpPr>
            <a:spLocks noGrp="1"/>
          </p:cNvSpPr>
          <p:nvPr>
            <p:ph idx="1"/>
          </p:nvPr>
        </p:nvSpPr>
        <p:spPr>
          <a:xfrm>
            <a:off x="500063" y="1357313"/>
            <a:ext cx="8229600" cy="5143500"/>
          </a:xfrm>
        </p:spPr>
        <p:txBody>
          <a:bodyPr/>
          <a:lstStyle/>
          <a:p>
            <a:pPr eaLnBrk="1" hangingPunct="1">
              <a:defRPr/>
            </a:pPr>
            <a:r>
              <a:rPr lang="ko-KR" altLang="en-US" dirty="0"/>
              <a:t>실습목표</a:t>
            </a:r>
            <a:endParaRPr lang="en-US" altLang="ko-KR" dirty="0"/>
          </a:p>
          <a:p>
            <a:pPr lvl="1" eaLnBrk="1" hangingPunct="1">
              <a:defRPr/>
            </a:pPr>
            <a:r>
              <a:rPr lang="ko-KR" altLang="en-US" sz="2000" dirty="0"/>
              <a:t>부트로더를 변경하는 방법을 익힌다</a:t>
            </a:r>
            <a:r>
              <a:rPr lang="en-US" altLang="ko-KR" sz="2000" dirty="0"/>
              <a:t>.</a:t>
            </a:r>
          </a:p>
          <a:p>
            <a:pPr lvl="1" eaLnBrk="1" hangingPunct="1">
              <a:defRPr/>
            </a:pPr>
            <a:r>
              <a:rPr lang="en-US" altLang="ko-KR" sz="2000" dirty="0"/>
              <a:t>GRUB</a:t>
            </a:r>
            <a:r>
              <a:rPr lang="ko-KR" altLang="en-US" sz="2000" dirty="0"/>
              <a:t>에 비밀번호를 지정하는 방법을 익힌다</a:t>
            </a:r>
            <a:r>
              <a:rPr lang="en-US" altLang="ko-KR" sz="2000" dirty="0"/>
              <a:t>.</a:t>
            </a:r>
          </a:p>
          <a:p>
            <a:pPr lvl="1" eaLnBrk="1" hangingPunct="1">
              <a:defRPr/>
            </a:pPr>
            <a:endParaRPr lang="en-US" altLang="ko-KR" sz="2000" dirty="0"/>
          </a:p>
          <a:p>
            <a:pPr eaLnBrk="1" hangingPunct="1">
              <a:defRPr/>
            </a:pPr>
            <a:r>
              <a:rPr lang="ko-KR" altLang="en-US" dirty="0"/>
              <a:t>실습 화면 </a:t>
            </a:r>
            <a:r>
              <a:rPr lang="en-US" altLang="ko-KR" dirty="0"/>
              <a:t>(</a:t>
            </a:r>
            <a:r>
              <a:rPr lang="ko-KR" altLang="en-US" dirty="0"/>
              <a:t>제목이 변경된 </a:t>
            </a:r>
            <a:r>
              <a:rPr lang="en-US" altLang="ko-KR" dirty="0"/>
              <a:t>GRUB)</a:t>
            </a:r>
          </a:p>
          <a:p>
            <a:pPr lvl="2" eaLnBrk="1" hangingPunct="1">
              <a:defRPr/>
            </a:pPr>
            <a:endParaRPr lang="en-US" altLang="ko-KR" dirty="0"/>
          </a:p>
          <a:p>
            <a:pPr eaLnBrk="1" hangingPunct="1">
              <a:defRPr/>
            </a:pPr>
            <a:endParaRPr lang="ko-KR" altLang="en-US" dirty="0"/>
          </a:p>
        </p:txBody>
      </p:sp>
      <p:sp>
        <p:nvSpPr>
          <p:cNvPr id="4" name="말풍선: 타원형 3">
            <a:extLst>
              <a:ext uri="{FF2B5EF4-FFF2-40B4-BE49-F238E27FC236}">
                <a16:creationId xmlns:a16="http://schemas.microsoft.com/office/drawing/2014/main" id="{FCAFFA34-6B2B-2A87-4C43-1460D7850EBF}"/>
              </a:ext>
            </a:extLst>
          </p:cNvPr>
          <p:cNvSpPr/>
          <p:nvPr/>
        </p:nvSpPr>
        <p:spPr>
          <a:xfrm>
            <a:off x="5148064" y="557712"/>
            <a:ext cx="1049292" cy="410369"/>
          </a:xfrm>
          <a:prstGeom prst="wedgeEllipseCallout">
            <a:avLst>
              <a:gd name="adj1" fmla="val -49721"/>
              <a:gd name="adj2" fmla="val 61440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291</a:t>
            </a:r>
            <a:r>
              <a:rPr lang="ko-KR" altLang="en-US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  <p:pic>
        <p:nvPicPr>
          <p:cNvPr id="7" name="그림 6" descr="텍스트, 스크린샷, 폰트, 디자인이(가) 표시된 사진&#10;&#10;자동 생성된 설명">
            <a:extLst>
              <a:ext uri="{FF2B5EF4-FFF2-40B4-BE49-F238E27FC236}">
                <a16:creationId xmlns:a16="http://schemas.microsoft.com/office/drawing/2014/main" id="{DA700C01-5E02-E645-5361-081CCB79733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9672" y="3356992"/>
            <a:ext cx="6095238" cy="2638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7978257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제목 1"/>
          <p:cNvSpPr>
            <a:spLocks noGrp="1"/>
          </p:cNvSpPr>
          <p:nvPr>
            <p:ph type="title"/>
          </p:nvPr>
        </p:nvSpPr>
        <p:spPr>
          <a:xfrm>
            <a:off x="500063" y="714375"/>
            <a:ext cx="8229600" cy="642938"/>
          </a:xfrm>
        </p:spPr>
        <p:txBody>
          <a:bodyPr/>
          <a:lstStyle/>
          <a:p>
            <a:pPr eaLnBrk="1" hangingPunct="1"/>
            <a:r>
              <a:rPr lang="ko-KR" altLang="en-US" sz="2800" dirty="0"/>
              <a:t>모듈의 개념과 커널 컴파일의 필요성</a:t>
            </a:r>
            <a:r>
              <a:rPr lang="en-US" altLang="ko-KR" sz="2800" dirty="0"/>
              <a:t> </a:t>
            </a:r>
            <a:endParaRPr lang="ko-KR" altLang="en-US" sz="2800" dirty="0">
              <a:solidFill>
                <a:srgbClr val="00B050"/>
              </a:solidFill>
            </a:endParaRPr>
          </a:p>
        </p:txBody>
      </p:sp>
      <p:sp>
        <p:nvSpPr>
          <p:cNvPr id="6" name="내용 개체 틀 2"/>
          <p:cNvSpPr>
            <a:spLocks noGrp="1"/>
          </p:cNvSpPr>
          <p:nvPr>
            <p:ph idx="1"/>
          </p:nvPr>
        </p:nvSpPr>
        <p:spPr>
          <a:xfrm>
            <a:off x="457200" y="1357313"/>
            <a:ext cx="8229600" cy="5024437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ko-KR" altLang="en-US" dirty="0"/>
              <a:t>모듈 </a:t>
            </a:r>
            <a:r>
              <a:rPr lang="en-US" altLang="ko-KR" dirty="0"/>
              <a:t>: </a:t>
            </a:r>
            <a:r>
              <a:rPr lang="ko-KR" altLang="en-US" dirty="0"/>
              <a:t>필요할 때마다 호출하여 사용되는 코드</a:t>
            </a:r>
            <a:endParaRPr lang="en-US" altLang="ko-KR" dirty="0"/>
          </a:p>
        </p:txBody>
      </p:sp>
      <p:sp>
        <p:nvSpPr>
          <p:cNvPr id="3" name="말풍선: 타원형 2">
            <a:extLst>
              <a:ext uri="{FF2B5EF4-FFF2-40B4-BE49-F238E27FC236}">
                <a16:creationId xmlns:a16="http://schemas.microsoft.com/office/drawing/2014/main" id="{5E6338F1-D4AF-D154-94D7-BD052BC8941C}"/>
              </a:ext>
            </a:extLst>
          </p:cNvPr>
          <p:cNvSpPr/>
          <p:nvPr/>
        </p:nvSpPr>
        <p:spPr>
          <a:xfrm>
            <a:off x="6228184" y="625475"/>
            <a:ext cx="1049292" cy="410369"/>
          </a:xfrm>
          <a:prstGeom prst="wedgeEllipseCallout">
            <a:avLst>
              <a:gd name="adj1" fmla="val -49721"/>
              <a:gd name="adj2" fmla="val 61440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293</a:t>
            </a:r>
            <a:r>
              <a:rPr lang="ko-KR" altLang="en-US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AB72496B-F327-1BB9-805D-467EBCD9EC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3913" y="2132856"/>
            <a:ext cx="6521900" cy="3818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2913806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제목 1"/>
          <p:cNvSpPr>
            <a:spLocks noGrp="1"/>
          </p:cNvSpPr>
          <p:nvPr>
            <p:ph type="title"/>
          </p:nvPr>
        </p:nvSpPr>
        <p:spPr>
          <a:xfrm>
            <a:off x="500063" y="714375"/>
            <a:ext cx="8229600" cy="642938"/>
          </a:xfrm>
        </p:spPr>
        <p:txBody>
          <a:bodyPr/>
          <a:lstStyle/>
          <a:p>
            <a:pPr eaLnBrk="1" hangingPunct="1"/>
            <a:r>
              <a:rPr lang="ko-KR" altLang="en-US" sz="2800" dirty="0"/>
              <a:t>커널 컴파일</a:t>
            </a:r>
            <a:endParaRPr lang="ko-KR" altLang="en-US" sz="2800" dirty="0">
              <a:solidFill>
                <a:srgbClr val="00B050"/>
              </a:solidFill>
            </a:endParaRPr>
          </a:p>
        </p:txBody>
      </p:sp>
      <p:sp>
        <p:nvSpPr>
          <p:cNvPr id="6" name="내용 개체 틀 2"/>
          <p:cNvSpPr>
            <a:spLocks noGrp="1"/>
          </p:cNvSpPr>
          <p:nvPr>
            <p:ph idx="1"/>
          </p:nvPr>
        </p:nvSpPr>
        <p:spPr>
          <a:xfrm>
            <a:off x="457200" y="1357313"/>
            <a:ext cx="8229600" cy="2647950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ko-KR" altLang="en-US" dirty="0"/>
              <a:t>커널 컴파일 순서</a:t>
            </a:r>
            <a:endParaRPr lang="en-US" altLang="ko-KR" dirty="0"/>
          </a:p>
        </p:txBody>
      </p:sp>
      <p:sp>
        <p:nvSpPr>
          <p:cNvPr id="7168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endParaRPr lang="ko-KR" altLang="en-US"/>
          </a:p>
        </p:txBody>
      </p:sp>
      <p:sp>
        <p:nvSpPr>
          <p:cNvPr id="2" name="말풍선: 타원형 1">
            <a:extLst>
              <a:ext uri="{FF2B5EF4-FFF2-40B4-BE49-F238E27FC236}">
                <a16:creationId xmlns:a16="http://schemas.microsoft.com/office/drawing/2014/main" id="{50D7B187-5F02-5F91-1750-B98E9FD9467A}"/>
              </a:ext>
            </a:extLst>
          </p:cNvPr>
          <p:cNvSpPr/>
          <p:nvPr/>
        </p:nvSpPr>
        <p:spPr>
          <a:xfrm>
            <a:off x="2627784" y="625475"/>
            <a:ext cx="1049292" cy="410369"/>
          </a:xfrm>
          <a:prstGeom prst="wedgeEllipseCallout">
            <a:avLst>
              <a:gd name="adj1" fmla="val -49721"/>
              <a:gd name="adj2" fmla="val 61440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295</a:t>
            </a:r>
            <a:r>
              <a:rPr lang="ko-KR" altLang="en-US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EC0D6180-A9F0-474F-5703-779F00CDE0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184" y="2210025"/>
            <a:ext cx="8076190" cy="3590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5942895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609F99-A9E3-4A5F-B7A9-DE088A090ED7}"/>
              </a:ext>
            </a:extLst>
          </p:cNvPr>
          <p:cNvSpPr txBox="1">
            <a:spLocks/>
          </p:cNvSpPr>
          <p:nvPr/>
        </p:nvSpPr>
        <p:spPr bwMode="auto">
          <a:xfrm>
            <a:off x="790109" y="647389"/>
            <a:ext cx="8075240" cy="642937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50000"/>
                  <a:shade val="30000"/>
                  <a:satMod val="115000"/>
                </a:schemeClr>
              </a:gs>
              <a:gs pos="50000">
                <a:schemeClr val="bg2">
                  <a:lumMod val="50000"/>
                  <a:shade val="67500"/>
                  <a:satMod val="115000"/>
                </a:schemeClr>
              </a:gs>
              <a:gs pos="100000">
                <a:schemeClr val="bg2">
                  <a:lumMod val="50000"/>
                  <a:shade val="100000"/>
                  <a:satMod val="115000"/>
                </a:schemeClr>
              </a:gs>
            </a:gsLst>
            <a:lin ang="0" scaled="1"/>
            <a:tileRect/>
          </a:gradFill>
          <a:ln>
            <a:noFill/>
            <a:miter lim="800000"/>
            <a:headEnd/>
            <a:tailEnd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2"/>
                </a:solidFill>
                <a:latin typeface="HY견고딕" pitchFamily="18" charset="-127"/>
                <a:ea typeface="HY견고딕" pitchFamily="18" charset="-127"/>
                <a:cs typeface="+mj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9pPr>
          </a:lstStyle>
          <a:p>
            <a:pPr eaLnBrk="1" hangingPunct="1">
              <a:defRPr/>
            </a:pPr>
            <a:r>
              <a:rPr kumimoji="0" lang="en-US" altLang="ko-KR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&lt;</a:t>
            </a:r>
            <a:r>
              <a:rPr kumimoji="0" lang="ko-KR" altLang="en-US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실습</a:t>
            </a:r>
            <a:r>
              <a:rPr kumimoji="0" lang="en-US" altLang="ko-KR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19&gt; </a:t>
            </a:r>
            <a:r>
              <a:rPr kumimoji="0" lang="ko-KR" altLang="en-US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커널 업그레이드</a:t>
            </a:r>
          </a:p>
        </p:txBody>
      </p:sp>
      <p:sp>
        <p:nvSpPr>
          <p:cNvPr id="19459" name="내용 개체 틀 2"/>
          <p:cNvSpPr>
            <a:spLocks noGrp="1"/>
          </p:cNvSpPr>
          <p:nvPr>
            <p:ph idx="1"/>
          </p:nvPr>
        </p:nvSpPr>
        <p:spPr>
          <a:xfrm>
            <a:off x="500063" y="1357313"/>
            <a:ext cx="8229600" cy="5143500"/>
          </a:xfrm>
        </p:spPr>
        <p:txBody>
          <a:bodyPr/>
          <a:lstStyle/>
          <a:p>
            <a:pPr eaLnBrk="1" hangingPunct="1">
              <a:defRPr/>
            </a:pPr>
            <a:r>
              <a:rPr lang="ko-KR" altLang="en-US" dirty="0"/>
              <a:t>실습목표</a:t>
            </a:r>
            <a:endParaRPr lang="en-US" altLang="ko-KR" dirty="0"/>
          </a:p>
          <a:p>
            <a:pPr lvl="1" eaLnBrk="1" hangingPunct="1">
              <a:defRPr/>
            </a:pPr>
            <a:r>
              <a:rPr lang="ko-KR" altLang="en-US" sz="2000" dirty="0"/>
              <a:t>최신의 커널로 업그레이드 하는 방법을 익힌다</a:t>
            </a:r>
            <a:r>
              <a:rPr lang="en-US" altLang="ko-KR" sz="2000" dirty="0"/>
              <a:t>.</a:t>
            </a:r>
          </a:p>
          <a:p>
            <a:pPr eaLnBrk="1" hangingPunct="1">
              <a:defRPr/>
            </a:pPr>
            <a:r>
              <a:rPr lang="ko-KR" altLang="en-US" dirty="0"/>
              <a:t>실습 화면 </a:t>
            </a:r>
            <a:r>
              <a:rPr lang="en-US" altLang="ko-KR" dirty="0"/>
              <a:t>(</a:t>
            </a:r>
            <a:r>
              <a:rPr lang="ko-KR" altLang="en-US" dirty="0"/>
              <a:t>컴파일 환경 설정 및 컴파일 결과</a:t>
            </a:r>
            <a:r>
              <a:rPr lang="en-US" altLang="ko-KR" dirty="0"/>
              <a:t>)</a:t>
            </a:r>
          </a:p>
          <a:p>
            <a:pPr lvl="2" eaLnBrk="1" hangingPunct="1">
              <a:defRPr/>
            </a:pPr>
            <a:endParaRPr lang="en-US" altLang="ko-KR" dirty="0"/>
          </a:p>
          <a:p>
            <a:pPr eaLnBrk="1" hangingPunct="1">
              <a:defRPr/>
            </a:pPr>
            <a:endParaRPr lang="ko-KR" altLang="en-US" dirty="0"/>
          </a:p>
        </p:txBody>
      </p:sp>
      <p:pic>
        <p:nvPicPr>
          <p:cNvPr id="3" name="그림 2" descr="키보드, 컴퓨터이(가) 표시된 사진&#10;&#10;자동 생성된 설명">
            <a:extLst>
              <a:ext uri="{FF2B5EF4-FFF2-40B4-BE49-F238E27FC236}">
                <a16:creationId xmlns:a16="http://schemas.microsoft.com/office/drawing/2014/main" id="{27B48EA6-C471-4B83-A7FE-03936C2F9BD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6768" y="476811"/>
            <a:ext cx="756709" cy="742276"/>
          </a:xfrm>
          <a:prstGeom prst="rect">
            <a:avLst/>
          </a:prstGeom>
        </p:spPr>
      </p:pic>
      <p:sp>
        <p:nvSpPr>
          <p:cNvPr id="4" name="말풍선: 타원형 3">
            <a:extLst>
              <a:ext uri="{FF2B5EF4-FFF2-40B4-BE49-F238E27FC236}">
                <a16:creationId xmlns:a16="http://schemas.microsoft.com/office/drawing/2014/main" id="{86F3729D-B69E-2649-46C3-E0F0DFD28B37}"/>
              </a:ext>
            </a:extLst>
          </p:cNvPr>
          <p:cNvSpPr/>
          <p:nvPr/>
        </p:nvSpPr>
        <p:spPr>
          <a:xfrm>
            <a:off x="4499992" y="558659"/>
            <a:ext cx="1049292" cy="410369"/>
          </a:xfrm>
          <a:prstGeom prst="wedgeEllipseCallout">
            <a:avLst>
              <a:gd name="adj1" fmla="val -49721"/>
              <a:gd name="adj2" fmla="val 61440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296</a:t>
            </a:r>
            <a:r>
              <a:rPr lang="ko-KR" altLang="en-US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  <p:pic>
        <p:nvPicPr>
          <p:cNvPr id="6" name="그림 5" descr="텍스트, 소프트웨어, 웹 페이지, 컴퓨터 아이콘이(가) 표시된 사진&#10;&#10;자동 생성된 설명">
            <a:extLst>
              <a:ext uri="{FF2B5EF4-FFF2-40B4-BE49-F238E27FC236}">
                <a16:creationId xmlns:a16="http://schemas.microsoft.com/office/drawing/2014/main" id="{0EE54D38-5C29-B60C-B7CC-B081671459F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28" y="2533687"/>
            <a:ext cx="6173887" cy="2967000"/>
          </a:xfrm>
          <a:prstGeom prst="rect">
            <a:avLst/>
          </a:prstGeom>
        </p:spPr>
      </p:pic>
      <p:pic>
        <p:nvPicPr>
          <p:cNvPr id="9" name="그림 8" descr="텍스트, 스크린샷, 폰트, 블랙이(가) 표시된 사진&#10;&#10;자동 생성된 설명">
            <a:extLst>
              <a:ext uri="{FF2B5EF4-FFF2-40B4-BE49-F238E27FC236}">
                <a16:creationId xmlns:a16="http://schemas.microsoft.com/office/drawing/2014/main" id="{F1914125-8628-1A6B-2385-4F1797BD4DD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8397" y="5085184"/>
            <a:ext cx="5115213" cy="1414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3936778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23528" y="2132856"/>
            <a:ext cx="8496943" cy="33701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dirty="0">
                <a:highlight>
                  <a:srgbClr val="FFFF00"/>
                </a:highligh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Client </a:t>
            </a:r>
            <a:r>
              <a:rPr lang="ko-KR" altLang="en-US" sz="2400" dirty="0">
                <a:highlight>
                  <a:srgbClr val="FFFF00"/>
                </a:highligh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가상머신</a:t>
            </a: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을 초기화하고 최신 커널 버전으로 업그레이드하자</a:t>
            </a:r>
            <a: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▶ </a:t>
            </a: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힌트 </a:t>
            </a:r>
            <a: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 : </a:t>
            </a:r>
          </a:p>
          <a:p>
            <a:pPr>
              <a:lnSpc>
                <a:spcPct val="150000"/>
              </a:lnSpc>
            </a:pPr>
            <a: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Client </a:t>
            </a: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가상머신에서 관리자 명령은 앞에 </a:t>
            </a:r>
            <a:r>
              <a:rPr lang="en-US" altLang="ko-KR" sz="24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sudo</a:t>
            </a: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를 붙여 실행해야 한다</a:t>
            </a:r>
            <a: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2400" dirty="0">
                <a:latin typeface="나눔바른고딕" panose="020B0603020101020101" pitchFamily="50" charset="-127"/>
              </a:rPr>
              <a:t>▶ </a:t>
            </a: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힌트 </a:t>
            </a:r>
            <a: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 : </a:t>
            </a:r>
          </a:p>
          <a:p>
            <a:pPr>
              <a:lnSpc>
                <a:spcPct val="150000"/>
              </a:lnSpc>
            </a:pP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컴파일 명령은 </a:t>
            </a:r>
            <a:r>
              <a:rPr lang="en-US" altLang="ko-KR" sz="24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sudo</a:t>
            </a:r>
            <a: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make; </a:t>
            </a:r>
            <a:r>
              <a:rPr lang="en-US" altLang="ko-KR" sz="24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sudo</a:t>
            </a:r>
            <a: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make </a:t>
            </a:r>
            <a:r>
              <a:rPr lang="en-US" altLang="ko-KR" sz="24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modules_install</a:t>
            </a:r>
            <a: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; </a:t>
            </a:r>
            <a:r>
              <a:rPr lang="en-US" altLang="ko-KR" sz="24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sudo</a:t>
            </a:r>
            <a: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make install </a:t>
            </a: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명령을 사용한다</a:t>
            </a:r>
            <a: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</p:txBody>
      </p:sp>
      <p:sp>
        <p:nvSpPr>
          <p:cNvPr id="2" name="말풍선: 타원형 1">
            <a:extLst>
              <a:ext uri="{FF2B5EF4-FFF2-40B4-BE49-F238E27FC236}">
                <a16:creationId xmlns:a16="http://schemas.microsoft.com/office/drawing/2014/main" id="{EE9CCC2C-CC6D-AB64-1405-CF0F098E4246}"/>
              </a:ext>
            </a:extLst>
          </p:cNvPr>
          <p:cNvSpPr/>
          <p:nvPr/>
        </p:nvSpPr>
        <p:spPr>
          <a:xfrm>
            <a:off x="6922453" y="764704"/>
            <a:ext cx="1049292" cy="410369"/>
          </a:xfrm>
          <a:prstGeom prst="wedgeEllipseCallout">
            <a:avLst>
              <a:gd name="adj1" fmla="val -49721"/>
              <a:gd name="adj2" fmla="val 61440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306</a:t>
            </a:r>
            <a:r>
              <a:rPr lang="ko-KR" altLang="en-US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DE9C58F-A325-1186-0971-72744BB36C80}"/>
              </a:ext>
            </a:extLst>
          </p:cNvPr>
          <p:cNvSpPr/>
          <p:nvPr/>
        </p:nvSpPr>
        <p:spPr>
          <a:xfrm>
            <a:off x="1907642" y="908720"/>
            <a:ext cx="511229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ko-KR" alt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660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비타민 퀴즈 </a:t>
            </a:r>
            <a:r>
              <a:rPr lang="en-US" altLang="ko-KR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660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4-3 </a:t>
            </a:r>
          </a:p>
        </p:txBody>
      </p:sp>
    </p:spTree>
    <p:extLst>
      <p:ext uri="{BB962C8B-B14F-4D97-AF65-F5344CB8AC3E}">
        <p14:creationId xmlns:p14="http://schemas.microsoft.com/office/powerpoint/2010/main" val="262912063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Urban">
  <a:themeElements>
    <a:clrScheme name="황록색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Urban">
      <a:majorFont>
        <a:latin typeface="Trebuchet MS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eorgia"/>
        <a:ea typeface=""/>
        <a:cs typeface=""/>
        <a:font script="Jpan" typeface="HG明朝B"/>
        <a:font script="Hang" typeface="맑은 고딕"/>
        <a:font script="Hans" typeface="宋体"/>
        <a:font script="Hant" typeface="新細明體"/>
        <a:font script="Arab" typeface="Arial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Urban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[우분투]00장.시작하기전에(Ver 1.0).pptx" id="{9CB7B681-7F69-4437-97DB-78D719B423D5}" vid="{18BC4063-0A75-45F0-B6F0-A104C17F8ABD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3703</TotalTime>
  <Words>4200</Words>
  <Application>Microsoft Office PowerPoint</Application>
  <PresentationFormat>화면 슬라이드 쇼(4:3)</PresentationFormat>
  <Paragraphs>736</Paragraphs>
  <Slides>72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72</vt:i4>
      </vt:variant>
    </vt:vector>
  </HeadingPairs>
  <TitlesOfParts>
    <vt:vector size="83" baseType="lpstr">
      <vt:lpstr>나눔스퀘어 ExtraBold</vt:lpstr>
      <vt:lpstr>나눔고딕 ExtraBold</vt:lpstr>
      <vt:lpstr>Georgia</vt:lpstr>
      <vt:lpstr>Trebuchet MS</vt:lpstr>
      <vt:lpstr>Arial</vt:lpstr>
      <vt:lpstr>나눔스퀘어라운드 ExtraBold</vt:lpstr>
      <vt:lpstr>굴림</vt:lpstr>
      <vt:lpstr>나눔바른고딕</vt:lpstr>
      <vt:lpstr>Wingdings 2</vt:lpstr>
      <vt:lpstr>Wingdings</vt:lpstr>
      <vt:lpstr>Urban</vt:lpstr>
      <vt:lpstr>PowerPoint 프레젠테이션</vt:lpstr>
      <vt:lpstr>시작과 종료</vt:lpstr>
      <vt:lpstr>가상 콘솔</vt:lpstr>
      <vt:lpstr>리눅스 디렉터리 구조와 명령어</vt:lpstr>
      <vt:lpstr>리눅스 기본 명령어 (1)</vt:lpstr>
      <vt:lpstr>리눅스 기본 명령어 (2)</vt:lpstr>
      <vt:lpstr>리눅스 기본 명령어 (3)</vt:lpstr>
      <vt:lpstr>리눅스 기본 명령어 (4)</vt:lpstr>
      <vt:lpstr>런레벨(Runlevel)</vt:lpstr>
      <vt:lpstr>PowerPoint 프레젠테이션</vt:lpstr>
      <vt:lpstr>자동 완성과 히스토리</vt:lpstr>
      <vt:lpstr>PowerPoint 프레젠테이션</vt:lpstr>
      <vt:lpstr>에디터 사용 </vt:lpstr>
      <vt:lpstr>PowerPoint 프레젠테이션</vt:lpstr>
      <vt:lpstr>vi 기능 요약</vt:lpstr>
      <vt:lpstr>도움말 사용법</vt:lpstr>
      <vt:lpstr>PowerPoint 프레젠테이션</vt:lpstr>
      <vt:lpstr>PowerPoint 프레젠테이션</vt:lpstr>
      <vt:lpstr>사용자와 그룹 관리 (1)</vt:lpstr>
      <vt:lpstr>사용자와 그룹 관리 (2)</vt:lpstr>
      <vt:lpstr>사용자와 그룹 관련 명령어(1)</vt:lpstr>
      <vt:lpstr>사용자와 그룹 관련 명령어(2)</vt:lpstr>
      <vt:lpstr>사용자와 그룹 관련 명령어(3)</vt:lpstr>
      <vt:lpstr>PowerPoint 프레젠테이션</vt:lpstr>
      <vt:lpstr>파일과 디렉터리의 소유와 허가권 (1) </vt:lpstr>
      <vt:lpstr>파일과 디렉터리의 소유와 허가권 (2)</vt:lpstr>
      <vt:lpstr>파일과 디렉터리의 소유와 허가권 (3)</vt:lpstr>
      <vt:lpstr>PowerPoint 프레젠테이션</vt:lpstr>
      <vt:lpstr>링크</vt:lpstr>
      <vt:lpstr>PowerPoint 프레젠테이션</vt:lpstr>
      <vt:lpstr>프로그램 설치를 위한 dpkg (1)</vt:lpstr>
      <vt:lpstr>프로그램 설치를 위한 dpkg (2) </vt:lpstr>
      <vt:lpstr>프로그램 설치를 위한 dpkg (3) </vt:lpstr>
      <vt:lpstr>PowerPoint 프레젠테이션</vt:lpstr>
      <vt:lpstr>편리한 패키지 설치를 위한 apt (1)</vt:lpstr>
      <vt:lpstr>편리한 패키지 설치를 위한 apt (2)</vt:lpstr>
      <vt:lpstr>PowerPoint 프레젠테이션</vt:lpstr>
      <vt:lpstr>편리한 패키지 설치를 위한 apt (3)</vt:lpstr>
      <vt:lpstr>편리한 패키지 설치를 위한 apt (4)</vt:lpstr>
      <vt:lpstr>PowerPoint 프레젠테이션</vt:lpstr>
      <vt:lpstr>App Center</vt:lpstr>
      <vt:lpstr>PowerPoint 프레젠테이션</vt:lpstr>
      <vt:lpstr>파일의 압축과 묶기 (1)</vt:lpstr>
      <vt:lpstr>파일의 압축과 묶기 (2) </vt:lpstr>
      <vt:lpstr>파일 위치 검색</vt:lpstr>
      <vt:lpstr>시스템 설정</vt:lpstr>
      <vt:lpstr>cron과 at </vt:lpstr>
      <vt:lpstr>PowerPoint 프레젠테이션</vt:lpstr>
      <vt:lpstr>PowerPoint 프레젠테이션</vt:lpstr>
      <vt:lpstr>네트워크 관련 필수 개념 (1)</vt:lpstr>
      <vt:lpstr>네트워크 관련 필수 개념 (2)</vt:lpstr>
      <vt:lpstr>네트워크 관련 필수 개념 (3) </vt:lpstr>
      <vt:lpstr>중요한 네트워크 관련 명령어 (1)</vt:lpstr>
      <vt:lpstr>중요한 네트워크 관련 명령어 (2)</vt:lpstr>
      <vt:lpstr>네트워크 설정과 관련된 주요 파일</vt:lpstr>
      <vt:lpstr>PowerPoint 프레젠테이션</vt:lpstr>
      <vt:lpstr>파이프, 필터, 리디렉션</vt:lpstr>
      <vt:lpstr>프로세스 (1)</vt:lpstr>
      <vt:lpstr>프로세스 (2) </vt:lpstr>
      <vt:lpstr>PowerPoint 프레젠테이션</vt:lpstr>
      <vt:lpstr>서비스와 소켓(1)</vt:lpstr>
      <vt:lpstr>서비스와 소켓(2)</vt:lpstr>
      <vt:lpstr>서비스와 소켓(3)</vt:lpstr>
      <vt:lpstr>응급 복구</vt:lpstr>
      <vt:lpstr>GRUB 부트로더(1)</vt:lpstr>
      <vt:lpstr>GRUB 부트로더(2)</vt:lpstr>
      <vt:lpstr>GRUB 부트로더(3)</vt:lpstr>
      <vt:lpstr>PowerPoint 프레젠테이션</vt:lpstr>
      <vt:lpstr>모듈의 개념과 커널 컴파일의 필요성 </vt:lpstr>
      <vt:lpstr>커널 컴파일</vt:lpstr>
      <vt:lpstr>PowerPoint 프레젠테이션</vt:lpstr>
      <vt:lpstr>PowerPoint 프레젠테이션</vt:lpstr>
    </vt:vector>
  </TitlesOfParts>
  <Company>DTSOLUTION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이것이 리눅스다</dc:title>
  <dc:creator>한빛미디어</dc:creator>
  <cp:lastModifiedBy>재남 우</cp:lastModifiedBy>
  <cp:revision>122</cp:revision>
  <dcterms:created xsi:type="dcterms:W3CDTF">2007-02-12T03:01:34Z</dcterms:created>
  <dcterms:modified xsi:type="dcterms:W3CDTF">2024-11-09T11:56:19Z</dcterms:modified>
</cp:coreProperties>
</file>