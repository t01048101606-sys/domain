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3" r:id="rId3"/>
    <p:sldId id="294" r:id="rId4"/>
    <p:sldId id="293" r:id="rId5"/>
    <p:sldId id="272" r:id="rId6"/>
    <p:sldId id="295" r:id="rId7"/>
    <p:sldId id="273" r:id="rId8"/>
    <p:sldId id="296" r:id="rId9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HY견고딕" panose="02030600000101010101" pitchFamily="18" charset="-127"/>
      <p:regular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  <p:embeddedFont>
      <p:font typeface="나눔고딕 ExtraBold" panose="020D0904000000000000" pitchFamily="50" charset="-127"/>
      <p:bold r:id="rId22"/>
    </p:embeddedFont>
    <p:embeddedFont>
      <p:font typeface="나눔바른고딕" panose="020B0603020101020101" pitchFamily="50" charset="-127"/>
      <p:regular r:id="rId23"/>
      <p:bold r:id="rId24"/>
    </p:embeddedFont>
    <p:embeddedFont>
      <p:font typeface="나눔스퀘어 ExtraBold" panose="020B0600000101010101" pitchFamily="50" charset="-127"/>
      <p:bold r:id="rId25"/>
    </p:embeddedFont>
    <p:embeddedFont>
      <p:font typeface="나눔스퀘어라운드 ExtraBold" panose="020B0600000101010101" pitchFamily="50" charset="-127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9933"/>
    <a:srgbClr val="FF6600"/>
    <a:srgbClr val="CC66FF"/>
    <a:srgbClr val="FF7C80"/>
    <a:srgbClr val="9966FF"/>
    <a:srgbClr val="FF00FF"/>
    <a:srgbClr val="FFCC66"/>
    <a:srgbClr val="CC99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/>
              <a:t>2024-10-26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9FE1E17-38D0-4764-A605-7BB07631345D}" type="datetimeFigureOut">
              <a:rPr lang="ko-KR" altLang="en-US"/>
              <a:pPr>
                <a:defRPr/>
              </a:pPr>
              <a:t>2024-10-26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950B175-50B7-496C-B63E-4B4F03E0721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841063" y="1309948"/>
            <a:ext cx="2465739" cy="954107"/>
          </a:xfrm>
          <a:prstGeom prst="rect">
            <a:avLst/>
          </a:prstGeom>
          <a:solidFill>
            <a:srgbClr val="00B0F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00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시작하기 전에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8966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00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시작하기 전에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358188" y="6550025"/>
            <a:ext cx="6014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/8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+mn-ea"/>
                <a:ea typeface="+mn-ea"/>
              </a:defRPr>
            </a:lvl1pPr>
            <a:lvl2pPr>
              <a:defRPr sz="2400">
                <a:latin typeface="+mn-ea"/>
                <a:ea typeface="+mn-ea"/>
              </a:defRPr>
            </a:lvl2pPr>
            <a:lvl3pPr>
              <a:defRPr sz="2000">
                <a:latin typeface="+mn-ea"/>
                <a:ea typeface="+mn-ea"/>
              </a:defRPr>
            </a:lvl3pPr>
            <a:lvl4pPr>
              <a:defRPr sz="20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80EA332E-FF14-428F-B02F-D0E6231A0C16}" type="slidenum">
              <a:rPr lang="en-US" altLang="ko-KR"/>
              <a:pPr/>
              <a:t>‹#›</a:t>
            </a:fld>
            <a:endParaRPr lang="en-US" altLang="ko-KR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14660" y="725902"/>
            <a:ext cx="8464425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</a:t>
            </a:r>
            <a:r>
              <a:rPr lang="ko-KR" altLang="en-US" sz="28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이것이 리눅스</a:t>
            </a:r>
            <a:r>
              <a:rPr lang="en-US" altLang="ko-KR" sz="28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28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우분투 리눅스다</a:t>
            </a:r>
            <a:r>
              <a:rPr lang="en-US" altLang="ko-KR" sz="28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]</a:t>
            </a:r>
            <a:r>
              <a:rPr lang="ko-KR" altLang="en-US" sz="28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차이점</a:t>
            </a:r>
          </a:p>
        </p:txBody>
      </p:sp>
      <p:graphicFrame>
        <p:nvGraphicFramePr>
          <p:cNvPr id="4" name="내용 개체 틀 5">
            <a:extLst>
              <a:ext uri="{FF2B5EF4-FFF2-40B4-BE49-F238E27FC236}">
                <a16:creationId xmlns:a16="http://schemas.microsoft.com/office/drawing/2014/main" id="{478B6184-E35D-13BA-F31E-EBBB8D8E9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584419"/>
              </p:ext>
            </p:extLst>
          </p:nvPr>
        </p:nvGraphicFramePr>
        <p:xfrm>
          <a:off x="395536" y="1391831"/>
          <a:ext cx="7981057" cy="2533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759">
                  <a:extLst>
                    <a:ext uri="{9D8B030D-6E8A-4147-A177-3AD203B41FA5}">
                      <a16:colId xmlns:a16="http://schemas.microsoft.com/office/drawing/2014/main" val="689109545"/>
                    </a:ext>
                  </a:extLst>
                </a:gridCol>
                <a:gridCol w="2437694">
                  <a:extLst>
                    <a:ext uri="{9D8B030D-6E8A-4147-A177-3AD203B41FA5}">
                      <a16:colId xmlns:a16="http://schemas.microsoft.com/office/drawing/2014/main" val="2914516743"/>
                    </a:ext>
                  </a:extLst>
                </a:gridCol>
                <a:gridCol w="2351562">
                  <a:extLst>
                    <a:ext uri="{9D8B030D-6E8A-4147-A177-3AD203B41FA5}">
                      <a16:colId xmlns:a16="http://schemas.microsoft.com/office/drawing/2014/main" val="268940312"/>
                    </a:ext>
                  </a:extLst>
                </a:gridCol>
                <a:gridCol w="2209042">
                  <a:extLst>
                    <a:ext uri="{9D8B030D-6E8A-4147-A177-3AD203B41FA5}">
                      <a16:colId xmlns:a16="http://schemas.microsoft.com/office/drawing/2014/main" val="4186638183"/>
                    </a:ext>
                  </a:extLst>
                </a:gridCol>
              </a:tblGrid>
              <a:tr h="449664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이것이 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우분투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리눅스다 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판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이것이 리눅스다 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6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판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이것이 리눅스다 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개정판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64862"/>
                  </a:ext>
                </a:extLst>
              </a:tr>
              <a:tr h="4151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사용 리눅스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Ubuntu 24.04 LTS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Rocky Linux 9</a:t>
                      </a:r>
                      <a:endParaRPr lang="ko-KR" altLang="en-US" sz="1800" b="1" dirty="0">
                        <a:solidFill>
                          <a:srgbClr val="7030A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CentOS 8</a:t>
                      </a:r>
                      <a:endParaRPr lang="ko-KR" altLang="en-US" sz="18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26200"/>
                  </a:ext>
                </a:extLst>
              </a:tr>
              <a:tr h="260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출간연도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2024.10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월 말</a:t>
                      </a:r>
                      <a:endParaRPr lang="ko-KR" altLang="en-US" sz="1400" dirty="0">
                        <a:solidFill>
                          <a:srgbClr val="7030A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2023.2</a:t>
                      </a:r>
                      <a:endParaRPr lang="ko-KR" altLang="en-US" sz="1600" dirty="0">
                        <a:solidFill>
                          <a:srgbClr val="7030A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2020.4</a:t>
                      </a:r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44160"/>
                  </a:ext>
                </a:extLst>
              </a:tr>
              <a:tr h="2569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목차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거의   비슷함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315993"/>
                  </a:ext>
                </a:extLst>
              </a:tr>
              <a:tr h="2355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동영상 강좌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제공 예정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월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제공 중</a:t>
                      </a:r>
                      <a:endParaRPr lang="ko-KR" altLang="en-US" sz="1600" dirty="0">
                        <a:solidFill>
                          <a:srgbClr val="7030A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제공 중</a:t>
                      </a:r>
                      <a:endParaRPr lang="ko-KR" altLang="en-US" sz="16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062311"/>
                  </a:ext>
                </a:extLst>
              </a:tr>
              <a:tr h="3211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VMware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VMware Workstation Pro 17.5.2 </a:t>
                      </a:r>
                    </a:p>
                    <a:p>
                      <a:pPr algn="ctr" latinLnBrk="1"/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이후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VMware Workstation Pro 17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VMware Workstation Player 17</a:t>
                      </a:r>
                      <a:endParaRPr lang="ko-KR" altLang="en-US" sz="1100" dirty="0">
                        <a:solidFill>
                          <a:srgbClr val="7030A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VMware Workstation Pro 15.5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7030A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VMware Workstation Player 15.5</a:t>
                      </a:r>
                      <a:endParaRPr lang="ko-KR" altLang="en-US" sz="11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2935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A440F2-1A01-A263-C2F6-3051CDC9C74D}"/>
              </a:ext>
            </a:extLst>
          </p:cNvPr>
          <p:cNvSpPr txBox="1"/>
          <p:nvPr/>
        </p:nvSpPr>
        <p:spPr>
          <a:xfrm>
            <a:off x="2120945" y="5615001"/>
            <a:ext cx="578115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 입문자는 어느 책으로 학습해도 상관없음</a:t>
            </a:r>
            <a:endParaRPr lang="en-US" altLang="ko-KR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Picture 2" descr="대문이미지">
            <a:extLst>
              <a:ext uri="{FF2B5EF4-FFF2-40B4-BE49-F238E27FC236}">
                <a16:creationId xmlns:a16="http://schemas.microsoft.com/office/drawing/2014/main" id="{4D8CE128-BAA4-054B-2A5B-017D60BA2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099038"/>
            <a:ext cx="1002032" cy="128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대문이미지">
            <a:extLst>
              <a:ext uri="{FF2B5EF4-FFF2-40B4-BE49-F238E27FC236}">
                <a16:creationId xmlns:a16="http://schemas.microsoft.com/office/drawing/2014/main" id="{94C30A31-869E-758C-CB7D-989687F97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504" y="4099038"/>
            <a:ext cx="1002033" cy="132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텍스트, 의류, 스크린샷, 포스터이(가) 표시된 사진&#10;&#10;자동 생성된 설명">
            <a:extLst>
              <a:ext uri="{FF2B5EF4-FFF2-40B4-BE49-F238E27FC236}">
                <a16:creationId xmlns:a16="http://schemas.microsoft.com/office/drawing/2014/main" id="{B68C7D3F-A8C3-1BB7-4792-EA57A3E0C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907" y="4122079"/>
            <a:ext cx="1013886" cy="1320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강의 및 교재의 목표</a:t>
            </a:r>
            <a:endParaRPr lang="ko-KR" altLang="en-US" sz="2800" dirty="0">
              <a:solidFill>
                <a:srgbClr val="00B0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814988" y="2600908"/>
            <a:ext cx="2520280" cy="17281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 </a:t>
            </a:r>
            <a:endParaRPr lang="en-US" altLang="ko-KR" sz="3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defRPr/>
            </a:pPr>
            <a:r>
              <a:rPr lang="ko-KR" altLang="en-US" sz="3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초보자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4061646" y="3032956"/>
            <a:ext cx="1152128" cy="79208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940152" y="2564904"/>
            <a:ext cx="2520280" cy="17281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 </a:t>
            </a:r>
            <a:endParaRPr lang="en-US" altLang="ko-KR" sz="3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defRPr/>
            </a:pPr>
            <a:r>
              <a:rPr lang="ko-KR" altLang="en-US" sz="3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중급자</a:t>
            </a:r>
            <a:endParaRPr lang="ko-KR" altLang="en-US" sz="3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709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온라인 강의를 들으면 좋은 사람</a:t>
            </a:r>
            <a:endParaRPr lang="ko-KR" altLang="en-US" sz="2800" dirty="0">
              <a:solidFill>
                <a:srgbClr val="00B0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150018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리눅스를 처음으로 사용하는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리눅스를 명령어 정도만 사용해 본 사람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전반적인 리눅스를 정리하고 싶은 사람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 bwMode="auto">
          <a:xfrm>
            <a:off x="468356" y="4244302"/>
            <a:ext cx="82296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/>
            <a:r>
              <a:rPr kumimoji="0"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온라인 강의에 적합하지 않은 사람</a:t>
            </a:r>
            <a:endParaRPr kumimoji="0" lang="ko-KR" altLang="en-US" sz="2800" dirty="0">
              <a:solidFill>
                <a:srgbClr val="00B0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25493" y="4887240"/>
            <a:ext cx="8229600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컴퓨터를 처음 공부하는 사람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이미 리눅스를 실무에서 사용하고 있는 사람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강의만 들으면 바로 졸리는 사람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022575" y="2710991"/>
            <a:ext cx="5184576" cy="133169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</a:t>
            </a:r>
            <a:r>
              <a:rPr lang="ko-KR" altLang="en-US" sz="2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강의의 기준 독자</a:t>
            </a:r>
            <a:endParaRPr lang="en-US" altLang="ko-KR" sz="24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프로그래밍 언어를 하나쯤 공부해 본 사람                                     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대학 컴퓨터 관련 전공 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학년 정도 수준</a:t>
            </a:r>
          </a:p>
        </p:txBody>
      </p:sp>
    </p:spTree>
    <p:extLst>
      <p:ext uri="{BB962C8B-B14F-4D97-AF65-F5344CB8AC3E}">
        <p14:creationId xmlns:p14="http://schemas.microsoft.com/office/powerpoint/2010/main" val="325128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권장 실습 환경 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143874" cy="221570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Intel Core i3/5/7 (6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세대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이후 또는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동급의 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AMD CPU</a:t>
            </a:r>
            <a:b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64bit,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가상화 지원 필수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RAM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16GB (20 GB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 권장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내장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SSD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외장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SSD(USB 3.x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Thunderbolt)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b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50GB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 여유분 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64bit Windows 10/11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6" y="3866182"/>
            <a:ext cx="82296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/>
            <a:r>
              <a:rPr kumimoji="0"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최소 실습 환경 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00063" y="4509120"/>
            <a:ext cx="8229600" cy="2215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Intel 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셀러론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(6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세대 이후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동급의 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AMD CPU</a:t>
            </a:r>
          </a:p>
          <a:p>
            <a:pPr eaLnBrk="1" hangingPunct="1">
              <a:defRPr/>
            </a:pP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RAM 8GB</a:t>
            </a:r>
          </a:p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하드디스크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50GB 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 여유분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64bit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Windows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2348880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학습 권장 사항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2991819"/>
            <a:ext cx="8579296" cy="158931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대의 화면을 사용 권장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모니터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1(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태블릿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강좌 동영상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고해상도로 보기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모니터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2(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컴퓨터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실습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Full HD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이상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486344" y="781588"/>
            <a:ext cx="82296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/>
            <a:r>
              <a:rPr kumimoji="0"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동영상 녹화 환경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441449" y="1393655"/>
            <a:ext cx="8229600" cy="9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Full HD </a:t>
            </a: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</a:t>
            </a: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(1920x1080)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 bwMode="auto">
          <a:xfrm>
            <a:off x="542926" y="4725144"/>
            <a:ext cx="82296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/>
            <a:r>
              <a:rPr kumimoji="0"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관련 정보는 모두 카페에서 해결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98031" y="5382629"/>
            <a:ext cx="8229600" cy="9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https://cafe.naver.com/</a:t>
            </a:r>
            <a:r>
              <a:rPr kumimoji="0" lang="en-US" altLang="ko-KR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thisisLinux</a:t>
            </a:r>
          </a:p>
        </p:txBody>
      </p:sp>
    </p:spTree>
    <p:extLst>
      <p:ext uri="{BB962C8B-B14F-4D97-AF65-F5344CB8AC3E}">
        <p14:creationId xmlns:p14="http://schemas.microsoft.com/office/powerpoint/2010/main" val="1429056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F8B824F-EA55-44A1-A9B2-43DCE30A951E}"/>
              </a:ext>
            </a:extLst>
          </p:cNvPr>
          <p:cNvSpPr txBox="1">
            <a:spLocks/>
          </p:cNvSpPr>
          <p:nvPr/>
        </p:nvSpPr>
        <p:spPr bwMode="auto">
          <a:xfrm>
            <a:off x="500063" y="714375"/>
            <a:ext cx="82296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/>
            <a:r>
              <a:rPr kumimoji="0" lang="ko-KR" altLang="en-US" sz="3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 가능 컴퓨터 확인</a:t>
            </a:r>
            <a:endParaRPr kumimoji="0" lang="ko-KR" altLang="en-US" sz="3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6EA71E1-C12A-494F-A82D-CB7BDA963390}"/>
              </a:ext>
            </a:extLst>
          </p:cNvPr>
          <p:cNvSpPr txBox="1">
            <a:spLocks/>
          </p:cNvSpPr>
          <p:nvPr/>
        </p:nvSpPr>
        <p:spPr bwMode="auto">
          <a:xfrm>
            <a:off x="457200" y="1357313"/>
            <a:ext cx="8229600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124BEAA-1939-4692-AE46-E09B2E35D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168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23C08279-A03E-4303-84E3-533471E28F77}"/>
              </a:ext>
            </a:extLst>
          </p:cNvPr>
          <p:cNvSpPr txBox="1">
            <a:spLocks/>
          </p:cNvSpPr>
          <p:nvPr/>
        </p:nvSpPr>
        <p:spPr bwMode="auto">
          <a:xfrm>
            <a:off x="192068" y="1303585"/>
            <a:ext cx="7560840" cy="113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/>
            <a:r>
              <a:rPr kumimoji="0" lang="en-US" altLang="ko-KR" sz="2000" dirty="0">
                <a:solidFill>
                  <a:schemeClr val="accent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Securable </a:t>
            </a:r>
          </a:p>
          <a:p>
            <a:pPr eaLnBrk="1" hangingPunct="1"/>
            <a:r>
              <a:rPr kumimoji="0" lang="en-US" altLang="ko-KR" sz="2000" dirty="0">
                <a:solidFill>
                  <a:schemeClr val="accent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https://www.grc.com/securable.htm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C7BE41-D76A-CE8A-7040-BB78500B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582724"/>
            <a:ext cx="3534813" cy="27349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A246D0-B0C8-88C4-F19B-2A441E81F481}"/>
              </a:ext>
            </a:extLst>
          </p:cNvPr>
          <p:cNvSpPr txBox="1"/>
          <p:nvPr/>
        </p:nvSpPr>
        <p:spPr>
          <a:xfrm>
            <a:off x="1043608" y="5800695"/>
            <a:ext cx="6624736" cy="40011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문제 발생시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https://cafe.naver.com/thisis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</a:t>
            </a: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inux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/6397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0" y="-184666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58085E-B165-727C-9D61-356454B4B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" y="620688"/>
            <a:ext cx="9144000" cy="59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713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2468</TotalTime>
  <Words>323</Words>
  <Application>Microsoft Office PowerPoint</Application>
  <PresentationFormat>화면 슬라이드 쇼(4:3)</PresentationFormat>
  <Paragraphs>75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Georgia</vt:lpstr>
      <vt:lpstr>HY견고딕</vt:lpstr>
      <vt:lpstr>나눔스퀘어라운드 ExtraBold</vt:lpstr>
      <vt:lpstr>Trebuchet MS</vt:lpstr>
      <vt:lpstr>나눔고딕 ExtraBold</vt:lpstr>
      <vt:lpstr>나눔바른고딕</vt:lpstr>
      <vt:lpstr>맑은 고딕</vt:lpstr>
      <vt:lpstr>굴림</vt:lpstr>
      <vt:lpstr>Wingdings 2</vt:lpstr>
      <vt:lpstr>나눔스퀘어 ExtraBold</vt:lpstr>
      <vt:lpstr>Urban</vt:lpstr>
      <vt:lpstr>PowerPoint 프레젠테이션</vt:lpstr>
      <vt:lpstr>[이것이 리눅스/우분투 리눅스다]의 차이점</vt:lpstr>
      <vt:lpstr>강의 및 교재의 목표</vt:lpstr>
      <vt:lpstr>온라인 강의를 들으면 좋은 사람</vt:lpstr>
      <vt:lpstr>권장 실습 환경 </vt:lpstr>
      <vt:lpstr>학습 권장 사항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115</cp:revision>
  <dcterms:created xsi:type="dcterms:W3CDTF">2007-02-12T03:01:34Z</dcterms:created>
  <dcterms:modified xsi:type="dcterms:W3CDTF">2024-10-26T02:37:35Z</dcterms:modified>
</cp:coreProperties>
</file>